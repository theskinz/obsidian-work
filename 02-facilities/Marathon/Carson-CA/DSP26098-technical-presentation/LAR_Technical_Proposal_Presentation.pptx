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in several Brinell grades (200, 400, 600 BHN),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 the next slide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but it matters in California.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Marathon's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Both decokes were completed on schedule and safely, and Marathon Detroit re-engaged us two years later for the same coker.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17).
- "What if duration overruns?" Lump sum per occurrence. Pricing excludes additional fouling, unknown repairs and stoppages outside our control; those, plus stand-by not caused by USA DeBusk, are billed T&amp;M at the proposal rates.
- "Local presence?" Slide 18, per RFI GD-1.
- "CARB registration?" Slide 14: every TriMax carries statewide PERP registration.
- "Filtration?" Available at $150/hr per the rate sheet.
- "Pump curves / pressure capability?" Appendix slide 27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22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This is the series-operation curve, which is how the pump runs for pigging (higher pressure, lower flow). Each line is an engine speed. Normal pigging runs 150 to 300 psi. The curve reaches 600 psi; the gold band marks the 500 to 550 psi we actually see at the pig, after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Shape 3"/>
          <p:cNvSpPr/>
          <p:nvPr/>
        </p:nvSpPr>
        <p:spPr>
          <a:xfrm>
            <a:off x="8202168" y="310896"/>
            <a:ext cx="3438144" cy="566928"/>
          </a:xfrm>
          <a:prstGeom prst="roundRect">
            <a:avLst>
              <a:gd name="adj" fmla="val 16129"/>
            </a:avLst>
          </a:prstGeom>
          <a:solidFill>
            <a:srgbClr val="2B2B2B"/>
          </a:solidFill>
          <a:ln w="12700">
            <a:solidFill>
              <a:srgbClr val="FCC30A"/>
            </a:solidFill>
            <a:prstDash val="solid"/>
          </a:ln>
        </p:spPr>
      </p:sp>
      <p:pic>
        <p:nvPicPr>
          <p:cNvPr id="6" name="Image 0" descr="/tmp/claude-0/-home-user-obsidian-work/c8998718-f22f-57a3-84c2-766db1d92b4c/scratchpad/deck/img/ca_flag.png">    </p:cNvPr>
          <p:cNvPicPr>
            <a:picLocks noChangeAspect="1"/>
          </p:cNvPicPr>
          <p:nvPr/>
        </p:nvPicPr>
        <p:blipFill>
          <a:blip r:embed="rId1"/>
          <a:stretch>
            <a:fillRect/>
          </a:stretch>
        </p:blipFill>
        <p:spPr>
          <a:xfrm>
            <a:off x="8275320" y="374904"/>
            <a:ext cx="658368" cy="438912"/>
          </a:xfrm>
          <a:prstGeom prst="rect">
            <a:avLst/>
          </a:prstGeom>
        </p:spPr>
      </p:pic>
      <p:sp>
        <p:nvSpPr>
          <p:cNvPr id="7" name="Text 4"/>
          <p:cNvSpPr txBox="1"/>
          <p:nvPr/>
        </p:nvSpPr>
        <p:spPr>
          <a:xfrm>
            <a:off x="9079992" y="310896"/>
            <a:ext cx="2468880" cy="566928"/>
          </a:xfrm>
          <a:prstGeom prst="rect">
            <a:avLst/>
          </a:prstGeom>
          <a:noFill/>
          <a:ln/>
        </p:spPr>
        <p:txBody>
          <a:bodyPr wrap="square" lIns="0" tIns="0" rIns="0" bIns="0" rtlCol="0" anchor="ctr"/>
          <a:lstStyle/>
          <a:p>
            <a:pPr indent="0" marL="0">
              <a:buNone/>
            </a:pPr>
            <a:r>
              <a:rPr lang="en-US" sz="1100" b="1" dirty="0">
                <a:solidFill>
                  <a:srgbClr val="FCC30A"/>
                </a:solidFill>
                <a:latin typeface="Arial" pitchFamily="34" charset="0"/>
                <a:ea typeface="Arial" pitchFamily="34" charset="-122"/>
                <a:cs typeface="Arial" pitchFamily="34" charset="-120"/>
              </a:rPr>
              <a:t>CARB-registered  |  SCAQMD-ready</a:t>
            </a:r>
            <a:endParaRPr lang="en-US" sz="1100" dirty="0"/>
          </a:p>
        </p:txBody>
      </p:sp>
      <p:sp>
        <p:nvSpPr>
          <p:cNvPr id="8" name="Text 5"/>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9" name="Text 6"/>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10" name="Text 7"/>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11" name="Text 8"/>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12" name="Text 9"/>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3" name="Text 10"/>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4" name="Text 11"/>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5" name="Text 12"/>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6" name="Text 13"/>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7" name="Image 1" descr="/tmp/claude-0/-home-user-obsidian-work/c8998718-f22f-57a3-84c2-766db1d92b4c/scratchpad/deck/img/cert_t1.png">    </p:cNvPr>
          <p:cNvPicPr>
            <a:picLocks noChangeAspect="1"/>
          </p:cNvPicPr>
          <p:nvPr/>
        </p:nvPicPr>
        <p:blipFill>
          <a:blip r:embed="rId2"/>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8" name="Text 14"/>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9" name="Image 2" descr="/tmp/claude-0/-home-user-obsidian-work/c8998718-f22f-57a3-84c2-766db1d92b4c/scratchpad/deck/img/cert_t2.png">    </p:cNvPr>
          <p:cNvPicPr>
            <a:picLocks noChangeAspect="1"/>
          </p:cNvPicPr>
          <p:nvPr/>
        </p:nvPicPr>
        <p:blipFill>
          <a:blip r:embed="rId3"/>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20" name="Text 15"/>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21" name="Image 3" descr="/tmp/claude-0/-home-user-obsidian-work/c8998718-f22f-57a3-84c2-766db1d92b4c/scratchpad/deck/img/cert_t6.png">    </p:cNvPr>
          <p:cNvPicPr>
            <a:picLocks noChangeAspect="1"/>
          </p:cNvPicPr>
          <p:nvPr/>
        </p:nvPicPr>
        <p:blipFill>
          <a:blip r:embed="rId4"/>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22" name="Text 16"/>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3" name="Text 17"/>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4" name="Shape 18"/>
          <p:cNvSpPr/>
          <p:nvPr/>
        </p:nvSpPr>
        <p:spPr>
          <a:xfrm>
            <a:off x="548640" y="4983480"/>
            <a:ext cx="11091672" cy="1188720"/>
          </a:xfrm>
          <a:prstGeom prst="rect">
            <a:avLst/>
          </a:prstGeom>
          <a:solidFill>
            <a:srgbClr val="F4F4F4"/>
          </a:solidFill>
          <a:ln w="12700">
            <a:solidFill>
              <a:srgbClr val="F4F4F4"/>
            </a:solidFill>
            <a:prstDash val="solid"/>
          </a:ln>
        </p:spPr>
      </p:sp>
      <p:sp>
        <p:nvSpPr>
          <p:cNvPr id="25" name="Shape 19"/>
          <p:cNvSpPr/>
          <p:nvPr/>
        </p:nvSpPr>
        <p:spPr>
          <a:xfrm>
            <a:off x="77724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941832" y="5404104"/>
            <a:ext cx="329184" cy="329184"/>
          </a:xfrm>
          <a:prstGeom prst="rect">
            <a:avLst/>
          </a:prstGeom>
        </p:spPr>
      </p:pic>
      <p:sp>
        <p:nvSpPr>
          <p:cNvPr id="27" name="Text 20"/>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8" name="Shape 21"/>
          <p:cNvSpPr/>
          <p:nvPr/>
        </p:nvSpPr>
        <p:spPr>
          <a:xfrm>
            <a:off x="297180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3136392" y="5404104"/>
            <a:ext cx="329184" cy="329184"/>
          </a:xfrm>
          <a:prstGeom prst="rect">
            <a:avLst/>
          </a:prstGeom>
        </p:spPr>
      </p:pic>
      <p:sp>
        <p:nvSpPr>
          <p:cNvPr id="30" name="Text 22"/>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31" name="Shape 23"/>
          <p:cNvSpPr/>
          <p:nvPr/>
        </p:nvSpPr>
        <p:spPr>
          <a:xfrm>
            <a:off x="516636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5330952" y="5404104"/>
            <a:ext cx="329184" cy="329184"/>
          </a:xfrm>
          <a:prstGeom prst="rect">
            <a:avLst/>
          </a:prstGeom>
        </p:spPr>
      </p:pic>
      <p:sp>
        <p:nvSpPr>
          <p:cNvPr id="33" name="Text 24"/>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4" name="Shape 25"/>
          <p:cNvSpPr/>
          <p:nvPr/>
        </p:nvSpPr>
        <p:spPr>
          <a:xfrm>
            <a:off x="736092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7525512" y="5404104"/>
            <a:ext cx="329184" cy="329184"/>
          </a:xfrm>
          <a:prstGeom prst="rect">
            <a:avLst/>
          </a:prstGeom>
        </p:spPr>
      </p:pic>
      <p:sp>
        <p:nvSpPr>
          <p:cNvPr id="36" name="Text 26"/>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7" name="Shape 27"/>
          <p:cNvSpPr/>
          <p:nvPr/>
        </p:nvSpPr>
        <p:spPr>
          <a:xfrm>
            <a:off x="9555480" y="5239512"/>
            <a:ext cx="658368" cy="658368"/>
          </a:xfrm>
          <a:prstGeom prst="ellipse">
            <a:avLst/>
          </a:prstGeom>
          <a:solidFill>
            <a:srgbClr val="1E1E1E"/>
          </a:solidFill>
          <a:ln w="12700">
            <a:solidFill>
              <a:srgbClr val="1E1E1E"/>
            </a:solidFill>
            <a:prstDash val="solid"/>
          </a:ln>
        </p:spPr>
      </p:sp>
      <p:pic>
        <p:nvPicPr>
          <p:cNvPr id="38" name="Image 8" descr="preencoded.png">    </p:cNvPr>
          <p:cNvPicPr>
            <a:picLocks noChangeAspect="1"/>
          </p:cNvPicPr>
          <p:nvPr/>
        </p:nvPicPr>
        <p:blipFill>
          <a:blip r:embed="rId9"/>
          <a:stretch>
            <a:fillRect/>
          </a:stretch>
        </p:blipFill>
        <p:spPr>
          <a:xfrm>
            <a:off x="9720072" y="5404104"/>
            <a:ext cx="329184" cy="329184"/>
          </a:xfrm>
          <a:prstGeom prst="rect">
            <a:avLst/>
          </a:prstGeom>
        </p:spPr>
      </p:pic>
      <p:sp>
        <p:nvSpPr>
          <p:cNvPr id="39" name="Text 28"/>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40"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1"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 at the proposal rate</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LAR</a:t>
            </a:r>
            <a:endParaRPr lang="en-US" sz="3200" dirty="0"/>
          </a:p>
        </p:txBody>
      </p:sp>
      <p:sp>
        <p:nvSpPr>
          <p:cNvPr id="8" name="Shape 4"/>
          <p:cNvSpPr/>
          <p:nvPr/>
        </p:nvSpPr>
        <p:spPr>
          <a:xfrm>
            <a:off x="8467344" y="310896"/>
            <a:ext cx="3172968" cy="566928"/>
          </a:xfrm>
          <a:prstGeom prst="roundRect">
            <a:avLst>
              <a:gd name="adj" fmla="val 16129"/>
            </a:avLst>
          </a:prstGeom>
          <a:solidFill>
            <a:srgbClr val="2B2B2B"/>
          </a:solidFill>
          <a:ln w="12700">
            <a:solidFill>
              <a:srgbClr val="FCC30A"/>
            </a:solidFill>
            <a:prstDash val="solid"/>
          </a:ln>
        </p:spPr>
      </p:sp>
      <p:pic>
        <p:nvPicPr>
          <p:cNvPr id="9" name="Image 2" descr="/tmp/claude-0/-home-user-obsidian-work/c8998718-f22f-57a3-84c2-766db1d92b4c/scratchpad/deck/img/ca_flag.png">    </p:cNvPr>
          <p:cNvPicPr>
            <a:picLocks noChangeAspect="1"/>
          </p:cNvPicPr>
          <p:nvPr/>
        </p:nvPicPr>
        <p:blipFill>
          <a:blip r:embed="rId3"/>
          <a:stretch>
            <a:fillRect/>
          </a:stretch>
        </p:blipFill>
        <p:spPr>
          <a:xfrm>
            <a:off x="8540496" y="374904"/>
            <a:ext cx="658368" cy="438912"/>
          </a:xfrm>
          <a:prstGeom prst="rect">
            <a:avLst/>
          </a:prstGeom>
        </p:spPr>
      </p:pic>
      <p:sp>
        <p:nvSpPr>
          <p:cNvPr id="10" name="Text 5"/>
          <p:cNvSpPr txBox="1"/>
          <p:nvPr/>
        </p:nvSpPr>
        <p:spPr>
          <a:xfrm>
            <a:off x="9345168" y="310896"/>
            <a:ext cx="2203704" cy="566928"/>
          </a:xfrm>
          <a:prstGeom prst="rect">
            <a:avLst/>
          </a:prstGeom>
          <a:noFill/>
          <a:ln/>
        </p:spPr>
        <p:txBody>
          <a:bodyPr wrap="square" lIns="0" tIns="0" rIns="0" bIns="0" rtlCol="0" anchor="ctr"/>
          <a:lstStyle/>
          <a:p>
            <a:pPr indent="0" marL="0">
              <a:buNone/>
            </a:pPr>
            <a:r>
              <a:rPr lang="en-US" sz="1100" b="1" dirty="0">
                <a:solidFill>
                  <a:srgbClr val="FCC30A"/>
                </a:solidFill>
                <a:latin typeface="Arial" pitchFamily="34" charset="0"/>
                <a:ea typeface="Arial" pitchFamily="34" charset="-122"/>
                <a:cs typeface="Arial" pitchFamily="34" charset="-120"/>
              </a:rPr>
              <a:t>Southern California  |  LA Basin</a:t>
            </a:r>
            <a:endParaRPr lang="en-US" sz="1100" dirty="0"/>
          </a:p>
        </p:txBody>
      </p:sp>
      <p:sp>
        <p:nvSpPr>
          <p:cNvPr id="11"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12"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3"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4"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5"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6"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7"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8"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9"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20"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Completed on schedule and safely on both occasions; Marathon Detroit re-engaged USA DeBusk for the same coker.</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2026-09-24T15:24:07Z</dcterms:created>
  <dcterms:modified xsi:type="dcterms:W3CDTF">2026-09-24T15:24:07Z</dcterms:modified>
</cp:coreProperties>
</file>