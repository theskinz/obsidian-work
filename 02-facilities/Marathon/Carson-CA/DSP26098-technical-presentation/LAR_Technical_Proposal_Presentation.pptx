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charts/chart1.xml" ContentType="application/vnd.openxmlformats-officedocument.drawingml.chart+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Lst>
  <p:notesMasterIdLst>
    <p:notesMasterId r:id="rId2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notesMaster" Target="notesMasters/notesMaster1.xml"/><Relationship Id="rId29" Type="http://schemas.openxmlformats.org/officeDocument/2006/relationships/presProps" Target="presProps.xml"/><Relationship Id="rId30" Type="http://schemas.openxmlformats.org/officeDocument/2006/relationships/viewProps" Target="viewProps.xml"/><Relationship Id="rId31" Type="http://schemas.openxmlformats.org/officeDocument/2006/relationships/theme" Target="theme/theme1.xml"/><Relationship Id="rId32"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EMR</c:v>
                </c:pt>
              </c:strCache>
            </c:strRef>
          </c:tx>
          <c:spPr>
            <a:solidFill>
              <a:srgbClr val="8A8A8A"/>
            </a:solidFill>
            <a:effectLst/>
          </c:spPr>
          <c:invertIfNegative val="0"/>
          <c:dLbls>
            <c:numFmt formatCode="0.00" sourceLinked="0"/>
            <c:txPr>
              <a:bodyPr/>
              <a:lstStyle/>
              <a:p>
                <a:pPr>
                  <a:defRPr b="1" i="0" strike="noStrike" sz="2000" u="none">
                    <a:solidFill>
                      <a:srgbClr val="FFFFFF"/>
                    </a:solidFill>
                    <a:latin typeface="Arial"/>
                  </a:defRPr>
                </a:pPr>
              </a:p>
            </c:txPr>
            <c:showLegendKey val="0"/>
            <c:showVal val="1"/>
            <c:showCatName val="0"/>
            <c:showSerName val="0"/>
            <c:showPercent val="0"/>
            <c:showBubbleSize val="0"/>
            <c:showLeaderLines val="0"/>
          </c:dLbls>
          <c:dPt>
            <c:idx val="0"/>
            <c:invertIfNegative val="0"/>
            <c:bubble3D val="0"/>
            <c:spPr>
              <a:solidFill>
                <a:srgbClr val="8A8A8A"/>
              </a:solidFill>
              <a:effectLst/>
            </c:spPr>
          </c:dPt>
          <c:dPt>
            <c:idx val="1"/>
            <c:invertIfNegative val="0"/>
            <c:bubble3D val="0"/>
            <c:spPr>
              <a:solidFill>
                <a:srgbClr val="C9A00A"/>
              </a:solidFill>
              <a:effectLst/>
            </c:spPr>
          </c:dPt>
          <c:dPt>
            <c:idx val="2"/>
            <c:invertIfNegative val="0"/>
            <c:bubble3D val="0"/>
            <c:spPr>
              <a:solidFill>
                <a:srgbClr val="FCC30A"/>
              </a:solidFill>
              <a:effectLst/>
            </c:spPr>
          </c:dPt>
          <c:cat>
            <c:multiLvlStrRef>
              <c:f>Sheet1!$A$2:$A$4</c:f>
              <c:multiLvlStrCache>
                <c:ptCount val="3"/>
                <c:lvl>
                  <c:pt idx="0">
                    <c:v>2024</c:v>
                  </c:pt>
                  <c:pt idx="1">
                    <c:v>2025</c:v>
                  </c:pt>
                  <c:pt idx="2">
                    <c:v>2026</c:v>
                  </c:pt>
                </c:lvl>
              </c:multiLvlStrCache>
            </c:multiLvlStrRef>
          </c:cat>
          <c:val>
            <c:numRef>
              <c:f>Sheet1!$B$2:$B$4</c:f>
              <c:numCache>
                <c:formatCode>General</c:formatCode>
                <c:ptCount val="3"/>
                <c:pt idx="0">
                  <c:v>0.95</c:v>
                </c:pt>
                <c:pt idx="1">
                  <c:v>0.62</c:v>
                </c:pt>
                <c:pt idx="2">
                  <c:v>0.48</c:v>
                </c:pt>
              </c:numCache>
            </c:numRef>
          </c:val>
        </c:ser>
        <c:dLbls>
          <c:numFmt formatCode="0.00" sourceLinked="0"/>
          <c:txPr>
            <a:bodyPr/>
            <a:lstStyle/>
            <a:p>
              <a:pPr>
                <a:defRPr b="1" i="0" strike="noStrike" sz="2000" u="none">
                  <a:solidFill>
                    <a:srgbClr val="FFFFFF"/>
                  </a:solidFill>
                  <a:latin typeface="Arial"/>
                </a:defRPr>
              </a:pPr>
            </a:p>
          </c:txPr>
          <c:showLegendKey val="0"/>
          <c:showVal val="1"/>
          <c:showCatName val="0"/>
          <c:showSerName val="0"/>
          <c:showPercent val="0"/>
          <c:showBubbleSize val="0"/>
          <c:showLeaderLines val="0"/>
        </c:dLbls>
        <c:gapWidth val="5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400" b="0" i="0" u="none" strike="noStrike">
                <a:solidFill>
                  <a:srgbClr val="BDBDBD"/>
                </a:solidFill>
                <a:latin typeface="Arial"/>
              </a:defRPr>
            </a:pPr>
            <a:endParaRPr lang="en-US"/>
          </a:p>
        </c:txPr>
        <c:crossAx val="2094734552"/>
        <c:crosses val="autoZero"/>
        <c:auto val="1"/>
        <c:lblAlgn val="ctr"/>
        <c:noMultiLvlLbl val="1"/>
      </c:catAx>
      <c:valAx>
        <c:axId val="2094734552"/>
        <c:scaling>
          <c:orientation val="minMax"/>
          <c:max val="1.1"/>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solidFill>
          <a:srgbClr val="1E1E1E"/>
        </a:solidFill>
        <a:ln>
          <a:noFill/>
        </a:ln>
        <a:effectLst/>
      </c:spPr>
    </c:plotArea>
    <c:plotVisOnly val="1"/>
    <c:dispBlanksAs val="span"/>
  </c:chart>
  <c:spPr>
    <a:solidFill>
      <a:srgbClr val="1E1E1E"/>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min] Open: thank the evaluation team for the shortlist. Introduce yourself (Marshall Douglas, Director of Pigging Operations) and anyone attending with you.
Frame: "This deck follows your ten discussion points in your order, so you can score as we go. We'll hold about 40 minutes and leave 20 for questions."
The photo is our TriMax triple pumper on a delayed coker, the same service we're proposing for LAR.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min] Walk the agenda quickly. Point out it mirrors MPC's list 1 to 10. Item 10 "Others" is used as a closing summary.
Transition: "Let's start with what we understood the job to be."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min] Four heaters across the Carson and Wilmington sides of LAR. Coker #1 Heaters 1 and 2 four times a year each, Coker #2 Heater 3 three times, Wilmington DCU H-101 once. That is 12 decokes a year and 60 over the five-year term.
Commercial basis as submitted: lump sum per occurrence, mob/demob waived, 30-day terms. Stand-by not caused by USA DeBusk at the attached rates.
Key message: this is a program, not a one-off job, and we've planned it that way.
Point to the photo: "That's your coker at Carson, from Marathon's own site. It's the unit we'd be cleaning four times a year."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[~2.5 min] Walk the six steps. Emphasize "bi-directional": the TriMax reverses flow from the operator station without hose changes, so pigs work the coke from both sides. That is how we clear tight spots and plug headers.
Step 1: we fill and pressure-test the rig before anything launches.
Step 2: the baseline flow test gives an objective before/after comparison at the same rate and direction.
Step 4: pigs step up in 1/8" increments only after a clean pass at the current size. We never jump sizes on hard coke.
Step 5: the maximum oversize is capped at the smallest tube ID + 0.250". That protects the tube wall from grooving; over-cleaning is a real risk and we control it.
Step 6: Marathon witnesses the final gauge foam and signs off per pass (detail in topic 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[~2.5 min] RFI item SP-2 asked for a pig progression plan per heater. This is it.
The ceiling is fixed by our sizing rule: smallest tube ID plus a quarter inch. On the Carson cokers the governing ID is 3.826" (4" Sch 80), so the maximum is 4.076". On H-101 the ID is 4.026", so the maximum is 4.276".
We don't pick a starting size in advance. The first run is a gauge foam: how it comes out of the pass tells us how much the bore is restricted, and that sets the initial pig size. From there we step up 1/8" at a time, only after a clean pass at the current size, until we reach line size and then the maximum. Wear marks on a pig show where coke remains, and we change size and appendage type from that evidence.
If asked about short-radius bends or mule ears: pig body length and flexibility are selected for the bend geometry, not just the diameter.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min] The pig does the work, so pig selection matters as much as the pumper.
We don't build our own pigs. We source engineered decoking pigs from specialist manufacturers, so we're never limited to one design and can match the pig to the coil and the coke.
(Presenter: this is where to talk about our supplier base and why we buy rather than build.)
Walk the four cards: urethane body over a foam core lets flow bypass the pig and carry coke away; durometer is chosen for each job, softer to get through tight bends, harder to cut hard coke; studs are carbide as standard, with other stud materials when the tube metallurgy calls for it; and when the pig wear shows hard, heavy coke, we move to high-durometer, fully studded designs.
The photos are real pigs from our jobs, including the wear marks that tell us what's left in the pass.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min] Numbers here are exactly as submitted in the proposal's Technical Data page, from the coil data Marathon provided.
Per Carson heater: 1,134' per pass convection plus 2,016' per pass radiant, about 3,150' per pass and 6,300' per heater. H-101: 627' plus 1,881' per pass across 4 passes, about 10,000'.
Three coil-specific controls:
1) Stainless. The Carson convection and all of H-101 are stainless. We verify water quality before fill, coordinate with Marathon's passivation requirements, and keep galvanized hardware off the tubes.
2) Connections. The coils have 600# RFWN flanges and our launchers/receivers are 300#; Marathon supplies the inlet/outlet spools and adapters, per the proposal's provided-items list.
3) Bends. 180° returns and mule ears set pig length and flexibility, not just diameter.
Launcher connections are at grade (process control valves / radiant outlets); the H-101 radiant outlets are at grade and the 1st deck.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[~2.5 min] Each occurrence as quoted:
Carson heaters: 6 hours rig-in, 34 hours pigging all coils in conjunction, 6 hours rig-out: 46 hours total.
H-101: 6 rig-in, 18 hours on coils 1 and 2 together, a 4-hour rig-over to coils 3 and 4, 18 hours, 6 rig-out: 52 hours.
"In conjunction" means both Carson passes are pigged at the same time, each on its own pump and operator station, so elapsed time is one coil's time, not two. On a 2-pass heater the TriMax's third pump is a spare: if a pump goes down, the job keeps running.
We run 24/7 on 12-hour day/night shifts, so a Carson heater is back in Marathon's hands in about two days.
Durations come from footage and our historical performance. Actual hardness and thickness of deposits can move them, and the proposal covers that.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min] The dots show one year of the program; exact dates follow Marathon's run-length and turnaround plan, not ours.
12 decokes a year, 60 over the term, 2,790 project hours, and mobilization/demobilization waived because LAR is serviced as a program.
The real value of a recurring program: each decoke on the same heater builds on the last. We keep heater-specific records of pig sizes, hours and problem spots, so every visit starts smarter than the last.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min] Every occurrence gets the same package: one TriMax, one support unit carrying fittings, tooling and spares, two crew trucks.
Crew: day shift is a supervisor and two operators; night shift is a supervisor and an operator; Travis Trenholm manages the project.
Readiness: turnover has run about 5% over the last 12 months. We hold onto people with competitive pay, ongoing training and certification, career paths, and dedicated core crews per site. For LAR that means the same faces on the same heaters.
Every technician is USA DeBusk-certified, selected by heater-type experience, with training verified before mobilization. The personnel training documents (SSHASP) were attached to the RFI.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min] Our team brings more than 200 years of combined pigging and decoking experience, and the company has self-performed heater pigging for over 15 years.
Leadership line: Anthony Fazio, VP Operations; me as Director of Pigging Operations; Travis Trenholm as the project manager on every LAR occurrence. Jason Harman is the commercial point of contact.
One point of contact manages work flow and daily updates to Marathon.
Leadership resumes were included with the RFI response; the full site org chart is issued at award.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min] This is the core of our service, and every one of our six TriMax units is the same build: 18 identical engines, the same pumps, the same controls. Any crew can run any unit, spares fit every unit, and the procedures are the same everywhere. Three independent pump assemblies in one trailer, each with its own operator station, so three passes can run at the same time. At LAR we pig both Carson passes together and H-101 in pairs, which leaves the third pump as an on-board spare. Against a dual unit the triple raises productivity by about 50%, and on a two-pass Carson heater the third pump is 100% spare capacity: if one pump goes down, the job doesn't stop.
The spare pump can also propel a smart pig, so inspection runs don't need extra equipment.
Each operator station has a 17" automated HMI touchscreen, and pig logs are recorded digitally (next slide).
Other features built into the unit: temperature-controlled pig compartments so the pigs keep their cleaning characteristics, antifoam injection, a coke transfer chute, and guided-radar tank level indicators. On-board tankage is 3,000 gal clean and 2,000 gal return.
The bar at the bottom is our operating window: normal pigging runs 150 to 300 psi. The pump is rated to 600 psi, but after losses through our valves the realistic ceiling at the pig is 500 to 550, and above 500 the crew works an over-pressure checklist. The manufacturer's pump curves are in the appendix if anyone wants them.
Real-time sensor data feeds the operator interface, where coke shows up as a pressure spike. The technician can stop and scrub that exact spot. Flow direction reverses from the station without hose changes.
Power is a Cummins QSL9 at 333 bhp, Tier 4, CARB-registered. California compliance is two slides on, after the operator screen.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min] This is the operator screen from a TriMax station, the same software every LAR pass runs on.
Walk the numbers: (1) the trend at the bottom plots pressure ahead of the pig, pressure behind it, and flow rate. When the pig meets coke you see the spike, and that's the "sensor data" indicator in our cleanliness verification. (2) Live GPM and psi. (3) Clean and effluent tank levels from guided-radar indicators. (4) Setpoint alarms; this one shows a clean-tank-low alert. (5) Pass completion and the pig run sheet and data sheet, so the pig log builds itself. (6) Each pass has its own station: left, center, right.
The takeaway for Marathon: every decision on a pass is made from live data, and the record is automatic.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min] California compliance is a gate for LAR, and we've cleared it. Every TriMax engine carries a CARB Statewide Portable Equipment Registration: certified Cummins QSL9 engines, Tier 4 blue placard, a diesel particulate emission factor of 0.015 g/bhp-hr. Six triple-pass units and 18 engines are registered for SCAQMD work, so no rental or swap-in equipment is needed to work in the Basin.
Everything needed arrives with the rig: support unit, 300# launchers and receivers, tested and certified hard and flex pipe connecting our equipment, all pigs and foam swabs. Closed-loop filtration is optional at the proposal rate: it runs continuously, captures coke fines from the effluent, and recycles clean water. That can save thousands of gallons of water a shift.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[~2.5 min] How do we know a pass is clean? Four independent indicators, and the pass isn't called clean until all four agree.
1) Sensor data: live pressure data at the operator interface. Coke shows as a spike, and the technician can stop the pig and scrub that exact area.
2) Effluent: the technician watches the returns. The "black" (coke fines) in the stream fades to an unnoticeable amount as the pass cleans.
3) Pig condition: bi-directional runs leave tracking marks on the pigs (the photo shows real pigs after runs, with the wear visible). Those marks drive our size and appendage changes toward 100% removal.
4) Final gauge foam: when the interface, the water and the pigs all read clean, our shift leader invites the Marathon rep to watch the final gauge foam run. It's line size or slightly over and soft enough to mark, groove or deform on any remaining coke. Marathon reviews it with us and signs the pass off.
This is also why smart pig inspections after our cleans usually get good data on the first attempt.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min] QA/QC runs through the whole job, not just the end.
Before: walkdown, coil data check, JSA/permits/isolation, pig progression staged by heater.
During: work is documented in the job book with daily reports, pig logs and JSAs. One point of contact manages the work flow and daily updates to Marathon. Flow tests before and after at the same rate give an objective comparison.
Close-out: per-pass sign-off, final pig size recorded for each pass, the job book, and a post-job review. On a recurring program, that record is what makes the next decoke on the same heater faster.
The full QA/QC manual was attached to the RFI response.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min] Topic 6: emergency response and local resources.
We maintain shops, equipment and crews in the Southern California / LA Basin area with regional support. That local footprint allows same-day to next-day mobilization to LAR.
Support is 24/7: dispatch and the account manager can be reached at any hour, with on-call supervisors and crews for nights, weekends and holidays.
Response: same day for local needs, within 24 hours otherwise, with manpower and pigging/decoking equipment staged from our regional shops.
On the recurring program, the same crew that knows these heaters is the crew that answers an unplanned call.
The photo: a TriMax and its support unit staged in the shop, fueled and ready to roll.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min] The numbers as submitted in the RFI: EMR 0.95 in 2024, 0.62 in 2025, 0.48 in 2026, roughly half the industry baseline and down 49% in two years. Active in ISNetworld with an A grade. No fatalities in the last three years. OSHA 300 logs for three years were provided with the RFI.
Let the trend speak: this is a sustained improvement, not a single good year.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min] Six practices that carry most of the risk on a decoke:
JSAs and permits: job-specific JSAs, reviewed at every shift change, with daily toolbox talks.
Isolation: we don't connect until Marathon's isolation and LOTO are verified.
Pressure: normal pigging is 150 to 300 psi; the pump is rated 600 but realistically tops out at 500 to 550 after valve losses, and above 500 psi the crew runs an over-pressure checklist.
Line of fire: every pig change bleeds to zero, and nobody stands in line with lids or hoses.
Hoses: tested and certified hard and flex pipe with whip checks on every connection.
PPE: FRC, hard hat, glasses or face shield, gloves, steel toes, hearing and respiratory protection as required. On stainless coils, no galvanized metal touches the tubes.
The pumper itself is engineered for safety too: retractable cam-actuated stairs, a composite work platform, LED lighting, and a self-contained design that prevents spills.
Full detail is in the safety manual and SSHASP submitted with the RFI.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min] Four differentiators, backed by more than 200 years of combined experience on our team.
Self-performed: pigging, decoking and hydroblasting with in-house equipment and SCAQMD rigs, so one contractor covers the full scope without subs.
Fleet: we run the largest triple-pass pigging fleet in the world, and it's standardized: six identical TriMax units, 18 engines. The TriMax runs up to three passes at once; on LAR's 2-pass heaters that third pump is an on-board spare, so a pump failure doesn't stop the job, and it can also drive a smart pig. We also offer closed-loop filtration and smart-pig support, so Marathon deals with one contractor.
Pigs: the widest selection of engineered decoking pigs, matched to the coil and the coke (slide 6).
Data-driven and shared: our durations are built from recorded actuals, every job produces pig logs and a job report, and lessons learned are reviewed with the client after each job. On a 60-decoke program that compounds, and Marathon sits in that loop.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min] You don't have to take our word for it: nine Marathon refineries, with named contacts at eight of them; Galveston Bay's contact is available on request. Catlettsburg, Salt Lake City, Martinez, Dickinson, St. Paul Park, Robinson, Galveston Bay, Garyville and Detroit.
Martinez is the closest comparison for LAR: a California MPC facility under the same state air rules.
The contact list is in the appendix and in the leave-behind. We'd encourage the team to call any of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min] Two coker examples from our job records, starting with one of yours.
First: Marathon Detroit, the 70H1 coker. Six passes across three cells, about 15,000 feet of convection and radiant coil. We ran two TriMax units and pigged all six passes at once, in September 2024 and again this month, September 2026. Same coker, two years apart: Detroit brought us back. Nate Lajiness at Detroit is on our reference list.
Second: CHS McPherson, coker heater HF-0012, six passes, just over 12,000 feet of coil, 85 pigging hours on a planned decoke. The radiant held hard coke that stopped standard pigs. Lesson: on a coker, stage the heavy-duty pig set for the radiant from the start. We'll do that at LAR on every occurrence.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min] Close with the five reasons, then open for questions.
"We know Marathon's system, our equipment is registered and ready for California, the triple-pass rig carries its own spare pump, you sign off on every pass, and we do it safely."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 min reserved for Q&amp;A]
Likely questions and where the answer lives:
- "How do you handle a plugged pass?" Bi-directional flow and stepwise pig sizing (slides 4–6); pre-job walkdown (slide 16).
- "What if duration overruns?" Lump sum per occurrence. Pricing excludes additional fouling, unknown repairs and stoppages outside our control; those, plus stand-by not caused by USA DeBusk, are billed T&amp;M at the proposal rates.
- "Local presence?" Slide 17, per RFI GD-1.
- "CARB registration?" Slide 14: every TriMax carries statewide PERP registration.
- "Filtration?" Available at $150/hr per the rate sheet.
- "Pump curves / pressure capability?" Appendix slide 26 (Waterous CMU curves). Normal 150–300 psi; rated 600, 500–550 effective after valve losses.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Leave-behind reference list. Not presented; point to it from slide 21 (MPC map) if asked.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slide, not presented. Pull it up if an engineer asks about pump capability.
Series operation is how the pump runs for pigging (higher pressure, lower flow). Normal pigging runs 150 to 300 psi. The curve tops out at 600 psi; in practice we see 500 to 550 at the pig because of losses through our valves.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slideLayout" Target="../slideLayouts/slideLayout1.xm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g"/><Relationship Id="rId2" Type="http://schemas.openxmlformats.org/officeDocument/2006/relationships/image" Target="../media/image-6-2.jp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slideLayout" Target="../slideLayouts/slideLayout1.xml"/><Relationship Id="rId8"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1.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slideLayout" Target="../slideLayouts/slideLayout1.xml"/><Relationship Id="rId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jpg"/><Relationship Id="rId2" Type="http://schemas.openxmlformats.org/officeDocument/2006/relationships/image" Target="../media/image-12-2.png"/><Relationship Id="rId3" Type="http://schemas.openxmlformats.org/officeDocument/2006/relationships/image" Target="../media/image-12-2.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image" Target="../media/image-12-6.png"/><Relationship Id="rId7" Type="http://schemas.openxmlformats.org/officeDocument/2006/relationships/image" Target="../media/image-12-7.png"/><Relationship Id="rId8" Type="http://schemas.openxmlformats.org/officeDocument/2006/relationships/image" Target="../media/image-12-8.png"/><Relationship Id="rId9" Type="http://schemas.openxmlformats.org/officeDocument/2006/relationships/slideLayout" Target="../slideLayouts/slideLayout1.xml"/><Relationship Id="rId10"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jp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image" Target="../media/image-14-5.png"/><Relationship Id="rId6" Type="http://schemas.openxmlformats.org/officeDocument/2006/relationships/image" Target="../media/image-14-6.png"/><Relationship Id="rId7" Type="http://schemas.openxmlformats.org/officeDocument/2006/relationships/image" Target="../media/image-14-7.png"/><Relationship Id="rId8" Type="http://schemas.openxmlformats.org/officeDocument/2006/relationships/image" Target="../media/image-14-8.png"/><Relationship Id="rId9" Type="http://schemas.openxmlformats.org/officeDocument/2006/relationships/slideLayout" Target="../slideLayouts/slideLayout1.xml"/><Relationship Id="rId10"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jpg"/><Relationship Id="rId4" Type="http://schemas.openxmlformats.org/officeDocument/2006/relationships/image" Target="../media/image-15-4.png"/><Relationship Id="rId5" Type="http://schemas.openxmlformats.org/officeDocument/2006/relationships/slideLayout" Target="../slideLayouts/slideLayout1.xml"/><Relationship Id="rId6"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slideLayout" Target="../slideLayouts/slideLayout1.xml"/><Relationship Id="rId5"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jpg"/><Relationship Id="rId2" Type="http://schemas.openxmlformats.org/officeDocument/2006/relationships/image" Target="../media/image-17-2.png"/><Relationship Id="rId3" Type="http://schemas.openxmlformats.org/officeDocument/2006/relationships/slideLayout" Target="../slideLayouts/slideLayout1.xml"/><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jp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image" Target="../media/image-19-4.png"/><Relationship Id="rId5" Type="http://schemas.openxmlformats.org/officeDocument/2006/relationships/image" Target="../media/image-19-5.png"/><Relationship Id="rId6" Type="http://schemas.openxmlformats.org/officeDocument/2006/relationships/image" Target="../media/image-19-6.png"/><Relationship Id="rId7" Type="http://schemas.openxmlformats.org/officeDocument/2006/relationships/image" Target="../media/image-19-7.png"/><Relationship Id="rId8" Type="http://schemas.openxmlformats.org/officeDocument/2006/relationships/slideLayout" Target="../slideLayouts/slideLayout1.xml"/><Relationship Id="rId9"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jpg"/><Relationship Id="rId2" Type="http://schemas.openxmlformats.org/officeDocument/2006/relationships/image" Target="../media/image-20-2.png"/><Relationship Id="rId3" Type="http://schemas.openxmlformats.org/officeDocument/2006/relationships/image" Target="../media/image-20-3.png"/><Relationship Id="rId4" Type="http://schemas.openxmlformats.org/officeDocument/2006/relationships/image" Target="../media/image-20-4.png"/><Relationship Id="rId5" Type="http://schemas.openxmlformats.org/officeDocument/2006/relationships/image" Target="../media/image-20-5.png"/><Relationship Id="rId6" Type="http://schemas.openxmlformats.org/officeDocument/2006/relationships/slideLayout" Target="../slideLayouts/slideLayout1.xml"/><Relationship Id="rId7"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jpg"/><Relationship Id="rId2" Type="http://schemas.openxmlformats.org/officeDocument/2006/relationships/image" Target="../media/image-23-2.png"/><Relationship Id="rId3" Type="http://schemas.openxmlformats.org/officeDocument/2006/relationships/image" Target="../media/image-23-3.png"/><Relationship Id="rId4" Type="http://schemas.openxmlformats.org/officeDocument/2006/relationships/image" Target="../media/image-23-4.png"/><Relationship Id="rId5" Type="http://schemas.openxmlformats.org/officeDocument/2006/relationships/image" Target="../media/image-23-5.png"/><Relationship Id="rId6" Type="http://schemas.openxmlformats.org/officeDocument/2006/relationships/image" Target="../media/image-23-6.png"/><Relationship Id="rId7" Type="http://schemas.openxmlformats.org/officeDocument/2006/relationships/image" Target="../media/image-23-7.png"/><Relationship Id="rId8" Type="http://schemas.openxmlformats.org/officeDocument/2006/relationships/slideLayout" Target="../slideLayouts/slideLayout1.xml"/><Relationship Id="rId9"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jpg"/><Relationship Id="rId2" Type="http://schemas.openxmlformats.org/officeDocument/2006/relationships/image" Target="../media/image-24-2.png"/><Relationship Id="rId3" Type="http://schemas.openxmlformats.org/officeDocument/2006/relationships/slideLayout" Target="../slideLayouts/slideLayout1.xml"/><Relationship Id="rId4"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1E1E"/>
        </a:solidFill>
      </p:bgPr>
    </p:bg>
    <p:spTree>
      <p:nvGrpSpPr>
        <p:cNvPr id="1" name=""/>
        <p:cNvGrpSpPr/>
        <p:nvPr/>
      </p:nvGrpSpPr>
      <p:grpSpPr>
        <a:xfrm>
          <a:off x="0" y="0"/>
          <a:ext cx="0" cy="0"/>
          <a:chOff x="0" y="0"/>
          <a:chExt cx="0" cy="0"/>
        </a:xfrm>
      </p:grpSpPr>
      <p:pic>
        <p:nvPicPr>
          <p:cNvPr id="2" name="Image 0" descr="/tmp/claude-0/-home-user-obsidian-work/c8998718-f22f-57a3-84c2-766db1d92b4c/scratchpad/deck/img/slot_title.jpg">    </p:cNvPr>
          <p:cNvPicPr>
            <a:picLocks noChangeAspect="1"/>
          </p:cNvPicPr>
          <p:nvPr/>
        </p:nvPicPr>
        <p:blipFill>
          <a:blip r:embed="rId1"/>
          <a:stretch>
            <a:fillRect/>
          </a:stretch>
        </p:blipFill>
        <p:spPr>
          <a:xfrm>
            <a:off x="0" y="0"/>
            <a:ext cx="12191695" cy="6858000"/>
          </a:xfrm>
          <a:prstGeom prst="rect">
            <a:avLst/>
          </a:prstGeom>
        </p:spPr>
      </p:pic>
      <p:pic>
        <p:nvPicPr>
          <p:cNvPr id="3" name="Image 1" descr="/tmp/claude-0/-home-user-obsidian-work/c8998718-f22f-57a3-84c2-766db1d92b4c/scratchpad/deck/img/fade_left.png">    </p:cNvPr>
          <p:cNvPicPr>
            <a:picLocks noChangeAspect="1"/>
          </p:cNvPicPr>
          <p:nvPr/>
        </p:nvPicPr>
        <p:blipFill>
          <a:blip r:embed="rId2"/>
          <a:stretch>
            <a:fillRect/>
          </a:stretch>
        </p:blipFill>
        <p:spPr>
          <a:xfrm>
            <a:off x="0" y="0"/>
            <a:ext cx="12191695" cy="6858000"/>
          </a:xfrm>
          <a:prstGeom prst="rect">
            <a:avLst/>
          </a:prstGeom>
        </p:spPr>
      </p:pic>
      <p:pic>
        <p:nvPicPr>
          <p:cNvPr id="4" name="Image 2" descr="/tmp/claude-0/-home-user-obsidian-work/c8998718-f22f-57a3-84c2-766db1d92b4c/scratchpad/deck/img/logo_white.png">    </p:cNvPr>
          <p:cNvPicPr>
            <a:picLocks noChangeAspect="1"/>
          </p:cNvPicPr>
          <p:nvPr/>
        </p:nvPicPr>
        <p:blipFill>
          <a:blip r:embed="rId3"/>
          <a:stretch>
            <a:fillRect/>
          </a:stretch>
        </p:blipFill>
        <p:spPr>
          <a:xfrm>
            <a:off x="640080" y="594360"/>
            <a:ext cx="3108960" cy="465883"/>
          </a:xfrm>
          <a:prstGeom prst="rect">
            <a:avLst/>
          </a:prstGeom>
        </p:spPr>
      </p:pic>
      <p:sp>
        <p:nvSpPr>
          <p:cNvPr id="5" name="Text 0"/>
          <p:cNvSpPr txBox="1"/>
          <p:nvPr/>
        </p:nvSpPr>
        <p:spPr>
          <a:xfrm>
            <a:off x="640080" y="2148840"/>
            <a:ext cx="6583680" cy="1737360"/>
          </a:xfrm>
          <a:prstGeom prst="rect">
            <a:avLst/>
          </a:prstGeom>
          <a:noFill/>
          <a:ln/>
        </p:spPr>
        <p:txBody>
          <a:bodyPr wrap="square" lIns="0" tIns="0" rIns="0" bIns="0" rtlCol="0" anchor="t"/>
          <a:lstStyle/>
          <a:p>
            <a:pPr indent="0" marL="0">
              <a:lnSpc>
                <a:spcPct val="95000"/>
              </a:lnSpc>
              <a:buNone/>
            </a:pPr>
            <a:r>
              <a:rPr lang="en-US" sz="4400" b="1" dirty="0">
                <a:solidFill>
                  <a:srgbClr val="FFFFFF"/>
                </a:solidFill>
                <a:latin typeface="Arial" pitchFamily="34" charset="0"/>
                <a:ea typeface="Arial" pitchFamily="34" charset="-122"/>
                <a:cs typeface="Arial" pitchFamily="34" charset="-120"/>
              </a:rPr>
              <a:t>LAR Heater Pigging</a:t>
            </a:r>
            <a:endParaRPr lang="en-US" sz="4400" dirty="0"/>
          </a:p>
          <a:p>
            <a:pPr indent="0" marL="0">
              <a:lnSpc>
                <a:spcPct val="95000"/>
              </a:lnSpc>
              <a:buNone/>
            </a:pPr>
            <a:r>
              <a:rPr lang="en-US" sz="4400" b="1" dirty="0">
                <a:solidFill>
                  <a:srgbClr val="FFFFFF"/>
                </a:solidFill>
                <a:latin typeface="Arial" pitchFamily="34" charset="0"/>
                <a:ea typeface="Arial" pitchFamily="34" charset="-122"/>
                <a:cs typeface="Arial" pitchFamily="34" charset="-120"/>
              </a:rPr>
              <a:t>&amp; Decoking Services</a:t>
            </a:r>
            <a:endParaRPr lang="en-US" sz="4400" dirty="0"/>
          </a:p>
        </p:txBody>
      </p:sp>
      <p:sp>
        <p:nvSpPr>
          <p:cNvPr id="6" name="Text 1"/>
          <p:cNvSpPr txBox="1"/>
          <p:nvPr/>
        </p:nvSpPr>
        <p:spPr>
          <a:xfrm>
            <a:off x="640080" y="3931920"/>
            <a:ext cx="6583680" cy="411480"/>
          </a:xfrm>
          <a:prstGeom prst="rect">
            <a:avLst/>
          </a:prstGeom>
          <a:noFill/>
          <a:ln/>
        </p:spPr>
        <p:txBody>
          <a:bodyPr wrap="square" lIns="0" tIns="0" rIns="0" bIns="0" rtlCol="0" anchor="ctr"/>
          <a:lstStyle/>
          <a:p>
            <a:pPr indent="0" marL="0">
              <a:buNone/>
            </a:pPr>
            <a:r>
              <a:rPr lang="en-US" sz="2000" b="1" dirty="0">
                <a:solidFill>
                  <a:srgbClr val="FCC30A"/>
                </a:solidFill>
                <a:latin typeface="Arial" pitchFamily="34" charset="0"/>
                <a:ea typeface="Arial" pitchFamily="34" charset="-122"/>
                <a:cs typeface="Arial" pitchFamily="34" charset="-120"/>
              </a:rPr>
              <a:t>Marathon Petroleum, Los Angeles Refinery</a:t>
            </a:r>
            <a:endParaRPr lang="en-US" sz="2000" dirty="0"/>
          </a:p>
        </p:txBody>
      </p:sp>
      <p:sp>
        <p:nvSpPr>
          <p:cNvPr id="7" name="Text 2"/>
          <p:cNvSpPr txBox="1"/>
          <p:nvPr/>
        </p:nvSpPr>
        <p:spPr>
          <a:xfrm>
            <a:off x="640080" y="4370832"/>
            <a:ext cx="6583680" cy="365760"/>
          </a:xfrm>
          <a:prstGeom prst="rect">
            <a:avLst/>
          </a:prstGeom>
          <a:noFill/>
          <a:ln/>
        </p:spPr>
        <p:txBody>
          <a:bodyPr wrap="square" lIns="0" tIns="0" rIns="0" bIns="0" rtlCol="0" anchor="ctr"/>
          <a:lstStyle/>
          <a:p>
            <a:pPr indent="0" marL="0">
              <a:buNone/>
            </a:pPr>
            <a:r>
              <a:rPr lang="en-US" sz="1600" dirty="0">
                <a:solidFill>
                  <a:srgbClr val="BDBDBD"/>
                </a:solidFill>
                <a:latin typeface="Arial" pitchFamily="34" charset="0"/>
                <a:ea typeface="Arial" pitchFamily="34" charset="-122"/>
                <a:cs typeface="Arial" pitchFamily="34" charset="-120"/>
              </a:rPr>
              <a:t>Carson Coker #1 &amp; #2, Wilmington DCU H-101</a:t>
            </a:r>
            <a:endParaRPr lang="en-US" sz="1600" dirty="0"/>
          </a:p>
        </p:txBody>
      </p:sp>
      <p:sp>
        <p:nvSpPr>
          <p:cNvPr id="8" name="Text 3"/>
          <p:cNvSpPr txBox="1"/>
          <p:nvPr/>
        </p:nvSpPr>
        <p:spPr>
          <a:xfrm>
            <a:off x="640080" y="5257800"/>
            <a:ext cx="6400800" cy="914400"/>
          </a:xfrm>
          <a:prstGeom prst="rect">
            <a:avLst/>
          </a:prstGeom>
          <a:noFill/>
          <a:ln/>
        </p:spPr>
        <p:txBody>
          <a:bodyPr wrap="square" lIns="0" tIns="0" rIns="0" bIns="0" rtlCol="0" anchor="t"/>
          <a:lstStyle/>
          <a:p>
            <a:pPr indent="0" marL="0">
              <a:spcAft>
                <a:spcPts val="200"/>
              </a:spcAft>
              <a:buNone/>
            </a:pPr>
            <a:r>
              <a:rPr lang="en-US" sz="1300" b="1" dirty="0">
                <a:solidFill>
                  <a:srgbClr val="FFFFFF"/>
                </a:solidFill>
                <a:latin typeface="Arial" pitchFamily="34" charset="0"/>
                <a:ea typeface="Arial" pitchFamily="34" charset="-122"/>
                <a:cs typeface="Arial" pitchFamily="34" charset="-120"/>
              </a:rPr>
              <a:t>Presented by Marshall Douglas</a:t>
            </a:r>
            <a:endParaRPr lang="en-US" sz="1300" dirty="0"/>
          </a:p>
          <a:p>
            <a:pPr indent="0" marL="0">
              <a:spcAft>
                <a:spcPts val="200"/>
              </a:spcAft>
              <a:buNone/>
            </a:pPr>
            <a:r>
              <a:rPr lang="en-US" sz="1300" dirty="0">
                <a:solidFill>
                  <a:srgbClr val="BDBDBD"/>
                </a:solidFill>
                <a:latin typeface="Arial" pitchFamily="34" charset="0"/>
                <a:ea typeface="Arial" pitchFamily="34" charset="-122"/>
                <a:cs typeface="Arial" pitchFamily="34" charset="-120"/>
              </a:rPr>
              <a:t>Director of Pigging Operations</a:t>
            </a:r>
            <a:endParaRPr lang="en-US" sz="1300" dirty="0"/>
          </a:p>
          <a:p>
            <a:pPr indent="0" marL="0">
              <a:spcAft>
                <a:spcPts val="200"/>
              </a:spcAft>
              <a:buNone/>
            </a:pPr>
            <a:r>
              <a:rPr lang="en-US" sz="1300" dirty="0">
                <a:solidFill>
                  <a:srgbClr val="8A8A8A"/>
                </a:solidFill>
                <a:latin typeface="Arial" pitchFamily="34" charset="0"/>
                <a:ea typeface="Arial" pitchFamily="34" charset="-122"/>
                <a:cs typeface="Arial" pitchFamily="34" charset="-120"/>
              </a:rPr>
              <a:t>DSP#26098  |  September 2026</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E1E1E"/>
        </a:solidFill>
      </p:bgPr>
    </p:bg>
    <p:spTree>
      <p:nvGrpSpPr>
        <p:cNvPr id="1" name=""/>
        <p:cNvGrpSpPr/>
        <p:nvPr/>
      </p:nvGrpSpPr>
      <p:grpSpPr>
        <a:xfrm>
          <a:off x="0" y="0"/>
          <a:ext cx="0" cy="0"/>
          <a:chOff x="0" y="0"/>
          <a:chExt cx="0" cy="0"/>
        </a:xfrm>
      </p:grpSpPr>
      <p:pic>
        <p:nvPicPr>
          <p:cNvPr id="2" name="Image 0" descr="/tmp/claude-0/-home-user-obsidian-work/c8998718-f22f-57a3-84c2-766db1d92b4c/scratchpad/deck/img/slot_agenda.jpg">    </p:cNvPr>
          <p:cNvPicPr>
            <a:picLocks noChangeAspect="1"/>
          </p:cNvPicPr>
          <p:nvPr/>
        </p:nvPicPr>
        <p:blipFill>
          <a:blip r:embed="rId1"/>
          <a:stretch>
            <a:fillRect/>
          </a:stretch>
        </p:blipFill>
        <p:spPr>
          <a:xfrm>
            <a:off x="0" y="0"/>
            <a:ext cx="4023360" cy="6858000"/>
          </a:xfrm>
          <a:prstGeom prst="rect">
            <a:avLst/>
          </a:prstGeom>
        </p:spPr>
      </p:pic>
      <p:sp>
        <p:nvSpPr>
          <p:cNvPr id="3" name="Text 0"/>
          <p:cNvSpPr txBox="1"/>
          <p:nvPr/>
        </p:nvSpPr>
        <p:spPr>
          <a:xfrm>
            <a:off x="4572000" y="548640"/>
            <a:ext cx="6400800" cy="640080"/>
          </a:xfrm>
          <a:prstGeom prst="rect">
            <a:avLst/>
          </a:prstGeom>
          <a:noFill/>
          <a:ln/>
        </p:spPr>
        <p:txBody>
          <a:bodyPr wrap="square" lIns="0" tIns="0" rIns="0" bIns="0" rtlCol="0" anchor="ctr"/>
          <a:lstStyle/>
          <a:p>
            <a:pPr indent="0" marL="0">
              <a:buNone/>
            </a:pPr>
            <a:r>
              <a:rPr lang="en-US" sz="3400" b="1" dirty="0">
                <a:solidFill>
                  <a:srgbClr val="FFFFFF"/>
                </a:solidFill>
                <a:latin typeface="Arial" pitchFamily="34" charset="0"/>
                <a:ea typeface="Arial" pitchFamily="34" charset="-122"/>
                <a:cs typeface="Arial" pitchFamily="34" charset="-120"/>
              </a:rPr>
              <a:t>Agenda</a:t>
            </a:r>
            <a:endParaRPr lang="en-US" sz="3400" dirty="0"/>
          </a:p>
        </p:txBody>
      </p:sp>
      <p:sp>
        <p:nvSpPr>
          <p:cNvPr id="4" name="Text 1"/>
          <p:cNvSpPr txBox="1"/>
          <p:nvPr/>
        </p:nvSpPr>
        <p:spPr>
          <a:xfrm>
            <a:off x="4572000" y="1188720"/>
            <a:ext cx="6858000" cy="365760"/>
          </a:xfrm>
          <a:prstGeom prst="rect">
            <a:avLst/>
          </a:prstGeom>
          <a:noFill/>
          <a:ln/>
        </p:spPr>
        <p:txBody>
          <a:bodyPr wrap="square" lIns="0" tIns="0" rIns="0" bIns="0" rtlCol="0" anchor="ctr"/>
          <a:lstStyle/>
          <a:p>
            <a:pPr indent="0" marL="0">
              <a:buNone/>
            </a:pPr>
            <a:r>
              <a:rPr lang="en-US" sz="1500" dirty="0">
                <a:solidFill>
                  <a:srgbClr val="BDBDBD"/>
                </a:solidFill>
                <a:latin typeface="Arial" pitchFamily="34" charset="0"/>
                <a:ea typeface="Arial" pitchFamily="34" charset="-122"/>
                <a:cs typeface="Arial" pitchFamily="34" charset="-120"/>
              </a:rPr>
              <a:t>Structured to the evaluation team's ten discussion points</a:t>
            </a:r>
            <a:endParaRPr lang="en-US" sz="1500" dirty="0"/>
          </a:p>
        </p:txBody>
      </p:sp>
      <p:sp>
        <p:nvSpPr>
          <p:cNvPr id="5" name="Text 2"/>
          <p:cNvSpPr txBox="1"/>
          <p:nvPr/>
        </p:nvSpPr>
        <p:spPr>
          <a:xfrm>
            <a:off x="4572000" y="2011680"/>
            <a:ext cx="685800" cy="548640"/>
          </a:xfrm>
          <a:prstGeom prst="rect">
            <a:avLst/>
          </a:prstGeom>
          <a:noFill/>
          <a:ln/>
        </p:spPr>
        <p:txBody>
          <a:bodyPr wrap="square" lIns="0" tIns="0" rIns="0" bIns="0" rtlCol="0" anchor="ctr"/>
          <a:lstStyle/>
          <a:p>
            <a:pPr indent="0" marL="0">
              <a:buNone/>
            </a:pPr>
            <a:r>
              <a:rPr lang="en-US" sz="2600" b="1" dirty="0">
                <a:solidFill>
                  <a:srgbClr val="FCC30A"/>
                </a:solidFill>
                <a:latin typeface="Arial" pitchFamily="34" charset="0"/>
                <a:ea typeface="Arial" pitchFamily="34" charset="-122"/>
                <a:cs typeface="Arial" pitchFamily="34" charset="-120"/>
              </a:rPr>
              <a:t>01</a:t>
            </a:r>
            <a:endParaRPr lang="en-US" sz="2600" dirty="0"/>
          </a:p>
        </p:txBody>
      </p:sp>
      <p:sp>
        <p:nvSpPr>
          <p:cNvPr id="6" name="Text 3"/>
          <p:cNvSpPr txBox="1"/>
          <p:nvPr/>
        </p:nvSpPr>
        <p:spPr>
          <a:xfrm>
            <a:off x="5303520" y="2011680"/>
            <a:ext cx="2880360" cy="548640"/>
          </a:xfrm>
          <a:prstGeom prst="rect">
            <a:avLst/>
          </a:prstGeom>
          <a:noFill/>
          <a:ln/>
        </p:spPr>
        <p:txBody>
          <a:bodyPr wrap="square" lIns="0" tIns="0" rIns="0" bIns="0" rtlCol="0" anchor="ctr"/>
          <a:lstStyle/>
          <a:p>
            <a:pPr indent="0" marL="0">
              <a:buNone/>
            </a:pPr>
            <a:r>
              <a:rPr lang="en-US" sz="1500" dirty="0">
                <a:solidFill>
                  <a:srgbClr val="FFFFFF"/>
                </a:solidFill>
                <a:latin typeface="Arial" pitchFamily="34" charset="0"/>
                <a:ea typeface="Arial" pitchFamily="34" charset="-122"/>
                <a:cs typeface="Arial" pitchFamily="34" charset="-120"/>
              </a:rPr>
              <a:t>Pigging &amp; decoking methodology</a:t>
            </a:r>
            <a:endParaRPr lang="en-US" sz="1500" dirty="0"/>
          </a:p>
        </p:txBody>
      </p:sp>
      <p:sp>
        <p:nvSpPr>
          <p:cNvPr id="7" name="Text 4"/>
          <p:cNvSpPr txBox="1"/>
          <p:nvPr/>
        </p:nvSpPr>
        <p:spPr>
          <a:xfrm>
            <a:off x="4572000" y="2834640"/>
            <a:ext cx="685800" cy="548640"/>
          </a:xfrm>
          <a:prstGeom prst="rect">
            <a:avLst/>
          </a:prstGeom>
          <a:noFill/>
          <a:ln/>
        </p:spPr>
        <p:txBody>
          <a:bodyPr wrap="square" lIns="0" tIns="0" rIns="0" bIns="0" rtlCol="0" anchor="ctr"/>
          <a:lstStyle/>
          <a:p>
            <a:pPr indent="0" marL="0">
              <a:buNone/>
            </a:pPr>
            <a:r>
              <a:rPr lang="en-US" sz="2600" b="1" dirty="0">
                <a:solidFill>
                  <a:srgbClr val="FCC30A"/>
                </a:solidFill>
                <a:latin typeface="Arial" pitchFamily="34" charset="0"/>
                <a:ea typeface="Arial" pitchFamily="34" charset="-122"/>
                <a:cs typeface="Arial" pitchFamily="34" charset="-120"/>
              </a:rPr>
              <a:t>02</a:t>
            </a:r>
            <a:endParaRPr lang="en-US" sz="2600" dirty="0"/>
          </a:p>
        </p:txBody>
      </p:sp>
      <p:sp>
        <p:nvSpPr>
          <p:cNvPr id="8" name="Text 5"/>
          <p:cNvSpPr txBox="1"/>
          <p:nvPr/>
        </p:nvSpPr>
        <p:spPr>
          <a:xfrm>
            <a:off x="5303520" y="2834640"/>
            <a:ext cx="2880360" cy="548640"/>
          </a:xfrm>
          <a:prstGeom prst="rect">
            <a:avLst/>
          </a:prstGeom>
          <a:noFill/>
          <a:ln/>
        </p:spPr>
        <p:txBody>
          <a:bodyPr wrap="square" lIns="0" tIns="0" rIns="0" bIns="0" rtlCol="0" anchor="ctr"/>
          <a:lstStyle/>
          <a:p>
            <a:pPr indent="0" marL="0">
              <a:buNone/>
            </a:pPr>
            <a:r>
              <a:rPr lang="en-US" sz="1500" dirty="0">
                <a:solidFill>
                  <a:srgbClr val="FFFFFF"/>
                </a:solidFill>
                <a:latin typeface="Arial" pitchFamily="34" charset="0"/>
                <a:ea typeface="Arial" pitchFamily="34" charset="-122"/>
                <a:cs typeface="Arial" pitchFamily="34" charset="-120"/>
              </a:rPr>
              <a:t>Execution plan &amp; schedule</a:t>
            </a:r>
            <a:endParaRPr lang="en-US" sz="1500" dirty="0"/>
          </a:p>
        </p:txBody>
      </p:sp>
      <p:sp>
        <p:nvSpPr>
          <p:cNvPr id="9" name="Text 6"/>
          <p:cNvSpPr txBox="1"/>
          <p:nvPr/>
        </p:nvSpPr>
        <p:spPr>
          <a:xfrm>
            <a:off x="4572000" y="3657600"/>
            <a:ext cx="685800" cy="548640"/>
          </a:xfrm>
          <a:prstGeom prst="rect">
            <a:avLst/>
          </a:prstGeom>
          <a:noFill/>
          <a:ln/>
        </p:spPr>
        <p:txBody>
          <a:bodyPr wrap="square" lIns="0" tIns="0" rIns="0" bIns="0" rtlCol="0" anchor="ctr"/>
          <a:lstStyle/>
          <a:p>
            <a:pPr indent="0" marL="0">
              <a:buNone/>
            </a:pPr>
            <a:r>
              <a:rPr lang="en-US" sz="2600" b="1" dirty="0">
                <a:solidFill>
                  <a:srgbClr val="FCC30A"/>
                </a:solidFill>
                <a:latin typeface="Arial" pitchFamily="34" charset="0"/>
                <a:ea typeface="Arial" pitchFamily="34" charset="-122"/>
                <a:cs typeface="Arial" pitchFamily="34" charset="-120"/>
              </a:rPr>
              <a:t>03</a:t>
            </a:r>
            <a:endParaRPr lang="en-US" sz="2600" dirty="0"/>
          </a:p>
        </p:txBody>
      </p:sp>
      <p:sp>
        <p:nvSpPr>
          <p:cNvPr id="10" name="Text 7"/>
          <p:cNvSpPr txBox="1"/>
          <p:nvPr/>
        </p:nvSpPr>
        <p:spPr>
          <a:xfrm>
            <a:off x="5303520" y="3657600"/>
            <a:ext cx="2880360" cy="548640"/>
          </a:xfrm>
          <a:prstGeom prst="rect">
            <a:avLst/>
          </a:prstGeom>
          <a:noFill/>
          <a:ln/>
        </p:spPr>
        <p:txBody>
          <a:bodyPr wrap="square" lIns="0" tIns="0" rIns="0" bIns="0" rtlCol="0" anchor="ctr"/>
          <a:lstStyle/>
          <a:p>
            <a:pPr indent="0" marL="0">
              <a:buNone/>
            </a:pPr>
            <a:r>
              <a:rPr lang="en-US" sz="1500" dirty="0">
                <a:solidFill>
                  <a:srgbClr val="FFFFFF"/>
                </a:solidFill>
                <a:latin typeface="Arial" pitchFamily="34" charset="0"/>
                <a:ea typeface="Arial" pitchFamily="34" charset="-122"/>
                <a:cs typeface="Arial" pitchFamily="34" charset="-120"/>
              </a:rPr>
              <a:t>Operational readiness &amp; resources</a:t>
            </a:r>
            <a:endParaRPr lang="en-US" sz="1500" dirty="0"/>
          </a:p>
        </p:txBody>
      </p:sp>
      <p:sp>
        <p:nvSpPr>
          <p:cNvPr id="11" name="Text 8"/>
          <p:cNvSpPr txBox="1"/>
          <p:nvPr/>
        </p:nvSpPr>
        <p:spPr>
          <a:xfrm>
            <a:off x="4572000" y="4480560"/>
            <a:ext cx="685800" cy="548640"/>
          </a:xfrm>
          <a:prstGeom prst="rect">
            <a:avLst/>
          </a:prstGeom>
          <a:noFill/>
          <a:ln/>
        </p:spPr>
        <p:txBody>
          <a:bodyPr wrap="square" lIns="0" tIns="0" rIns="0" bIns="0" rtlCol="0" anchor="ctr"/>
          <a:lstStyle/>
          <a:p>
            <a:pPr indent="0" marL="0">
              <a:buNone/>
            </a:pPr>
            <a:r>
              <a:rPr lang="en-US" sz="2600" b="1" dirty="0">
                <a:solidFill>
                  <a:srgbClr val="FCC30A"/>
                </a:solidFill>
                <a:latin typeface="Arial" pitchFamily="34" charset="0"/>
                <a:ea typeface="Arial" pitchFamily="34" charset="-122"/>
                <a:cs typeface="Arial" pitchFamily="34" charset="-120"/>
              </a:rPr>
              <a:t>04</a:t>
            </a:r>
            <a:endParaRPr lang="en-US" sz="2600" dirty="0"/>
          </a:p>
        </p:txBody>
      </p:sp>
      <p:sp>
        <p:nvSpPr>
          <p:cNvPr id="12" name="Text 9"/>
          <p:cNvSpPr txBox="1"/>
          <p:nvPr/>
        </p:nvSpPr>
        <p:spPr>
          <a:xfrm>
            <a:off x="5303520" y="4480560"/>
            <a:ext cx="2880360" cy="548640"/>
          </a:xfrm>
          <a:prstGeom prst="rect">
            <a:avLst/>
          </a:prstGeom>
          <a:noFill/>
          <a:ln/>
        </p:spPr>
        <p:txBody>
          <a:bodyPr wrap="square" lIns="0" tIns="0" rIns="0" bIns="0" rtlCol="0" anchor="ctr"/>
          <a:lstStyle/>
          <a:p>
            <a:pPr indent="0" marL="0">
              <a:buNone/>
            </a:pPr>
            <a:r>
              <a:rPr lang="en-US" sz="1500" dirty="0">
                <a:solidFill>
                  <a:srgbClr val="FFFFFF"/>
                </a:solidFill>
                <a:latin typeface="Arial" pitchFamily="34" charset="0"/>
                <a:ea typeface="Arial" pitchFamily="34" charset="-122"/>
                <a:cs typeface="Arial" pitchFamily="34" charset="-120"/>
              </a:rPr>
              <a:t>Equipment &amp; technology</a:t>
            </a:r>
            <a:endParaRPr lang="en-US" sz="1500" dirty="0"/>
          </a:p>
        </p:txBody>
      </p:sp>
      <p:sp>
        <p:nvSpPr>
          <p:cNvPr id="13" name="Text 10"/>
          <p:cNvSpPr txBox="1"/>
          <p:nvPr/>
        </p:nvSpPr>
        <p:spPr>
          <a:xfrm>
            <a:off x="4572000" y="5303520"/>
            <a:ext cx="685800" cy="548640"/>
          </a:xfrm>
          <a:prstGeom prst="rect">
            <a:avLst/>
          </a:prstGeom>
          <a:noFill/>
          <a:ln/>
        </p:spPr>
        <p:txBody>
          <a:bodyPr wrap="square" lIns="0" tIns="0" rIns="0" bIns="0" rtlCol="0" anchor="ctr"/>
          <a:lstStyle/>
          <a:p>
            <a:pPr indent="0" marL="0">
              <a:buNone/>
            </a:pPr>
            <a:r>
              <a:rPr lang="en-US" sz="2600" b="1" dirty="0">
                <a:solidFill>
                  <a:srgbClr val="FCC30A"/>
                </a:solidFill>
                <a:latin typeface="Arial" pitchFamily="34" charset="0"/>
                <a:ea typeface="Arial" pitchFamily="34" charset="-122"/>
                <a:cs typeface="Arial" pitchFamily="34" charset="-120"/>
              </a:rPr>
              <a:t>05</a:t>
            </a:r>
            <a:endParaRPr lang="en-US" sz="2600" dirty="0"/>
          </a:p>
        </p:txBody>
      </p:sp>
      <p:sp>
        <p:nvSpPr>
          <p:cNvPr id="14" name="Text 11"/>
          <p:cNvSpPr txBox="1"/>
          <p:nvPr/>
        </p:nvSpPr>
        <p:spPr>
          <a:xfrm>
            <a:off x="5303520" y="5303520"/>
            <a:ext cx="2880360" cy="548640"/>
          </a:xfrm>
          <a:prstGeom prst="rect">
            <a:avLst/>
          </a:prstGeom>
          <a:noFill/>
          <a:ln/>
        </p:spPr>
        <p:txBody>
          <a:bodyPr wrap="square" lIns="0" tIns="0" rIns="0" bIns="0" rtlCol="0" anchor="ctr"/>
          <a:lstStyle/>
          <a:p>
            <a:pPr indent="0" marL="0">
              <a:buNone/>
            </a:pPr>
            <a:r>
              <a:rPr lang="en-US" sz="1500" dirty="0">
                <a:solidFill>
                  <a:srgbClr val="FFFFFF"/>
                </a:solidFill>
                <a:latin typeface="Arial" pitchFamily="34" charset="0"/>
                <a:ea typeface="Arial" pitchFamily="34" charset="-122"/>
                <a:cs typeface="Arial" pitchFamily="34" charset="-120"/>
              </a:rPr>
              <a:t>Cleanliness verification &amp; QA/QC</a:t>
            </a:r>
            <a:endParaRPr lang="en-US" sz="1500" dirty="0"/>
          </a:p>
        </p:txBody>
      </p:sp>
      <p:sp>
        <p:nvSpPr>
          <p:cNvPr id="15" name="Text 12"/>
          <p:cNvSpPr txBox="1"/>
          <p:nvPr/>
        </p:nvSpPr>
        <p:spPr>
          <a:xfrm>
            <a:off x="8321040" y="2011680"/>
            <a:ext cx="685800" cy="548640"/>
          </a:xfrm>
          <a:prstGeom prst="rect">
            <a:avLst/>
          </a:prstGeom>
          <a:noFill/>
          <a:ln/>
        </p:spPr>
        <p:txBody>
          <a:bodyPr wrap="square" lIns="0" tIns="0" rIns="0" bIns="0" rtlCol="0" anchor="ctr"/>
          <a:lstStyle/>
          <a:p>
            <a:pPr indent="0" marL="0">
              <a:buNone/>
            </a:pPr>
            <a:r>
              <a:rPr lang="en-US" sz="2600" b="1" dirty="0">
                <a:solidFill>
                  <a:srgbClr val="FCC30A"/>
                </a:solidFill>
                <a:latin typeface="Arial" pitchFamily="34" charset="0"/>
                <a:ea typeface="Arial" pitchFamily="34" charset="-122"/>
                <a:cs typeface="Arial" pitchFamily="34" charset="-120"/>
              </a:rPr>
              <a:t>06</a:t>
            </a:r>
            <a:endParaRPr lang="en-US" sz="2600" dirty="0"/>
          </a:p>
        </p:txBody>
      </p:sp>
      <p:sp>
        <p:nvSpPr>
          <p:cNvPr id="16" name="Text 13"/>
          <p:cNvSpPr txBox="1"/>
          <p:nvPr/>
        </p:nvSpPr>
        <p:spPr>
          <a:xfrm>
            <a:off x="9052560" y="2011680"/>
            <a:ext cx="2880360" cy="548640"/>
          </a:xfrm>
          <a:prstGeom prst="rect">
            <a:avLst/>
          </a:prstGeom>
          <a:noFill/>
          <a:ln/>
        </p:spPr>
        <p:txBody>
          <a:bodyPr wrap="square" lIns="0" tIns="0" rIns="0" bIns="0" rtlCol="0" anchor="ctr"/>
          <a:lstStyle/>
          <a:p>
            <a:pPr indent="0" marL="0">
              <a:buNone/>
            </a:pPr>
            <a:r>
              <a:rPr lang="en-US" sz="1500" dirty="0">
                <a:solidFill>
                  <a:srgbClr val="FFFFFF"/>
                </a:solidFill>
                <a:latin typeface="Arial" pitchFamily="34" charset="0"/>
                <a:ea typeface="Arial" pitchFamily="34" charset="-122"/>
                <a:cs typeface="Arial" pitchFamily="34" charset="-120"/>
              </a:rPr>
              <a:t>Emergency response &amp; local resources</a:t>
            </a:r>
            <a:endParaRPr lang="en-US" sz="1500" dirty="0"/>
          </a:p>
        </p:txBody>
      </p:sp>
      <p:sp>
        <p:nvSpPr>
          <p:cNvPr id="17" name="Text 14"/>
          <p:cNvSpPr txBox="1"/>
          <p:nvPr/>
        </p:nvSpPr>
        <p:spPr>
          <a:xfrm>
            <a:off x="8321040" y="2834640"/>
            <a:ext cx="685800" cy="548640"/>
          </a:xfrm>
          <a:prstGeom prst="rect">
            <a:avLst/>
          </a:prstGeom>
          <a:noFill/>
          <a:ln/>
        </p:spPr>
        <p:txBody>
          <a:bodyPr wrap="square" lIns="0" tIns="0" rIns="0" bIns="0" rtlCol="0" anchor="ctr"/>
          <a:lstStyle/>
          <a:p>
            <a:pPr indent="0" marL="0">
              <a:buNone/>
            </a:pPr>
            <a:r>
              <a:rPr lang="en-US" sz="2600" b="1" dirty="0">
                <a:solidFill>
                  <a:srgbClr val="FCC30A"/>
                </a:solidFill>
                <a:latin typeface="Arial" pitchFamily="34" charset="0"/>
                <a:ea typeface="Arial" pitchFamily="34" charset="-122"/>
                <a:cs typeface="Arial" pitchFamily="34" charset="-120"/>
              </a:rPr>
              <a:t>07</a:t>
            </a:r>
            <a:endParaRPr lang="en-US" sz="2600" dirty="0"/>
          </a:p>
        </p:txBody>
      </p:sp>
      <p:sp>
        <p:nvSpPr>
          <p:cNvPr id="18" name="Text 15"/>
          <p:cNvSpPr txBox="1"/>
          <p:nvPr/>
        </p:nvSpPr>
        <p:spPr>
          <a:xfrm>
            <a:off x="9052560" y="2834640"/>
            <a:ext cx="2880360" cy="548640"/>
          </a:xfrm>
          <a:prstGeom prst="rect">
            <a:avLst/>
          </a:prstGeom>
          <a:noFill/>
          <a:ln/>
        </p:spPr>
        <p:txBody>
          <a:bodyPr wrap="square" lIns="0" tIns="0" rIns="0" bIns="0" rtlCol="0" anchor="ctr"/>
          <a:lstStyle/>
          <a:p>
            <a:pPr indent="0" marL="0">
              <a:buNone/>
            </a:pPr>
            <a:r>
              <a:rPr lang="en-US" sz="1500" dirty="0">
                <a:solidFill>
                  <a:srgbClr val="FFFFFF"/>
                </a:solidFill>
                <a:latin typeface="Arial" pitchFamily="34" charset="0"/>
                <a:ea typeface="Arial" pitchFamily="34" charset="-122"/>
                <a:cs typeface="Arial" pitchFamily="34" charset="-120"/>
              </a:rPr>
              <a:t>Safety &amp; risk mitigation</a:t>
            </a:r>
            <a:endParaRPr lang="en-US" sz="1500" dirty="0"/>
          </a:p>
        </p:txBody>
      </p:sp>
      <p:sp>
        <p:nvSpPr>
          <p:cNvPr id="19" name="Text 16"/>
          <p:cNvSpPr txBox="1"/>
          <p:nvPr/>
        </p:nvSpPr>
        <p:spPr>
          <a:xfrm>
            <a:off x="8321040" y="3657600"/>
            <a:ext cx="685800" cy="548640"/>
          </a:xfrm>
          <a:prstGeom prst="rect">
            <a:avLst/>
          </a:prstGeom>
          <a:noFill/>
          <a:ln/>
        </p:spPr>
        <p:txBody>
          <a:bodyPr wrap="square" lIns="0" tIns="0" rIns="0" bIns="0" rtlCol="0" anchor="ctr"/>
          <a:lstStyle/>
          <a:p>
            <a:pPr indent="0" marL="0">
              <a:buNone/>
            </a:pPr>
            <a:r>
              <a:rPr lang="en-US" sz="2600" b="1" dirty="0">
                <a:solidFill>
                  <a:srgbClr val="FCC30A"/>
                </a:solidFill>
                <a:latin typeface="Arial" pitchFamily="34" charset="0"/>
                <a:ea typeface="Arial" pitchFamily="34" charset="-122"/>
                <a:cs typeface="Arial" pitchFamily="34" charset="-120"/>
              </a:rPr>
              <a:t>08</a:t>
            </a:r>
            <a:endParaRPr lang="en-US" sz="2600" dirty="0"/>
          </a:p>
        </p:txBody>
      </p:sp>
      <p:sp>
        <p:nvSpPr>
          <p:cNvPr id="20" name="Text 17"/>
          <p:cNvSpPr txBox="1"/>
          <p:nvPr/>
        </p:nvSpPr>
        <p:spPr>
          <a:xfrm>
            <a:off x="9052560" y="3657600"/>
            <a:ext cx="2880360" cy="548640"/>
          </a:xfrm>
          <a:prstGeom prst="rect">
            <a:avLst/>
          </a:prstGeom>
          <a:noFill/>
          <a:ln/>
        </p:spPr>
        <p:txBody>
          <a:bodyPr wrap="square" lIns="0" tIns="0" rIns="0" bIns="0" rtlCol="0" anchor="ctr"/>
          <a:lstStyle/>
          <a:p>
            <a:pPr indent="0" marL="0">
              <a:buNone/>
            </a:pPr>
            <a:r>
              <a:rPr lang="en-US" sz="1500" dirty="0">
                <a:solidFill>
                  <a:srgbClr val="FFFFFF"/>
                </a:solidFill>
                <a:latin typeface="Arial" pitchFamily="34" charset="0"/>
                <a:ea typeface="Arial" pitchFamily="34" charset="-122"/>
                <a:cs typeface="Arial" pitchFamily="34" charset="-120"/>
              </a:rPr>
              <a:t>Best practices, capabilities &amp; innovation</a:t>
            </a:r>
            <a:endParaRPr lang="en-US" sz="1500" dirty="0"/>
          </a:p>
        </p:txBody>
      </p:sp>
      <p:sp>
        <p:nvSpPr>
          <p:cNvPr id="21" name="Text 18"/>
          <p:cNvSpPr txBox="1"/>
          <p:nvPr/>
        </p:nvSpPr>
        <p:spPr>
          <a:xfrm>
            <a:off x="8321040" y="4480560"/>
            <a:ext cx="685800" cy="548640"/>
          </a:xfrm>
          <a:prstGeom prst="rect">
            <a:avLst/>
          </a:prstGeom>
          <a:noFill/>
          <a:ln/>
        </p:spPr>
        <p:txBody>
          <a:bodyPr wrap="square" lIns="0" tIns="0" rIns="0" bIns="0" rtlCol="0" anchor="ctr"/>
          <a:lstStyle/>
          <a:p>
            <a:pPr indent="0" marL="0">
              <a:buNone/>
            </a:pPr>
            <a:r>
              <a:rPr lang="en-US" sz="2600" b="1" dirty="0">
                <a:solidFill>
                  <a:srgbClr val="FCC30A"/>
                </a:solidFill>
                <a:latin typeface="Arial" pitchFamily="34" charset="0"/>
                <a:ea typeface="Arial" pitchFamily="34" charset="-122"/>
                <a:cs typeface="Arial" pitchFamily="34" charset="-120"/>
              </a:rPr>
              <a:t>09</a:t>
            </a:r>
            <a:endParaRPr lang="en-US" sz="2600" dirty="0"/>
          </a:p>
        </p:txBody>
      </p:sp>
      <p:sp>
        <p:nvSpPr>
          <p:cNvPr id="22" name="Text 19"/>
          <p:cNvSpPr txBox="1"/>
          <p:nvPr/>
        </p:nvSpPr>
        <p:spPr>
          <a:xfrm>
            <a:off x="9052560" y="4480560"/>
            <a:ext cx="2880360" cy="548640"/>
          </a:xfrm>
          <a:prstGeom prst="rect">
            <a:avLst/>
          </a:prstGeom>
          <a:noFill/>
          <a:ln/>
        </p:spPr>
        <p:txBody>
          <a:bodyPr wrap="square" lIns="0" tIns="0" rIns="0" bIns="0" rtlCol="0" anchor="ctr"/>
          <a:lstStyle/>
          <a:p>
            <a:pPr indent="0" marL="0">
              <a:buNone/>
            </a:pPr>
            <a:r>
              <a:rPr lang="en-US" sz="1500" dirty="0">
                <a:solidFill>
                  <a:srgbClr val="FFFFFF"/>
                </a:solidFill>
                <a:latin typeface="Arial" pitchFamily="34" charset="0"/>
                <a:ea typeface="Arial" pitchFamily="34" charset="-122"/>
                <a:cs typeface="Arial" pitchFamily="34" charset="-120"/>
              </a:rPr>
              <a:t>MPC references &amp; case studies</a:t>
            </a:r>
            <a:endParaRPr lang="en-US" sz="1500" dirty="0"/>
          </a:p>
        </p:txBody>
      </p:sp>
      <p:sp>
        <p:nvSpPr>
          <p:cNvPr id="23" name="Text 20"/>
          <p:cNvSpPr txBox="1"/>
          <p:nvPr/>
        </p:nvSpPr>
        <p:spPr>
          <a:xfrm>
            <a:off x="8321040" y="5303520"/>
            <a:ext cx="685800" cy="548640"/>
          </a:xfrm>
          <a:prstGeom prst="rect">
            <a:avLst/>
          </a:prstGeom>
          <a:noFill/>
          <a:ln/>
        </p:spPr>
        <p:txBody>
          <a:bodyPr wrap="square" lIns="0" tIns="0" rIns="0" bIns="0" rtlCol="0" anchor="ctr"/>
          <a:lstStyle/>
          <a:p>
            <a:pPr indent="0" marL="0">
              <a:buNone/>
            </a:pPr>
            <a:r>
              <a:rPr lang="en-US" sz="2600" b="1" dirty="0">
                <a:solidFill>
                  <a:srgbClr val="FCC30A"/>
                </a:solidFill>
                <a:latin typeface="Arial" pitchFamily="34" charset="0"/>
                <a:ea typeface="Arial" pitchFamily="34" charset="-122"/>
                <a:cs typeface="Arial" pitchFamily="34" charset="-120"/>
              </a:rPr>
              <a:t>10</a:t>
            </a:r>
            <a:endParaRPr lang="en-US" sz="2600" dirty="0"/>
          </a:p>
        </p:txBody>
      </p:sp>
      <p:sp>
        <p:nvSpPr>
          <p:cNvPr id="24" name="Text 21"/>
          <p:cNvSpPr txBox="1"/>
          <p:nvPr/>
        </p:nvSpPr>
        <p:spPr>
          <a:xfrm>
            <a:off x="9052560" y="5303520"/>
            <a:ext cx="2880360" cy="548640"/>
          </a:xfrm>
          <a:prstGeom prst="rect">
            <a:avLst/>
          </a:prstGeom>
          <a:noFill/>
          <a:ln/>
        </p:spPr>
        <p:txBody>
          <a:bodyPr wrap="square" lIns="0" tIns="0" rIns="0" bIns="0" rtlCol="0" anchor="ctr"/>
          <a:lstStyle/>
          <a:p>
            <a:pPr indent="0" marL="0">
              <a:buNone/>
            </a:pPr>
            <a:r>
              <a:rPr lang="en-US" sz="1500" dirty="0">
                <a:solidFill>
                  <a:srgbClr val="FFFFFF"/>
                </a:solidFill>
                <a:latin typeface="Arial" pitchFamily="34" charset="0"/>
                <a:ea typeface="Arial" pitchFamily="34" charset="-122"/>
                <a:cs typeface="Arial" pitchFamily="34" charset="-120"/>
              </a:rPr>
              <a:t>Why USA DeBusk</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pic>
        <p:nvPicPr>
          <p:cNvPr id="2" name="Image 0" descr="/tmp/claude-0/-home-user-obsidian-work/c8998718-f22f-57a3-84c2-766db1d92b4c/scratchpad/deck/img/slot_lar.jpg">    </p:cNvPr>
          <p:cNvPicPr>
            <a:picLocks noChangeAspect="1"/>
          </p:cNvPicPr>
          <p:nvPr/>
        </p:nvPicPr>
        <p:blipFill>
          <a:blip r:embed="rId1"/>
          <a:stretch>
            <a:fillRect/>
          </a:stretch>
        </p:blipFill>
        <p:spPr>
          <a:xfrm>
            <a:off x="8531352" y="0"/>
            <a:ext cx="3657600" cy="6858000"/>
          </a:xfrm>
          <a:prstGeom prst="rect">
            <a:avLst/>
          </a:prstGeom>
        </p:spPr>
      </p:pic>
      <p:sp>
        <p:nvSpPr>
          <p:cNvPr id="3" name="Text 0"/>
          <p:cNvSpPr txBox="1"/>
          <p:nvPr/>
        </p:nvSpPr>
        <p:spPr>
          <a:xfrm>
            <a:off x="8714232" y="5394960"/>
            <a:ext cx="3291840" cy="457200"/>
          </a:xfrm>
          <a:prstGeom prst="rect">
            <a:avLst/>
          </a:prstGeom>
          <a:noFill/>
          <a:ln/>
        </p:spPr>
        <p:txBody>
          <a:bodyPr wrap="square" lIns="0" tIns="0" rIns="0" bIns="0" rtlCol="0" anchor="t"/>
          <a:lstStyle/>
          <a:p>
            <a:pPr algn="ctr" indent="0" marL="0">
              <a:buNone/>
            </a:pPr>
            <a:r>
              <a:rPr lang="en-US" sz="1100" b="1" dirty="0">
                <a:solidFill>
                  <a:srgbClr val="FFFFFF"/>
                </a:solidFill>
                <a:latin typeface="Arial" pitchFamily="34" charset="0"/>
                <a:ea typeface="Arial" pitchFamily="34" charset="-122"/>
                <a:cs typeface="Arial" pitchFamily="34" charset="-120"/>
              </a:rPr>
              <a:t>Marathon Los Angeles Refinery</a:t>
            </a:r>
            <a:endParaRPr lang="en-US" sz="1100" dirty="0"/>
          </a:p>
          <a:p>
            <a:pPr algn="ctr" indent="0" marL="0">
              <a:buNone/>
            </a:pPr>
            <a:r>
              <a:rPr lang="en-US" sz="1100" b="1" dirty="0">
                <a:solidFill>
                  <a:srgbClr val="FFFFFF"/>
                </a:solidFill>
                <a:latin typeface="Arial" pitchFamily="34" charset="0"/>
                <a:ea typeface="Arial" pitchFamily="34" charset="-122"/>
                <a:cs typeface="Arial" pitchFamily="34" charset="-120"/>
              </a:rPr>
              <a:t>Carson delayed coker</a:t>
            </a:r>
            <a:endParaRPr lang="en-US" sz="1100" dirty="0"/>
          </a:p>
        </p:txBody>
      </p:sp>
      <p:sp>
        <p:nvSpPr>
          <p:cNvPr id="4" name="Text 1"/>
          <p:cNvSpPr txBox="1"/>
          <p:nvPr/>
        </p:nvSpPr>
        <p:spPr>
          <a:xfrm>
            <a:off x="8714232" y="5897880"/>
            <a:ext cx="3291840" cy="228600"/>
          </a:xfrm>
          <a:prstGeom prst="rect">
            <a:avLst/>
          </a:prstGeom>
          <a:noFill/>
          <a:ln/>
        </p:spPr>
        <p:txBody>
          <a:bodyPr wrap="square" lIns="0" tIns="0" rIns="0" bIns="0" rtlCol="0" anchor="ctr"/>
          <a:lstStyle/>
          <a:p>
            <a:pPr algn="ctr" indent="0" marL="0">
              <a:buNone/>
            </a:pPr>
            <a:r>
              <a:rPr lang="en-US" sz="900" dirty="0">
                <a:solidFill>
                  <a:srgbClr val="BDBDBD"/>
                </a:solidFill>
                <a:latin typeface="Arial" pitchFamily="34" charset="0"/>
                <a:ea typeface="Arial" pitchFamily="34" charset="-122"/>
                <a:cs typeface="Arial" pitchFamily="34" charset="-120"/>
              </a:rPr>
              <a:t>Photo: Marathon Petroleum</a:t>
            </a:r>
            <a:endParaRPr lang="en-US" sz="900" dirty="0"/>
          </a:p>
        </p:txBody>
      </p:sp>
      <p:sp>
        <p:nvSpPr>
          <p:cNvPr id="5" name="Shape 2"/>
          <p:cNvSpPr/>
          <p:nvPr/>
        </p:nvSpPr>
        <p:spPr>
          <a:xfrm>
            <a:off x="548640" y="411480"/>
            <a:ext cx="927868" cy="310896"/>
          </a:xfrm>
          <a:prstGeom prst="roundRect">
            <a:avLst>
              <a:gd name="adj" fmla="val 23529"/>
            </a:avLst>
          </a:prstGeom>
          <a:solidFill>
            <a:srgbClr val="FCC30A"/>
          </a:solidFill>
          <a:ln w="12700">
            <a:solidFill>
              <a:srgbClr val="FCC30A"/>
            </a:solidFill>
            <a:prstDash val="solid"/>
          </a:ln>
        </p:spPr>
      </p:sp>
      <p:sp>
        <p:nvSpPr>
          <p:cNvPr id="6" name="Text 3"/>
          <p:cNvSpPr txBox="1"/>
          <p:nvPr/>
        </p:nvSpPr>
        <p:spPr>
          <a:xfrm>
            <a:off x="548640" y="411480"/>
            <a:ext cx="927868" cy="310896"/>
          </a:xfrm>
          <a:prstGeom prst="rect">
            <a:avLst/>
          </a:prstGeom>
          <a:noFill/>
          <a:ln/>
        </p:spPr>
        <p:txBody>
          <a:bodyPr wrap="square" lIns="0" tIns="0" rIns="0" bIns="0" rtlCol="0" anchor="ctr"/>
          <a:lstStyle/>
          <a:p>
            <a:pPr algn="ctr" indent="0" marL="0">
              <a:buNone/>
            </a:pPr>
            <a:r>
              <a:rPr lang="en-US" sz="1050" b="1" spc="150" kern="0" dirty="0">
                <a:solidFill>
                  <a:srgbClr val="1E1E1E"/>
                </a:solidFill>
                <a:latin typeface="Arial" pitchFamily="34" charset="0"/>
                <a:ea typeface="Arial" pitchFamily="34" charset="-122"/>
                <a:cs typeface="Arial" pitchFamily="34" charset="-120"/>
              </a:rPr>
              <a:t>SCOPE</a:t>
            </a:r>
            <a:endParaRPr lang="en-US" sz="1050" dirty="0"/>
          </a:p>
        </p:txBody>
      </p:sp>
      <p:sp>
        <p:nvSpPr>
          <p:cNvPr id="7" name="Text 4"/>
          <p:cNvSpPr txBox="1"/>
          <p:nvPr/>
        </p:nvSpPr>
        <p:spPr>
          <a:xfrm>
            <a:off x="548640" y="841248"/>
            <a:ext cx="7589520" cy="731520"/>
          </a:xfrm>
          <a:prstGeom prst="rect">
            <a:avLst/>
          </a:prstGeom>
          <a:noFill/>
          <a:ln/>
        </p:spPr>
        <p:txBody>
          <a:bodyPr wrap="square" lIns="0" tIns="0" rIns="0" bIns="0" rtlCol="0" anchor="t"/>
          <a:lstStyle/>
          <a:p>
            <a:pPr indent="0" marL="0">
              <a:buNone/>
            </a:pPr>
            <a:r>
              <a:rPr lang="en-US" sz="3200" b="1" dirty="0">
                <a:solidFill>
                  <a:srgbClr val="222222"/>
                </a:solidFill>
                <a:latin typeface="Arial" pitchFamily="34" charset="0"/>
                <a:ea typeface="Arial" pitchFamily="34" charset="-122"/>
                <a:cs typeface="Arial" pitchFamily="34" charset="-120"/>
              </a:rPr>
              <a:t>Our understanding of the scope</a:t>
            </a:r>
            <a:endParaRPr lang="en-US" sz="3200" dirty="0"/>
          </a:p>
        </p:txBody>
      </p:sp>
      <p:sp>
        <p:nvSpPr>
          <p:cNvPr id="8" name="Text 5"/>
          <p:cNvSpPr txBox="1"/>
          <p:nvPr/>
        </p:nvSpPr>
        <p:spPr>
          <a:xfrm>
            <a:off x="548640" y="1481328"/>
            <a:ext cx="7498080" cy="640080"/>
          </a:xfrm>
          <a:prstGeom prst="rect">
            <a:avLst/>
          </a:prstGeom>
          <a:noFill/>
          <a:ln/>
        </p:spPr>
        <p:txBody>
          <a:bodyPr wrap="square" lIns="0" tIns="0" rIns="0" bIns="0" rtlCol="0" anchor="t"/>
          <a:lstStyle/>
          <a:p>
            <a:pPr indent="0" marL="0">
              <a:buNone/>
            </a:pPr>
            <a:r>
              <a:rPr lang="en-US" sz="1500" dirty="0">
                <a:solidFill>
                  <a:srgbClr val="5E5E5E"/>
                </a:solidFill>
                <a:latin typeface="Arial" pitchFamily="34" charset="0"/>
                <a:ea typeface="Arial" pitchFamily="34" charset="-122"/>
                <a:cs typeface="Arial" pitchFamily="34" charset="-120"/>
              </a:rPr>
              <a:t>Recurring mechanical pigging &amp; decoking, lump sum per occurrence, mobilization and demobilization waived</a:t>
            </a:r>
            <a:endParaRPr lang="en-US" sz="15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548640" y="2240280"/>
          <a:ext cx="6583680" cy="914400"/>
        </p:xfrm>
        <a:graphic>
          <a:graphicData uri="http://schemas.openxmlformats.org/drawingml/2006/table">
            <a:tbl>
              <a:tblPr/>
              <a:tblGrid>
                <a:gridCol w="1920240"/>
                <a:gridCol w="1371600"/>
                <a:gridCol w="1005840"/>
                <a:gridCol w="1143000"/>
                <a:gridCol w="1143000"/>
              </a:tblGrid>
              <a:tr h="475488">
                <a:tc>
                  <a:txBody>
                    <a:bodyPr/>
                    <a:lstStyle/>
                    <a:p>
                      <a:pPr indent="0" marL="0">
                        <a:buNone/>
                      </a:pPr>
                      <a:r>
                        <a:rPr lang="en-US" sz="1200" b="1" dirty="0">
                          <a:solidFill>
                            <a:srgbClr val="FFFFFF"/>
                          </a:solidFill>
                          <a:latin typeface="Arial" pitchFamily="34" charset="0"/>
                          <a:ea typeface="Arial" pitchFamily="34" charset="-122"/>
                          <a:cs typeface="Arial" pitchFamily="34" charset="-120"/>
                        </a:rPr>
                        <a:t>Unit</a:t>
                      </a:r>
                      <a:endParaRPr lang="en-US" sz="1200" dirty="0">
                        <a:latin typeface="Arial" charset="0"/>
                        <a:ea typeface="Arial" charset="0"/>
                        <a:cs typeface="Arial" charset="0"/>
                      </a:endParaRPr>
                    </a:p>
                  </a:txBody>
                  <a:tcPr marL="91440" marR="91440" marT="45720" marB="4572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1E1E1E"/>
                    </a:solidFill>
                  </a:tcPr>
                </a:tc>
                <a:tc>
                  <a:txBody>
                    <a:bodyPr/>
                    <a:lstStyle/>
                    <a:p>
                      <a:pPr indent="0" marL="0">
                        <a:buNone/>
                      </a:pPr>
                      <a:r>
                        <a:rPr lang="en-US" sz="1200" b="1" dirty="0">
                          <a:solidFill>
                            <a:srgbClr val="FFFFFF"/>
                          </a:solidFill>
                          <a:latin typeface="Arial" pitchFamily="34" charset="0"/>
                          <a:ea typeface="Arial" pitchFamily="34" charset="-122"/>
                          <a:cs typeface="Arial" pitchFamily="34" charset="-120"/>
                        </a:rPr>
                        <a:t>Heater</a:t>
                      </a:r>
                      <a:endParaRPr lang="en-US" sz="1200" dirty="0">
                        <a:latin typeface="Arial" charset="0"/>
                        <a:ea typeface="Arial" charset="0"/>
                        <a:cs typeface="Arial" charset="0"/>
                      </a:endParaRPr>
                    </a:p>
                  </a:txBody>
                  <a:tcPr marL="91440" marR="91440" marT="45720" marB="4572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1E1E1E"/>
                    </a:solidFill>
                  </a:tcPr>
                </a:tc>
                <a:tc>
                  <a:txBody>
                    <a:bodyPr/>
                    <a:lstStyle/>
                    <a:p>
                      <a:pPr indent="0" marL="0">
                        <a:buNone/>
                      </a:pPr>
                      <a:r>
                        <a:rPr lang="en-US" sz="1200" b="1" dirty="0">
                          <a:solidFill>
                            <a:srgbClr val="FFFFFF"/>
                          </a:solidFill>
                          <a:latin typeface="Arial" pitchFamily="34" charset="0"/>
                          <a:ea typeface="Arial" pitchFamily="34" charset="-122"/>
                          <a:cs typeface="Arial" pitchFamily="34" charset="-120"/>
                        </a:rPr>
                        <a:t>Passes</a:t>
                      </a:r>
                      <a:endParaRPr lang="en-US" sz="1200" dirty="0">
                        <a:latin typeface="Arial" charset="0"/>
                        <a:ea typeface="Arial" charset="0"/>
                        <a:cs typeface="Arial" charset="0"/>
                      </a:endParaRPr>
                    </a:p>
                  </a:txBody>
                  <a:tcPr marL="91440" marR="91440" marT="45720" marB="4572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1E1E1E"/>
                    </a:solidFill>
                  </a:tcPr>
                </a:tc>
                <a:tc>
                  <a:txBody>
                    <a:bodyPr/>
                    <a:lstStyle/>
                    <a:p>
                      <a:pPr indent="0" marL="0">
                        <a:buNone/>
                      </a:pPr>
                      <a:r>
                        <a:rPr lang="en-US" sz="1200" b="1" dirty="0">
                          <a:solidFill>
                            <a:srgbClr val="FFFFFF"/>
                          </a:solidFill>
                          <a:latin typeface="Arial" pitchFamily="34" charset="0"/>
                          <a:ea typeface="Arial" pitchFamily="34" charset="-122"/>
                          <a:cs typeface="Arial" pitchFamily="34" charset="-120"/>
                        </a:rPr>
                        <a:t>Per year</a:t>
                      </a:r>
                      <a:endParaRPr lang="en-US" sz="1200" dirty="0">
                        <a:latin typeface="Arial" charset="0"/>
                        <a:ea typeface="Arial" charset="0"/>
                        <a:cs typeface="Arial" charset="0"/>
                      </a:endParaRPr>
                    </a:p>
                  </a:txBody>
                  <a:tcPr marL="91440" marR="91440" marT="45720" marB="4572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1E1E1E"/>
                    </a:solidFill>
                  </a:tcPr>
                </a:tc>
                <a:tc>
                  <a:txBody>
                    <a:bodyPr/>
                    <a:lstStyle/>
                    <a:p>
                      <a:pPr indent="0" marL="0">
                        <a:buNone/>
                      </a:pPr>
                      <a:r>
                        <a:rPr lang="en-US" sz="1200" b="1" dirty="0">
                          <a:solidFill>
                            <a:srgbClr val="FFFFFF"/>
                          </a:solidFill>
                          <a:latin typeface="Arial" pitchFamily="34" charset="0"/>
                          <a:ea typeface="Arial" pitchFamily="34" charset="-122"/>
                          <a:cs typeface="Arial" pitchFamily="34" charset="-120"/>
                        </a:rPr>
                        <a:t>5 years</a:t>
                      </a:r>
                      <a:endParaRPr lang="en-US" sz="1200" dirty="0">
                        <a:latin typeface="Arial" charset="0"/>
                        <a:ea typeface="Arial" charset="0"/>
                        <a:cs typeface="Arial" charset="0"/>
                      </a:endParaRPr>
                    </a:p>
                  </a:txBody>
                  <a:tcPr marL="91440" marR="91440" marT="45720" marB="4572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1E1E1E"/>
                    </a:solidFill>
                  </a:tcPr>
                </a:tc>
              </a:tr>
              <a:tr h="475488">
                <a:tc>
                  <a:txBody>
                    <a:bodyPr/>
                    <a:lstStyle/>
                    <a:p>
                      <a:pPr indent="0" marL="0">
                        <a:buNone/>
                      </a:pPr>
                      <a:r>
                        <a:rPr lang="en-US" sz="1300" dirty="0">
                          <a:solidFill>
                            <a:srgbClr val="222222"/>
                          </a:solidFill>
                          <a:latin typeface="Arial" pitchFamily="34" charset="0"/>
                          <a:ea typeface="Arial" pitchFamily="34" charset="-122"/>
                          <a:cs typeface="Arial" pitchFamily="34" charset="-120"/>
                        </a:rPr>
                        <a:t>Carson Coker #1</a:t>
                      </a:r>
                      <a:endParaRPr lang="en-US" sz="1300" dirty="0">
                        <a:latin typeface="Arial" charset="0"/>
                        <a:ea typeface="Arial" charset="0"/>
                        <a:cs typeface="Arial" charset="0"/>
                      </a:endParaRPr>
                    </a:p>
                  </a:txBody>
                  <a:tcPr marL="91440" marR="91440" marT="45720" marB="4572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indent="0" marL="0">
                        <a:buNone/>
                      </a:pPr>
                      <a:r>
                        <a:rPr lang="en-US" sz="1300" dirty="0">
                          <a:solidFill>
                            <a:srgbClr val="222222"/>
                          </a:solidFill>
                          <a:latin typeface="Arial" pitchFamily="34" charset="0"/>
                          <a:ea typeface="Arial" pitchFamily="34" charset="-122"/>
                          <a:cs typeface="Arial" pitchFamily="34" charset="-120"/>
                        </a:rPr>
                        <a:t>Heater #1</a:t>
                      </a:r>
                      <a:endParaRPr lang="en-US" sz="1300" dirty="0">
                        <a:latin typeface="Arial" charset="0"/>
                        <a:ea typeface="Arial" charset="0"/>
                        <a:cs typeface="Arial" charset="0"/>
                      </a:endParaRPr>
                    </a:p>
                  </a:txBody>
                  <a:tcPr marL="91440" marR="91440" marT="45720" marB="4572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indent="0" marL="0">
                        <a:buNone/>
                      </a:pPr>
                      <a:r>
                        <a:rPr lang="en-US" sz="1300" dirty="0">
                          <a:solidFill>
                            <a:srgbClr val="222222"/>
                          </a:solidFill>
                          <a:latin typeface="Arial" pitchFamily="34" charset="0"/>
                          <a:ea typeface="Arial" pitchFamily="34" charset="-122"/>
                          <a:cs typeface="Arial" pitchFamily="34" charset="-120"/>
                        </a:rPr>
                        <a:t>2</a:t>
                      </a:r>
                      <a:endParaRPr lang="en-US" sz="1300" dirty="0">
                        <a:latin typeface="Arial" charset="0"/>
                        <a:ea typeface="Arial" charset="0"/>
                        <a:cs typeface="Arial" charset="0"/>
                      </a:endParaRPr>
                    </a:p>
                  </a:txBody>
                  <a:tcPr marL="91440" marR="91440" marT="45720" marB="4572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indent="0" marL="0">
                        <a:buNone/>
                      </a:pPr>
                      <a:r>
                        <a:rPr lang="en-US" sz="1300" dirty="0">
                          <a:solidFill>
                            <a:srgbClr val="222222"/>
                          </a:solidFill>
                          <a:latin typeface="Arial" pitchFamily="34" charset="0"/>
                          <a:ea typeface="Arial" pitchFamily="34" charset="-122"/>
                          <a:cs typeface="Arial" pitchFamily="34" charset="-120"/>
                        </a:rPr>
                        <a:t>4</a:t>
                      </a:r>
                      <a:endParaRPr lang="en-US" sz="1300" dirty="0">
                        <a:latin typeface="Arial" charset="0"/>
                        <a:ea typeface="Arial" charset="0"/>
                        <a:cs typeface="Arial" charset="0"/>
                      </a:endParaRPr>
                    </a:p>
                  </a:txBody>
                  <a:tcPr marL="91440" marR="91440" marT="45720" marB="4572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indent="0" marL="0">
                        <a:buNone/>
                      </a:pPr>
                      <a:r>
                        <a:rPr lang="en-US" sz="1300" dirty="0">
                          <a:solidFill>
                            <a:srgbClr val="222222"/>
                          </a:solidFill>
                          <a:latin typeface="Arial" pitchFamily="34" charset="0"/>
                          <a:ea typeface="Arial" pitchFamily="34" charset="-122"/>
                          <a:cs typeface="Arial" pitchFamily="34" charset="-120"/>
                        </a:rPr>
                        <a:t>20</a:t>
                      </a:r>
                      <a:endParaRPr lang="en-US" sz="1300" dirty="0">
                        <a:latin typeface="Arial" charset="0"/>
                        <a:ea typeface="Arial" charset="0"/>
                        <a:cs typeface="Arial" charset="0"/>
                      </a:endParaRPr>
                    </a:p>
                  </a:txBody>
                  <a:tcPr marL="91440" marR="91440" marT="45720" marB="4572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r>
              <a:tr h="475488">
                <a:tc>
                  <a:txBody>
                    <a:bodyPr/>
                    <a:lstStyle/>
                    <a:p>
                      <a:pPr indent="0" marL="0">
                        <a:buNone/>
                      </a:pPr>
                      <a:r>
                        <a:rPr lang="en-US" sz="1300" dirty="0">
                          <a:solidFill>
                            <a:srgbClr val="222222"/>
                          </a:solidFill>
                          <a:latin typeface="Arial" pitchFamily="34" charset="0"/>
                          <a:ea typeface="Arial" pitchFamily="34" charset="-122"/>
                          <a:cs typeface="Arial" pitchFamily="34" charset="-120"/>
                        </a:rPr>
                        <a:t>Carson Coker #1</a:t>
                      </a:r>
                      <a:endParaRPr lang="en-US" sz="1300" dirty="0">
                        <a:latin typeface="Arial" charset="0"/>
                        <a:ea typeface="Arial" charset="0"/>
                        <a:cs typeface="Arial" charset="0"/>
                      </a:endParaRPr>
                    </a:p>
                  </a:txBody>
                  <a:tcPr marL="91440" marR="91440" marT="45720" marB="4572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7F7F7"/>
                    </a:solidFill>
                  </a:tcPr>
                </a:tc>
                <a:tc>
                  <a:txBody>
                    <a:bodyPr/>
                    <a:lstStyle/>
                    <a:p>
                      <a:pPr indent="0" marL="0">
                        <a:buNone/>
                      </a:pPr>
                      <a:r>
                        <a:rPr lang="en-US" sz="1300" dirty="0">
                          <a:solidFill>
                            <a:srgbClr val="222222"/>
                          </a:solidFill>
                          <a:latin typeface="Arial" pitchFamily="34" charset="0"/>
                          <a:ea typeface="Arial" pitchFamily="34" charset="-122"/>
                          <a:cs typeface="Arial" pitchFamily="34" charset="-120"/>
                        </a:rPr>
                        <a:t>Heater #2</a:t>
                      </a:r>
                      <a:endParaRPr lang="en-US" sz="1300" dirty="0">
                        <a:latin typeface="Arial" charset="0"/>
                        <a:ea typeface="Arial" charset="0"/>
                        <a:cs typeface="Arial" charset="0"/>
                      </a:endParaRPr>
                    </a:p>
                  </a:txBody>
                  <a:tcPr marL="91440" marR="91440" marT="45720" marB="4572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7F7F7"/>
                    </a:solidFill>
                  </a:tcPr>
                </a:tc>
                <a:tc>
                  <a:txBody>
                    <a:bodyPr/>
                    <a:lstStyle/>
                    <a:p>
                      <a:pPr indent="0" marL="0">
                        <a:buNone/>
                      </a:pPr>
                      <a:r>
                        <a:rPr lang="en-US" sz="1300" dirty="0">
                          <a:solidFill>
                            <a:srgbClr val="222222"/>
                          </a:solidFill>
                          <a:latin typeface="Arial" pitchFamily="34" charset="0"/>
                          <a:ea typeface="Arial" pitchFamily="34" charset="-122"/>
                          <a:cs typeface="Arial" pitchFamily="34" charset="-120"/>
                        </a:rPr>
                        <a:t>2</a:t>
                      </a:r>
                      <a:endParaRPr lang="en-US" sz="1300" dirty="0">
                        <a:latin typeface="Arial" charset="0"/>
                        <a:ea typeface="Arial" charset="0"/>
                        <a:cs typeface="Arial" charset="0"/>
                      </a:endParaRPr>
                    </a:p>
                  </a:txBody>
                  <a:tcPr marL="91440" marR="91440" marT="45720" marB="4572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7F7F7"/>
                    </a:solidFill>
                  </a:tcPr>
                </a:tc>
                <a:tc>
                  <a:txBody>
                    <a:bodyPr/>
                    <a:lstStyle/>
                    <a:p>
                      <a:pPr indent="0" marL="0">
                        <a:buNone/>
                      </a:pPr>
                      <a:r>
                        <a:rPr lang="en-US" sz="1300" dirty="0">
                          <a:solidFill>
                            <a:srgbClr val="222222"/>
                          </a:solidFill>
                          <a:latin typeface="Arial" pitchFamily="34" charset="0"/>
                          <a:ea typeface="Arial" pitchFamily="34" charset="-122"/>
                          <a:cs typeface="Arial" pitchFamily="34" charset="-120"/>
                        </a:rPr>
                        <a:t>4</a:t>
                      </a:r>
                      <a:endParaRPr lang="en-US" sz="1300" dirty="0">
                        <a:latin typeface="Arial" charset="0"/>
                        <a:ea typeface="Arial" charset="0"/>
                        <a:cs typeface="Arial" charset="0"/>
                      </a:endParaRPr>
                    </a:p>
                  </a:txBody>
                  <a:tcPr marL="91440" marR="91440" marT="45720" marB="4572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7F7F7"/>
                    </a:solidFill>
                  </a:tcPr>
                </a:tc>
                <a:tc>
                  <a:txBody>
                    <a:bodyPr/>
                    <a:lstStyle/>
                    <a:p>
                      <a:pPr indent="0" marL="0">
                        <a:buNone/>
                      </a:pPr>
                      <a:r>
                        <a:rPr lang="en-US" sz="1300" dirty="0">
                          <a:solidFill>
                            <a:srgbClr val="222222"/>
                          </a:solidFill>
                          <a:latin typeface="Arial" pitchFamily="34" charset="0"/>
                          <a:ea typeface="Arial" pitchFamily="34" charset="-122"/>
                          <a:cs typeface="Arial" pitchFamily="34" charset="-120"/>
                        </a:rPr>
                        <a:t>20</a:t>
                      </a:r>
                      <a:endParaRPr lang="en-US" sz="1300" dirty="0">
                        <a:latin typeface="Arial" charset="0"/>
                        <a:ea typeface="Arial" charset="0"/>
                        <a:cs typeface="Arial" charset="0"/>
                      </a:endParaRPr>
                    </a:p>
                  </a:txBody>
                  <a:tcPr marL="91440" marR="91440" marT="45720" marB="4572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7F7F7"/>
                    </a:solidFill>
                  </a:tcPr>
                </a:tc>
              </a:tr>
              <a:tr h="475488">
                <a:tc>
                  <a:txBody>
                    <a:bodyPr/>
                    <a:lstStyle/>
                    <a:p>
                      <a:pPr indent="0" marL="0">
                        <a:buNone/>
                      </a:pPr>
                      <a:r>
                        <a:rPr lang="en-US" sz="1300" dirty="0">
                          <a:solidFill>
                            <a:srgbClr val="222222"/>
                          </a:solidFill>
                          <a:latin typeface="Arial" pitchFamily="34" charset="0"/>
                          <a:ea typeface="Arial" pitchFamily="34" charset="-122"/>
                          <a:cs typeface="Arial" pitchFamily="34" charset="-120"/>
                        </a:rPr>
                        <a:t>Carson Coker #2</a:t>
                      </a:r>
                      <a:endParaRPr lang="en-US" sz="1300" dirty="0">
                        <a:latin typeface="Arial" charset="0"/>
                        <a:ea typeface="Arial" charset="0"/>
                        <a:cs typeface="Arial" charset="0"/>
                      </a:endParaRPr>
                    </a:p>
                  </a:txBody>
                  <a:tcPr marL="91440" marR="91440" marT="45720" marB="4572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indent="0" marL="0">
                        <a:buNone/>
                      </a:pPr>
                      <a:r>
                        <a:rPr lang="en-US" sz="1300" dirty="0">
                          <a:solidFill>
                            <a:srgbClr val="222222"/>
                          </a:solidFill>
                          <a:latin typeface="Arial" pitchFamily="34" charset="0"/>
                          <a:ea typeface="Arial" pitchFamily="34" charset="-122"/>
                          <a:cs typeface="Arial" pitchFamily="34" charset="-120"/>
                        </a:rPr>
                        <a:t>Heater #3</a:t>
                      </a:r>
                      <a:endParaRPr lang="en-US" sz="1300" dirty="0">
                        <a:latin typeface="Arial" charset="0"/>
                        <a:ea typeface="Arial" charset="0"/>
                        <a:cs typeface="Arial" charset="0"/>
                      </a:endParaRPr>
                    </a:p>
                  </a:txBody>
                  <a:tcPr marL="91440" marR="91440" marT="45720" marB="4572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indent="0" marL="0">
                        <a:buNone/>
                      </a:pPr>
                      <a:r>
                        <a:rPr lang="en-US" sz="1300" dirty="0">
                          <a:solidFill>
                            <a:srgbClr val="222222"/>
                          </a:solidFill>
                          <a:latin typeface="Arial" pitchFamily="34" charset="0"/>
                          <a:ea typeface="Arial" pitchFamily="34" charset="-122"/>
                          <a:cs typeface="Arial" pitchFamily="34" charset="-120"/>
                        </a:rPr>
                        <a:t>2</a:t>
                      </a:r>
                      <a:endParaRPr lang="en-US" sz="1300" dirty="0">
                        <a:latin typeface="Arial" charset="0"/>
                        <a:ea typeface="Arial" charset="0"/>
                        <a:cs typeface="Arial" charset="0"/>
                      </a:endParaRPr>
                    </a:p>
                  </a:txBody>
                  <a:tcPr marL="91440" marR="91440" marT="45720" marB="4572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indent="0" marL="0">
                        <a:buNone/>
                      </a:pPr>
                      <a:r>
                        <a:rPr lang="en-US" sz="1300" dirty="0">
                          <a:solidFill>
                            <a:srgbClr val="222222"/>
                          </a:solidFill>
                          <a:latin typeface="Arial" pitchFamily="34" charset="0"/>
                          <a:ea typeface="Arial" pitchFamily="34" charset="-122"/>
                          <a:cs typeface="Arial" pitchFamily="34" charset="-120"/>
                        </a:rPr>
                        <a:t>3</a:t>
                      </a:r>
                      <a:endParaRPr lang="en-US" sz="1300" dirty="0">
                        <a:latin typeface="Arial" charset="0"/>
                        <a:ea typeface="Arial" charset="0"/>
                        <a:cs typeface="Arial" charset="0"/>
                      </a:endParaRPr>
                    </a:p>
                  </a:txBody>
                  <a:tcPr marL="91440" marR="91440" marT="45720" marB="4572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indent="0" marL="0">
                        <a:buNone/>
                      </a:pPr>
                      <a:r>
                        <a:rPr lang="en-US" sz="1300" dirty="0">
                          <a:solidFill>
                            <a:srgbClr val="222222"/>
                          </a:solidFill>
                          <a:latin typeface="Arial" pitchFamily="34" charset="0"/>
                          <a:ea typeface="Arial" pitchFamily="34" charset="-122"/>
                          <a:cs typeface="Arial" pitchFamily="34" charset="-120"/>
                        </a:rPr>
                        <a:t>15</a:t>
                      </a:r>
                      <a:endParaRPr lang="en-US" sz="1300" dirty="0">
                        <a:latin typeface="Arial" charset="0"/>
                        <a:ea typeface="Arial" charset="0"/>
                        <a:cs typeface="Arial" charset="0"/>
                      </a:endParaRPr>
                    </a:p>
                  </a:txBody>
                  <a:tcPr marL="91440" marR="91440" marT="45720" marB="4572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r>
              <a:tr h="475488">
                <a:tc>
                  <a:txBody>
                    <a:bodyPr/>
                    <a:lstStyle/>
                    <a:p>
                      <a:pPr indent="0" marL="0">
                        <a:buNone/>
                      </a:pPr>
                      <a:r>
                        <a:rPr lang="en-US" sz="1300" dirty="0">
                          <a:solidFill>
                            <a:srgbClr val="222222"/>
                          </a:solidFill>
                          <a:latin typeface="Arial" pitchFamily="34" charset="0"/>
                          <a:ea typeface="Arial" pitchFamily="34" charset="-122"/>
                          <a:cs typeface="Arial" pitchFamily="34" charset="-120"/>
                        </a:rPr>
                        <a:t>Wilmington DCU</a:t>
                      </a:r>
                      <a:endParaRPr lang="en-US" sz="1300" dirty="0">
                        <a:latin typeface="Arial" charset="0"/>
                        <a:ea typeface="Arial" charset="0"/>
                        <a:cs typeface="Arial" charset="0"/>
                      </a:endParaRPr>
                    </a:p>
                  </a:txBody>
                  <a:tcPr marL="91440" marR="91440" marT="45720" marB="4572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7F7F7"/>
                    </a:solidFill>
                  </a:tcPr>
                </a:tc>
                <a:tc>
                  <a:txBody>
                    <a:bodyPr/>
                    <a:lstStyle/>
                    <a:p>
                      <a:pPr indent="0" marL="0">
                        <a:buNone/>
                      </a:pPr>
                      <a:r>
                        <a:rPr lang="en-US" sz="1300" dirty="0">
                          <a:solidFill>
                            <a:srgbClr val="222222"/>
                          </a:solidFill>
                          <a:latin typeface="Arial" pitchFamily="34" charset="0"/>
                          <a:ea typeface="Arial" pitchFamily="34" charset="-122"/>
                          <a:cs typeface="Arial" pitchFamily="34" charset="-120"/>
                        </a:rPr>
                        <a:t>H-101</a:t>
                      </a:r>
                      <a:endParaRPr lang="en-US" sz="1300" dirty="0">
                        <a:latin typeface="Arial" charset="0"/>
                        <a:ea typeface="Arial" charset="0"/>
                        <a:cs typeface="Arial" charset="0"/>
                      </a:endParaRPr>
                    </a:p>
                  </a:txBody>
                  <a:tcPr marL="91440" marR="91440" marT="45720" marB="4572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7F7F7"/>
                    </a:solidFill>
                  </a:tcPr>
                </a:tc>
                <a:tc>
                  <a:txBody>
                    <a:bodyPr/>
                    <a:lstStyle/>
                    <a:p>
                      <a:pPr indent="0" marL="0">
                        <a:buNone/>
                      </a:pPr>
                      <a:r>
                        <a:rPr lang="en-US" sz="1300" dirty="0">
                          <a:solidFill>
                            <a:srgbClr val="222222"/>
                          </a:solidFill>
                          <a:latin typeface="Arial" pitchFamily="34" charset="0"/>
                          <a:ea typeface="Arial" pitchFamily="34" charset="-122"/>
                          <a:cs typeface="Arial" pitchFamily="34" charset="-120"/>
                        </a:rPr>
                        <a:t>4</a:t>
                      </a:r>
                      <a:endParaRPr lang="en-US" sz="1300" dirty="0">
                        <a:latin typeface="Arial" charset="0"/>
                        <a:ea typeface="Arial" charset="0"/>
                        <a:cs typeface="Arial" charset="0"/>
                      </a:endParaRPr>
                    </a:p>
                  </a:txBody>
                  <a:tcPr marL="91440" marR="91440" marT="45720" marB="4572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7F7F7"/>
                    </a:solidFill>
                  </a:tcPr>
                </a:tc>
                <a:tc>
                  <a:txBody>
                    <a:bodyPr/>
                    <a:lstStyle/>
                    <a:p>
                      <a:pPr indent="0" marL="0">
                        <a:buNone/>
                      </a:pPr>
                      <a:r>
                        <a:rPr lang="en-US" sz="1300" dirty="0">
                          <a:solidFill>
                            <a:srgbClr val="222222"/>
                          </a:solidFill>
                          <a:latin typeface="Arial" pitchFamily="34" charset="0"/>
                          <a:ea typeface="Arial" pitchFamily="34" charset="-122"/>
                          <a:cs typeface="Arial" pitchFamily="34" charset="-120"/>
                        </a:rPr>
                        <a:t>1</a:t>
                      </a:r>
                      <a:endParaRPr lang="en-US" sz="1300" dirty="0">
                        <a:latin typeface="Arial" charset="0"/>
                        <a:ea typeface="Arial" charset="0"/>
                        <a:cs typeface="Arial" charset="0"/>
                      </a:endParaRPr>
                    </a:p>
                  </a:txBody>
                  <a:tcPr marL="91440" marR="91440" marT="45720" marB="4572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7F7F7"/>
                    </a:solidFill>
                  </a:tcPr>
                </a:tc>
                <a:tc>
                  <a:txBody>
                    <a:bodyPr/>
                    <a:lstStyle/>
                    <a:p>
                      <a:pPr indent="0" marL="0">
                        <a:buNone/>
                      </a:pPr>
                      <a:r>
                        <a:rPr lang="en-US" sz="1300" dirty="0">
                          <a:solidFill>
                            <a:srgbClr val="222222"/>
                          </a:solidFill>
                          <a:latin typeface="Arial" pitchFamily="34" charset="0"/>
                          <a:ea typeface="Arial" pitchFamily="34" charset="-122"/>
                          <a:cs typeface="Arial" pitchFamily="34" charset="-120"/>
                        </a:rPr>
                        <a:t>5</a:t>
                      </a:r>
                      <a:endParaRPr lang="en-US" sz="1300" dirty="0">
                        <a:latin typeface="Arial" charset="0"/>
                        <a:ea typeface="Arial" charset="0"/>
                        <a:cs typeface="Arial" charset="0"/>
                      </a:endParaRPr>
                    </a:p>
                  </a:txBody>
                  <a:tcPr marL="91440" marR="91440" marT="45720" marB="4572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7F7F7"/>
                    </a:solidFill>
                  </a:tcPr>
                </a:tc>
              </a:tr>
            </a:tbl>
          </a:graphicData>
        </a:graphic>
      </p:graphicFrame>
      <p:sp>
        <p:nvSpPr>
          <p:cNvPr id="10" name="Text 6"/>
          <p:cNvSpPr txBox="1"/>
          <p:nvPr/>
        </p:nvSpPr>
        <p:spPr>
          <a:xfrm>
            <a:off x="548640" y="4681728"/>
            <a:ext cx="6583680" cy="274320"/>
          </a:xfrm>
          <a:prstGeom prst="rect">
            <a:avLst/>
          </a:prstGeom>
          <a:noFill/>
          <a:ln/>
        </p:spPr>
        <p:txBody>
          <a:bodyPr wrap="square" lIns="0" tIns="0" rIns="0" bIns="0" rtlCol="0" anchor="ctr"/>
          <a:lstStyle/>
          <a:p>
            <a:pPr indent="0" marL="0">
              <a:buNone/>
            </a:pPr>
            <a:r>
              <a:rPr lang="en-US" sz="1000" i="1" dirty="0">
                <a:solidFill>
                  <a:srgbClr val="8A8A8A"/>
                </a:solidFill>
                <a:latin typeface="Arial" pitchFamily="34" charset="0"/>
                <a:ea typeface="Arial" pitchFamily="34" charset="-122"/>
                <a:cs typeface="Arial" pitchFamily="34" charset="-120"/>
              </a:rPr>
              <a:t>Source: DSP#26098 Rev 1, scope table</a:t>
            </a:r>
            <a:endParaRPr lang="en-US" sz="1000" dirty="0"/>
          </a:p>
        </p:txBody>
      </p:sp>
      <p:sp>
        <p:nvSpPr>
          <p:cNvPr id="11" name="Shape 7"/>
          <p:cNvSpPr/>
          <p:nvPr/>
        </p:nvSpPr>
        <p:spPr>
          <a:xfrm>
            <a:off x="548640" y="5029200"/>
            <a:ext cx="1737360" cy="1188720"/>
          </a:xfrm>
          <a:prstGeom prst="rect">
            <a:avLst/>
          </a:prstGeom>
          <a:solidFill>
            <a:srgbClr val="1E1E1E"/>
          </a:solidFill>
          <a:ln w="12700">
            <a:solidFill>
              <a:srgbClr val="1E1E1E"/>
            </a:solidFill>
            <a:prstDash val="solid"/>
          </a:ln>
        </p:spPr>
      </p:sp>
      <p:sp>
        <p:nvSpPr>
          <p:cNvPr id="12" name="Text 8"/>
          <p:cNvSpPr txBox="1"/>
          <p:nvPr/>
        </p:nvSpPr>
        <p:spPr>
          <a:xfrm>
            <a:off x="713232" y="5138928"/>
            <a:ext cx="1463040" cy="548640"/>
          </a:xfrm>
          <a:prstGeom prst="rect">
            <a:avLst/>
          </a:prstGeom>
          <a:noFill/>
          <a:ln/>
        </p:spPr>
        <p:txBody>
          <a:bodyPr wrap="square" lIns="0" tIns="0" rIns="0" bIns="0" rtlCol="0" anchor="ctr"/>
          <a:lstStyle/>
          <a:p>
            <a:pPr indent="0" marL="0">
              <a:buNone/>
            </a:pPr>
            <a:r>
              <a:rPr lang="en-US" sz="3000" b="1" dirty="0">
                <a:solidFill>
                  <a:srgbClr val="FCC30A"/>
                </a:solidFill>
                <a:latin typeface="Arial" pitchFamily="34" charset="0"/>
                <a:ea typeface="Arial" pitchFamily="34" charset="-122"/>
                <a:cs typeface="Arial" pitchFamily="34" charset="-120"/>
              </a:rPr>
              <a:t>4</a:t>
            </a:r>
            <a:endParaRPr lang="en-US" sz="3000" dirty="0"/>
          </a:p>
        </p:txBody>
      </p:sp>
      <p:sp>
        <p:nvSpPr>
          <p:cNvPr id="13" name="Text 9"/>
          <p:cNvSpPr txBox="1"/>
          <p:nvPr/>
        </p:nvSpPr>
        <p:spPr>
          <a:xfrm>
            <a:off x="713232" y="5687568"/>
            <a:ext cx="1463040" cy="457200"/>
          </a:xfrm>
          <a:prstGeom prst="rect">
            <a:avLst/>
          </a:prstGeom>
          <a:noFill/>
          <a:ln/>
        </p:spPr>
        <p:txBody>
          <a:bodyPr wrap="square" lIns="0" tIns="0" rIns="0" bIns="0" rtlCol="0" anchor="t"/>
          <a:lstStyle/>
          <a:p>
            <a:pPr indent="0" marL="0">
              <a:buNone/>
            </a:pPr>
            <a:r>
              <a:rPr lang="en-US" sz="1100" dirty="0">
                <a:solidFill>
                  <a:srgbClr val="FFFFFF"/>
                </a:solidFill>
                <a:latin typeface="Arial" pitchFamily="34" charset="0"/>
                <a:ea typeface="Arial" pitchFamily="34" charset="-122"/>
                <a:cs typeface="Arial" pitchFamily="34" charset="-120"/>
              </a:rPr>
              <a:t>heaters, two sites</a:t>
            </a:r>
            <a:endParaRPr lang="en-US" sz="1100" dirty="0"/>
          </a:p>
        </p:txBody>
      </p:sp>
      <p:sp>
        <p:nvSpPr>
          <p:cNvPr id="14" name="Shape 10"/>
          <p:cNvSpPr/>
          <p:nvPr/>
        </p:nvSpPr>
        <p:spPr>
          <a:xfrm>
            <a:off x="2423160" y="5029200"/>
            <a:ext cx="1737360" cy="1188720"/>
          </a:xfrm>
          <a:prstGeom prst="rect">
            <a:avLst/>
          </a:prstGeom>
          <a:solidFill>
            <a:srgbClr val="1E1E1E"/>
          </a:solidFill>
          <a:ln w="12700">
            <a:solidFill>
              <a:srgbClr val="1E1E1E"/>
            </a:solidFill>
            <a:prstDash val="solid"/>
          </a:ln>
        </p:spPr>
      </p:sp>
      <p:sp>
        <p:nvSpPr>
          <p:cNvPr id="15" name="Text 11"/>
          <p:cNvSpPr txBox="1"/>
          <p:nvPr/>
        </p:nvSpPr>
        <p:spPr>
          <a:xfrm>
            <a:off x="2587752" y="5138928"/>
            <a:ext cx="1463040" cy="548640"/>
          </a:xfrm>
          <a:prstGeom prst="rect">
            <a:avLst/>
          </a:prstGeom>
          <a:noFill/>
          <a:ln/>
        </p:spPr>
        <p:txBody>
          <a:bodyPr wrap="square" lIns="0" tIns="0" rIns="0" bIns="0" rtlCol="0" anchor="ctr"/>
          <a:lstStyle/>
          <a:p>
            <a:pPr indent="0" marL="0">
              <a:buNone/>
            </a:pPr>
            <a:r>
              <a:rPr lang="en-US" sz="3000" b="1" dirty="0">
                <a:solidFill>
                  <a:srgbClr val="FCC30A"/>
                </a:solidFill>
                <a:latin typeface="Arial" pitchFamily="34" charset="0"/>
                <a:ea typeface="Arial" pitchFamily="34" charset="-122"/>
                <a:cs typeface="Arial" pitchFamily="34" charset="-120"/>
              </a:rPr>
              <a:t>12</a:t>
            </a:r>
            <a:endParaRPr lang="en-US" sz="3000" dirty="0"/>
          </a:p>
        </p:txBody>
      </p:sp>
      <p:sp>
        <p:nvSpPr>
          <p:cNvPr id="16" name="Text 12"/>
          <p:cNvSpPr txBox="1"/>
          <p:nvPr/>
        </p:nvSpPr>
        <p:spPr>
          <a:xfrm>
            <a:off x="2587752" y="5687568"/>
            <a:ext cx="1463040" cy="457200"/>
          </a:xfrm>
          <a:prstGeom prst="rect">
            <a:avLst/>
          </a:prstGeom>
          <a:noFill/>
          <a:ln/>
        </p:spPr>
        <p:txBody>
          <a:bodyPr wrap="square" lIns="0" tIns="0" rIns="0" bIns="0" rtlCol="0" anchor="t"/>
          <a:lstStyle/>
          <a:p>
            <a:pPr indent="0" marL="0">
              <a:buNone/>
            </a:pPr>
            <a:r>
              <a:rPr lang="en-US" sz="1100" dirty="0">
                <a:solidFill>
                  <a:srgbClr val="FFFFFF"/>
                </a:solidFill>
                <a:latin typeface="Arial" pitchFamily="34" charset="0"/>
                <a:ea typeface="Arial" pitchFamily="34" charset="-122"/>
                <a:cs typeface="Arial" pitchFamily="34" charset="-120"/>
              </a:rPr>
              <a:t>decokes per year</a:t>
            </a:r>
            <a:endParaRPr lang="en-US" sz="1100" dirty="0"/>
          </a:p>
        </p:txBody>
      </p:sp>
      <p:sp>
        <p:nvSpPr>
          <p:cNvPr id="17" name="Shape 13"/>
          <p:cNvSpPr/>
          <p:nvPr/>
        </p:nvSpPr>
        <p:spPr>
          <a:xfrm>
            <a:off x="4297680" y="5029200"/>
            <a:ext cx="1737360" cy="1188720"/>
          </a:xfrm>
          <a:prstGeom prst="rect">
            <a:avLst/>
          </a:prstGeom>
          <a:solidFill>
            <a:srgbClr val="1E1E1E"/>
          </a:solidFill>
          <a:ln w="12700">
            <a:solidFill>
              <a:srgbClr val="1E1E1E"/>
            </a:solidFill>
            <a:prstDash val="solid"/>
          </a:ln>
        </p:spPr>
      </p:sp>
      <p:sp>
        <p:nvSpPr>
          <p:cNvPr id="18" name="Text 14"/>
          <p:cNvSpPr txBox="1"/>
          <p:nvPr/>
        </p:nvSpPr>
        <p:spPr>
          <a:xfrm>
            <a:off x="4462272" y="5138928"/>
            <a:ext cx="1463040" cy="548640"/>
          </a:xfrm>
          <a:prstGeom prst="rect">
            <a:avLst/>
          </a:prstGeom>
          <a:noFill/>
          <a:ln/>
        </p:spPr>
        <p:txBody>
          <a:bodyPr wrap="square" lIns="0" tIns="0" rIns="0" bIns="0" rtlCol="0" anchor="ctr"/>
          <a:lstStyle/>
          <a:p>
            <a:pPr indent="0" marL="0">
              <a:buNone/>
            </a:pPr>
            <a:r>
              <a:rPr lang="en-US" sz="3000" b="1" dirty="0">
                <a:solidFill>
                  <a:srgbClr val="FCC30A"/>
                </a:solidFill>
                <a:latin typeface="Arial" pitchFamily="34" charset="0"/>
                <a:ea typeface="Arial" pitchFamily="34" charset="-122"/>
                <a:cs typeface="Arial" pitchFamily="34" charset="-120"/>
              </a:rPr>
              <a:t>60</a:t>
            </a:r>
            <a:endParaRPr lang="en-US" sz="3000" dirty="0"/>
          </a:p>
        </p:txBody>
      </p:sp>
      <p:sp>
        <p:nvSpPr>
          <p:cNvPr id="19" name="Text 15"/>
          <p:cNvSpPr txBox="1"/>
          <p:nvPr/>
        </p:nvSpPr>
        <p:spPr>
          <a:xfrm>
            <a:off x="4462272" y="5687568"/>
            <a:ext cx="1463040" cy="457200"/>
          </a:xfrm>
          <a:prstGeom prst="rect">
            <a:avLst/>
          </a:prstGeom>
          <a:noFill/>
          <a:ln/>
        </p:spPr>
        <p:txBody>
          <a:bodyPr wrap="square" lIns="0" tIns="0" rIns="0" bIns="0" rtlCol="0" anchor="t"/>
          <a:lstStyle/>
          <a:p>
            <a:pPr indent="0" marL="0">
              <a:buNone/>
            </a:pPr>
            <a:r>
              <a:rPr lang="en-US" sz="1100" dirty="0">
                <a:solidFill>
                  <a:srgbClr val="FFFFFF"/>
                </a:solidFill>
                <a:latin typeface="Arial" pitchFamily="34" charset="0"/>
                <a:ea typeface="Arial" pitchFamily="34" charset="-122"/>
                <a:cs typeface="Arial" pitchFamily="34" charset="-120"/>
              </a:rPr>
              <a:t>decokes over 5 years</a:t>
            </a:r>
            <a:endParaRPr lang="en-US" sz="1100" dirty="0"/>
          </a:p>
        </p:txBody>
      </p:sp>
      <p:sp>
        <p:nvSpPr>
          <p:cNvPr id="20" name="Shape 16"/>
          <p:cNvSpPr/>
          <p:nvPr/>
        </p:nvSpPr>
        <p:spPr>
          <a:xfrm>
            <a:off x="6172200" y="5029200"/>
            <a:ext cx="1737360" cy="1188720"/>
          </a:xfrm>
          <a:prstGeom prst="rect">
            <a:avLst/>
          </a:prstGeom>
          <a:solidFill>
            <a:srgbClr val="1E1E1E"/>
          </a:solidFill>
          <a:ln w="12700">
            <a:solidFill>
              <a:srgbClr val="1E1E1E"/>
            </a:solidFill>
            <a:prstDash val="solid"/>
          </a:ln>
        </p:spPr>
      </p:sp>
      <p:sp>
        <p:nvSpPr>
          <p:cNvPr id="21" name="Text 17"/>
          <p:cNvSpPr txBox="1"/>
          <p:nvPr/>
        </p:nvSpPr>
        <p:spPr>
          <a:xfrm>
            <a:off x="6336792" y="5138928"/>
            <a:ext cx="1463040" cy="548640"/>
          </a:xfrm>
          <a:prstGeom prst="rect">
            <a:avLst/>
          </a:prstGeom>
          <a:noFill/>
          <a:ln/>
        </p:spPr>
        <p:txBody>
          <a:bodyPr wrap="square" lIns="0" tIns="0" rIns="0" bIns="0" rtlCol="0" anchor="ctr"/>
          <a:lstStyle/>
          <a:p>
            <a:pPr indent="0" marL="0">
              <a:buNone/>
            </a:pPr>
            <a:r>
              <a:rPr lang="en-US" sz="2600" b="1" dirty="0">
                <a:solidFill>
                  <a:srgbClr val="FCC30A"/>
                </a:solidFill>
                <a:latin typeface="Arial" pitchFamily="34" charset="0"/>
                <a:ea typeface="Arial" pitchFamily="34" charset="-122"/>
                <a:cs typeface="Arial" pitchFamily="34" charset="-120"/>
              </a:rPr>
              <a:t>2,790</a:t>
            </a:r>
            <a:endParaRPr lang="en-US" sz="2600" dirty="0"/>
          </a:p>
        </p:txBody>
      </p:sp>
      <p:sp>
        <p:nvSpPr>
          <p:cNvPr id="22" name="Text 18"/>
          <p:cNvSpPr txBox="1"/>
          <p:nvPr/>
        </p:nvSpPr>
        <p:spPr>
          <a:xfrm>
            <a:off x="6336792" y="5687568"/>
            <a:ext cx="1463040" cy="457200"/>
          </a:xfrm>
          <a:prstGeom prst="rect">
            <a:avLst/>
          </a:prstGeom>
          <a:noFill/>
          <a:ln/>
        </p:spPr>
        <p:txBody>
          <a:bodyPr wrap="square" lIns="0" tIns="0" rIns="0" bIns="0" rtlCol="0" anchor="t"/>
          <a:lstStyle/>
          <a:p>
            <a:pPr indent="0" marL="0">
              <a:buNone/>
            </a:pPr>
            <a:r>
              <a:rPr lang="en-US" sz="1100" dirty="0">
                <a:solidFill>
                  <a:srgbClr val="FFFFFF"/>
                </a:solidFill>
                <a:latin typeface="Arial" pitchFamily="34" charset="0"/>
                <a:ea typeface="Arial" pitchFamily="34" charset="-122"/>
                <a:cs typeface="Arial" pitchFamily="34" charset="-120"/>
              </a:rPr>
              <a:t>project hours, 5 years</a:t>
            </a:r>
            <a:endParaRPr lang="en-US" sz="1100" dirty="0"/>
          </a:p>
        </p:txBody>
      </p:sp>
      <p:sp>
        <p:nvSpPr>
          <p:cNvPr id="23" name="Text 19"/>
          <p:cNvSpPr txBox="1"/>
          <p:nvPr/>
        </p:nvSpPr>
        <p:spPr>
          <a:xfrm>
            <a:off x="548640" y="6419088"/>
            <a:ext cx="7315200" cy="228600"/>
          </a:xfrm>
          <a:prstGeom prst="rect">
            <a:avLst/>
          </a:prstGeom>
          <a:noFill/>
          <a:ln/>
        </p:spPr>
        <p:txBody>
          <a:bodyPr wrap="square" lIns="0" tIns="0" rIns="0" bIns="0" rtlCol="0" anchor="ctr"/>
          <a:lstStyle/>
          <a:p>
            <a:pPr indent="0" marL="0">
              <a:buNone/>
            </a:pPr>
            <a:r>
              <a:rPr lang="en-US" sz="900" dirty="0">
                <a:solidFill>
                  <a:srgbClr val="9A9A9A"/>
                </a:solidFill>
                <a:latin typeface="Arial" pitchFamily="34" charset="0"/>
                <a:ea typeface="Arial" pitchFamily="34" charset="-122"/>
                <a:cs typeface="Arial" pitchFamily="34" charset="-120"/>
              </a:rPr>
              <a:t>USA DeBusk  |  LAR Heater Pigging &amp; Decoking Services  |  DSP#26098</a:t>
            </a:r>
            <a:endParaRPr lang="en-US" sz="900" dirty="0"/>
          </a:p>
        </p:txBody>
      </p:sp>
      <p:sp>
        <p:nvSpPr>
          <p:cNvPr id="24" name="Text 20"/>
          <p:cNvSpPr txBox="1"/>
          <p:nvPr/>
        </p:nvSpPr>
        <p:spPr>
          <a:xfrm>
            <a:off x="11155680" y="6419088"/>
            <a:ext cx="484632" cy="228600"/>
          </a:xfrm>
          <a:prstGeom prst="rect">
            <a:avLst/>
          </a:prstGeom>
          <a:noFill/>
          <a:ln/>
        </p:spPr>
        <p:txBody>
          <a:bodyPr wrap="square" lIns="0" tIns="0" rIns="0" bIns="0" rtlCol="0" anchor="ctr"/>
          <a:lstStyle/>
          <a:p>
            <a:pPr algn="r" indent="0" marL="0">
              <a:buNone/>
            </a:pPr>
            <a:r>
              <a:rPr lang="en-US" sz="900" dirty="0">
                <a:solidFill>
                  <a:srgbClr val="9A9A9A"/>
                </a:solidFill>
                <a:latin typeface="Arial" pitchFamily="34" charset="0"/>
                <a:ea typeface="Arial" pitchFamily="34" charset="-122"/>
                <a:cs typeface="Arial"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pic>
        <p:nvPicPr>
          <p:cNvPr id="2" name="Image 0" descr="/tmp/claude-0/-home-user-obsidian-work/c8998718-f22f-57a3-84c2-766db1d92b4c/scratchpad/deck/img/slot_method.jpg">    </p:cNvPr>
          <p:cNvPicPr>
            <a:picLocks noChangeAspect="1"/>
          </p:cNvPicPr>
          <p:nvPr/>
        </p:nvPicPr>
        <p:blipFill>
          <a:blip r:embed="rId1"/>
          <a:stretch>
            <a:fillRect/>
          </a:stretch>
        </p:blipFill>
        <p:spPr>
          <a:xfrm>
            <a:off x="8531352" y="0"/>
            <a:ext cx="3657600" cy="6858000"/>
          </a:xfrm>
          <a:prstGeom prst="rect">
            <a:avLst/>
          </a:prstGeom>
        </p:spPr>
      </p:pic>
      <p:sp>
        <p:nvSpPr>
          <p:cNvPr id="3" name="Shape 0"/>
          <p:cNvSpPr/>
          <p:nvPr/>
        </p:nvSpPr>
        <p:spPr>
          <a:xfrm>
            <a:off x="548640" y="411480"/>
            <a:ext cx="1989525" cy="310896"/>
          </a:xfrm>
          <a:prstGeom prst="roundRect">
            <a:avLst>
              <a:gd name="adj" fmla="val 23529"/>
            </a:avLst>
          </a:prstGeom>
          <a:solidFill>
            <a:srgbClr val="FCC30A"/>
          </a:solidFill>
          <a:ln w="12700">
            <a:solidFill>
              <a:srgbClr val="FCC30A"/>
            </a:solidFill>
            <a:prstDash val="solid"/>
          </a:ln>
        </p:spPr>
      </p:sp>
      <p:sp>
        <p:nvSpPr>
          <p:cNvPr id="4" name="Text 1"/>
          <p:cNvSpPr txBox="1"/>
          <p:nvPr/>
        </p:nvSpPr>
        <p:spPr>
          <a:xfrm>
            <a:off x="548640" y="411480"/>
            <a:ext cx="1989525" cy="310896"/>
          </a:xfrm>
          <a:prstGeom prst="rect">
            <a:avLst/>
          </a:prstGeom>
          <a:noFill/>
          <a:ln/>
        </p:spPr>
        <p:txBody>
          <a:bodyPr wrap="square" lIns="0" tIns="0" rIns="0" bIns="0" rtlCol="0" anchor="ctr"/>
          <a:lstStyle/>
          <a:p>
            <a:pPr algn="ctr" indent="0" marL="0">
              <a:buNone/>
            </a:pPr>
            <a:r>
              <a:rPr lang="en-US" sz="1050" b="1" spc="150" kern="0" dirty="0">
                <a:solidFill>
                  <a:srgbClr val="1E1E1E"/>
                </a:solidFill>
                <a:latin typeface="Arial" pitchFamily="34" charset="0"/>
                <a:ea typeface="Arial" pitchFamily="34" charset="-122"/>
                <a:cs typeface="Arial" pitchFamily="34" charset="-120"/>
              </a:rPr>
              <a:t>01   METHODOLOGY</a:t>
            </a:r>
            <a:endParaRPr lang="en-US" sz="1050" dirty="0"/>
          </a:p>
        </p:txBody>
      </p:sp>
      <p:sp>
        <p:nvSpPr>
          <p:cNvPr id="5" name="Text 2"/>
          <p:cNvSpPr txBox="1"/>
          <p:nvPr/>
        </p:nvSpPr>
        <p:spPr>
          <a:xfrm>
            <a:off x="548640" y="841248"/>
            <a:ext cx="7680960" cy="731520"/>
          </a:xfrm>
          <a:prstGeom prst="rect">
            <a:avLst/>
          </a:prstGeom>
          <a:noFill/>
          <a:ln/>
        </p:spPr>
        <p:txBody>
          <a:bodyPr wrap="square" lIns="0" tIns="0" rIns="0" bIns="0" rtlCol="0" anchor="t"/>
          <a:lstStyle/>
          <a:p>
            <a:pPr indent="0" marL="0">
              <a:buNone/>
            </a:pPr>
            <a:r>
              <a:rPr lang="en-US" sz="3200" b="1" dirty="0">
                <a:solidFill>
                  <a:srgbClr val="222222"/>
                </a:solidFill>
                <a:latin typeface="Arial" pitchFamily="34" charset="0"/>
                <a:ea typeface="Arial" pitchFamily="34" charset="-122"/>
                <a:cs typeface="Arial" pitchFamily="34" charset="-120"/>
              </a:rPr>
              <a:t>Bi-directional mechanical decoking</a:t>
            </a:r>
            <a:endParaRPr lang="en-US" sz="3200" dirty="0"/>
          </a:p>
        </p:txBody>
      </p:sp>
      <p:sp>
        <p:nvSpPr>
          <p:cNvPr id="6" name="Text 3"/>
          <p:cNvSpPr txBox="1"/>
          <p:nvPr/>
        </p:nvSpPr>
        <p:spPr>
          <a:xfrm>
            <a:off x="548640" y="1481328"/>
            <a:ext cx="7680960" cy="365760"/>
          </a:xfrm>
          <a:prstGeom prst="rect">
            <a:avLst/>
          </a:prstGeom>
          <a:noFill/>
          <a:ln/>
        </p:spPr>
        <p:txBody>
          <a:bodyPr wrap="square" lIns="0" tIns="0" rIns="0" bIns="0" rtlCol="0" anchor="t"/>
          <a:lstStyle/>
          <a:p>
            <a:pPr indent="0" marL="0">
              <a:buNone/>
            </a:pPr>
            <a:r>
              <a:rPr lang="en-US" sz="1500" dirty="0">
                <a:solidFill>
                  <a:srgbClr val="5E5E5E"/>
                </a:solidFill>
                <a:latin typeface="Arial" pitchFamily="34" charset="0"/>
                <a:ea typeface="Arial" pitchFamily="34" charset="-122"/>
                <a:cs typeface="Arial" pitchFamily="34" charset="-120"/>
              </a:rPr>
              <a:t>Every pass follows the same controlled sequence</a:t>
            </a:r>
            <a:endParaRPr lang="en-US" sz="1500" dirty="0"/>
          </a:p>
        </p:txBody>
      </p:sp>
      <p:sp>
        <p:nvSpPr>
          <p:cNvPr id="7" name="Shape 4"/>
          <p:cNvSpPr/>
          <p:nvPr/>
        </p:nvSpPr>
        <p:spPr>
          <a:xfrm>
            <a:off x="795528" y="2350008"/>
            <a:ext cx="0" cy="3337560"/>
          </a:xfrm>
          <a:prstGeom prst="line">
            <a:avLst/>
          </a:prstGeom>
          <a:noFill/>
          <a:ln w="25400">
            <a:solidFill>
              <a:srgbClr val="DDDDDD"/>
            </a:solidFill>
            <a:prstDash val="solid"/>
          </a:ln>
        </p:spPr>
      </p:sp>
      <p:sp>
        <p:nvSpPr>
          <p:cNvPr id="8" name="Shape 5"/>
          <p:cNvSpPr/>
          <p:nvPr/>
        </p:nvSpPr>
        <p:spPr>
          <a:xfrm>
            <a:off x="548640" y="2103120"/>
            <a:ext cx="493776" cy="493776"/>
          </a:xfrm>
          <a:prstGeom prst="ellipse">
            <a:avLst/>
          </a:prstGeom>
          <a:solidFill>
            <a:srgbClr val="1E1E1E"/>
          </a:solidFill>
          <a:ln w="25400">
            <a:solidFill>
              <a:srgbClr val="FFFFFF"/>
            </a:solidFill>
            <a:prstDash val="solid"/>
          </a:ln>
        </p:spPr>
      </p:sp>
      <p:sp>
        <p:nvSpPr>
          <p:cNvPr id="9" name="Text 6"/>
          <p:cNvSpPr txBox="1"/>
          <p:nvPr/>
        </p:nvSpPr>
        <p:spPr>
          <a:xfrm>
            <a:off x="548640" y="2103120"/>
            <a:ext cx="493776" cy="493776"/>
          </a:xfrm>
          <a:prstGeom prst="rect">
            <a:avLst/>
          </a:prstGeom>
          <a:noFill/>
          <a:ln/>
        </p:spPr>
        <p:txBody>
          <a:bodyPr wrap="square" lIns="0" tIns="0" rIns="0" bIns="0" rtlCol="0" anchor="ctr"/>
          <a:lstStyle/>
          <a:p>
            <a:pPr algn="ctr" indent="0" marL="0">
              <a:buNone/>
            </a:pPr>
            <a:r>
              <a:rPr lang="en-US" sz="1500" b="1" dirty="0">
                <a:solidFill>
                  <a:srgbClr val="FCC30A"/>
                </a:solidFill>
                <a:latin typeface="Arial" pitchFamily="34" charset="0"/>
                <a:ea typeface="Arial" pitchFamily="34" charset="-122"/>
                <a:cs typeface="Arial" pitchFamily="34" charset="-120"/>
              </a:rPr>
              <a:t>1</a:t>
            </a:r>
            <a:endParaRPr lang="en-US" sz="1500" dirty="0"/>
          </a:p>
        </p:txBody>
      </p:sp>
      <p:sp>
        <p:nvSpPr>
          <p:cNvPr id="10" name="Text 7"/>
          <p:cNvSpPr txBox="1"/>
          <p:nvPr/>
        </p:nvSpPr>
        <p:spPr>
          <a:xfrm>
            <a:off x="1280160" y="2084832"/>
            <a:ext cx="7040880" cy="274320"/>
          </a:xfrm>
          <a:prstGeom prst="rect">
            <a:avLst/>
          </a:prstGeom>
          <a:noFill/>
          <a:ln/>
        </p:spPr>
        <p:txBody>
          <a:bodyPr wrap="square" lIns="0" tIns="0" rIns="0" bIns="0" rtlCol="0" anchor="ctr"/>
          <a:lstStyle/>
          <a:p>
            <a:pPr indent="0" marL="0">
              <a:buNone/>
            </a:pPr>
            <a:r>
              <a:rPr lang="en-US" sz="1500" b="1" dirty="0">
                <a:solidFill>
                  <a:srgbClr val="222222"/>
                </a:solidFill>
                <a:latin typeface="Arial" pitchFamily="34" charset="0"/>
                <a:ea typeface="Arial" pitchFamily="34" charset="-122"/>
                <a:cs typeface="Arial" pitchFamily="34" charset="-120"/>
              </a:rPr>
              <a:t>Rig-in &amp; pressure test</a:t>
            </a:r>
            <a:endParaRPr lang="en-US" sz="1500" dirty="0"/>
          </a:p>
        </p:txBody>
      </p:sp>
      <p:sp>
        <p:nvSpPr>
          <p:cNvPr id="11" name="Text 8"/>
          <p:cNvSpPr txBox="1"/>
          <p:nvPr/>
        </p:nvSpPr>
        <p:spPr>
          <a:xfrm>
            <a:off x="1280160" y="2359152"/>
            <a:ext cx="7040880" cy="274320"/>
          </a:xfrm>
          <a:prstGeom prst="rect">
            <a:avLst/>
          </a:prstGeom>
          <a:noFill/>
          <a:ln/>
        </p:spPr>
        <p:txBody>
          <a:bodyPr wrap="square" lIns="0" tIns="0" rIns="0" bIns="0" rtlCol="0" anchor="ctr"/>
          <a:lstStyle/>
          <a:p>
            <a:pPr indent="0" marL="0">
              <a:buNone/>
            </a:pPr>
            <a:r>
              <a:rPr lang="en-US" sz="1250" dirty="0">
                <a:solidFill>
                  <a:srgbClr val="5E5E5E"/>
                </a:solidFill>
                <a:latin typeface="Arial" pitchFamily="34" charset="0"/>
                <a:ea typeface="Arial" pitchFamily="34" charset="-122"/>
                <a:cs typeface="Arial" pitchFamily="34" charset="-120"/>
              </a:rPr>
              <a:t>Connect 300# launchers and receivers; fill and test before any launch</a:t>
            </a:r>
            <a:endParaRPr lang="en-US" sz="1250" dirty="0"/>
          </a:p>
        </p:txBody>
      </p:sp>
      <p:sp>
        <p:nvSpPr>
          <p:cNvPr id="12" name="Shape 9"/>
          <p:cNvSpPr/>
          <p:nvPr/>
        </p:nvSpPr>
        <p:spPr>
          <a:xfrm>
            <a:off x="548640" y="2770632"/>
            <a:ext cx="493776" cy="493776"/>
          </a:xfrm>
          <a:prstGeom prst="ellipse">
            <a:avLst/>
          </a:prstGeom>
          <a:solidFill>
            <a:srgbClr val="1E1E1E"/>
          </a:solidFill>
          <a:ln w="25400">
            <a:solidFill>
              <a:srgbClr val="FFFFFF"/>
            </a:solidFill>
            <a:prstDash val="solid"/>
          </a:ln>
        </p:spPr>
      </p:sp>
      <p:sp>
        <p:nvSpPr>
          <p:cNvPr id="13" name="Text 10"/>
          <p:cNvSpPr txBox="1"/>
          <p:nvPr/>
        </p:nvSpPr>
        <p:spPr>
          <a:xfrm>
            <a:off x="548640" y="2770632"/>
            <a:ext cx="493776" cy="493776"/>
          </a:xfrm>
          <a:prstGeom prst="rect">
            <a:avLst/>
          </a:prstGeom>
          <a:noFill/>
          <a:ln/>
        </p:spPr>
        <p:txBody>
          <a:bodyPr wrap="square" lIns="0" tIns="0" rIns="0" bIns="0" rtlCol="0" anchor="ctr"/>
          <a:lstStyle/>
          <a:p>
            <a:pPr algn="ctr" indent="0" marL="0">
              <a:buNone/>
            </a:pPr>
            <a:r>
              <a:rPr lang="en-US" sz="1500" b="1" dirty="0">
                <a:solidFill>
                  <a:srgbClr val="FCC30A"/>
                </a:solidFill>
                <a:latin typeface="Arial" pitchFamily="34" charset="0"/>
                <a:ea typeface="Arial" pitchFamily="34" charset="-122"/>
                <a:cs typeface="Arial" pitchFamily="34" charset="-120"/>
              </a:rPr>
              <a:t>2</a:t>
            </a:r>
            <a:endParaRPr lang="en-US" sz="1500" dirty="0"/>
          </a:p>
        </p:txBody>
      </p:sp>
      <p:sp>
        <p:nvSpPr>
          <p:cNvPr id="14" name="Text 11"/>
          <p:cNvSpPr txBox="1"/>
          <p:nvPr/>
        </p:nvSpPr>
        <p:spPr>
          <a:xfrm>
            <a:off x="1280160" y="2752344"/>
            <a:ext cx="7040880" cy="274320"/>
          </a:xfrm>
          <a:prstGeom prst="rect">
            <a:avLst/>
          </a:prstGeom>
          <a:noFill/>
          <a:ln/>
        </p:spPr>
        <p:txBody>
          <a:bodyPr wrap="square" lIns="0" tIns="0" rIns="0" bIns="0" rtlCol="0" anchor="ctr"/>
          <a:lstStyle/>
          <a:p>
            <a:pPr indent="0" marL="0">
              <a:buNone/>
            </a:pPr>
            <a:r>
              <a:rPr lang="en-US" sz="1500" b="1" dirty="0">
                <a:solidFill>
                  <a:srgbClr val="222222"/>
                </a:solidFill>
                <a:latin typeface="Arial" pitchFamily="34" charset="0"/>
                <a:ea typeface="Arial" pitchFamily="34" charset="-122"/>
                <a:cs typeface="Arial" pitchFamily="34" charset="-120"/>
              </a:rPr>
              <a:t>Baseline flow test</a:t>
            </a:r>
            <a:endParaRPr lang="en-US" sz="1500" dirty="0"/>
          </a:p>
        </p:txBody>
      </p:sp>
      <p:sp>
        <p:nvSpPr>
          <p:cNvPr id="15" name="Text 12"/>
          <p:cNvSpPr txBox="1"/>
          <p:nvPr/>
        </p:nvSpPr>
        <p:spPr>
          <a:xfrm>
            <a:off x="1280160" y="3026664"/>
            <a:ext cx="7040880" cy="274320"/>
          </a:xfrm>
          <a:prstGeom prst="rect">
            <a:avLst/>
          </a:prstGeom>
          <a:noFill/>
          <a:ln/>
        </p:spPr>
        <p:txBody>
          <a:bodyPr wrap="square" lIns="0" tIns="0" rIns="0" bIns="0" rtlCol="0" anchor="ctr"/>
          <a:lstStyle/>
          <a:p>
            <a:pPr indent="0" marL="0">
              <a:buNone/>
            </a:pPr>
            <a:r>
              <a:rPr lang="en-US" sz="1250" dirty="0">
                <a:solidFill>
                  <a:srgbClr val="5E5E5E"/>
                </a:solidFill>
                <a:latin typeface="Arial" pitchFamily="34" charset="0"/>
                <a:ea typeface="Arial" pitchFamily="34" charset="-122"/>
                <a:cs typeface="Arial" pitchFamily="34" charset="-120"/>
              </a:rPr>
              <a:t>Record pressure at a set rate for a before-and-after comparison</a:t>
            </a:r>
            <a:endParaRPr lang="en-US" sz="1250" dirty="0"/>
          </a:p>
        </p:txBody>
      </p:sp>
      <p:sp>
        <p:nvSpPr>
          <p:cNvPr id="16" name="Shape 13"/>
          <p:cNvSpPr/>
          <p:nvPr/>
        </p:nvSpPr>
        <p:spPr>
          <a:xfrm>
            <a:off x="548640" y="3438144"/>
            <a:ext cx="493776" cy="493776"/>
          </a:xfrm>
          <a:prstGeom prst="ellipse">
            <a:avLst/>
          </a:prstGeom>
          <a:solidFill>
            <a:srgbClr val="1E1E1E"/>
          </a:solidFill>
          <a:ln w="25400">
            <a:solidFill>
              <a:srgbClr val="FFFFFF"/>
            </a:solidFill>
            <a:prstDash val="solid"/>
          </a:ln>
        </p:spPr>
      </p:sp>
      <p:sp>
        <p:nvSpPr>
          <p:cNvPr id="17" name="Text 14"/>
          <p:cNvSpPr txBox="1"/>
          <p:nvPr/>
        </p:nvSpPr>
        <p:spPr>
          <a:xfrm>
            <a:off x="548640" y="3438144"/>
            <a:ext cx="493776" cy="493776"/>
          </a:xfrm>
          <a:prstGeom prst="rect">
            <a:avLst/>
          </a:prstGeom>
          <a:noFill/>
          <a:ln/>
        </p:spPr>
        <p:txBody>
          <a:bodyPr wrap="square" lIns="0" tIns="0" rIns="0" bIns="0" rtlCol="0" anchor="ctr"/>
          <a:lstStyle/>
          <a:p>
            <a:pPr algn="ctr" indent="0" marL="0">
              <a:buNone/>
            </a:pPr>
            <a:r>
              <a:rPr lang="en-US" sz="1500" b="1" dirty="0">
                <a:solidFill>
                  <a:srgbClr val="FCC30A"/>
                </a:solidFill>
                <a:latin typeface="Arial" pitchFamily="34" charset="0"/>
                <a:ea typeface="Arial" pitchFamily="34" charset="-122"/>
                <a:cs typeface="Arial" pitchFamily="34" charset="-120"/>
              </a:rPr>
              <a:t>3</a:t>
            </a:r>
            <a:endParaRPr lang="en-US" sz="1500" dirty="0"/>
          </a:p>
        </p:txBody>
      </p:sp>
      <p:sp>
        <p:nvSpPr>
          <p:cNvPr id="18" name="Text 15"/>
          <p:cNvSpPr txBox="1"/>
          <p:nvPr/>
        </p:nvSpPr>
        <p:spPr>
          <a:xfrm>
            <a:off x="1280160" y="3419856"/>
            <a:ext cx="7040880" cy="274320"/>
          </a:xfrm>
          <a:prstGeom prst="rect">
            <a:avLst/>
          </a:prstGeom>
          <a:noFill/>
          <a:ln/>
        </p:spPr>
        <p:txBody>
          <a:bodyPr wrap="square" lIns="0" tIns="0" rIns="0" bIns="0" rtlCol="0" anchor="ctr"/>
          <a:lstStyle/>
          <a:p>
            <a:pPr indent="0" marL="0">
              <a:buNone/>
            </a:pPr>
            <a:r>
              <a:rPr lang="en-US" sz="1500" b="1" dirty="0">
                <a:solidFill>
                  <a:srgbClr val="222222"/>
                </a:solidFill>
                <a:latin typeface="Arial" pitchFamily="34" charset="0"/>
                <a:ea typeface="Arial" pitchFamily="34" charset="-122"/>
                <a:cs typeface="Arial" pitchFamily="34" charset="-120"/>
              </a:rPr>
              <a:t>Gauge foam run</a:t>
            </a:r>
            <a:endParaRPr lang="en-US" sz="1500" dirty="0"/>
          </a:p>
        </p:txBody>
      </p:sp>
      <p:sp>
        <p:nvSpPr>
          <p:cNvPr id="19" name="Text 16"/>
          <p:cNvSpPr txBox="1"/>
          <p:nvPr/>
        </p:nvSpPr>
        <p:spPr>
          <a:xfrm>
            <a:off x="1280160" y="3694176"/>
            <a:ext cx="7040880" cy="274320"/>
          </a:xfrm>
          <a:prstGeom prst="rect">
            <a:avLst/>
          </a:prstGeom>
          <a:noFill/>
          <a:ln/>
        </p:spPr>
        <p:txBody>
          <a:bodyPr wrap="square" lIns="0" tIns="0" rIns="0" bIns="0" rtlCol="0" anchor="ctr"/>
          <a:lstStyle/>
          <a:p>
            <a:pPr indent="0" marL="0">
              <a:buNone/>
            </a:pPr>
            <a:r>
              <a:rPr lang="en-US" sz="1250" dirty="0">
                <a:solidFill>
                  <a:srgbClr val="5E5E5E"/>
                </a:solidFill>
                <a:latin typeface="Arial" pitchFamily="34" charset="0"/>
                <a:ea typeface="Arial" pitchFamily="34" charset="-122"/>
                <a:cs typeface="Arial" pitchFamily="34" charset="-120"/>
              </a:rPr>
              <a:t>Proves the pass is open and sets the initial pig size</a:t>
            </a:r>
            <a:endParaRPr lang="en-US" sz="1250" dirty="0"/>
          </a:p>
        </p:txBody>
      </p:sp>
      <p:sp>
        <p:nvSpPr>
          <p:cNvPr id="20" name="Shape 17"/>
          <p:cNvSpPr/>
          <p:nvPr/>
        </p:nvSpPr>
        <p:spPr>
          <a:xfrm>
            <a:off x="548640" y="4105656"/>
            <a:ext cx="493776" cy="493776"/>
          </a:xfrm>
          <a:prstGeom prst="ellipse">
            <a:avLst/>
          </a:prstGeom>
          <a:solidFill>
            <a:srgbClr val="1E1E1E"/>
          </a:solidFill>
          <a:ln w="25400">
            <a:solidFill>
              <a:srgbClr val="FFFFFF"/>
            </a:solidFill>
            <a:prstDash val="solid"/>
          </a:ln>
        </p:spPr>
      </p:sp>
      <p:sp>
        <p:nvSpPr>
          <p:cNvPr id="21" name="Text 18"/>
          <p:cNvSpPr txBox="1"/>
          <p:nvPr/>
        </p:nvSpPr>
        <p:spPr>
          <a:xfrm>
            <a:off x="548640" y="4105656"/>
            <a:ext cx="493776" cy="493776"/>
          </a:xfrm>
          <a:prstGeom prst="rect">
            <a:avLst/>
          </a:prstGeom>
          <a:noFill/>
          <a:ln/>
        </p:spPr>
        <p:txBody>
          <a:bodyPr wrap="square" lIns="0" tIns="0" rIns="0" bIns="0" rtlCol="0" anchor="ctr"/>
          <a:lstStyle/>
          <a:p>
            <a:pPr algn="ctr" indent="0" marL="0">
              <a:buNone/>
            </a:pPr>
            <a:r>
              <a:rPr lang="en-US" sz="1500" b="1" dirty="0">
                <a:solidFill>
                  <a:srgbClr val="FCC30A"/>
                </a:solidFill>
                <a:latin typeface="Arial" pitchFamily="34" charset="0"/>
                <a:ea typeface="Arial" pitchFamily="34" charset="-122"/>
                <a:cs typeface="Arial" pitchFamily="34" charset="-120"/>
              </a:rPr>
              <a:t>4</a:t>
            </a:r>
            <a:endParaRPr lang="en-US" sz="1500" dirty="0"/>
          </a:p>
        </p:txBody>
      </p:sp>
      <p:sp>
        <p:nvSpPr>
          <p:cNvPr id="22" name="Text 19"/>
          <p:cNvSpPr txBox="1"/>
          <p:nvPr/>
        </p:nvSpPr>
        <p:spPr>
          <a:xfrm>
            <a:off x="1280160" y="4087368"/>
            <a:ext cx="7040880" cy="274320"/>
          </a:xfrm>
          <a:prstGeom prst="rect">
            <a:avLst/>
          </a:prstGeom>
          <a:noFill/>
          <a:ln/>
        </p:spPr>
        <p:txBody>
          <a:bodyPr wrap="square" lIns="0" tIns="0" rIns="0" bIns="0" rtlCol="0" anchor="ctr"/>
          <a:lstStyle/>
          <a:p>
            <a:pPr indent="0" marL="0">
              <a:buNone/>
            </a:pPr>
            <a:r>
              <a:rPr lang="en-US" sz="1500" b="1" dirty="0">
                <a:solidFill>
                  <a:srgbClr val="222222"/>
                </a:solidFill>
                <a:latin typeface="Arial" pitchFamily="34" charset="0"/>
                <a:ea typeface="Arial" pitchFamily="34" charset="-122"/>
                <a:cs typeface="Arial" pitchFamily="34" charset="-120"/>
              </a:rPr>
              <a:t>Scraper pig progression</a:t>
            </a:r>
            <a:endParaRPr lang="en-US" sz="1500" dirty="0"/>
          </a:p>
        </p:txBody>
      </p:sp>
      <p:sp>
        <p:nvSpPr>
          <p:cNvPr id="23" name="Text 20"/>
          <p:cNvSpPr txBox="1"/>
          <p:nvPr/>
        </p:nvSpPr>
        <p:spPr>
          <a:xfrm>
            <a:off x="1280160" y="4361688"/>
            <a:ext cx="7040880" cy="274320"/>
          </a:xfrm>
          <a:prstGeom prst="rect">
            <a:avLst/>
          </a:prstGeom>
          <a:noFill/>
          <a:ln/>
        </p:spPr>
        <p:txBody>
          <a:bodyPr wrap="square" lIns="0" tIns="0" rIns="0" bIns="0" rtlCol="0" anchor="ctr"/>
          <a:lstStyle/>
          <a:p>
            <a:pPr indent="0" marL="0">
              <a:buNone/>
            </a:pPr>
            <a:r>
              <a:rPr lang="en-US" sz="1250" dirty="0">
                <a:solidFill>
                  <a:srgbClr val="5E5E5E"/>
                </a:solidFill>
                <a:latin typeface="Arial" pitchFamily="34" charset="0"/>
                <a:ea typeface="Arial" pitchFamily="34" charset="-122"/>
                <a:cs typeface="Arial" pitchFamily="34" charset="-120"/>
              </a:rPr>
              <a:t>Carbide-studded pigs run in both directions, stepped up ⅛" per clean pass</a:t>
            </a:r>
            <a:endParaRPr lang="en-US" sz="1250" dirty="0"/>
          </a:p>
        </p:txBody>
      </p:sp>
      <p:sp>
        <p:nvSpPr>
          <p:cNvPr id="24" name="Shape 21"/>
          <p:cNvSpPr/>
          <p:nvPr/>
        </p:nvSpPr>
        <p:spPr>
          <a:xfrm>
            <a:off x="548640" y="4773168"/>
            <a:ext cx="493776" cy="493776"/>
          </a:xfrm>
          <a:prstGeom prst="ellipse">
            <a:avLst/>
          </a:prstGeom>
          <a:solidFill>
            <a:srgbClr val="1E1E1E"/>
          </a:solidFill>
          <a:ln w="25400">
            <a:solidFill>
              <a:srgbClr val="FFFFFF"/>
            </a:solidFill>
            <a:prstDash val="solid"/>
          </a:ln>
        </p:spPr>
      </p:sp>
      <p:sp>
        <p:nvSpPr>
          <p:cNvPr id="25" name="Text 22"/>
          <p:cNvSpPr txBox="1"/>
          <p:nvPr/>
        </p:nvSpPr>
        <p:spPr>
          <a:xfrm>
            <a:off x="548640" y="4773168"/>
            <a:ext cx="493776" cy="493776"/>
          </a:xfrm>
          <a:prstGeom prst="rect">
            <a:avLst/>
          </a:prstGeom>
          <a:noFill/>
          <a:ln/>
        </p:spPr>
        <p:txBody>
          <a:bodyPr wrap="square" lIns="0" tIns="0" rIns="0" bIns="0" rtlCol="0" anchor="ctr"/>
          <a:lstStyle/>
          <a:p>
            <a:pPr algn="ctr" indent="0" marL="0">
              <a:buNone/>
            </a:pPr>
            <a:r>
              <a:rPr lang="en-US" sz="1500" b="1" dirty="0">
                <a:solidFill>
                  <a:srgbClr val="FCC30A"/>
                </a:solidFill>
                <a:latin typeface="Arial" pitchFamily="34" charset="0"/>
                <a:ea typeface="Arial" pitchFamily="34" charset="-122"/>
                <a:cs typeface="Arial" pitchFamily="34" charset="-120"/>
              </a:rPr>
              <a:t>5</a:t>
            </a:r>
            <a:endParaRPr lang="en-US" sz="1500" dirty="0"/>
          </a:p>
        </p:txBody>
      </p:sp>
      <p:sp>
        <p:nvSpPr>
          <p:cNvPr id="26" name="Text 23"/>
          <p:cNvSpPr txBox="1"/>
          <p:nvPr/>
        </p:nvSpPr>
        <p:spPr>
          <a:xfrm>
            <a:off x="1280160" y="4754880"/>
            <a:ext cx="7040880" cy="274320"/>
          </a:xfrm>
          <a:prstGeom prst="rect">
            <a:avLst/>
          </a:prstGeom>
          <a:noFill/>
          <a:ln/>
        </p:spPr>
        <p:txBody>
          <a:bodyPr wrap="square" lIns="0" tIns="0" rIns="0" bIns="0" rtlCol="0" anchor="ctr"/>
          <a:lstStyle/>
          <a:p>
            <a:pPr indent="0" marL="0">
              <a:buNone/>
            </a:pPr>
            <a:r>
              <a:rPr lang="en-US" sz="1500" b="1" dirty="0">
                <a:solidFill>
                  <a:srgbClr val="222222"/>
                </a:solidFill>
                <a:latin typeface="Arial" pitchFamily="34" charset="0"/>
                <a:ea typeface="Arial" pitchFamily="34" charset="-122"/>
                <a:cs typeface="Arial" pitchFamily="34" charset="-120"/>
              </a:rPr>
              <a:t>Oversize polish</a:t>
            </a:r>
            <a:endParaRPr lang="en-US" sz="1500" dirty="0"/>
          </a:p>
        </p:txBody>
      </p:sp>
      <p:sp>
        <p:nvSpPr>
          <p:cNvPr id="27" name="Text 24"/>
          <p:cNvSpPr txBox="1"/>
          <p:nvPr/>
        </p:nvSpPr>
        <p:spPr>
          <a:xfrm>
            <a:off x="1280160" y="5029200"/>
            <a:ext cx="7040880" cy="274320"/>
          </a:xfrm>
          <a:prstGeom prst="rect">
            <a:avLst/>
          </a:prstGeom>
          <a:noFill/>
          <a:ln/>
        </p:spPr>
        <p:txBody>
          <a:bodyPr wrap="square" lIns="0" tIns="0" rIns="0" bIns="0" rtlCol="0" anchor="ctr"/>
          <a:lstStyle/>
          <a:p>
            <a:pPr indent="0" marL="0">
              <a:buNone/>
            </a:pPr>
            <a:r>
              <a:rPr lang="en-US" sz="1250" dirty="0">
                <a:solidFill>
                  <a:srgbClr val="5E5E5E"/>
                </a:solidFill>
                <a:latin typeface="Arial" pitchFamily="34" charset="0"/>
                <a:ea typeface="Arial" pitchFamily="34" charset="-122"/>
                <a:cs typeface="Arial" pitchFamily="34" charset="-120"/>
              </a:rPr>
              <a:t>Up to tube ID + ¼" maximum, with real-time pressure monitoring</a:t>
            </a:r>
            <a:endParaRPr lang="en-US" sz="1250" dirty="0"/>
          </a:p>
        </p:txBody>
      </p:sp>
      <p:sp>
        <p:nvSpPr>
          <p:cNvPr id="28" name="Shape 25"/>
          <p:cNvSpPr/>
          <p:nvPr/>
        </p:nvSpPr>
        <p:spPr>
          <a:xfrm>
            <a:off x="548640" y="5440680"/>
            <a:ext cx="493776" cy="493776"/>
          </a:xfrm>
          <a:prstGeom prst="ellipse">
            <a:avLst/>
          </a:prstGeom>
          <a:solidFill>
            <a:srgbClr val="FCC30A"/>
          </a:solidFill>
          <a:ln w="25400">
            <a:solidFill>
              <a:srgbClr val="FFFFFF"/>
            </a:solidFill>
            <a:prstDash val="solid"/>
          </a:ln>
        </p:spPr>
      </p:sp>
      <p:sp>
        <p:nvSpPr>
          <p:cNvPr id="29" name="Text 26"/>
          <p:cNvSpPr txBox="1"/>
          <p:nvPr/>
        </p:nvSpPr>
        <p:spPr>
          <a:xfrm>
            <a:off x="548640" y="5440680"/>
            <a:ext cx="493776" cy="493776"/>
          </a:xfrm>
          <a:prstGeom prst="rect">
            <a:avLst/>
          </a:prstGeom>
          <a:noFill/>
          <a:ln/>
        </p:spPr>
        <p:txBody>
          <a:bodyPr wrap="square" lIns="0" tIns="0" rIns="0" bIns="0" rtlCol="0" anchor="ctr"/>
          <a:lstStyle/>
          <a:p>
            <a:pPr algn="ctr" indent="0" marL="0">
              <a:buNone/>
            </a:pPr>
            <a:r>
              <a:rPr lang="en-US" sz="1500" b="1" dirty="0">
                <a:solidFill>
                  <a:srgbClr val="1E1E1E"/>
                </a:solidFill>
                <a:latin typeface="Arial" pitchFamily="34" charset="0"/>
                <a:ea typeface="Arial" pitchFamily="34" charset="-122"/>
                <a:cs typeface="Arial" pitchFamily="34" charset="-120"/>
              </a:rPr>
              <a:t>6</a:t>
            </a:r>
            <a:endParaRPr lang="en-US" sz="1500" dirty="0"/>
          </a:p>
        </p:txBody>
      </p:sp>
      <p:sp>
        <p:nvSpPr>
          <p:cNvPr id="30" name="Text 27"/>
          <p:cNvSpPr txBox="1"/>
          <p:nvPr/>
        </p:nvSpPr>
        <p:spPr>
          <a:xfrm>
            <a:off x="1280160" y="5422392"/>
            <a:ext cx="7040880" cy="274320"/>
          </a:xfrm>
          <a:prstGeom prst="rect">
            <a:avLst/>
          </a:prstGeom>
          <a:noFill/>
          <a:ln/>
        </p:spPr>
        <p:txBody>
          <a:bodyPr wrap="square" lIns="0" tIns="0" rIns="0" bIns="0" rtlCol="0" anchor="ctr"/>
          <a:lstStyle/>
          <a:p>
            <a:pPr indent="0" marL="0">
              <a:buNone/>
            </a:pPr>
            <a:r>
              <a:rPr lang="en-US" sz="1500" b="1" dirty="0">
                <a:solidFill>
                  <a:srgbClr val="222222"/>
                </a:solidFill>
                <a:latin typeface="Arial" pitchFamily="34" charset="0"/>
                <a:ea typeface="Arial" pitchFamily="34" charset="-122"/>
                <a:cs typeface="Arial" pitchFamily="34" charset="-120"/>
              </a:rPr>
              <a:t>Gauge foam &amp; sign-off</a:t>
            </a:r>
            <a:endParaRPr lang="en-US" sz="1500" dirty="0"/>
          </a:p>
        </p:txBody>
      </p:sp>
      <p:sp>
        <p:nvSpPr>
          <p:cNvPr id="31" name="Text 28"/>
          <p:cNvSpPr txBox="1"/>
          <p:nvPr/>
        </p:nvSpPr>
        <p:spPr>
          <a:xfrm>
            <a:off x="1280160" y="5696712"/>
            <a:ext cx="7040880" cy="274320"/>
          </a:xfrm>
          <a:prstGeom prst="rect">
            <a:avLst/>
          </a:prstGeom>
          <a:noFill/>
          <a:ln/>
        </p:spPr>
        <p:txBody>
          <a:bodyPr wrap="square" lIns="0" tIns="0" rIns="0" bIns="0" rtlCol="0" anchor="ctr"/>
          <a:lstStyle/>
          <a:p>
            <a:pPr indent="0" marL="0">
              <a:buNone/>
            </a:pPr>
            <a:r>
              <a:rPr lang="en-US" sz="1250" dirty="0">
                <a:solidFill>
                  <a:srgbClr val="5E5E5E"/>
                </a:solidFill>
                <a:latin typeface="Arial" pitchFamily="34" charset="0"/>
                <a:ea typeface="Arial" pitchFamily="34" charset="-122"/>
                <a:cs typeface="Arial" pitchFamily="34" charset="-120"/>
              </a:rPr>
              <a:t>Line-size foam witnessed by Marathon, final flow test, pass signed clean</a:t>
            </a:r>
            <a:endParaRPr lang="en-US" sz="1250" dirty="0"/>
          </a:p>
        </p:txBody>
      </p:sp>
      <p:sp>
        <p:nvSpPr>
          <p:cNvPr id="32" name="Text 29"/>
          <p:cNvSpPr txBox="1"/>
          <p:nvPr/>
        </p:nvSpPr>
        <p:spPr>
          <a:xfrm>
            <a:off x="548640" y="6419088"/>
            <a:ext cx="7315200" cy="228600"/>
          </a:xfrm>
          <a:prstGeom prst="rect">
            <a:avLst/>
          </a:prstGeom>
          <a:noFill/>
          <a:ln/>
        </p:spPr>
        <p:txBody>
          <a:bodyPr wrap="square" lIns="0" tIns="0" rIns="0" bIns="0" rtlCol="0" anchor="ctr"/>
          <a:lstStyle/>
          <a:p>
            <a:pPr indent="0" marL="0">
              <a:buNone/>
            </a:pPr>
            <a:r>
              <a:rPr lang="en-US" sz="900" dirty="0">
                <a:solidFill>
                  <a:srgbClr val="9A9A9A"/>
                </a:solidFill>
                <a:latin typeface="Arial" pitchFamily="34" charset="0"/>
                <a:ea typeface="Arial" pitchFamily="34" charset="-122"/>
                <a:cs typeface="Arial" pitchFamily="34" charset="-120"/>
              </a:rPr>
              <a:t>USA DeBusk  |  LAR Heater Pigging &amp; Decoking Services  |  DSP#26098</a:t>
            </a:r>
            <a:endParaRPr lang="en-US" sz="900" dirty="0"/>
          </a:p>
        </p:txBody>
      </p:sp>
      <p:sp>
        <p:nvSpPr>
          <p:cNvPr id="33" name="Text 30"/>
          <p:cNvSpPr txBox="1"/>
          <p:nvPr/>
        </p:nvSpPr>
        <p:spPr>
          <a:xfrm>
            <a:off x="11155680" y="6419088"/>
            <a:ext cx="484632" cy="228600"/>
          </a:xfrm>
          <a:prstGeom prst="rect">
            <a:avLst/>
          </a:prstGeom>
          <a:noFill/>
          <a:ln/>
        </p:spPr>
        <p:txBody>
          <a:bodyPr wrap="square" lIns="0" tIns="0" rIns="0" bIns="0" rtlCol="0" anchor="ctr"/>
          <a:lstStyle/>
          <a:p>
            <a:pPr algn="r" indent="0" marL="0">
              <a:buNone/>
            </a:pPr>
            <a:r>
              <a:rPr lang="en-US" sz="900" dirty="0">
                <a:solidFill>
                  <a:srgbClr val="9A9A9A"/>
                </a:solidFill>
                <a:latin typeface="Arial" pitchFamily="34" charset="0"/>
                <a:ea typeface="Arial" pitchFamily="34" charset="-122"/>
                <a:cs typeface="Arial"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11480"/>
            <a:ext cx="1989525" cy="310896"/>
          </a:xfrm>
          <a:prstGeom prst="roundRect">
            <a:avLst>
              <a:gd name="adj" fmla="val 23529"/>
            </a:avLst>
          </a:prstGeom>
          <a:solidFill>
            <a:srgbClr val="FCC30A"/>
          </a:solidFill>
          <a:ln w="12700">
            <a:solidFill>
              <a:srgbClr val="FCC30A"/>
            </a:solidFill>
            <a:prstDash val="solid"/>
          </a:ln>
        </p:spPr>
      </p:sp>
      <p:sp>
        <p:nvSpPr>
          <p:cNvPr id="3" name="Text 1"/>
          <p:cNvSpPr txBox="1"/>
          <p:nvPr/>
        </p:nvSpPr>
        <p:spPr>
          <a:xfrm>
            <a:off x="548640" y="411480"/>
            <a:ext cx="1989525" cy="310896"/>
          </a:xfrm>
          <a:prstGeom prst="rect">
            <a:avLst/>
          </a:prstGeom>
          <a:noFill/>
          <a:ln/>
        </p:spPr>
        <p:txBody>
          <a:bodyPr wrap="square" lIns="0" tIns="0" rIns="0" bIns="0" rtlCol="0" anchor="ctr"/>
          <a:lstStyle/>
          <a:p>
            <a:pPr algn="ctr" indent="0" marL="0">
              <a:buNone/>
            </a:pPr>
            <a:r>
              <a:rPr lang="en-US" sz="1050" b="1" spc="150" kern="0" dirty="0">
                <a:solidFill>
                  <a:srgbClr val="1E1E1E"/>
                </a:solidFill>
                <a:latin typeface="Arial" pitchFamily="34" charset="0"/>
                <a:ea typeface="Arial" pitchFamily="34" charset="-122"/>
                <a:cs typeface="Arial" pitchFamily="34" charset="-120"/>
              </a:rPr>
              <a:t>01   METHODOLOGY</a:t>
            </a:r>
            <a:endParaRPr lang="en-US" sz="1050" dirty="0"/>
          </a:p>
        </p:txBody>
      </p:sp>
      <p:sp>
        <p:nvSpPr>
          <p:cNvPr id="4" name="Text 2"/>
          <p:cNvSpPr txBox="1"/>
          <p:nvPr/>
        </p:nvSpPr>
        <p:spPr>
          <a:xfrm>
            <a:off x="548640" y="841248"/>
            <a:ext cx="11064240" cy="731520"/>
          </a:xfrm>
          <a:prstGeom prst="rect">
            <a:avLst/>
          </a:prstGeom>
          <a:noFill/>
          <a:ln/>
        </p:spPr>
        <p:txBody>
          <a:bodyPr wrap="square" lIns="0" tIns="0" rIns="0" bIns="0" rtlCol="0" anchor="t"/>
          <a:lstStyle/>
          <a:p>
            <a:pPr indent="0" marL="0">
              <a:buNone/>
            </a:pPr>
            <a:r>
              <a:rPr lang="en-US" sz="3200" b="1" dirty="0">
                <a:solidFill>
                  <a:srgbClr val="222222"/>
                </a:solidFill>
                <a:latin typeface="Arial" pitchFamily="34" charset="0"/>
                <a:ea typeface="Arial" pitchFamily="34" charset="-122"/>
                <a:cs typeface="Arial" pitchFamily="34" charset="-120"/>
              </a:rPr>
              <a:t>Pig progression plan by heater</a:t>
            </a:r>
            <a:endParaRPr lang="en-US" sz="3200" dirty="0"/>
          </a:p>
        </p:txBody>
      </p:sp>
      <p:sp>
        <p:nvSpPr>
          <p:cNvPr id="5" name="Text 3"/>
          <p:cNvSpPr txBox="1"/>
          <p:nvPr/>
        </p:nvSpPr>
        <p:spPr>
          <a:xfrm>
            <a:off x="548640" y="1481328"/>
            <a:ext cx="11064240" cy="365760"/>
          </a:xfrm>
          <a:prstGeom prst="rect">
            <a:avLst/>
          </a:prstGeom>
          <a:noFill/>
          <a:ln/>
        </p:spPr>
        <p:txBody>
          <a:bodyPr wrap="square" lIns="0" tIns="0" rIns="0" bIns="0" rtlCol="0" anchor="t"/>
          <a:lstStyle/>
          <a:p>
            <a:pPr indent="0" marL="0">
              <a:buNone/>
            </a:pPr>
            <a:r>
              <a:rPr lang="en-US" sz="1500" dirty="0">
                <a:solidFill>
                  <a:srgbClr val="5E5E5E"/>
                </a:solidFill>
                <a:latin typeface="Arial" pitchFamily="34" charset="0"/>
                <a:ea typeface="Arial" pitchFamily="34" charset="-122"/>
                <a:cs typeface="Arial" pitchFamily="34" charset="-120"/>
              </a:rPr>
              <a:t>Answers RFI item SP-2; the gauge foam run sets the starting size, the tube ID sets the ceiling</a:t>
            </a:r>
            <a:endParaRPr lang="en-US" sz="1500" dirty="0"/>
          </a:p>
        </p:txBody>
      </p:sp>
      <p:sp>
        <p:nvSpPr>
          <p:cNvPr id="6" name="Text 4"/>
          <p:cNvSpPr txBox="1"/>
          <p:nvPr/>
        </p:nvSpPr>
        <p:spPr>
          <a:xfrm>
            <a:off x="548640" y="2103120"/>
            <a:ext cx="5486400" cy="320040"/>
          </a:xfrm>
          <a:prstGeom prst="rect">
            <a:avLst/>
          </a:prstGeom>
          <a:noFill/>
          <a:ln/>
        </p:spPr>
        <p:txBody>
          <a:bodyPr wrap="square" lIns="0" tIns="0" rIns="0" bIns="0" rtlCol="0" anchor="ctr"/>
          <a:lstStyle/>
          <a:p>
            <a:pPr indent="0" marL="0">
              <a:buNone/>
            </a:pPr>
            <a:r>
              <a:rPr lang="en-US" sz="1600" b="1" dirty="0">
                <a:solidFill>
                  <a:srgbClr val="222222"/>
                </a:solidFill>
                <a:latin typeface="Arial" pitchFamily="34" charset="0"/>
                <a:ea typeface="Arial" pitchFamily="34" charset="-122"/>
                <a:cs typeface="Arial" pitchFamily="34" charset="-120"/>
              </a:rPr>
              <a:t>Carson Cokers, Heaters #1, #2, #3</a:t>
            </a:r>
            <a:endParaRPr lang="en-US" sz="1600" dirty="0"/>
          </a:p>
        </p:txBody>
      </p:sp>
      <p:sp>
        <p:nvSpPr>
          <p:cNvPr id="7" name="Text 5"/>
          <p:cNvSpPr txBox="1"/>
          <p:nvPr/>
        </p:nvSpPr>
        <p:spPr>
          <a:xfrm>
            <a:off x="548640" y="2423160"/>
            <a:ext cx="5486400" cy="274320"/>
          </a:xfrm>
          <a:prstGeom prst="rect">
            <a:avLst/>
          </a:prstGeom>
          <a:noFill/>
          <a:ln/>
        </p:spPr>
        <p:txBody>
          <a:bodyPr wrap="square" lIns="0" tIns="0" rIns="0" bIns="0" rtlCol="0" anchor="ctr"/>
          <a:lstStyle/>
          <a:p>
            <a:pPr indent="0" marL="0">
              <a:buNone/>
            </a:pPr>
            <a:r>
              <a:rPr lang="en-US" sz="1200" dirty="0">
                <a:solidFill>
                  <a:srgbClr val="5E5E5E"/>
                </a:solidFill>
                <a:latin typeface="Arial" pitchFamily="34" charset="0"/>
                <a:ea typeface="Arial" pitchFamily="34" charset="-122"/>
                <a:cs typeface="Arial" pitchFamily="34" charset="-120"/>
              </a:rPr>
              <a:t>Governing ID 3.826"  (4" Sch 80)</a:t>
            </a:r>
            <a:endParaRPr lang="en-US" sz="1200" dirty="0"/>
          </a:p>
        </p:txBody>
      </p:sp>
      <p:sp>
        <p:nvSpPr>
          <p:cNvPr id="8" name="Shape 6"/>
          <p:cNvSpPr/>
          <p:nvPr/>
        </p:nvSpPr>
        <p:spPr>
          <a:xfrm>
            <a:off x="548640" y="3291840"/>
            <a:ext cx="932688" cy="384048"/>
          </a:xfrm>
          <a:prstGeom prst="rect">
            <a:avLst/>
          </a:prstGeom>
          <a:solidFill>
            <a:srgbClr val="DDDDDD"/>
          </a:solidFill>
          <a:ln w="12700">
            <a:solidFill>
              <a:srgbClr val="DDDDDD"/>
            </a:solidFill>
            <a:prstDash val="solid"/>
          </a:ln>
        </p:spPr>
      </p:sp>
      <p:sp>
        <p:nvSpPr>
          <p:cNvPr id="9" name="Text 7"/>
          <p:cNvSpPr txBox="1"/>
          <p:nvPr/>
        </p:nvSpPr>
        <p:spPr>
          <a:xfrm>
            <a:off x="548640" y="3291840"/>
            <a:ext cx="932688" cy="384048"/>
          </a:xfrm>
          <a:prstGeom prst="rect">
            <a:avLst/>
          </a:prstGeom>
          <a:noFill/>
          <a:ln/>
        </p:spPr>
        <p:txBody>
          <a:bodyPr wrap="square" lIns="0" tIns="0" rIns="0" bIns="0" rtlCol="0" anchor="ctr"/>
          <a:lstStyle/>
          <a:p>
            <a:pPr algn="ctr" indent="0" marL="0">
              <a:buNone/>
            </a:pPr>
            <a:r>
              <a:rPr lang="en-US" sz="1250" b="1" dirty="0">
                <a:solidFill>
                  <a:srgbClr val="1E1E1E"/>
                </a:solidFill>
                <a:latin typeface="Arial" pitchFamily="34" charset="0"/>
                <a:ea typeface="Arial" pitchFamily="34" charset="-122"/>
                <a:cs typeface="Arial" pitchFamily="34" charset="-120"/>
              </a:rPr>
              <a:t>Gauge</a:t>
            </a:r>
            <a:endParaRPr lang="en-US" sz="1250" dirty="0"/>
          </a:p>
          <a:p>
            <a:pPr algn="ctr" indent="0" marL="0">
              <a:buNone/>
            </a:pPr>
            <a:r>
              <a:rPr lang="en-US" sz="1250" b="1" dirty="0">
                <a:solidFill>
                  <a:srgbClr val="1E1E1E"/>
                </a:solidFill>
                <a:latin typeface="Arial" pitchFamily="34" charset="0"/>
                <a:ea typeface="Arial" pitchFamily="34" charset="-122"/>
                <a:cs typeface="Arial" pitchFamily="34" charset="-120"/>
              </a:rPr>
              <a:t>foam</a:t>
            </a:r>
            <a:endParaRPr lang="en-US" sz="1250" dirty="0"/>
          </a:p>
        </p:txBody>
      </p:sp>
      <p:sp>
        <p:nvSpPr>
          <p:cNvPr id="10" name="Text 8"/>
          <p:cNvSpPr txBox="1"/>
          <p:nvPr/>
        </p:nvSpPr>
        <p:spPr>
          <a:xfrm>
            <a:off x="548640" y="3721608"/>
            <a:ext cx="932688" cy="228600"/>
          </a:xfrm>
          <a:prstGeom prst="rect">
            <a:avLst/>
          </a:prstGeom>
          <a:noFill/>
          <a:ln/>
        </p:spPr>
        <p:txBody>
          <a:bodyPr wrap="square" lIns="0" tIns="0" rIns="0" bIns="0" rtlCol="0" anchor="ctr"/>
          <a:lstStyle/>
          <a:p>
            <a:pPr algn="ctr" indent="0" marL="0">
              <a:buNone/>
            </a:pPr>
            <a:r>
              <a:rPr lang="en-US" sz="1000" dirty="0">
                <a:solidFill>
                  <a:srgbClr val="5E5E5E"/>
                </a:solidFill>
                <a:latin typeface="Arial" pitchFamily="34" charset="0"/>
                <a:ea typeface="Arial" pitchFamily="34" charset="-122"/>
                <a:cs typeface="Arial" pitchFamily="34" charset="-120"/>
              </a:rPr>
              <a:t>Run first</a:t>
            </a:r>
            <a:endParaRPr lang="en-US" sz="1000" dirty="0"/>
          </a:p>
        </p:txBody>
      </p:sp>
      <p:sp>
        <p:nvSpPr>
          <p:cNvPr id="11" name="Shape 9"/>
          <p:cNvSpPr/>
          <p:nvPr/>
        </p:nvSpPr>
        <p:spPr>
          <a:xfrm>
            <a:off x="1572768" y="3191256"/>
            <a:ext cx="932688" cy="484632"/>
          </a:xfrm>
          <a:prstGeom prst="rect">
            <a:avLst/>
          </a:prstGeom>
          <a:solidFill>
            <a:srgbClr val="1E1E1E"/>
          </a:solidFill>
          <a:ln w="12700">
            <a:solidFill>
              <a:srgbClr val="1E1E1E"/>
            </a:solidFill>
            <a:prstDash val="solid"/>
          </a:ln>
        </p:spPr>
      </p:sp>
      <p:sp>
        <p:nvSpPr>
          <p:cNvPr id="12" name="Text 10"/>
          <p:cNvSpPr txBox="1"/>
          <p:nvPr/>
        </p:nvSpPr>
        <p:spPr>
          <a:xfrm>
            <a:off x="1572768" y="3191256"/>
            <a:ext cx="932688" cy="484632"/>
          </a:xfrm>
          <a:prstGeom prst="rect">
            <a:avLst/>
          </a:prstGeom>
          <a:noFill/>
          <a:ln/>
        </p:spPr>
        <p:txBody>
          <a:bodyPr wrap="square" lIns="0" tIns="0" rIns="0" bIns="0" rtlCol="0" anchor="ctr"/>
          <a:lstStyle/>
          <a:p>
            <a:pPr algn="ctr" indent="0" marL="0">
              <a:buNone/>
            </a:pPr>
            <a:r>
              <a:rPr lang="en-US" sz="1250" b="1" dirty="0">
                <a:solidFill>
                  <a:srgbClr val="FFFFFF"/>
                </a:solidFill>
                <a:latin typeface="Arial" pitchFamily="34" charset="0"/>
                <a:ea typeface="Arial" pitchFamily="34" charset="-122"/>
                <a:cs typeface="Arial" pitchFamily="34" charset="-120"/>
              </a:rPr>
              <a:t>Initial</a:t>
            </a:r>
            <a:endParaRPr lang="en-US" sz="1250" dirty="0"/>
          </a:p>
        </p:txBody>
      </p:sp>
      <p:sp>
        <p:nvSpPr>
          <p:cNvPr id="13" name="Text 11"/>
          <p:cNvSpPr txBox="1"/>
          <p:nvPr/>
        </p:nvSpPr>
        <p:spPr>
          <a:xfrm>
            <a:off x="1572768" y="3721608"/>
            <a:ext cx="932688" cy="228600"/>
          </a:xfrm>
          <a:prstGeom prst="rect">
            <a:avLst/>
          </a:prstGeom>
          <a:noFill/>
          <a:ln/>
        </p:spPr>
        <p:txBody>
          <a:bodyPr wrap="square" lIns="0" tIns="0" rIns="0" bIns="0" rtlCol="0" anchor="ctr"/>
          <a:lstStyle/>
          <a:p>
            <a:pPr algn="ctr" indent="0" marL="0">
              <a:buNone/>
            </a:pPr>
            <a:r>
              <a:rPr lang="en-US" sz="1000" dirty="0">
                <a:solidFill>
                  <a:srgbClr val="5E5E5E"/>
                </a:solidFill>
                <a:latin typeface="Arial" pitchFamily="34" charset="0"/>
                <a:ea typeface="Arial" pitchFamily="34" charset="-122"/>
                <a:cs typeface="Arial" pitchFamily="34" charset="-120"/>
              </a:rPr>
              <a:t>Set by foam</a:t>
            </a:r>
            <a:endParaRPr lang="en-US" sz="1000" dirty="0"/>
          </a:p>
        </p:txBody>
      </p:sp>
      <p:sp>
        <p:nvSpPr>
          <p:cNvPr id="14" name="Shape 12"/>
          <p:cNvSpPr/>
          <p:nvPr/>
        </p:nvSpPr>
        <p:spPr>
          <a:xfrm>
            <a:off x="2596896" y="3090672"/>
            <a:ext cx="932688" cy="585216"/>
          </a:xfrm>
          <a:prstGeom prst="rect">
            <a:avLst/>
          </a:prstGeom>
          <a:solidFill>
            <a:srgbClr val="1E1E1E"/>
          </a:solidFill>
          <a:ln w="12700">
            <a:solidFill>
              <a:srgbClr val="1E1E1E"/>
            </a:solidFill>
            <a:prstDash val="solid"/>
          </a:ln>
        </p:spPr>
      </p:sp>
      <p:sp>
        <p:nvSpPr>
          <p:cNvPr id="15" name="Text 13"/>
          <p:cNvSpPr txBox="1"/>
          <p:nvPr/>
        </p:nvSpPr>
        <p:spPr>
          <a:xfrm>
            <a:off x="2596896" y="3090672"/>
            <a:ext cx="932688" cy="585216"/>
          </a:xfrm>
          <a:prstGeom prst="rect">
            <a:avLst/>
          </a:prstGeom>
          <a:noFill/>
          <a:ln/>
        </p:spPr>
        <p:txBody>
          <a:bodyPr wrap="square" lIns="0" tIns="0" rIns="0" bIns="0" rtlCol="0" anchor="ctr"/>
          <a:lstStyle/>
          <a:p>
            <a:pPr algn="ctr" indent="0" marL="0">
              <a:buNone/>
            </a:pPr>
            <a:r>
              <a:rPr lang="en-US" sz="1250" b="1" dirty="0">
                <a:solidFill>
                  <a:srgbClr val="FFFFFF"/>
                </a:solidFill>
                <a:latin typeface="Arial" pitchFamily="34" charset="0"/>
                <a:ea typeface="Arial" pitchFamily="34" charset="-122"/>
                <a:cs typeface="Arial" pitchFamily="34" charset="-120"/>
              </a:rPr>
              <a:t>+⅛"</a:t>
            </a:r>
            <a:endParaRPr lang="en-US" sz="1250" dirty="0"/>
          </a:p>
        </p:txBody>
      </p:sp>
      <p:sp>
        <p:nvSpPr>
          <p:cNvPr id="16" name="Text 14"/>
          <p:cNvSpPr txBox="1"/>
          <p:nvPr/>
        </p:nvSpPr>
        <p:spPr>
          <a:xfrm>
            <a:off x="2596896" y="3721608"/>
            <a:ext cx="932688" cy="228600"/>
          </a:xfrm>
          <a:prstGeom prst="rect">
            <a:avLst/>
          </a:prstGeom>
          <a:noFill/>
          <a:ln/>
        </p:spPr>
        <p:txBody>
          <a:bodyPr wrap="square" lIns="0" tIns="0" rIns="0" bIns="0" rtlCol="0" anchor="ctr"/>
          <a:lstStyle/>
          <a:p>
            <a:pPr algn="ctr" indent="0" marL="0">
              <a:buNone/>
            </a:pPr>
            <a:r>
              <a:rPr lang="en-US" sz="1000" dirty="0">
                <a:solidFill>
                  <a:srgbClr val="5E5E5E"/>
                </a:solidFill>
                <a:latin typeface="Arial" pitchFamily="34" charset="0"/>
                <a:ea typeface="Arial" pitchFamily="34" charset="-122"/>
                <a:cs typeface="Arial" pitchFamily="34" charset="-120"/>
              </a:rPr>
              <a:t>Step</a:t>
            </a:r>
            <a:endParaRPr lang="en-US" sz="1000" dirty="0"/>
          </a:p>
        </p:txBody>
      </p:sp>
      <p:sp>
        <p:nvSpPr>
          <p:cNvPr id="17" name="Shape 15"/>
          <p:cNvSpPr/>
          <p:nvPr/>
        </p:nvSpPr>
        <p:spPr>
          <a:xfrm>
            <a:off x="3621024" y="2990088"/>
            <a:ext cx="932688" cy="685800"/>
          </a:xfrm>
          <a:prstGeom prst="rect">
            <a:avLst/>
          </a:prstGeom>
          <a:solidFill>
            <a:srgbClr val="1E1E1E"/>
          </a:solidFill>
          <a:ln w="12700">
            <a:solidFill>
              <a:srgbClr val="1E1E1E"/>
            </a:solidFill>
            <a:prstDash val="solid"/>
          </a:ln>
        </p:spPr>
      </p:sp>
      <p:sp>
        <p:nvSpPr>
          <p:cNvPr id="18" name="Text 16"/>
          <p:cNvSpPr txBox="1"/>
          <p:nvPr/>
        </p:nvSpPr>
        <p:spPr>
          <a:xfrm>
            <a:off x="3621024" y="2990088"/>
            <a:ext cx="932688" cy="685800"/>
          </a:xfrm>
          <a:prstGeom prst="rect">
            <a:avLst/>
          </a:prstGeom>
          <a:noFill/>
          <a:ln/>
        </p:spPr>
        <p:txBody>
          <a:bodyPr wrap="square" lIns="0" tIns="0" rIns="0" bIns="0" rtlCol="0" anchor="ctr"/>
          <a:lstStyle/>
          <a:p>
            <a:pPr algn="ctr" indent="0" marL="0">
              <a:buNone/>
            </a:pPr>
            <a:r>
              <a:rPr lang="en-US" sz="1250" b="1" dirty="0">
                <a:solidFill>
                  <a:srgbClr val="FFFFFF"/>
                </a:solidFill>
                <a:latin typeface="Arial" pitchFamily="34" charset="0"/>
                <a:ea typeface="Arial" pitchFamily="34" charset="-122"/>
                <a:cs typeface="Arial" pitchFamily="34" charset="-120"/>
              </a:rPr>
              <a:t>+⅛"</a:t>
            </a:r>
            <a:endParaRPr lang="en-US" sz="1250" dirty="0"/>
          </a:p>
        </p:txBody>
      </p:sp>
      <p:sp>
        <p:nvSpPr>
          <p:cNvPr id="19" name="Text 17"/>
          <p:cNvSpPr txBox="1"/>
          <p:nvPr/>
        </p:nvSpPr>
        <p:spPr>
          <a:xfrm>
            <a:off x="3621024" y="3721608"/>
            <a:ext cx="932688" cy="228600"/>
          </a:xfrm>
          <a:prstGeom prst="rect">
            <a:avLst/>
          </a:prstGeom>
          <a:noFill/>
          <a:ln/>
        </p:spPr>
        <p:txBody>
          <a:bodyPr wrap="square" lIns="0" tIns="0" rIns="0" bIns="0" rtlCol="0" anchor="ctr"/>
          <a:lstStyle/>
          <a:p>
            <a:pPr algn="ctr" indent="0" marL="0">
              <a:buNone/>
            </a:pPr>
            <a:r>
              <a:rPr lang="en-US" sz="1000" dirty="0">
                <a:solidFill>
                  <a:srgbClr val="5E5E5E"/>
                </a:solidFill>
                <a:latin typeface="Arial" pitchFamily="34" charset="0"/>
                <a:ea typeface="Arial" pitchFamily="34" charset="-122"/>
                <a:cs typeface="Arial" pitchFamily="34" charset="-120"/>
              </a:rPr>
              <a:t>Step</a:t>
            </a:r>
            <a:endParaRPr lang="en-US" sz="1000" dirty="0"/>
          </a:p>
        </p:txBody>
      </p:sp>
      <p:sp>
        <p:nvSpPr>
          <p:cNvPr id="20" name="Shape 18"/>
          <p:cNvSpPr/>
          <p:nvPr/>
        </p:nvSpPr>
        <p:spPr>
          <a:xfrm>
            <a:off x="4645152" y="2889504"/>
            <a:ext cx="932688" cy="786384"/>
          </a:xfrm>
          <a:prstGeom prst="rect">
            <a:avLst/>
          </a:prstGeom>
          <a:solidFill>
            <a:srgbClr val="1E1E1E"/>
          </a:solidFill>
          <a:ln w="12700">
            <a:solidFill>
              <a:srgbClr val="1E1E1E"/>
            </a:solidFill>
            <a:prstDash val="solid"/>
          </a:ln>
        </p:spPr>
      </p:sp>
      <p:sp>
        <p:nvSpPr>
          <p:cNvPr id="21" name="Text 19"/>
          <p:cNvSpPr txBox="1"/>
          <p:nvPr/>
        </p:nvSpPr>
        <p:spPr>
          <a:xfrm>
            <a:off x="4645152" y="2889504"/>
            <a:ext cx="932688" cy="786384"/>
          </a:xfrm>
          <a:prstGeom prst="rect">
            <a:avLst/>
          </a:prstGeom>
          <a:noFill/>
          <a:ln/>
        </p:spPr>
        <p:txBody>
          <a:bodyPr wrap="square" lIns="0" tIns="0" rIns="0" bIns="0" rtlCol="0" anchor="ctr"/>
          <a:lstStyle/>
          <a:p>
            <a:pPr algn="ctr" indent="0" marL="0">
              <a:buNone/>
            </a:pPr>
            <a:r>
              <a:rPr lang="en-US" sz="1250" b="1" dirty="0">
                <a:solidFill>
                  <a:srgbClr val="FFFFFF"/>
                </a:solidFill>
                <a:latin typeface="Arial" pitchFamily="34" charset="0"/>
                <a:ea typeface="Arial" pitchFamily="34" charset="-122"/>
                <a:cs typeface="Arial" pitchFamily="34" charset="-120"/>
              </a:rPr>
              <a:t>+⅛"</a:t>
            </a:r>
            <a:endParaRPr lang="en-US" sz="1250" dirty="0"/>
          </a:p>
        </p:txBody>
      </p:sp>
      <p:sp>
        <p:nvSpPr>
          <p:cNvPr id="22" name="Text 20"/>
          <p:cNvSpPr txBox="1"/>
          <p:nvPr/>
        </p:nvSpPr>
        <p:spPr>
          <a:xfrm>
            <a:off x="4645152" y="3721608"/>
            <a:ext cx="932688" cy="228600"/>
          </a:xfrm>
          <a:prstGeom prst="rect">
            <a:avLst/>
          </a:prstGeom>
          <a:noFill/>
          <a:ln/>
        </p:spPr>
        <p:txBody>
          <a:bodyPr wrap="square" lIns="0" tIns="0" rIns="0" bIns="0" rtlCol="0" anchor="ctr"/>
          <a:lstStyle/>
          <a:p>
            <a:pPr algn="ctr" indent="0" marL="0">
              <a:buNone/>
            </a:pPr>
            <a:r>
              <a:rPr lang="en-US" sz="1000" dirty="0">
                <a:solidFill>
                  <a:srgbClr val="5E5E5E"/>
                </a:solidFill>
                <a:latin typeface="Arial" pitchFamily="34" charset="0"/>
                <a:ea typeface="Arial" pitchFamily="34" charset="-122"/>
                <a:cs typeface="Arial" pitchFamily="34" charset="-120"/>
              </a:rPr>
              <a:t>Step</a:t>
            </a:r>
            <a:endParaRPr lang="en-US" sz="1000" dirty="0"/>
          </a:p>
        </p:txBody>
      </p:sp>
      <p:sp>
        <p:nvSpPr>
          <p:cNvPr id="23" name="Shape 21"/>
          <p:cNvSpPr/>
          <p:nvPr/>
        </p:nvSpPr>
        <p:spPr>
          <a:xfrm>
            <a:off x="5669280" y="2788920"/>
            <a:ext cx="932688" cy="886968"/>
          </a:xfrm>
          <a:prstGeom prst="rect">
            <a:avLst/>
          </a:prstGeom>
          <a:solidFill>
            <a:srgbClr val="1E1E1E"/>
          </a:solidFill>
          <a:ln w="12700">
            <a:solidFill>
              <a:srgbClr val="1E1E1E"/>
            </a:solidFill>
            <a:prstDash val="solid"/>
          </a:ln>
        </p:spPr>
      </p:sp>
      <p:sp>
        <p:nvSpPr>
          <p:cNvPr id="24" name="Text 22"/>
          <p:cNvSpPr txBox="1"/>
          <p:nvPr/>
        </p:nvSpPr>
        <p:spPr>
          <a:xfrm>
            <a:off x="5669280" y="2788920"/>
            <a:ext cx="932688" cy="886968"/>
          </a:xfrm>
          <a:prstGeom prst="rect">
            <a:avLst/>
          </a:prstGeom>
          <a:noFill/>
          <a:ln/>
        </p:spPr>
        <p:txBody>
          <a:bodyPr wrap="square" lIns="0" tIns="0" rIns="0" bIns="0" rtlCol="0" anchor="ctr"/>
          <a:lstStyle/>
          <a:p>
            <a:pPr algn="ctr" indent="0" marL="0">
              <a:buNone/>
            </a:pPr>
            <a:r>
              <a:rPr lang="en-US" sz="1250" b="1" dirty="0">
                <a:solidFill>
                  <a:srgbClr val="FFFFFF"/>
                </a:solidFill>
                <a:latin typeface="Arial" pitchFamily="34" charset="0"/>
                <a:ea typeface="Arial" pitchFamily="34" charset="-122"/>
                <a:cs typeface="Arial" pitchFamily="34" charset="-120"/>
              </a:rPr>
              <a:t>3.826"</a:t>
            </a:r>
            <a:endParaRPr lang="en-US" sz="1250" dirty="0"/>
          </a:p>
        </p:txBody>
      </p:sp>
      <p:sp>
        <p:nvSpPr>
          <p:cNvPr id="25" name="Text 23"/>
          <p:cNvSpPr txBox="1"/>
          <p:nvPr/>
        </p:nvSpPr>
        <p:spPr>
          <a:xfrm>
            <a:off x="5669280" y="3721608"/>
            <a:ext cx="932688" cy="228600"/>
          </a:xfrm>
          <a:prstGeom prst="rect">
            <a:avLst/>
          </a:prstGeom>
          <a:noFill/>
          <a:ln/>
        </p:spPr>
        <p:txBody>
          <a:bodyPr wrap="square" lIns="0" tIns="0" rIns="0" bIns="0" rtlCol="0" anchor="ctr"/>
          <a:lstStyle/>
          <a:p>
            <a:pPr algn="ctr" indent="0" marL="0">
              <a:buNone/>
            </a:pPr>
            <a:r>
              <a:rPr lang="en-US" sz="1000" b="1" dirty="0">
                <a:solidFill>
                  <a:srgbClr val="222222"/>
                </a:solidFill>
                <a:latin typeface="Arial" pitchFamily="34" charset="0"/>
                <a:ea typeface="Arial" pitchFamily="34" charset="-122"/>
                <a:cs typeface="Arial" pitchFamily="34" charset="-120"/>
              </a:rPr>
              <a:t>Line size</a:t>
            </a:r>
            <a:endParaRPr lang="en-US" sz="1000" dirty="0"/>
          </a:p>
        </p:txBody>
      </p:sp>
      <p:sp>
        <p:nvSpPr>
          <p:cNvPr id="26" name="Shape 24"/>
          <p:cNvSpPr/>
          <p:nvPr/>
        </p:nvSpPr>
        <p:spPr>
          <a:xfrm>
            <a:off x="6693408" y="2688336"/>
            <a:ext cx="932688" cy="987552"/>
          </a:xfrm>
          <a:prstGeom prst="rect">
            <a:avLst/>
          </a:prstGeom>
          <a:solidFill>
            <a:srgbClr val="FCC30A"/>
          </a:solidFill>
          <a:ln w="12700">
            <a:solidFill>
              <a:srgbClr val="FCC30A"/>
            </a:solidFill>
            <a:prstDash val="solid"/>
          </a:ln>
        </p:spPr>
      </p:sp>
      <p:sp>
        <p:nvSpPr>
          <p:cNvPr id="27" name="Text 25"/>
          <p:cNvSpPr txBox="1"/>
          <p:nvPr/>
        </p:nvSpPr>
        <p:spPr>
          <a:xfrm>
            <a:off x="6693408" y="2688336"/>
            <a:ext cx="932688" cy="987552"/>
          </a:xfrm>
          <a:prstGeom prst="rect">
            <a:avLst/>
          </a:prstGeom>
          <a:noFill/>
          <a:ln/>
        </p:spPr>
        <p:txBody>
          <a:bodyPr wrap="square" lIns="0" tIns="0" rIns="0" bIns="0" rtlCol="0" anchor="ctr"/>
          <a:lstStyle/>
          <a:p>
            <a:pPr algn="ctr" indent="0" marL="0">
              <a:buNone/>
            </a:pPr>
            <a:r>
              <a:rPr lang="en-US" sz="1250" b="1" dirty="0">
                <a:solidFill>
                  <a:srgbClr val="1E1E1E"/>
                </a:solidFill>
                <a:latin typeface="Arial" pitchFamily="34" charset="0"/>
                <a:ea typeface="Arial" pitchFamily="34" charset="-122"/>
                <a:cs typeface="Arial" pitchFamily="34" charset="-120"/>
              </a:rPr>
              <a:t>4.076"</a:t>
            </a:r>
            <a:endParaRPr lang="en-US" sz="1250" dirty="0"/>
          </a:p>
        </p:txBody>
      </p:sp>
      <p:sp>
        <p:nvSpPr>
          <p:cNvPr id="28" name="Text 26"/>
          <p:cNvSpPr txBox="1"/>
          <p:nvPr/>
        </p:nvSpPr>
        <p:spPr>
          <a:xfrm>
            <a:off x="6693408" y="3721608"/>
            <a:ext cx="932688" cy="228600"/>
          </a:xfrm>
          <a:prstGeom prst="rect">
            <a:avLst/>
          </a:prstGeom>
          <a:noFill/>
          <a:ln/>
        </p:spPr>
        <p:txBody>
          <a:bodyPr wrap="square" lIns="0" tIns="0" rIns="0" bIns="0" rtlCol="0" anchor="ctr"/>
          <a:lstStyle/>
          <a:p>
            <a:pPr algn="ctr" indent="0" marL="0">
              <a:buNone/>
            </a:pPr>
            <a:r>
              <a:rPr lang="en-US" sz="1000" b="1" dirty="0">
                <a:solidFill>
                  <a:srgbClr val="222222"/>
                </a:solidFill>
                <a:latin typeface="Arial" pitchFamily="34" charset="0"/>
                <a:ea typeface="Arial" pitchFamily="34" charset="-122"/>
                <a:cs typeface="Arial" pitchFamily="34" charset="-120"/>
              </a:rPr>
              <a:t>Max</a:t>
            </a:r>
            <a:endParaRPr lang="en-US" sz="1000" dirty="0"/>
          </a:p>
        </p:txBody>
      </p:sp>
      <p:sp>
        <p:nvSpPr>
          <p:cNvPr id="29" name="Text 27"/>
          <p:cNvSpPr txBox="1"/>
          <p:nvPr/>
        </p:nvSpPr>
        <p:spPr>
          <a:xfrm>
            <a:off x="548640" y="4297680"/>
            <a:ext cx="5486400" cy="320040"/>
          </a:xfrm>
          <a:prstGeom prst="rect">
            <a:avLst/>
          </a:prstGeom>
          <a:noFill/>
          <a:ln/>
        </p:spPr>
        <p:txBody>
          <a:bodyPr wrap="square" lIns="0" tIns="0" rIns="0" bIns="0" rtlCol="0" anchor="ctr"/>
          <a:lstStyle/>
          <a:p>
            <a:pPr indent="0" marL="0">
              <a:buNone/>
            </a:pPr>
            <a:r>
              <a:rPr lang="en-US" sz="1600" b="1" dirty="0">
                <a:solidFill>
                  <a:srgbClr val="222222"/>
                </a:solidFill>
                <a:latin typeface="Arial" pitchFamily="34" charset="0"/>
                <a:ea typeface="Arial" pitchFamily="34" charset="-122"/>
                <a:cs typeface="Arial" pitchFamily="34" charset="-120"/>
              </a:rPr>
              <a:t>Wilmington DCU H-101</a:t>
            </a:r>
            <a:endParaRPr lang="en-US" sz="1600" dirty="0"/>
          </a:p>
        </p:txBody>
      </p:sp>
      <p:sp>
        <p:nvSpPr>
          <p:cNvPr id="30" name="Text 28"/>
          <p:cNvSpPr txBox="1"/>
          <p:nvPr/>
        </p:nvSpPr>
        <p:spPr>
          <a:xfrm>
            <a:off x="548640" y="4617720"/>
            <a:ext cx="5486400" cy="274320"/>
          </a:xfrm>
          <a:prstGeom prst="rect">
            <a:avLst/>
          </a:prstGeom>
          <a:noFill/>
          <a:ln/>
        </p:spPr>
        <p:txBody>
          <a:bodyPr wrap="square" lIns="0" tIns="0" rIns="0" bIns="0" rtlCol="0" anchor="ctr"/>
          <a:lstStyle/>
          <a:p>
            <a:pPr indent="0" marL="0">
              <a:buNone/>
            </a:pPr>
            <a:r>
              <a:rPr lang="en-US" sz="1200" dirty="0">
                <a:solidFill>
                  <a:srgbClr val="5E5E5E"/>
                </a:solidFill>
                <a:latin typeface="Arial" pitchFamily="34" charset="0"/>
                <a:ea typeface="Arial" pitchFamily="34" charset="-122"/>
                <a:cs typeface="Arial" pitchFamily="34" charset="-120"/>
              </a:rPr>
              <a:t>Tube ID 4.026"  (4.5" OD × 0.237")</a:t>
            </a:r>
            <a:endParaRPr lang="en-US" sz="1200" dirty="0"/>
          </a:p>
        </p:txBody>
      </p:sp>
      <p:sp>
        <p:nvSpPr>
          <p:cNvPr id="31" name="Shape 29"/>
          <p:cNvSpPr/>
          <p:nvPr/>
        </p:nvSpPr>
        <p:spPr>
          <a:xfrm>
            <a:off x="548640" y="5486400"/>
            <a:ext cx="932688" cy="384048"/>
          </a:xfrm>
          <a:prstGeom prst="rect">
            <a:avLst/>
          </a:prstGeom>
          <a:solidFill>
            <a:srgbClr val="DDDDDD"/>
          </a:solidFill>
          <a:ln w="12700">
            <a:solidFill>
              <a:srgbClr val="DDDDDD"/>
            </a:solidFill>
            <a:prstDash val="solid"/>
          </a:ln>
        </p:spPr>
      </p:sp>
      <p:sp>
        <p:nvSpPr>
          <p:cNvPr id="32" name="Text 30"/>
          <p:cNvSpPr txBox="1"/>
          <p:nvPr/>
        </p:nvSpPr>
        <p:spPr>
          <a:xfrm>
            <a:off x="548640" y="5486400"/>
            <a:ext cx="932688" cy="384048"/>
          </a:xfrm>
          <a:prstGeom prst="rect">
            <a:avLst/>
          </a:prstGeom>
          <a:noFill/>
          <a:ln/>
        </p:spPr>
        <p:txBody>
          <a:bodyPr wrap="square" lIns="0" tIns="0" rIns="0" bIns="0" rtlCol="0" anchor="ctr"/>
          <a:lstStyle/>
          <a:p>
            <a:pPr algn="ctr" indent="0" marL="0">
              <a:buNone/>
            </a:pPr>
            <a:r>
              <a:rPr lang="en-US" sz="1250" b="1" dirty="0">
                <a:solidFill>
                  <a:srgbClr val="1E1E1E"/>
                </a:solidFill>
                <a:latin typeface="Arial" pitchFamily="34" charset="0"/>
                <a:ea typeface="Arial" pitchFamily="34" charset="-122"/>
                <a:cs typeface="Arial" pitchFamily="34" charset="-120"/>
              </a:rPr>
              <a:t>Gauge</a:t>
            </a:r>
            <a:endParaRPr lang="en-US" sz="1250" dirty="0"/>
          </a:p>
          <a:p>
            <a:pPr algn="ctr" indent="0" marL="0">
              <a:buNone/>
            </a:pPr>
            <a:r>
              <a:rPr lang="en-US" sz="1250" b="1" dirty="0">
                <a:solidFill>
                  <a:srgbClr val="1E1E1E"/>
                </a:solidFill>
                <a:latin typeface="Arial" pitchFamily="34" charset="0"/>
                <a:ea typeface="Arial" pitchFamily="34" charset="-122"/>
                <a:cs typeface="Arial" pitchFamily="34" charset="-120"/>
              </a:rPr>
              <a:t>foam</a:t>
            </a:r>
            <a:endParaRPr lang="en-US" sz="1250" dirty="0"/>
          </a:p>
        </p:txBody>
      </p:sp>
      <p:sp>
        <p:nvSpPr>
          <p:cNvPr id="33" name="Text 31"/>
          <p:cNvSpPr txBox="1"/>
          <p:nvPr/>
        </p:nvSpPr>
        <p:spPr>
          <a:xfrm>
            <a:off x="548640" y="5916168"/>
            <a:ext cx="932688" cy="228600"/>
          </a:xfrm>
          <a:prstGeom prst="rect">
            <a:avLst/>
          </a:prstGeom>
          <a:noFill/>
          <a:ln/>
        </p:spPr>
        <p:txBody>
          <a:bodyPr wrap="square" lIns="0" tIns="0" rIns="0" bIns="0" rtlCol="0" anchor="ctr"/>
          <a:lstStyle/>
          <a:p>
            <a:pPr algn="ctr" indent="0" marL="0">
              <a:buNone/>
            </a:pPr>
            <a:r>
              <a:rPr lang="en-US" sz="1000" dirty="0">
                <a:solidFill>
                  <a:srgbClr val="5E5E5E"/>
                </a:solidFill>
                <a:latin typeface="Arial" pitchFamily="34" charset="0"/>
                <a:ea typeface="Arial" pitchFamily="34" charset="-122"/>
                <a:cs typeface="Arial" pitchFamily="34" charset="-120"/>
              </a:rPr>
              <a:t>Run first</a:t>
            </a:r>
            <a:endParaRPr lang="en-US" sz="1000" dirty="0"/>
          </a:p>
        </p:txBody>
      </p:sp>
      <p:sp>
        <p:nvSpPr>
          <p:cNvPr id="34" name="Shape 32"/>
          <p:cNvSpPr/>
          <p:nvPr/>
        </p:nvSpPr>
        <p:spPr>
          <a:xfrm>
            <a:off x="1572768" y="5385816"/>
            <a:ext cx="932688" cy="484632"/>
          </a:xfrm>
          <a:prstGeom prst="rect">
            <a:avLst/>
          </a:prstGeom>
          <a:solidFill>
            <a:srgbClr val="1E1E1E"/>
          </a:solidFill>
          <a:ln w="12700">
            <a:solidFill>
              <a:srgbClr val="1E1E1E"/>
            </a:solidFill>
            <a:prstDash val="solid"/>
          </a:ln>
        </p:spPr>
      </p:sp>
      <p:sp>
        <p:nvSpPr>
          <p:cNvPr id="35" name="Text 33"/>
          <p:cNvSpPr txBox="1"/>
          <p:nvPr/>
        </p:nvSpPr>
        <p:spPr>
          <a:xfrm>
            <a:off x="1572768" y="5385816"/>
            <a:ext cx="932688" cy="484632"/>
          </a:xfrm>
          <a:prstGeom prst="rect">
            <a:avLst/>
          </a:prstGeom>
          <a:noFill/>
          <a:ln/>
        </p:spPr>
        <p:txBody>
          <a:bodyPr wrap="square" lIns="0" tIns="0" rIns="0" bIns="0" rtlCol="0" anchor="ctr"/>
          <a:lstStyle/>
          <a:p>
            <a:pPr algn="ctr" indent="0" marL="0">
              <a:buNone/>
            </a:pPr>
            <a:r>
              <a:rPr lang="en-US" sz="1250" b="1" dirty="0">
                <a:solidFill>
                  <a:srgbClr val="FFFFFF"/>
                </a:solidFill>
                <a:latin typeface="Arial" pitchFamily="34" charset="0"/>
                <a:ea typeface="Arial" pitchFamily="34" charset="-122"/>
                <a:cs typeface="Arial" pitchFamily="34" charset="-120"/>
              </a:rPr>
              <a:t>Initial</a:t>
            </a:r>
            <a:endParaRPr lang="en-US" sz="1250" dirty="0"/>
          </a:p>
        </p:txBody>
      </p:sp>
      <p:sp>
        <p:nvSpPr>
          <p:cNvPr id="36" name="Text 34"/>
          <p:cNvSpPr txBox="1"/>
          <p:nvPr/>
        </p:nvSpPr>
        <p:spPr>
          <a:xfrm>
            <a:off x="1572768" y="5916168"/>
            <a:ext cx="932688" cy="228600"/>
          </a:xfrm>
          <a:prstGeom prst="rect">
            <a:avLst/>
          </a:prstGeom>
          <a:noFill/>
          <a:ln/>
        </p:spPr>
        <p:txBody>
          <a:bodyPr wrap="square" lIns="0" tIns="0" rIns="0" bIns="0" rtlCol="0" anchor="ctr"/>
          <a:lstStyle/>
          <a:p>
            <a:pPr algn="ctr" indent="0" marL="0">
              <a:buNone/>
            </a:pPr>
            <a:r>
              <a:rPr lang="en-US" sz="1000" dirty="0">
                <a:solidFill>
                  <a:srgbClr val="5E5E5E"/>
                </a:solidFill>
                <a:latin typeface="Arial" pitchFamily="34" charset="0"/>
                <a:ea typeface="Arial" pitchFamily="34" charset="-122"/>
                <a:cs typeface="Arial" pitchFamily="34" charset="-120"/>
              </a:rPr>
              <a:t>Set by foam</a:t>
            </a:r>
            <a:endParaRPr lang="en-US" sz="1000" dirty="0"/>
          </a:p>
        </p:txBody>
      </p:sp>
      <p:sp>
        <p:nvSpPr>
          <p:cNvPr id="37" name="Shape 35"/>
          <p:cNvSpPr/>
          <p:nvPr/>
        </p:nvSpPr>
        <p:spPr>
          <a:xfrm>
            <a:off x="2596896" y="5285232"/>
            <a:ext cx="932688" cy="585216"/>
          </a:xfrm>
          <a:prstGeom prst="rect">
            <a:avLst/>
          </a:prstGeom>
          <a:solidFill>
            <a:srgbClr val="1E1E1E"/>
          </a:solidFill>
          <a:ln w="12700">
            <a:solidFill>
              <a:srgbClr val="1E1E1E"/>
            </a:solidFill>
            <a:prstDash val="solid"/>
          </a:ln>
        </p:spPr>
      </p:sp>
      <p:sp>
        <p:nvSpPr>
          <p:cNvPr id="38" name="Text 36"/>
          <p:cNvSpPr txBox="1"/>
          <p:nvPr/>
        </p:nvSpPr>
        <p:spPr>
          <a:xfrm>
            <a:off x="2596896" y="5285232"/>
            <a:ext cx="932688" cy="585216"/>
          </a:xfrm>
          <a:prstGeom prst="rect">
            <a:avLst/>
          </a:prstGeom>
          <a:noFill/>
          <a:ln/>
        </p:spPr>
        <p:txBody>
          <a:bodyPr wrap="square" lIns="0" tIns="0" rIns="0" bIns="0" rtlCol="0" anchor="ctr"/>
          <a:lstStyle/>
          <a:p>
            <a:pPr algn="ctr" indent="0" marL="0">
              <a:buNone/>
            </a:pPr>
            <a:r>
              <a:rPr lang="en-US" sz="1250" b="1" dirty="0">
                <a:solidFill>
                  <a:srgbClr val="FFFFFF"/>
                </a:solidFill>
                <a:latin typeface="Arial" pitchFamily="34" charset="0"/>
                <a:ea typeface="Arial" pitchFamily="34" charset="-122"/>
                <a:cs typeface="Arial" pitchFamily="34" charset="-120"/>
              </a:rPr>
              <a:t>+⅛"</a:t>
            </a:r>
            <a:endParaRPr lang="en-US" sz="1250" dirty="0"/>
          </a:p>
        </p:txBody>
      </p:sp>
      <p:sp>
        <p:nvSpPr>
          <p:cNvPr id="39" name="Text 37"/>
          <p:cNvSpPr txBox="1"/>
          <p:nvPr/>
        </p:nvSpPr>
        <p:spPr>
          <a:xfrm>
            <a:off x="2596896" y="5916168"/>
            <a:ext cx="932688" cy="228600"/>
          </a:xfrm>
          <a:prstGeom prst="rect">
            <a:avLst/>
          </a:prstGeom>
          <a:noFill/>
          <a:ln/>
        </p:spPr>
        <p:txBody>
          <a:bodyPr wrap="square" lIns="0" tIns="0" rIns="0" bIns="0" rtlCol="0" anchor="ctr"/>
          <a:lstStyle/>
          <a:p>
            <a:pPr algn="ctr" indent="0" marL="0">
              <a:buNone/>
            </a:pPr>
            <a:r>
              <a:rPr lang="en-US" sz="1000" dirty="0">
                <a:solidFill>
                  <a:srgbClr val="5E5E5E"/>
                </a:solidFill>
                <a:latin typeface="Arial" pitchFamily="34" charset="0"/>
                <a:ea typeface="Arial" pitchFamily="34" charset="-122"/>
                <a:cs typeface="Arial" pitchFamily="34" charset="-120"/>
              </a:rPr>
              <a:t>Step</a:t>
            </a:r>
            <a:endParaRPr lang="en-US" sz="1000" dirty="0"/>
          </a:p>
        </p:txBody>
      </p:sp>
      <p:sp>
        <p:nvSpPr>
          <p:cNvPr id="40" name="Shape 38"/>
          <p:cNvSpPr/>
          <p:nvPr/>
        </p:nvSpPr>
        <p:spPr>
          <a:xfrm>
            <a:off x="3621024" y="5184648"/>
            <a:ext cx="932688" cy="685800"/>
          </a:xfrm>
          <a:prstGeom prst="rect">
            <a:avLst/>
          </a:prstGeom>
          <a:solidFill>
            <a:srgbClr val="1E1E1E"/>
          </a:solidFill>
          <a:ln w="12700">
            <a:solidFill>
              <a:srgbClr val="1E1E1E"/>
            </a:solidFill>
            <a:prstDash val="solid"/>
          </a:ln>
        </p:spPr>
      </p:sp>
      <p:sp>
        <p:nvSpPr>
          <p:cNvPr id="41" name="Text 39"/>
          <p:cNvSpPr txBox="1"/>
          <p:nvPr/>
        </p:nvSpPr>
        <p:spPr>
          <a:xfrm>
            <a:off x="3621024" y="5184648"/>
            <a:ext cx="932688" cy="685800"/>
          </a:xfrm>
          <a:prstGeom prst="rect">
            <a:avLst/>
          </a:prstGeom>
          <a:noFill/>
          <a:ln/>
        </p:spPr>
        <p:txBody>
          <a:bodyPr wrap="square" lIns="0" tIns="0" rIns="0" bIns="0" rtlCol="0" anchor="ctr"/>
          <a:lstStyle/>
          <a:p>
            <a:pPr algn="ctr" indent="0" marL="0">
              <a:buNone/>
            </a:pPr>
            <a:r>
              <a:rPr lang="en-US" sz="1250" b="1" dirty="0">
                <a:solidFill>
                  <a:srgbClr val="FFFFFF"/>
                </a:solidFill>
                <a:latin typeface="Arial" pitchFamily="34" charset="0"/>
                <a:ea typeface="Arial" pitchFamily="34" charset="-122"/>
                <a:cs typeface="Arial" pitchFamily="34" charset="-120"/>
              </a:rPr>
              <a:t>+⅛"</a:t>
            </a:r>
            <a:endParaRPr lang="en-US" sz="1250" dirty="0"/>
          </a:p>
        </p:txBody>
      </p:sp>
      <p:sp>
        <p:nvSpPr>
          <p:cNvPr id="42" name="Text 40"/>
          <p:cNvSpPr txBox="1"/>
          <p:nvPr/>
        </p:nvSpPr>
        <p:spPr>
          <a:xfrm>
            <a:off x="3621024" y="5916168"/>
            <a:ext cx="932688" cy="228600"/>
          </a:xfrm>
          <a:prstGeom prst="rect">
            <a:avLst/>
          </a:prstGeom>
          <a:noFill/>
          <a:ln/>
        </p:spPr>
        <p:txBody>
          <a:bodyPr wrap="square" lIns="0" tIns="0" rIns="0" bIns="0" rtlCol="0" anchor="ctr"/>
          <a:lstStyle/>
          <a:p>
            <a:pPr algn="ctr" indent="0" marL="0">
              <a:buNone/>
            </a:pPr>
            <a:r>
              <a:rPr lang="en-US" sz="1000" dirty="0">
                <a:solidFill>
                  <a:srgbClr val="5E5E5E"/>
                </a:solidFill>
                <a:latin typeface="Arial" pitchFamily="34" charset="0"/>
                <a:ea typeface="Arial" pitchFamily="34" charset="-122"/>
                <a:cs typeface="Arial" pitchFamily="34" charset="-120"/>
              </a:rPr>
              <a:t>Step</a:t>
            </a:r>
            <a:endParaRPr lang="en-US" sz="1000" dirty="0"/>
          </a:p>
        </p:txBody>
      </p:sp>
      <p:sp>
        <p:nvSpPr>
          <p:cNvPr id="43" name="Shape 41"/>
          <p:cNvSpPr/>
          <p:nvPr/>
        </p:nvSpPr>
        <p:spPr>
          <a:xfrm>
            <a:off x="4645152" y="5084064"/>
            <a:ext cx="932688" cy="786384"/>
          </a:xfrm>
          <a:prstGeom prst="rect">
            <a:avLst/>
          </a:prstGeom>
          <a:solidFill>
            <a:srgbClr val="1E1E1E"/>
          </a:solidFill>
          <a:ln w="12700">
            <a:solidFill>
              <a:srgbClr val="1E1E1E"/>
            </a:solidFill>
            <a:prstDash val="solid"/>
          </a:ln>
        </p:spPr>
      </p:sp>
      <p:sp>
        <p:nvSpPr>
          <p:cNvPr id="44" name="Text 42"/>
          <p:cNvSpPr txBox="1"/>
          <p:nvPr/>
        </p:nvSpPr>
        <p:spPr>
          <a:xfrm>
            <a:off x="4645152" y="5084064"/>
            <a:ext cx="932688" cy="786384"/>
          </a:xfrm>
          <a:prstGeom prst="rect">
            <a:avLst/>
          </a:prstGeom>
          <a:noFill/>
          <a:ln/>
        </p:spPr>
        <p:txBody>
          <a:bodyPr wrap="square" lIns="0" tIns="0" rIns="0" bIns="0" rtlCol="0" anchor="ctr"/>
          <a:lstStyle/>
          <a:p>
            <a:pPr algn="ctr" indent="0" marL="0">
              <a:buNone/>
            </a:pPr>
            <a:r>
              <a:rPr lang="en-US" sz="1250" b="1" dirty="0">
                <a:solidFill>
                  <a:srgbClr val="FFFFFF"/>
                </a:solidFill>
                <a:latin typeface="Arial" pitchFamily="34" charset="0"/>
                <a:ea typeface="Arial" pitchFamily="34" charset="-122"/>
                <a:cs typeface="Arial" pitchFamily="34" charset="-120"/>
              </a:rPr>
              <a:t>+⅛"</a:t>
            </a:r>
            <a:endParaRPr lang="en-US" sz="1250" dirty="0"/>
          </a:p>
        </p:txBody>
      </p:sp>
      <p:sp>
        <p:nvSpPr>
          <p:cNvPr id="45" name="Text 43"/>
          <p:cNvSpPr txBox="1"/>
          <p:nvPr/>
        </p:nvSpPr>
        <p:spPr>
          <a:xfrm>
            <a:off x="4645152" y="5916168"/>
            <a:ext cx="932688" cy="228600"/>
          </a:xfrm>
          <a:prstGeom prst="rect">
            <a:avLst/>
          </a:prstGeom>
          <a:noFill/>
          <a:ln/>
        </p:spPr>
        <p:txBody>
          <a:bodyPr wrap="square" lIns="0" tIns="0" rIns="0" bIns="0" rtlCol="0" anchor="ctr"/>
          <a:lstStyle/>
          <a:p>
            <a:pPr algn="ctr" indent="0" marL="0">
              <a:buNone/>
            </a:pPr>
            <a:r>
              <a:rPr lang="en-US" sz="1000" dirty="0">
                <a:solidFill>
                  <a:srgbClr val="5E5E5E"/>
                </a:solidFill>
                <a:latin typeface="Arial" pitchFamily="34" charset="0"/>
                <a:ea typeface="Arial" pitchFamily="34" charset="-122"/>
                <a:cs typeface="Arial" pitchFamily="34" charset="-120"/>
              </a:rPr>
              <a:t>Step</a:t>
            </a:r>
            <a:endParaRPr lang="en-US" sz="1000" dirty="0"/>
          </a:p>
        </p:txBody>
      </p:sp>
      <p:sp>
        <p:nvSpPr>
          <p:cNvPr id="46" name="Shape 44"/>
          <p:cNvSpPr/>
          <p:nvPr/>
        </p:nvSpPr>
        <p:spPr>
          <a:xfrm>
            <a:off x="5669280" y="4983480"/>
            <a:ext cx="932688" cy="886968"/>
          </a:xfrm>
          <a:prstGeom prst="rect">
            <a:avLst/>
          </a:prstGeom>
          <a:solidFill>
            <a:srgbClr val="1E1E1E"/>
          </a:solidFill>
          <a:ln w="12700">
            <a:solidFill>
              <a:srgbClr val="1E1E1E"/>
            </a:solidFill>
            <a:prstDash val="solid"/>
          </a:ln>
        </p:spPr>
      </p:sp>
      <p:sp>
        <p:nvSpPr>
          <p:cNvPr id="47" name="Text 45"/>
          <p:cNvSpPr txBox="1"/>
          <p:nvPr/>
        </p:nvSpPr>
        <p:spPr>
          <a:xfrm>
            <a:off x="5669280" y="4983480"/>
            <a:ext cx="932688" cy="886968"/>
          </a:xfrm>
          <a:prstGeom prst="rect">
            <a:avLst/>
          </a:prstGeom>
          <a:noFill/>
          <a:ln/>
        </p:spPr>
        <p:txBody>
          <a:bodyPr wrap="square" lIns="0" tIns="0" rIns="0" bIns="0" rtlCol="0" anchor="ctr"/>
          <a:lstStyle/>
          <a:p>
            <a:pPr algn="ctr" indent="0" marL="0">
              <a:buNone/>
            </a:pPr>
            <a:r>
              <a:rPr lang="en-US" sz="1250" b="1" dirty="0">
                <a:solidFill>
                  <a:srgbClr val="FFFFFF"/>
                </a:solidFill>
                <a:latin typeface="Arial" pitchFamily="34" charset="0"/>
                <a:ea typeface="Arial" pitchFamily="34" charset="-122"/>
                <a:cs typeface="Arial" pitchFamily="34" charset="-120"/>
              </a:rPr>
              <a:t>4.026"</a:t>
            </a:r>
            <a:endParaRPr lang="en-US" sz="1250" dirty="0"/>
          </a:p>
        </p:txBody>
      </p:sp>
      <p:sp>
        <p:nvSpPr>
          <p:cNvPr id="48" name="Text 46"/>
          <p:cNvSpPr txBox="1"/>
          <p:nvPr/>
        </p:nvSpPr>
        <p:spPr>
          <a:xfrm>
            <a:off x="5669280" y="5916168"/>
            <a:ext cx="932688" cy="228600"/>
          </a:xfrm>
          <a:prstGeom prst="rect">
            <a:avLst/>
          </a:prstGeom>
          <a:noFill/>
          <a:ln/>
        </p:spPr>
        <p:txBody>
          <a:bodyPr wrap="square" lIns="0" tIns="0" rIns="0" bIns="0" rtlCol="0" anchor="ctr"/>
          <a:lstStyle/>
          <a:p>
            <a:pPr algn="ctr" indent="0" marL="0">
              <a:buNone/>
            </a:pPr>
            <a:r>
              <a:rPr lang="en-US" sz="1000" b="1" dirty="0">
                <a:solidFill>
                  <a:srgbClr val="222222"/>
                </a:solidFill>
                <a:latin typeface="Arial" pitchFamily="34" charset="0"/>
                <a:ea typeface="Arial" pitchFamily="34" charset="-122"/>
                <a:cs typeface="Arial" pitchFamily="34" charset="-120"/>
              </a:rPr>
              <a:t>Line size</a:t>
            </a:r>
            <a:endParaRPr lang="en-US" sz="1000" dirty="0"/>
          </a:p>
        </p:txBody>
      </p:sp>
      <p:sp>
        <p:nvSpPr>
          <p:cNvPr id="49" name="Shape 47"/>
          <p:cNvSpPr/>
          <p:nvPr/>
        </p:nvSpPr>
        <p:spPr>
          <a:xfrm>
            <a:off x="6693408" y="4882896"/>
            <a:ext cx="932688" cy="987552"/>
          </a:xfrm>
          <a:prstGeom prst="rect">
            <a:avLst/>
          </a:prstGeom>
          <a:solidFill>
            <a:srgbClr val="FCC30A"/>
          </a:solidFill>
          <a:ln w="12700">
            <a:solidFill>
              <a:srgbClr val="FCC30A"/>
            </a:solidFill>
            <a:prstDash val="solid"/>
          </a:ln>
        </p:spPr>
      </p:sp>
      <p:sp>
        <p:nvSpPr>
          <p:cNvPr id="50" name="Text 48"/>
          <p:cNvSpPr txBox="1"/>
          <p:nvPr/>
        </p:nvSpPr>
        <p:spPr>
          <a:xfrm>
            <a:off x="6693408" y="4882896"/>
            <a:ext cx="932688" cy="987552"/>
          </a:xfrm>
          <a:prstGeom prst="rect">
            <a:avLst/>
          </a:prstGeom>
          <a:noFill/>
          <a:ln/>
        </p:spPr>
        <p:txBody>
          <a:bodyPr wrap="square" lIns="0" tIns="0" rIns="0" bIns="0" rtlCol="0" anchor="ctr"/>
          <a:lstStyle/>
          <a:p>
            <a:pPr algn="ctr" indent="0" marL="0">
              <a:buNone/>
            </a:pPr>
            <a:r>
              <a:rPr lang="en-US" sz="1250" b="1" dirty="0">
                <a:solidFill>
                  <a:srgbClr val="1E1E1E"/>
                </a:solidFill>
                <a:latin typeface="Arial" pitchFamily="34" charset="0"/>
                <a:ea typeface="Arial" pitchFamily="34" charset="-122"/>
                <a:cs typeface="Arial" pitchFamily="34" charset="-120"/>
              </a:rPr>
              <a:t>4.276"</a:t>
            </a:r>
            <a:endParaRPr lang="en-US" sz="1250" dirty="0"/>
          </a:p>
        </p:txBody>
      </p:sp>
      <p:sp>
        <p:nvSpPr>
          <p:cNvPr id="51" name="Text 49"/>
          <p:cNvSpPr txBox="1"/>
          <p:nvPr/>
        </p:nvSpPr>
        <p:spPr>
          <a:xfrm>
            <a:off x="6693408" y="5916168"/>
            <a:ext cx="932688" cy="228600"/>
          </a:xfrm>
          <a:prstGeom prst="rect">
            <a:avLst/>
          </a:prstGeom>
          <a:noFill/>
          <a:ln/>
        </p:spPr>
        <p:txBody>
          <a:bodyPr wrap="square" lIns="0" tIns="0" rIns="0" bIns="0" rtlCol="0" anchor="ctr"/>
          <a:lstStyle/>
          <a:p>
            <a:pPr algn="ctr" indent="0" marL="0">
              <a:buNone/>
            </a:pPr>
            <a:r>
              <a:rPr lang="en-US" sz="1000" b="1" dirty="0">
                <a:solidFill>
                  <a:srgbClr val="222222"/>
                </a:solidFill>
                <a:latin typeface="Arial" pitchFamily="34" charset="0"/>
                <a:ea typeface="Arial" pitchFamily="34" charset="-122"/>
                <a:cs typeface="Arial" pitchFamily="34" charset="-120"/>
              </a:rPr>
              <a:t>Max</a:t>
            </a:r>
            <a:endParaRPr lang="en-US" sz="1000" dirty="0"/>
          </a:p>
        </p:txBody>
      </p:sp>
      <p:sp>
        <p:nvSpPr>
          <p:cNvPr id="52" name="Shape 50"/>
          <p:cNvSpPr/>
          <p:nvPr/>
        </p:nvSpPr>
        <p:spPr>
          <a:xfrm>
            <a:off x="8001000" y="2148840"/>
            <a:ext cx="3639312" cy="4114800"/>
          </a:xfrm>
          <a:prstGeom prst="rect">
            <a:avLst/>
          </a:prstGeom>
          <a:solidFill>
            <a:srgbClr val="1E1E1E"/>
          </a:solidFill>
          <a:ln w="12700">
            <a:solidFill>
              <a:srgbClr val="1E1E1E"/>
            </a:solidFill>
            <a:prstDash val="solid"/>
          </a:ln>
        </p:spPr>
      </p:sp>
      <p:sp>
        <p:nvSpPr>
          <p:cNvPr id="53" name="Text 51"/>
          <p:cNvSpPr txBox="1"/>
          <p:nvPr/>
        </p:nvSpPr>
        <p:spPr>
          <a:xfrm>
            <a:off x="8275320" y="2377440"/>
            <a:ext cx="3108960" cy="365760"/>
          </a:xfrm>
          <a:prstGeom prst="rect">
            <a:avLst/>
          </a:prstGeom>
          <a:noFill/>
          <a:ln/>
        </p:spPr>
        <p:txBody>
          <a:bodyPr wrap="square" lIns="0" tIns="0" rIns="0" bIns="0" rtlCol="0" anchor="ctr"/>
          <a:lstStyle/>
          <a:p>
            <a:pPr indent="0" marL="0">
              <a:buNone/>
            </a:pPr>
            <a:r>
              <a:rPr lang="en-US" sz="1600" b="1" dirty="0">
                <a:solidFill>
                  <a:srgbClr val="FCC30A"/>
                </a:solidFill>
                <a:latin typeface="Arial" pitchFamily="34" charset="0"/>
                <a:ea typeface="Arial" pitchFamily="34" charset="-122"/>
                <a:cs typeface="Arial" pitchFamily="34" charset="-120"/>
              </a:rPr>
              <a:t>The sizing rule</a:t>
            </a:r>
            <a:endParaRPr lang="en-US" sz="1600" dirty="0"/>
          </a:p>
        </p:txBody>
      </p:sp>
      <p:sp>
        <p:nvSpPr>
          <p:cNvPr id="54" name="Text 52"/>
          <p:cNvSpPr txBox="1"/>
          <p:nvPr/>
        </p:nvSpPr>
        <p:spPr>
          <a:xfrm>
            <a:off x="8275320" y="2788920"/>
            <a:ext cx="3200400" cy="640080"/>
          </a:xfrm>
          <a:prstGeom prst="rect">
            <a:avLst/>
          </a:prstGeom>
          <a:noFill/>
          <a:ln/>
        </p:spPr>
        <p:txBody>
          <a:bodyPr wrap="square" lIns="0" tIns="0" rIns="0" bIns="0" rtlCol="0" anchor="t"/>
          <a:lstStyle/>
          <a:p>
            <a:pPr indent="0" marL="0">
              <a:buNone/>
            </a:pPr>
            <a:r>
              <a:rPr lang="en-US" sz="1600" b="1" dirty="0">
                <a:solidFill>
                  <a:srgbClr val="FFFFFF"/>
                </a:solidFill>
                <a:latin typeface="Arial" pitchFamily="34" charset="0"/>
                <a:ea typeface="Arial" pitchFamily="34" charset="-122"/>
                <a:cs typeface="Arial" pitchFamily="34" charset="-120"/>
              </a:rPr>
              <a:t>Max pig OD =</a:t>
            </a:r>
            <a:endParaRPr lang="en-US" sz="1600" dirty="0"/>
          </a:p>
          <a:p>
            <a:pPr indent="0" marL="0">
              <a:buNone/>
            </a:pPr>
            <a:r>
              <a:rPr lang="en-US" sz="1600" b="1" dirty="0">
                <a:solidFill>
                  <a:srgbClr val="FFFFFF"/>
                </a:solidFill>
                <a:latin typeface="Arial" pitchFamily="34" charset="0"/>
                <a:ea typeface="Arial" pitchFamily="34" charset="-122"/>
                <a:cs typeface="Arial" pitchFamily="34" charset="-120"/>
              </a:rPr>
              <a:t>smallest tube ID + 0.250"</a:t>
            </a:r>
            <a:endParaRPr lang="en-US" sz="1600" dirty="0"/>
          </a:p>
        </p:txBody>
      </p:sp>
      <p:sp>
        <p:nvSpPr>
          <p:cNvPr id="55" name="Text 53"/>
          <p:cNvSpPr txBox="1"/>
          <p:nvPr/>
        </p:nvSpPr>
        <p:spPr>
          <a:xfrm>
            <a:off x="8275320" y="3657600"/>
            <a:ext cx="3200400" cy="2286000"/>
          </a:xfrm>
          <a:prstGeom prst="rect">
            <a:avLst/>
          </a:prstGeom>
          <a:noFill/>
          <a:ln/>
        </p:spPr>
        <p:txBody>
          <a:bodyPr wrap="square" lIns="0" tIns="0" rIns="0" bIns="0" rtlCol="0" anchor="t"/>
          <a:lstStyle/>
          <a:p>
            <a:pPr marL="342900" indent="-342900">
              <a:spcAft>
                <a:spcPts val="1200"/>
              </a:spcAft>
              <a:buSzPct val="100000"/>
              <a:buChar char="•"/>
            </a:pPr>
            <a:r>
              <a:rPr lang="en-US" sz="1300" dirty="0">
                <a:solidFill>
                  <a:srgbClr val="BDBDBD"/>
                </a:solidFill>
                <a:latin typeface="Arial" pitchFamily="34" charset="0"/>
                <a:ea typeface="Arial" pitchFamily="34" charset="-122"/>
                <a:cs typeface="Arial" pitchFamily="34" charset="-120"/>
              </a:rPr>
              <a:t>Step up ⅛" after each clean pass</a:t>
            </a:r>
            <a:endParaRPr lang="en-US" sz="1300" dirty="0"/>
          </a:p>
          <a:p>
            <a:pPr marL="342900" indent="-342900">
              <a:spcAft>
                <a:spcPts val="1200"/>
              </a:spcAft>
              <a:buSzPct val="100000"/>
              <a:buChar char="•"/>
            </a:pPr>
            <a:r>
              <a:rPr lang="en-US" sz="1300" dirty="0">
                <a:solidFill>
                  <a:srgbClr val="BDBDBD"/>
                </a:solidFill>
                <a:latin typeface="Arial" pitchFamily="34" charset="0"/>
                <a:ea typeface="Arial" pitchFamily="34" charset="-122"/>
                <a:cs typeface="Arial" pitchFamily="34" charset="-120"/>
              </a:rPr>
              <a:t>Pig wear drives size &amp; appendages</a:t>
            </a:r>
            <a:endParaRPr lang="en-US" sz="1300" dirty="0"/>
          </a:p>
          <a:p>
            <a:pPr marL="342900" indent="-342900">
              <a:spcAft>
                <a:spcPts val="1200"/>
              </a:spcAft>
              <a:buSzPct val="100000"/>
              <a:buChar char="•"/>
            </a:pPr>
            <a:r>
              <a:rPr lang="en-US" sz="1300" dirty="0">
                <a:solidFill>
                  <a:srgbClr val="BDBDBD"/>
                </a:solidFill>
                <a:latin typeface="Arial" pitchFamily="34" charset="0"/>
                <a:ea typeface="Arial" pitchFamily="34" charset="-122"/>
                <a:cs typeface="Arial" pitchFamily="34" charset="-120"/>
              </a:rPr>
              <a:t>Body length set for bends &amp; mule ears</a:t>
            </a:r>
            <a:endParaRPr lang="en-US" sz="1300" dirty="0"/>
          </a:p>
          <a:p>
            <a:pPr marL="342900" indent="-342900">
              <a:spcAft>
                <a:spcPts val="1200"/>
              </a:spcAft>
              <a:buSzPct val="100000"/>
              <a:buChar char="•"/>
            </a:pPr>
            <a:r>
              <a:rPr lang="en-US" sz="1300" dirty="0">
                <a:solidFill>
                  <a:srgbClr val="BDBDBD"/>
                </a:solidFill>
                <a:latin typeface="Arial" pitchFamily="34" charset="0"/>
                <a:ea typeface="Arial" pitchFamily="34" charset="-122"/>
                <a:cs typeface="Arial" pitchFamily="34" charset="-120"/>
              </a:rPr>
              <a:t>Gauge foam sets the starting size</a:t>
            </a:r>
            <a:endParaRPr lang="en-US" sz="1300" dirty="0"/>
          </a:p>
          <a:p>
            <a:pPr marL="342900" indent="-342900">
              <a:spcAft>
                <a:spcPts val="1200"/>
              </a:spcAft>
              <a:buSzPct val="100000"/>
              <a:buChar char="•"/>
            </a:pPr>
            <a:r>
              <a:rPr lang="en-US" sz="1300" dirty="0">
                <a:solidFill>
                  <a:srgbClr val="BDBDBD"/>
                </a:solidFill>
                <a:latin typeface="Arial" pitchFamily="34" charset="0"/>
                <a:ea typeface="Arial" pitchFamily="34" charset="-122"/>
                <a:cs typeface="Arial" pitchFamily="34" charset="-120"/>
              </a:rPr>
              <a:t>Line-size foam witnessed at sign-off</a:t>
            </a:r>
            <a:endParaRPr lang="en-US" sz="1300" dirty="0"/>
          </a:p>
        </p:txBody>
      </p:sp>
      <p:sp>
        <p:nvSpPr>
          <p:cNvPr id="56" name="Text 54"/>
          <p:cNvSpPr txBox="1"/>
          <p:nvPr/>
        </p:nvSpPr>
        <p:spPr>
          <a:xfrm>
            <a:off x="548640" y="6419088"/>
            <a:ext cx="7315200" cy="228600"/>
          </a:xfrm>
          <a:prstGeom prst="rect">
            <a:avLst/>
          </a:prstGeom>
          <a:noFill/>
          <a:ln/>
        </p:spPr>
        <p:txBody>
          <a:bodyPr wrap="square" lIns="0" tIns="0" rIns="0" bIns="0" rtlCol="0" anchor="ctr"/>
          <a:lstStyle/>
          <a:p>
            <a:pPr indent="0" marL="0">
              <a:buNone/>
            </a:pPr>
            <a:r>
              <a:rPr lang="en-US" sz="900" dirty="0">
                <a:solidFill>
                  <a:srgbClr val="9A9A9A"/>
                </a:solidFill>
                <a:latin typeface="Arial" pitchFamily="34" charset="0"/>
                <a:ea typeface="Arial" pitchFamily="34" charset="-122"/>
                <a:cs typeface="Arial" pitchFamily="34" charset="-120"/>
              </a:rPr>
              <a:t>USA DeBusk  |  LAR Heater Pigging &amp; Decoking Services  |  DSP#26098</a:t>
            </a:r>
            <a:endParaRPr lang="en-US" sz="900" dirty="0"/>
          </a:p>
        </p:txBody>
      </p:sp>
      <p:sp>
        <p:nvSpPr>
          <p:cNvPr id="57" name="Text 55"/>
          <p:cNvSpPr txBox="1"/>
          <p:nvPr/>
        </p:nvSpPr>
        <p:spPr>
          <a:xfrm>
            <a:off x="11155680" y="6419088"/>
            <a:ext cx="484632" cy="228600"/>
          </a:xfrm>
          <a:prstGeom prst="rect">
            <a:avLst/>
          </a:prstGeom>
          <a:noFill/>
          <a:ln/>
        </p:spPr>
        <p:txBody>
          <a:bodyPr wrap="square" lIns="0" tIns="0" rIns="0" bIns="0" rtlCol="0" anchor="ctr"/>
          <a:lstStyle/>
          <a:p>
            <a:pPr algn="r" indent="0" marL="0">
              <a:buNone/>
            </a:pPr>
            <a:r>
              <a:rPr lang="en-US" sz="900" dirty="0">
                <a:solidFill>
                  <a:srgbClr val="9A9A9A"/>
                </a:solidFill>
                <a:latin typeface="Arial" pitchFamily="34" charset="0"/>
                <a:ea typeface="Arial" pitchFamily="34" charset="-122"/>
                <a:cs typeface="Arial"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11480"/>
            <a:ext cx="1989525" cy="310896"/>
          </a:xfrm>
          <a:prstGeom prst="roundRect">
            <a:avLst>
              <a:gd name="adj" fmla="val 23529"/>
            </a:avLst>
          </a:prstGeom>
          <a:solidFill>
            <a:srgbClr val="FCC30A"/>
          </a:solidFill>
          <a:ln w="12700">
            <a:solidFill>
              <a:srgbClr val="FCC30A"/>
            </a:solidFill>
            <a:prstDash val="solid"/>
          </a:ln>
        </p:spPr>
      </p:sp>
      <p:sp>
        <p:nvSpPr>
          <p:cNvPr id="3" name="Text 1"/>
          <p:cNvSpPr txBox="1"/>
          <p:nvPr/>
        </p:nvSpPr>
        <p:spPr>
          <a:xfrm>
            <a:off x="548640" y="411480"/>
            <a:ext cx="1989525" cy="310896"/>
          </a:xfrm>
          <a:prstGeom prst="rect">
            <a:avLst/>
          </a:prstGeom>
          <a:noFill/>
          <a:ln/>
        </p:spPr>
        <p:txBody>
          <a:bodyPr wrap="square" lIns="0" tIns="0" rIns="0" bIns="0" rtlCol="0" anchor="ctr"/>
          <a:lstStyle/>
          <a:p>
            <a:pPr algn="ctr" indent="0" marL="0">
              <a:buNone/>
            </a:pPr>
            <a:r>
              <a:rPr lang="en-US" sz="1050" b="1" spc="150" kern="0" dirty="0">
                <a:solidFill>
                  <a:srgbClr val="1E1E1E"/>
                </a:solidFill>
                <a:latin typeface="Arial" pitchFamily="34" charset="0"/>
                <a:ea typeface="Arial" pitchFamily="34" charset="-122"/>
                <a:cs typeface="Arial" pitchFamily="34" charset="-120"/>
              </a:rPr>
              <a:t>01   METHODOLOGY</a:t>
            </a:r>
            <a:endParaRPr lang="en-US" sz="1050" dirty="0"/>
          </a:p>
        </p:txBody>
      </p:sp>
      <p:sp>
        <p:nvSpPr>
          <p:cNvPr id="4" name="Text 2"/>
          <p:cNvSpPr txBox="1"/>
          <p:nvPr/>
        </p:nvSpPr>
        <p:spPr>
          <a:xfrm>
            <a:off x="548640" y="841248"/>
            <a:ext cx="11064240" cy="731520"/>
          </a:xfrm>
          <a:prstGeom prst="rect">
            <a:avLst/>
          </a:prstGeom>
          <a:noFill/>
          <a:ln/>
        </p:spPr>
        <p:txBody>
          <a:bodyPr wrap="square" lIns="0" tIns="0" rIns="0" bIns="0" rtlCol="0" anchor="t"/>
          <a:lstStyle/>
          <a:p>
            <a:pPr indent="0" marL="0">
              <a:buNone/>
            </a:pPr>
            <a:r>
              <a:rPr lang="en-US" sz="3200" b="1" dirty="0">
                <a:solidFill>
                  <a:srgbClr val="222222"/>
                </a:solidFill>
                <a:latin typeface="Arial" pitchFamily="34" charset="0"/>
                <a:ea typeface="Arial" pitchFamily="34" charset="-122"/>
                <a:cs typeface="Arial" pitchFamily="34" charset="-120"/>
              </a:rPr>
              <a:t>Engineered decoking pigs, matched to the coke</a:t>
            </a:r>
            <a:endParaRPr lang="en-US" sz="3200" dirty="0"/>
          </a:p>
        </p:txBody>
      </p:sp>
      <p:sp>
        <p:nvSpPr>
          <p:cNvPr id="5" name="Text 3"/>
          <p:cNvSpPr txBox="1"/>
          <p:nvPr/>
        </p:nvSpPr>
        <p:spPr>
          <a:xfrm>
            <a:off x="548640" y="1481328"/>
            <a:ext cx="11064240" cy="365760"/>
          </a:xfrm>
          <a:prstGeom prst="rect">
            <a:avLst/>
          </a:prstGeom>
          <a:noFill/>
          <a:ln/>
        </p:spPr>
        <p:txBody>
          <a:bodyPr wrap="square" lIns="0" tIns="0" rIns="0" bIns="0" rtlCol="0" anchor="t"/>
          <a:lstStyle/>
          <a:p>
            <a:pPr indent="0" marL="0">
              <a:buNone/>
            </a:pPr>
            <a:r>
              <a:rPr lang="en-US" sz="1500" dirty="0">
                <a:solidFill>
                  <a:srgbClr val="5E5E5E"/>
                </a:solidFill>
                <a:latin typeface="Arial" pitchFamily="34" charset="0"/>
                <a:ea typeface="Arial" pitchFamily="34" charset="-122"/>
                <a:cs typeface="Arial" pitchFamily="34" charset="-120"/>
              </a:rPr>
              <a:t>The most diverse selection of engineered decoking pigs in the world</a:t>
            </a:r>
            <a:endParaRPr lang="en-US" sz="1500" dirty="0"/>
          </a:p>
        </p:txBody>
      </p:sp>
      <p:sp>
        <p:nvSpPr>
          <p:cNvPr id="6" name="Shape 4"/>
          <p:cNvSpPr/>
          <p:nvPr/>
        </p:nvSpPr>
        <p:spPr>
          <a:xfrm>
            <a:off x="548640" y="2057400"/>
            <a:ext cx="3657600" cy="4114800"/>
          </a:xfrm>
          <a:prstGeom prst="rect">
            <a:avLst/>
          </a:prstGeom>
          <a:solidFill>
            <a:srgbClr val="1E1E1E"/>
          </a:solidFill>
          <a:ln w="12700">
            <a:solidFill>
              <a:srgbClr val="1E1E1E"/>
            </a:solidFill>
            <a:prstDash val="solid"/>
          </a:ln>
        </p:spPr>
      </p:sp>
      <p:pic>
        <p:nvPicPr>
          <p:cNvPr id="7" name="Image 0" descr="/tmp/claude-0/-home-user-obsidian-work/c8998718-f22f-57a3-84c2-766db1d92b4c/scratchpad/deck/img/pigs_lineup.jpg">    </p:cNvPr>
          <p:cNvPicPr>
            <a:picLocks noChangeAspect="1"/>
          </p:cNvPicPr>
          <p:nvPr/>
        </p:nvPicPr>
        <p:blipFill>
          <a:blip r:embed="rId1"/>
          <a:stretch>
            <a:fillRect/>
          </a:stretch>
        </p:blipFill>
        <p:spPr>
          <a:xfrm>
            <a:off x="777240" y="2286000"/>
            <a:ext cx="3200400" cy="1553972"/>
          </a:xfrm>
          <a:prstGeom prst="rect">
            <a:avLst/>
          </a:prstGeom>
        </p:spPr>
      </p:pic>
      <p:pic>
        <p:nvPicPr>
          <p:cNvPr id="8" name="Image 1" descr="/tmp/claude-0/-home-user-obsidian-work/c8998718-f22f-57a3-84c2-766db1d92b4c/scratchpad/deck/img/pigs_three.jpg">    </p:cNvPr>
          <p:cNvPicPr>
            <a:picLocks noChangeAspect="1"/>
          </p:cNvPicPr>
          <p:nvPr/>
        </p:nvPicPr>
        <p:blipFill>
          <a:blip r:embed="rId2"/>
          <a:stretch>
            <a:fillRect/>
          </a:stretch>
        </p:blipFill>
        <p:spPr>
          <a:xfrm>
            <a:off x="1051560" y="3977640"/>
            <a:ext cx="2651760" cy="1624203"/>
          </a:xfrm>
          <a:prstGeom prst="rect">
            <a:avLst/>
          </a:prstGeom>
        </p:spPr>
      </p:pic>
      <p:sp>
        <p:nvSpPr>
          <p:cNvPr id="9" name="Text 5"/>
          <p:cNvSpPr txBox="1"/>
          <p:nvPr/>
        </p:nvSpPr>
        <p:spPr>
          <a:xfrm>
            <a:off x="777240" y="5669280"/>
            <a:ext cx="3200400" cy="365760"/>
          </a:xfrm>
          <a:prstGeom prst="rect">
            <a:avLst/>
          </a:prstGeom>
          <a:noFill/>
          <a:ln/>
        </p:spPr>
        <p:txBody>
          <a:bodyPr wrap="square" lIns="0" tIns="0" rIns="0" bIns="0" rtlCol="0" anchor="t"/>
          <a:lstStyle/>
          <a:p>
            <a:pPr indent="0" marL="0">
              <a:buNone/>
            </a:pPr>
            <a:r>
              <a:rPr lang="en-US" sz="950" i="1" dirty="0">
                <a:solidFill>
                  <a:srgbClr val="BDBDBD"/>
                </a:solidFill>
                <a:latin typeface="Arial" pitchFamily="34" charset="0"/>
                <a:ea typeface="Arial" pitchFamily="34" charset="-122"/>
                <a:cs typeface="Arial" pitchFamily="34" charset="-120"/>
              </a:rPr>
              <a:t>Foam, carbide-studded and worn pigs from USA DeBusk jobs</a:t>
            </a:r>
            <a:endParaRPr lang="en-US" sz="950" dirty="0"/>
          </a:p>
        </p:txBody>
      </p:sp>
      <p:sp>
        <p:nvSpPr>
          <p:cNvPr id="10" name="Shape 6"/>
          <p:cNvSpPr/>
          <p:nvPr/>
        </p:nvSpPr>
        <p:spPr>
          <a:xfrm>
            <a:off x="4526280" y="2057400"/>
            <a:ext cx="3456432" cy="1965960"/>
          </a:xfrm>
          <a:prstGeom prst="rect">
            <a:avLst/>
          </a:prstGeom>
          <a:solidFill>
            <a:srgbClr val="F4F4F4"/>
          </a:solidFill>
          <a:ln w="12700">
            <a:solidFill>
              <a:srgbClr val="F4F4F4"/>
            </a:solidFill>
            <a:prstDash val="solid"/>
          </a:ln>
        </p:spPr>
      </p:sp>
      <p:sp>
        <p:nvSpPr>
          <p:cNvPr id="11" name="Shape 7"/>
          <p:cNvSpPr/>
          <p:nvPr/>
        </p:nvSpPr>
        <p:spPr>
          <a:xfrm>
            <a:off x="4782312" y="2313432"/>
            <a:ext cx="603504" cy="603504"/>
          </a:xfrm>
          <a:prstGeom prst="ellipse">
            <a:avLst/>
          </a:prstGeom>
          <a:solidFill>
            <a:srgbClr val="1E1E1E"/>
          </a:solidFill>
          <a:ln w="12700">
            <a:solidFill>
              <a:srgbClr val="1E1E1E"/>
            </a:solidFill>
            <a:prstDash val="solid"/>
          </a:ln>
        </p:spPr>
      </p:sp>
      <p:pic>
        <p:nvPicPr>
          <p:cNvPr id="12" name="Image 2" descr="preencoded.png">    </p:cNvPr>
          <p:cNvPicPr>
            <a:picLocks noChangeAspect="1"/>
          </p:cNvPicPr>
          <p:nvPr/>
        </p:nvPicPr>
        <p:blipFill>
          <a:blip r:embed="rId3"/>
          <a:stretch>
            <a:fillRect/>
          </a:stretch>
        </p:blipFill>
        <p:spPr>
          <a:xfrm>
            <a:off x="4933188" y="2464308"/>
            <a:ext cx="301752" cy="301752"/>
          </a:xfrm>
          <a:prstGeom prst="rect">
            <a:avLst/>
          </a:prstGeom>
        </p:spPr>
      </p:pic>
      <p:sp>
        <p:nvSpPr>
          <p:cNvPr id="13" name="Text 8"/>
          <p:cNvSpPr txBox="1"/>
          <p:nvPr/>
        </p:nvSpPr>
        <p:spPr>
          <a:xfrm>
            <a:off x="5532120" y="2331720"/>
            <a:ext cx="2331720" cy="566928"/>
          </a:xfrm>
          <a:prstGeom prst="rect">
            <a:avLst/>
          </a:prstGeom>
          <a:noFill/>
          <a:ln/>
        </p:spPr>
        <p:txBody>
          <a:bodyPr wrap="square" lIns="0" tIns="0" rIns="0" bIns="0" rtlCol="0" anchor="ctr"/>
          <a:lstStyle/>
          <a:p>
            <a:pPr indent="0" marL="0">
              <a:buNone/>
            </a:pPr>
            <a:r>
              <a:rPr lang="en-US" sz="1500" b="1" dirty="0">
                <a:solidFill>
                  <a:srgbClr val="222222"/>
                </a:solidFill>
                <a:latin typeface="Arial" pitchFamily="34" charset="0"/>
                <a:ea typeface="Arial" pitchFamily="34" charset="-122"/>
                <a:cs typeface="Arial" pitchFamily="34" charset="-120"/>
              </a:rPr>
              <a:t>Urethane body, foam core</a:t>
            </a:r>
            <a:endParaRPr lang="en-US" sz="1500" dirty="0"/>
          </a:p>
        </p:txBody>
      </p:sp>
      <p:sp>
        <p:nvSpPr>
          <p:cNvPr id="14" name="Text 9"/>
          <p:cNvSpPr txBox="1"/>
          <p:nvPr/>
        </p:nvSpPr>
        <p:spPr>
          <a:xfrm>
            <a:off x="4782312" y="3081528"/>
            <a:ext cx="2971800" cy="822960"/>
          </a:xfrm>
          <a:prstGeom prst="rect">
            <a:avLst/>
          </a:prstGeom>
          <a:noFill/>
          <a:ln/>
        </p:spPr>
        <p:txBody>
          <a:bodyPr wrap="square" lIns="0" tIns="0" rIns="0" bIns="0" rtlCol="0" anchor="t"/>
          <a:lstStyle/>
          <a:p>
            <a:pPr indent="0" marL="0">
              <a:buNone/>
            </a:pPr>
            <a:r>
              <a:rPr lang="en-US" sz="1200" dirty="0">
                <a:solidFill>
                  <a:srgbClr val="5E5E5E"/>
                </a:solidFill>
                <a:latin typeface="Arial" pitchFamily="34" charset="0"/>
                <a:ea typeface="Arial" pitchFamily="34" charset="-122"/>
                <a:cs typeface="Arial" pitchFamily="34" charset="-120"/>
              </a:rPr>
              <a:t>Flexes through return bends while flow bypasses the pig and carries debris away</a:t>
            </a:r>
            <a:endParaRPr lang="en-US" sz="1200" dirty="0"/>
          </a:p>
        </p:txBody>
      </p:sp>
      <p:sp>
        <p:nvSpPr>
          <p:cNvPr id="15" name="Shape 10"/>
          <p:cNvSpPr/>
          <p:nvPr/>
        </p:nvSpPr>
        <p:spPr>
          <a:xfrm>
            <a:off x="8138160" y="2057400"/>
            <a:ext cx="3456432" cy="1965960"/>
          </a:xfrm>
          <a:prstGeom prst="rect">
            <a:avLst/>
          </a:prstGeom>
          <a:solidFill>
            <a:srgbClr val="F4F4F4"/>
          </a:solidFill>
          <a:ln w="12700">
            <a:solidFill>
              <a:srgbClr val="F4F4F4"/>
            </a:solidFill>
            <a:prstDash val="solid"/>
          </a:ln>
        </p:spPr>
      </p:sp>
      <p:sp>
        <p:nvSpPr>
          <p:cNvPr id="16" name="Shape 11"/>
          <p:cNvSpPr/>
          <p:nvPr/>
        </p:nvSpPr>
        <p:spPr>
          <a:xfrm>
            <a:off x="8394192" y="2313432"/>
            <a:ext cx="603504" cy="603504"/>
          </a:xfrm>
          <a:prstGeom prst="ellipse">
            <a:avLst/>
          </a:prstGeom>
          <a:solidFill>
            <a:srgbClr val="1E1E1E"/>
          </a:solidFill>
          <a:ln w="12700">
            <a:solidFill>
              <a:srgbClr val="1E1E1E"/>
            </a:solidFill>
            <a:prstDash val="solid"/>
          </a:ln>
        </p:spPr>
      </p:sp>
      <p:pic>
        <p:nvPicPr>
          <p:cNvPr id="17" name="Image 3" descr="preencoded.png">    </p:cNvPr>
          <p:cNvPicPr>
            <a:picLocks noChangeAspect="1"/>
          </p:cNvPicPr>
          <p:nvPr/>
        </p:nvPicPr>
        <p:blipFill>
          <a:blip r:embed="rId4"/>
          <a:stretch>
            <a:fillRect/>
          </a:stretch>
        </p:blipFill>
        <p:spPr>
          <a:xfrm>
            <a:off x="8545068" y="2464308"/>
            <a:ext cx="301752" cy="301752"/>
          </a:xfrm>
          <a:prstGeom prst="rect">
            <a:avLst/>
          </a:prstGeom>
        </p:spPr>
      </p:pic>
      <p:sp>
        <p:nvSpPr>
          <p:cNvPr id="18" name="Text 12"/>
          <p:cNvSpPr txBox="1"/>
          <p:nvPr/>
        </p:nvSpPr>
        <p:spPr>
          <a:xfrm>
            <a:off x="9144000" y="2331720"/>
            <a:ext cx="2331720" cy="566928"/>
          </a:xfrm>
          <a:prstGeom prst="rect">
            <a:avLst/>
          </a:prstGeom>
          <a:noFill/>
          <a:ln/>
        </p:spPr>
        <p:txBody>
          <a:bodyPr wrap="square" lIns="0" tIns="0" rIns="0" bIns="0" rtlCol="0" anchor="ctr"/>
          <a:lstStyle/>
          <a:p>
            <a:pPr indent="0" marL="0">
              <a:buNone/>
            </a:pPr>
            <a:r>
              <a:rPr lang="en-US" sz="1500" b="1" dirty="0">
                <a:solidFill>
                  <a:srgbClr val="222222"/>
                </a:solidFill>
                <a:latin typeface="Arial" pitchFamily="34" charset="0"/>
                <a:ea typeface="Arial" pitchFamily="34" charset="-122"/>
                <a:cs typeface="Arial" pitchFamily="34" charset="-120"/>
              </a:rPr>
              <a:t>Durometer chosen per job</a:t>
            </a:r>
            <a:endParaRPr lang="en-US" sz="1500" dirty="0"/>
          </a:p>
        </p:txBody>
      </p:sp>
      <p:sp>
        <p:nvSpPr>
          <p:cNvPr id="19" name="Text 13"/>
          <p:cNvSpPr txBox="1"/>
          <p:nvPr/>
        </p:nvSpPr>
        <p:spPr>
          <a:xfrm>
            <a:off x="8394192" y="3081528"/>
            <a:ext cx="2971800" cy="822960"/>
          </a:xfrm>
          <a:prstGeom prst="rect">
            <a:avLst/>
          </a:prstGeom>
          <a:noFill/>
          <a:ln/>
        </p:spPr>
        <p:txBody>
          <a:bodyPr wrap="square" lIns="0" tIns="0" rIns="0" bIns="0" rtlCol="0" anchor="t"/>
          <a:lstStyle/>
          <a:p>
            <a:pPr indent="0" marL="0">
              <a:buNone/>
            </a:pPr>
            <a:r>
              <a:rPr lang="en-US" sz="1200" dirty="0">
                <a:solidFill>
                  <a:srgbClr val="5E5E5E"/>
                </a:solidFill>
                <a:latin typeface="Arial" pitchFamily="34" charset="0"/>
                <a:ea typeface="Arial" pitchFamily="34" charset="-122"/>
                <a:cs typeface="Arial" pitchFamily="34" charset="-120"/>
              </a:rPr>
              <a:t>Softer compounds compress through tight bends; harder compounds remove coke aggressively</a:t>
            </a:r>
            <a:endParaRPr lang="en-US" sz="1200" dirty="0"/>
          </a:p>
        </p:txBody>
      </p:sp>
      <p:sp>
        <p:nvSpPr>
          <p:cNvPr id="20" name="Shape 14"/>
          <p:cNvSpPr/>
          <p:nvPr/>
        </p:nvSpPr>
        <p:spPr>
          <a:xfrm>
            <a:off x="4526280" y="4160520"/>
            <a:ext cx="3456432" cy="1965960"/>
          </a:xfrm>
          <a:prstGeom prst="rect">
            <a:avLst/>
          </a:prstGeom>
          <a:solidFill>
            <a:srgbClr val="F4F4F4"/>
          </a:solidFill>
          <a:ln w="12700">
            <a:solidFill>
              <a:srgbClr val="F4F4F4"/>
            </a:solidFill>
            <a:prstDash val="solid"/>
          </a:ln>
        </p:spPr>
      </p:sp>
      <p:sp>
        <p:nvSpPr>
          <p:cNvPr id="21" name="Shape 15"/>
          <p:cNvSpPr/>
          <p:nvPr/>
        </p:nvSpPr>
        <p:spPr>
          <a:xfrm>
            <a:off x="4782312" y="4416552"/>
            <a:ext cx="603504" cy="603504"/>
          </a:xfrm>
          <a:prstGeom prst="ellipse">
            <a:avLst/>
          </a:prstGeom>
          <a:solidFill>
            <a:srgbClr val="1E1E1E"/>
          </a:solidFill>
          <a:ln w="12700">
            <a:solidFill>
              <a:srgbClr val="1E1E1E"/>
            </a:solidFill>
            <a:prstDash val="solid"/>
          </a:ln>
        </p:spPr>
      </p:sp>
      <p:pic>
        <p:nvPicPr>
          <p:cNvPr id="22" name="Image 4" descr="preencoded.png">    </p:cNvPr>
          <p:cNvPicPr>
            <a:picLocks noChangeAspect="1"/>
          </p:cNvPicPr>
          <p:nvPr/>
        </p:nvPicPr>
        <p:blipFill>
          <a:blip r:embed="rId5"/>
          <a:stretch>
            <a:fillRect/>
          </a:stretch>
        </p:blipFill>
        <p:spPr>
          <a:xfrm>
            <a:off x="4933188" y="4567428"/>
            <a:ext cx="301752" cy="301752"/>
          </a:xfrm>
          <a:prstGeom prst="rect">
            <a:avLst/>
          </a:prstGeom>
        </p:spPr>
      </p:pic>
      <p:sp>
        <p:nvSpPr>
          <p:cNvPr id="23" name="Text 16"/>
          <p:cNvSpPr txBox="1"/>
          <p:nvPr/>
        </p:nvSpPr>
        <p:spPr>
          <a:xfrm>
            <a:off x="5532120" y="4434840"/>
            <a:ext cx="2331720" cy="566928"/>
          </a:xfrm>
          <a:prstGeom prst="rect">
            <a:avLst/>
          </a:prstGeom>
          <a:noFill/>
          <a:ln/>
        </p:spPr>
        <p:txBody>
          <a:bodyPr wrap="square" lIns="0" tIns="0" rIns="0" bIns="0" rtlCol="0" anchor="ctr"/>
          <a:lstStyle/>
          <a:p>
            <a:pPr indent="0" marL="0">
              <a:buNone/>
            </a:pPr>
            <a:r>
              <a:rPr lang="en-US" sz="1500" b="1" dirty="0">
                <a:solidFill>
                  <a:srgbClr val="222222"/>
                </a:solidFill>
                <a:latin typeface="Arial" pitchFamily="34" charset="0"/>
                <a:ea typeface="Arial" pitchFamily="34" charset="-122"/>
                <a:cs typeface="Arial" pitchFamily="34" charset="-120"/>
              </a:rPr>
              <a:t>Bald or studded</a:t>
            </a:r>
            <a:endParaRPr lang="en-US" sz="1500" dirty="0"/>
          </a:p>
        </p:txBody>
      </p:sp>
      <p:sp>
        <p:nvSpPr>
          <p:cNvPr id="24" name="Text 17"/>
          <p:cNvSpPr txBox="1"/>
          <p:nvPr/>
        </p:nvSpPr>
        <p:spPr>
          <a:xfrm>
            <a:off x="4782312" y="5184648"/>
            <a:ext cx="2971800" cy="822960"/>
          </a:xfrm>
          <a:prstGeom prst="rect">
            <a:avLst/>
          </a:prstGeom>
          <a:noFill/>
          <a:ln/>
        </p:spPr>
        <p:txBody>
          <a:bodyPr wrap="square" lIns="0" tIns="0" rIns="0" bIns="0" rtlCol="0" anchor="t"/>
          <a:lstStyle/>
          <a:p>
            <a:pPr indent="0" marL="0">
              <a:buNone/>
            </a:pPr>
            <a:r>
              <a:rPr lang="en-US" sz="1200" dirty="0">
                <a:solidFill>
                  <a:srgbClr val="5E5E5E"/>
                </a:solidFill>
                <a:latin typeface="Arial" pitchFamily="34" charset="0"/>
                <a:ea typeface="Arial" pitchFamily="34" charset="-122"/>
                <a:cs typeface="Arial" pitchFamily="34" charset="-120"/>
              </a:rPr>
              <a:t>Carbide studs as standard, with alternate stud materials matched to the tube metallurgy</a:t>
            </a:r>
            <a:endParaRPr lang="en-US" sz="1200" dirty="0"/>
          </a:p>
        </p:txBody>
      </p:sp>
      <p:sp>
        <p:nvSpPr>
          <p:cNvPr id="25" name="Shape 18"/>
          <p:cNvSpPr/>
          <p:nvPr/>
        </p:nvSpPr>
        <p:spPr>
          <a:xfrm>
            <a:off x="8138160" y="4160520"/>
            <a:ext cx="3456432" cy="1965960"/>
          </a:xfrm>
          <a:prstGeom prst="rect">
            <a:avLst/>
          </a:prstGeom>
          <a:solidFill>
            <a:srgbClr val="F4F4F4"/>
          </a:solidFill>
          <a:ln w="12700">
            <a:solidFill>
              <a:srgbClr val="F4F4F4"/>
            </a:solidFill>
            <a:prstDash val="solid"/>
          </a:ln>
        </p:spPr>
      </p:sp>
      <p:sp>
        <p:nvSpPr>
          <p:cNvPr id="26" name="Shape 19"/>
          <p:cNvSpPr/>
          <p:nvPr/>
        </p:nvSpPr>
        <p:spPr>
          <a:xfrm>
            <a:off x="8394192" y="4416552"/>
            <a:ext cx="603504" cy="603504"/>
          </a:xfrm>
          <a:prstGeom prst="ellipse">
            <a:avLst/>
          </a:prstGeom>
          <a:solidFill>
            <a:srgbClr val="1E1E1E"/>
          </a:solidFill>
          <a:ln w="12700">
            <a:solidFill>
              <a:srgbClr val="1E1E1E"/>
            </a:solidFill>
            <a:prstDash val="solid"/>
          </a:ln>
        </p:spPr>
      </p:sp>
      <p:pic>
        <p:nvPicPr>
          <p:cNvPr id="27" name="Image 5" descr="preencoded.png">    </p:cNvPr>
          <p:cNvPicPr>
            <a:picLocks noChangeAspect="1"/>
          </p:cNvPicPr>
          <p:nvPr/>
        </p:nvPicPr>
        <p:blipFill>
          <a:blip r:embed="rId6"/>
          <a:stretch>
            <a:fillRect/>
          </a:stretch>
        </p:blipFill>
        <p:spPr>
          <a:xfrm>
            <a:off x="8545068" y="4567428"/>
            <a:ext cx="301752" cy="301752"/>
          </a:xfrm>
          <a:prstGeom prst="rect">
            <a:avLst/>
          </a:prstGeom>
        </p:spPr>
      </p:pic>
      <p:sp>
        <p:nvSpPr>
          <p:cNvPr id="28" name="Text 20"/>
          <p:cNvSpPr txBox="1"/>
          <p:nvPr/>
        </p:nvSpPr>
        <p:spPr>
          <a:xfrm>
            <a:off x="9144000" y="4434840"/>
            <a:ext cx="2331720" cy="566928"/>
          </a:xfrm>
          <a:prstGeom prst="rect">
            <a:avLst/>
          </a:prstGeom>
          <a:noFill/>
          <a:ln/>
        </p:spPr>
        <p:txBody>
          <a:bodyPr wrap="square" lIns="0" tIns="0" rIns="0" bIns="0" rtlCol="0" anchor="ctr"/>
          <a:lstStyle/>
          <a:p>
            <a:pPr indent="0" marL="0">
              <a:buNone/>
            </a:pPr>
            <a:r>
              <a:rPr lang="en-US" sz="1500" b="1" dirty="0">
                <a:solidFill>
                  <a:srgbClr val="222222"/>
                </a:solidFill>
                <a:latin typeface="Arial" pitchFamily="34" charset="0"/>
                <a:ea typeface="Arial" pitchFamily="34" charset="-122"/>
                <a:cs typeface="Arial" pitchFamily="34" charset="-120"/>
              </a:rPr>
              <a:t>Heavy-coke designs</a:t>
            </a:r>
            <a:endParaRPr lang="en-US" sz="1500" dirty="0"/>
          </a:p>
        </p:txBody>
      </p:sp>
      <p:sp>
        <p:nvSpPr>
          <p:cNvPr id="29" name="Text 21"/>
          <p:cNvSpPr txBox="1"/>
          <p:nvPr/>
        </p:nvSpPr>
        <p:spPr>
          <a:xfrm>
            <a:off x="8394192" y="5184648"/>
            <a:ext cx="2971800" cy="822960"/>
          </a:xfrm>
          <a:prstGeom prst="rect">
            <a:avLst/>
          </a:prstGeom>
          <a:noFill/>
          <a:ln/>
        </p:spPr>
        <p:txBody>
          <a:bodyPr wrap="square" lIns="0" tIns="0" rIns="0" bIns="0" rtlCol="0" anchor="t"/>
          <a:lstStyle/>
          <a:p>
            <a:pPr indent="0" marL="0">
              <a:buNone/>
            </a:pPr>
            <a:r>
              <a:rPr lang="en-US" sz="1200" dirty="0">
                <a:solidFill>
                  <a:srgbClr val="5E5E5E"/>
                </a:solidFill>
                <a:latin typeface="Arial" pitchFamily="34" charset="0"/>
                <a:ea typeface="Arial" pitchFamily="34" charset="-122"/>
                <a:cs typeface="Arial" pitchFamily="34" charset="-120"/>
              </a:rPr>
              <a:t>High-durometer, fully studded pigs brought in when pig wear shows hard, heavy coke</a:t>
            </a:r>
            <a:endParaRPr lang="en-US" sz="1200" dirty="0"/>
          </a:p>
        </p:txBody>
      </p:sp>
      <p:sp>
        <p:nvSpPr>
          <p:cNvPr id="30" name="Text 22"/>
          <p:cNvSpPr txBox="1"/>
          <p:nvPr/>
        </p:nvSpPr>
        <p:spPr>
          <a:xfrm>
            <a:off x="548640" y="6419088"/>
            <a:ext cx="7315200" cy="228600"/>
          </a:xfrm>
          <a:prstGeom prst="rect">
            <a:avLst/>
          </a:prstGeom>
          <a:noFill/>
          <a:ln/>
        </p:spPr>
        <p:txBody>
          <a:bodyPr wrap="square" lIns="0" tIns="0" rIns="0" bIns="0" rtlCol="0" anchor="ctr"/>
          <a:lstStyle/>
          <a:p>
            <a:pPr indent="0" marL="0">
              <a:buNone/>
            </a:pPr>
            <a:r>
              <a:rPr lang="en-US" sz="900" dirty="0">
                <a:solidFill>
                  <a:srgbClr val="9A9A9A"/>
                </a:solidFill>
                <a:latin typeface="Arial" pitchFamily="34" charset="0"/>
                <a:ea typeface="Arial" pitchFamily="34" charset="-122"/>
                <a:cs typeface="Arial" pitchFamily="34" charset="-120"/>
              </a:rPr>
              <a:t>USA DeBusk  |  LAR Heater Pigging &amp; Decoking Services  |  DSP#26098</a:t>
            </a:r>
            <a:endParaRPr lang="en-US" sz="900" dirty="0"/>
          </a:p>
        </p:txBody>
      </p:sp>
      <p:sp>
        <p:nvSpPr>
          <p:cNvPr id="31" name="Text 23"/>
          <p:cNvSpPr txBox="1"/>
          <p:nvPr/>
        </p:nvSpPr>
        <p:spPr>
          <a:xfrm>
            <a:off x="11155680" y="6419088"/>
            <a:ext cx="484632" cy="228600"/>
          </a:xfrm>
          <a:prstGeom prst="rect">
            <a:avLst/>
          </a:prstGeom>
          <a:noFill/>
          <a:ln/>
        </p:spPr>
        <p:txBody>
          <a:bodyPr wrap="square" lIns="0" tIns="0" rIns="0" bIns="0" rtlCol="0" anchor="ctr"/>
          <a:lstStyle/>
          <a:p>
            <a:pPr algn="r" indent="0" marL="0">
              <a:buNone/>
            </a:pPr>
            <a:r>
              <a:rPr lang="en-US" sz="900" dirty="0">
                <a:solidFill>
                  <a:srgbClr val="9A9A9A"/>
                </a:solidFill>
                <a:latin typeface="Arial" pitchFamily="34" charset="0"/>
                <a:ea typeface="Arial" pitchFamily="34" charset="-122"/>
                <a:cs typeface="Arial"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4F4"/>
        </a:solidFill>
      </p:bgPr>
    </p:bg>
    <p:spTree>
      <p:nvGrpSpPr>
        <p:cNvPr id="1" name=""/>
        <p:cNvGrpSpPr/>
        <p:nvPr/>
      </p:nvGrpSpPr>
      <p:grpSpPr>
        <a:xfrm>
          <a:off x="0" y="0"/>
          <a:ext cx="0" cy="0"/>
          <a:chOff x="0" y="0"/>
          <a:chExt cx="0" cy="0"/>
        </a:xfrm>
      </p:grpSpPr>
      <p:sp>
        <p:nvSpPr>
          <p:cNvPr id="2" name="Shape 0"/>
          <p:cNvSpPr/>
          <p:nvPr/>
        </p:nvSpPr>
        <p:spPr>
          <a:xfrm>
            <a:off x="548640" y="411480"/>
            <a:ext cx="1989525" cy="310896"/>
          </a:xfrm>
          <a:prstGeom prst="roundRect">
            <a:avLst>
              <a:gd name="adj" fmla="val 23529"/>
            </a:avLst>
          </a:prstGeom>
          <a:solidFill>
            <a:srgbClr val="FCC30A"/>
          </a:solidFill>
          <a:ln w="12700">
            <a:solidFill>
              <a:srgbClr val="FCC30A"/>
            </a:solidFill>
            <a:prstDash val="solid"/>
          </a:ln>
        </p:spPr>
      </p:sp>
      <p:sp>
        <p:nvSpPr>
          <p:cNvPr id="3" name="Text 1"/>
          <p:cNvSpPr txBox="1"/>
          <p:nvPr/>
        </p:nvSpPr>
        <p:spPr>
          <a:xfrm>
            <a:off x="548640" y="411480"/>
            <a:ext cx="1989525" cy="310896"/>
          </a:xfrm>
          <a:prstGeom prst="rect">
            <a:avLst/>
          </a:prstGeom>
          <a:noFill/>
          <a:ln/>
        </p:spPr>
        <p:txBody>
          <a:bodyPr wrap="square" lIns="0" tIns="0" rIns="0" bIns="0" rtlCol="0" anchor="ctr"/>
          <a:lstStyle/>
          <a:p>
            <a:pPr algn="ctr" indent="0" marL="0">
              <a:buNone/>
            </a:pPr>
            <a:r>
              <a:rPr lang="en-US" sz="1050" b="1" spc="150" kern="0" dirty="0">
                <a:solidFill>
                  <a:srgbClr val="1E1E1E"/>
                </a:solidFill>
                <a:latin typeface="Arial" pitchFamily="34" charset="0"/>
                <a:ea typeface="Arial" pitchFamily="34" charset="-122"/>
                <a:cs typeface="Arial" pitchFamily="34" charset="-120"/>
              </a:rPr>
              <a:t>01   METHODOLOGY</a:t>
            </a:r>
            <a:endParaRPr lang="en-US" sz="1050" dirty="0"/>
          </a:p>
        </p:txBody>
      </p:sp>
      <p:sp>
        <p:nvSpPr>
          <p:cNvPr id="4" name="Text 2"/>
          <p:cNvSpPr txBox="1"/>
          <p:nvPr/>
        </p:nvSpPr>
        <p:spPr>
          <a:xfrm>
            <a:off x="548640" y="841248"/>
            <a:ext cx="11064240" cy="731520"/>
          </a:xfrm>
          <a:prstGeom prst="rect">
            <a:avLst/>
          </a:prstGeom>
          <a:noFill/>
          <a:ln/>
        </p:spPr>
        <p:txBody>
          <a:bodyPr wrap="square" lIns="0" tIns="0" rIns="0" bIns="0" rtlCol="0" anchor="t"/>
          <a:lstStyle/>
          <a:p>
            <a:pPr indent="0" marL="0">
              <a:buNone/>
            </a:pPr>
            <a:r>
              <a:rPr lang="en-US" sz="3200" b="1" dirty="0">
                <a:solidFill>
                  <a:srgbClr val="222222"/>
                </a:solidFill>
                <a:latin typeface="Arial" pitchFamily="34" charset="0"/>
                <a:ea typeface="Arial" pitchFamily="34" charset="-122"/>
                <a:cs typeface="Arial" pitchFamily="34" charset="-120"/>
              </a:rPr>
              <a:t>Heater data &amp; coil-specific controls</a:t>
            </a:r>
            <a:endParaRPr lang="en-US" sz="32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48640" y="1783080"/>
          <a:ext cx="6675120" cy="914400"/>
        </p:xfrm>
        <a:graphic>
          <a:graphicData uri="http://schemas.openxmlformats.org/drawingml/2006/table">
            <a:tbl>
              <a:tblPr/>
              <a:tblGrid>
                <a:gridCol w="1234440"/>
                <a:gridCol w="1143000"/>
                <a:gridCol w="777240"/>
                <a:gridCol w="960120"/>
                <a:gridCol w="1417320"/>
                <a:gridCol w="1143000"/>
              </a:tblGrid>
              <a:tr h="457200">
                <a:tc>
                  <a:txBody>
                    <a:bodyPr/>
                    <a:lstStyle/>
                    <a:p>
                      <a:pPr indent="0" marL="0">
                        <a:buNone/>
                      </a:pPr>
                      <a:r>
                        <a:rPr lang="en-US" sz="1150" b="1" dirty="0">
                          <a:solidFill>
                            <a:srgbClr val="FFFFFF"/>
                          </a:solidFill>
                          <a:latin typeface="Arial" pitchFamily="34" charset="0"/>
                          <a:ea typeface="Arial" pitchFamily="34" charset="-122"/>
                          <a:cs typeface="Arial" pitchFamily="34" charset="-120"/>
                        </a:rPr>
                        <a:t>Heater</a:t>
                      </a:r>
                      <a:endParaRPr lang="en-US" sz="1150" dirty="0">
                        <a:latin typeface="Arial" charset="0"/>
                        <a:ea typeface="Arial" charset="0"/>
                        <a:cs typeface="Arial" charset="0"/>
                      </a:endParaRPr>
                    </a:p>
                  </a:txBody>
                  <a:tcPr marL="91440" marR="91440" marT="45720" marB="4572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1E1E1E"/>
                    </a:solidFill>
                  </a:tcPr>
                </a:tc>
                <a:tc>
                  <a:txBody>
                    <a:bodyPr/>
                    <a:lstStyle/>
                    <a:p>
                      <a:pPr indent="0" marL="0">
                        <a:buNone/>
                      </a:pPr>
                      <a:r>
                        <a:rPr lang="en-US" sz="1150" b="1" dirty="0">
                          <a:solidFill>
                            <a:srgbClr val="FFFFFF"/>
                          </a:solidFill>
                          <a:latin typeface="Arial" pitchFamily="34" charset="0"/>
                          <a:ea typeface="Arial" pitchFamily="34" charset="-122"/>
                          <a:cs typeface="Arial" pitchFamily="34" charset="-120"/>
                        </a:rPr>
                        <a:t>Section</a:t>
                      </a:r>
                      <a:endParaRPr lang="en-US" sz="1150" dirty="0">
                        <a:latin typeface="Arial" charset="0"/>
                        <a:ea typeface="Arial" charset="0"/>
                        <a:cs typeface="Arial" charset="0"/>
                      </a:endParaRPr>
                    </a:p>
                  </a:txBody>
                  <a:tcPr marL="91440" marR="91440" marT="45720" marB="4572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1E1E1E"/>
                    </a:solidFill>
                  </a:tcPr>
                </a:tc>
                <a:tc>
                  <a:txBody>
                    <a:bodyPr/>
                    <a:lstStyle/>
                    <a:p>
                      <a:pPr indent="0" marL="0">
                        <a:buNone/>
                      </a:pPr>
                      <a:r>
                        <a:rPr lang="en-US" sz="1150" b="1" dirty="0">
                          <a:solidFill>
                            <a:srgbClr val="FFFFFF"/>
                          </a:solidFill>
                          <a:latin typeface="Arial" pitchFamily="34" charset="0"/>
                          <a:ea typeface="Arial" pitchFamily="34" charset="-122"/>
                          <a:cs typeface="Arial" pitchFamily="34" charset="-120"/>
                        </a:rPr>
                        <a:t>Passes</a:t>
                      </a:r>
                      <a:endParaRPr lang="en-US" sz="1150" dirty="0">
                        <a:latin typeface="Arial" charset="0"/>
                        <a:ea typeface="Arial" charset="0"/>
                        <a:cs typeface="Arial" charset="0"/>
                      </a:endParaRPr>
                    </a:p>
                  </a:txBody>
                  <a:tcPr marL="91440" marR="91440" marT="45720" marB="4572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1E1E1E"/>
                    </a:solidFill>
                  </a:tcPr>
                </a:tc>
                <a:tc>
                  <a:txBody>
                    <a:bodyPr/>
                    <a:lstStyle/>
                    <a:p>
                      <a:pPr indent="0" marL="0">
                        <a:buNone/>
                      </a:pPr>
                      <a:r>
                        <a:rPr lang="en-US" sz="1150" b="1" dirty="0">
                          <a:solidFill>
                            <a:srgbClr val="FFFFFF"/>
                          </a:solidFill>
                          <a:latin typeface="Arial" pitchFamily="34" charset="0"/>
                          <a:ea typeface="Arial" pitchFamily="34" charset="-122"/>
                          <a:cs typeface="Arial" pitchFamily="34" charset="-120"/>
                        </a:rPr>
                        <a:t>Footage</a:t>
                      </a:r>
                      <a:endParaRPr lang="en-US" sz="1150" dirty="0">
                        <a:latin typeface="Arial" charset="0"/>
                        <a:ea typeface="Arial" charset="0"/>
                        <a:cs typeface="Arial" charset="0"/>
                      </a:endParaRPr>
                    </a:p>
                  </a:txBody>
                  <a:tcPr marL="91440" marR="91440" marT="45720" marB="4572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1E1E1E"/>
                    </a:solidFill>
                  </a:tcPr>
                </a:tc>
                <a:tc>
                  <a:txBody>
                    <a:bodyPr/>
                    <a:lstStyle/>
                    <a:p>
                      <a:pPr indent="0" marL="0">
                        <a:buNone/>
                      </a:pPr>
                      <a:r>
                        <a:rPr lang="en-US" sz="1150" b="1" dirty="0">
                          <a:solidFill>
                            <a:srgbClr val="FFFFFF"/>
                          </a:solidFill>
                          <a:latin typeface="Arial" pitchFamily="34" charset="0"/>
                          <a:ea typeface="Arial" pitchFamily="34" charset="-122"/>
                          <a:cs typeface="Arial" pitchFamily="34" charset="-120"/>
                        </a:rPr>
                        <a:t>Tube ID</a:t>
                      </a:r>
                      <a:endParaRPr lang="en-US" sz="1150" dirty="0">
                        <a:latin typeface="Arial" charset="0"/>
                        <a:ea typeface="Arial" charset="0"/>
                        <a:cs typeface="Arial" charset="0"/>
                      </a:endParaRPr>
                    </a:p>
                  </a:txBody>
                  <a:tcPr marL="91440" marR="91440" marT="45720" marB="4572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1E1E1E"/>
                    </a:solidFill>
                  </a:tcPr>
                </a:tc>
                <a:tc>
                  <a:txBody>
                    <a:bodyPr/>
                    <a:lstStyle/>
                    <a:p>
                      <a:pPr indent="0" marL="0">
                        <a:buNone/>
                      </a:pPr>
                      <a:r>
                        <a:rPr lang="en-US" sz="1150" b="1" dirty="0">
                          <a:solidFill>
                            <a:srgbClr val="FFFFFF"/>
                          </a:solidFill>
                          <a:latin typeface="Arial" pitchFamily="34" charset="0"/>
                          <a:ea typeface="Arial" pitchFamily="34" charset="-122"/>
                          <a:cs typeface="Arial" pitchFamily="34" charset="-120"/>
                        </a:rPr>
                        <a:t>Metallurgy</a:t>
                      </a:r>
                      <a:endParaRPr lang="en-US" sz="1150" dirty="0">
                        <a:latin typeface="Arial" charset="0"/>
                        <a:ea typeface="Arial" charset="0"/>
                        <a:cs typeface="Arial" charset="0"/>
                      </a:endParaRPr>
                    </a:p>
                  </a:txBody>
                  <a:tcPr marL="91440" marR="91440" marT="45720" marB="4572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1E1E1E"/>
                    </a:solidFill>
                  </a:tcPr>
                </a:tc>
              </a:tr>
              <a:tr h="457200">
                <a:tc>
                  <a:txBody>
                    <a:bodyPr/>
                    <a:lstStyle/>
                    <a:p>
                      <a:pPr indent="0" marL="0">
                        <a:buNone/>
                      </a:pPr>
                      <a:r>
                        <a:rPr lang="en-US" sz="1200" dirty="0">
                          <a:solidFill>
                            <a:srgbClr val="222222"/>
                          </a:solidFill>
                          <a:latin typeface="Arial" pitchFamily="34" charset="0"/>
                          <a:ea typeface="Arial" pitchFamily="34" charset="-122"/>
                          <a:cs typeface="Arial" pitchFamily="34" charset="-120"/>
                        </a:rPr>
                        <a:t>Carson Cokers</a:t>
                      </a:r>
                      <a:endParaRPr lang="en-US" sz="1200" dirty="0">
                        <a:latin typeface="Arial" charset="0"/>
                        <a:ea typeface="Arial" charset="0"/>
                        <a:cs typeface="Arial" charset="0"/>
                      </a:endParaRPr>
                    </a:p>
                  </a:txBody>
                  <a:tcPr marL="91440" marR="91440" marT="45720" marB="4572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indent="0" marL="0">
                        <a:buNone/>
                      </a:pPr>
                      <a:r>
                        <a:rPr lang="en-US" sz="1200" dirty="0">
                          <a:solidFill>
                            <a:srgbClr val="222222"/>
                          </a:solidFill>
                          <a:latin typeface="Arial" pitchFamily="34" charset="0"/>
                          <a:ea typeface="Arial" pitchFamily="34" charset="-122"/>
                          <a:cs typeface="Arial" pitchFamily="34" charset="-120"/>
                        </a:rPr>
                        <a:t>Convection</a:t>
                      </a:r>
                      <a:endParaRPr lang="en-US" sz="1200" dirty="0">
                        <a:latin typeface="Arial" charset="0"/>
                        <a:ea typeface="Arial" charset="0"/>
                        <a:cs typeface="Arial" charset="0"/>
                      </a:endParaRPr>
                    </a:p>
                  </a:txBody>
                  <a:tcPr marL="91440" marR="91440" marT="45720" marB="4572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indent="0" marL="0">
                        <a:buNone/>
                      </a:pPr>
                      <a:r>
                        <a:rPr lang="en-US" sz="1200" dirty="0">
                          <a:solidFill>
                            <a:srgbClr val="222222"/>
                          </a:solidFill>
                          <a:latin typeface="Arial" pitchFamily="34" charset="0"/>
                          <a:ea typeface="Arial" pitchFamily="34" charset="-122"/>
                          <a:cs typeface="Arial" pitchFamily="34" charset="-120"/>
                        </a:rPr>
                        <a:t>2</a:t>
                      </a:r>
                      <a:endParaRPr lang="en-US" sz="1200" dirty="0">
                        <a:latin typeface="Arial" charset="0"/>
                        <a:ea typeface="Arial" charset="0"/>
                        <a:cs typeface="Arial" charset="0"/>
                      </a:endParaRPr>
                    </a:p>
                  </a:txBody>
                  <a:tcPr marL="91440" marR="91440" marT="45720" marB="4572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indent="0" marL="0">
                        <a:buNone/>
                      </a:pPr>
                      <a:r>
                        <a:rPr lang="en-US" sz="1200" dirty="0">
                          <a:solidFill>
                            <a:srgbClr val="222222"/>
                          </a:solidFill>
                          <a:latin typeface="Arial" pitchFamily="34" charset="0"/>
                          <a:ea typeface="Arial" pitchFamily="34" charset="-122"/>
                          <a:cs typeface="Arial" pitchFamily="34" charset="-120"/>
                        </a:rPr>
                        <a:t>2,268'</a:t>
                      </a:r>
                      <a:endParaRPr lang="en-US" sz="1200" dirty="0">
                        <a:latin typeface="Arial" charset="0"/>
                        <a:ea typeface="Arial" charset="0"/>
                        <a:cs typeface="Arial" charset="0"/>
                      </a:endParaRPr>
                    </a:p>
                  </a:txBody>
                  <a:tcPr marL="91440" marR="91440" marT="45720" marB="4572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indent="0" marL="0">
                        <a:buNone/>
                      </a:pPr>
                      <a:r>
                        <a:rPr lang="en-US" sz="1200" dirty="0">
                          <a:solidFill>
                            <a:srgbClr val="222222"/>
                          </a:solidFill>
                          <a:latin typeface="Arial" pitchFamily="34" charset="0"/>
                          <a:ea typeface="Arial" pitchFamily="34" charset="-122"/>
                          <a:cs typeface="Arial" pitchFamily="34" charset="-120"/>
                        </a:rPr>
                        <a:t>3.826"</a:t>
                      </a:r>
                      <a:endParaRPr lang="en-US" sz="1200" dirty="0">
                        <a:latin typeface="Arial" charset="0"/>
                        <a:ea typeface="Arial" charset="0"/>
                        <a:cs typeface="Arial" charset="0"/>
                      </a:endParaRPr>
                    </a:p>
                  </a:txBody>
                  <a:tcPr marL="91440" marR="91440" marT="45720" marB="4572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indent="0" marL="0">
                        <a:buNone/>
                      </a:pPr>
                      <a:r>
                        <a:rPr lang="en-US" sz="1200" dirty="0">
                          <a:solidFill>
                            <a:srgbClr val="222222"/>
                          </a:solidFill>
                          <a:latin typeface="Arial" pitchFamily="34" charset="0"/>
                          <a:ea typeface="Arial" pitchFamily="34" charset="-122"/>
                          <a:cs typeface="Arial" pitchFamily="34" charset="-120"/>
                        </a:rPr>
                        <a:t>SS 321</a:t>
                      </a:r>
                      <a:endParaRPr lang="en-US" sz="1200" dirty="0">
                        <a:latin typeface="Arial" charset="0"/>
                        <a:ea typeface="Arial" charset="0"/>
                        <a:cs typeface="Arial" charset="0"/>
                      </a:endParaRPr>
                    </a:p>
                  </a:txBody>
                  <a:tcPr marL="91440" marR="91440" marT="45720" marB="4572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r>
              <a:tr h="457200">
                <a:tc>
                  <a:txBody>
                    <a:bodyPr/>
                    <a:lstStyle/>
                    <a:p>
                      <a:pPr indent="0" marL="0">
                        <a:buNone/>
                      </a:pPr>
                      <a:r>
                        <a:rPr lang="en-US" sz="1200" dirty="0">
                          <a:solidFill>
                            <a:srgbClr val="222222"/>
                          </a:solidFill>
                          <a:latin typeface="Arial" pitchFamily="34" charset="0"/>
                          <a:ea typeface="Arial" pitchFamily="34" charset="-122"/>
                          <a:cs typeface="Arial" pitchFamily="34" charset="-120"/>
                        </a:rPr>
                        <a:t>Carson Cokers</a:t>
                      </a:r>
                      <a:endParaRPr lang="en-US" sz="1200" dirty="0">
                        <a:latin typeface="Arial" charset="0"/>
                        <a:ea typeface="Arial" charset="0"/>
                        <a:cs typeface="Arial" charset="0"/>
                      </a:endParaRPr>
                    </a:p>
                  </a:txBody>
                  <a:tcPr marL="91440" marR="91440" marT="45720" marB="4572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7F7F7"/>
                    </a:solidFill>
                  </a:tcPr>
                </a:tc>
                <a:tc>
                  <a:txBody>
                    <a:bodyPr/>
                    <a:lstStyle/>
                    <a:p>
                      <a:pPr indent="0" marL="0">
                        <a:buNone/>
                      </a:pPr>
                      <a:r>
                        <a:rPr lang="en-US" sz="1200" dirty="0">
                          <a:solidFill>
                            <a:srgbClr val="222222"/>
                          </a:solidFill>
                          <a:latin typeface="Arial" pitchFamily="34" charset="0"/>
                          <a:ea typeface="Arial" pitchFamily="34" charset="-122"/>
                          <a:cs typeface="Arial" pitchFamily="34" charset="-120"/>
                        </a:rPr>
                        <a:t>Radiant</a:t>
                      </a:r>
                      <a:endParaRPr lang="en-US" sz="1200" dirty="0">
                        <a:latin typeface="Arial" charset="0"/>
                        <a:ea typeface="Arial" charset="0"/>
                        <a:cs typeface="Arial" charset="0"/>
                      </a:endParaRPr>
                    </a:p>
                  </a:txBody>
                  <a:tcPr marL="91440" marR="91440" marT="45720" marB="4572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7F7F7"/>
                    </a:solidFill>
                  </a:tcPr>
                </a:tc>
                <a:tc>
                  <a:txBody>
                    <a:bodyPr/>
                    <a:lstStyle/>
                    <a:p>
                      <a:pPr indent="0" marL="0">
                        <a:buNone/>
                      </a:pPr>
                      <a:r>
                        <a:rPr lang="en-US" sz="1200" dirty="0">
                          <a:solidFill>
                            <a:srgbClr val="222222"/>
                          </a:solidFill>
                          <a:latin typeface="Arial" pitchFamily="34" charset="0"/>
                          <a:ea typeface="Arial" pitchFamily="34" charset="-122"/>
                          <a:cs typeface="Arial" pitchFamily="34" charset="-120"/>
                        </a:rPr>
                        <a:t>2</a:t>
                      </a:r>
                      <a:endParaRPr lang="en-US" sz="1200" dirty="0">
                        <a:latin typeface="Arial" charset="0"/>
                        <a:ea typeface="Arial" charset="0"/>
                        <a:cs typeface="Arial" charset="0"/>
                      </a:endParaRPr>
                    </a:p>
                  </a:txBody>
                  <a:tcPr marL="91440" marR="91440" marT="45720" marB="4572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7F7F7"/>
                    </a:solidFill>
                  </a:tcPr>
                </a:tc>
                <a:tc>
                  <a:txBody>
                    <a:bodyPr/>
                    <a:lstStyle/>
                    <a:p>
                      <a:pPr indent="0" marL="0">
                        <a:buNone/>
                      </a:pPr>
                      <a:r>
                        <a:rPr lang="en-US" sz="1200" dirty="0">
                          <a:solidFill>
                            <a:srgbClr val="222222"/>
                          </a:solidFill>
                          <a:latin typeface="Arial" pitchFamily="34" charset="0"/>
                          <a:ea typeface="Arial" pitchFamily="34" charset="-122"/>
                          <a:cs typeface="Arial" pitchFamily="34" charset="-120"/>
                        </a:rPr>
                        <a:t>4,032'</a:t>
                      </a:r>
                      <a:endParaRPr lang="en-US" sz="1200" dirty="0">
                        <a:latin typeface="Arial" charset="0"/>
                        <a:ea typeface="Arial" charset="0"/>
                        <a:cs typeface="Arial" charset="0"/>
                      </a:endParaRPr>
                    </a:p>
                  </a:txBody>
                  <a:tcPr marL="91440" marR="91440" marT="45720" marB="4572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7F7F7"/>
                    </a:solidFill>
                  </a:tcPr>
                </a:tc>
                <a:tc>
                  <a:txBody>
                    <a:bodyPr/>
                    <a:lstStyle/>
                    <a:p>
                      <a:pPr indent="0" marL="0">
                        <a:buNone/>
                      </a:pPr>
                      <a:r>
                        <a:rPr lang="en-US" sz="1200" dirty="0">
                          <a:solidFill>
                            <a:srgbClr val="222222"/>
                          </a:solidFill>
                          <a:latin typeface="Arial" pitchFamily="34" charset="0"/>
                          <a:ea typeface="Arial" pitchFamily="34" charset="-122"/>
                          <a:cs typeface="Arial" pitchFamily="34" charset="-120"/>
                        </a:rPr>
                        <a:t>3.826" / 4.026"</a:t>
                      </a:r>
                      <a:endParaRPr lang="en-US" sz="1200" dirty="0">
                        <a:latin typeface="Arial" charset="0"/>
                        <a:ea typeface="Arial" charset="0"/>
                        <a:cs typeface="Arial" charset="0"/>
                      </a:endParaRPr>
                    </a:p>
                  </a:txBody>
                  <a:tcPr marL="91440" marR="91440" marT="45720" marB="4572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7F7F7"/>
                    </a:solidFill>
                  </a:tcPr>
                </a:tc>
                <a:tc>
                  <a:txBody>
                    <a:bodyPr/>
                    <a:lstStyle/>
                    <a:p>
                      <a:pPr indent="0" marL="0">
                        <a:buNone/>
                      </a:pPr>
                      <a:r>
                        <a:rPr lang="en-US" sz="1200" dirty="0">
                          <a:solidFill>
                            <a:srgbClr val="222222"/>
                          </a:solidFill>
                          <a:latin typeface="Arial" pitchFamily="34" charset="0"/>
                          <a:ea typeface="Arial" pitchFamily="34" charset="-122"/>
                          <a:cs typeface="Arial" pitchFamily="34" charset="-120"/>
                        </a:rPr>
                        <a:t>A335 P9</a:t>
                      </a:r>
                      <a:endParaRPr lang="en-US" sz="1200" dirty="0">
                        <a:latin typeface="Arial" charset="0"/>
                        <a:ea typeface="Arial" charset="0"/>
                        <a:cs typeface="Arial" charset="0"/>
                      </a:endParaRPr>
                    </a:p>
                  </a:txBody>
                  <a:tcPr marL="91440" marR="91440" marT="45720" marB="4572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7F7F7"/>
                    </a:solidFill>
                  </a:tcPr>
                </a:tc>
              </a:tr>
              <a:tr h="457200">
                <a:tc>
                  <a:txBody>
                    <a:bodyPr/>
                    <a:lstStyle/>
                    <a:p>
                      <a:pPr indent="0" marL="0">
                        <a:buNone/>
                      </a:pPr>
                      <a:r>
                        <a:rPr lang="en-US" sz="1200" dirty="0">
                          <a:solidFill>
                            <a:srgbClr val="222222"/>
                          </a:solidFill>
                          <a:latin typeface="Arial" pitchFamily="34" charset="0"/>
                          <a:ea typeface="Arial" pitchFamily="34" charset="-122"/>
                          <a:cs typeface="Arial" pitchFamily="34" charset="-120"/>
                        </a:rPr>
                        <a:t>H-101</a:t>
                      </a:r>
                      <a:endParaRPr lang="en-US" sz="1200" dirty="0">
                        <a:latin typeface="Arial" charset="0"/>
                        <a:ea typeface="Arial" charset="0"/>
                        <a:cs typeface="Arial" charset="0"/>
                      </a:endParaRPr>
                    </a:p>
                  </a:txBody>
                  <a:tcPr marL="91440" marR="91440" marT="45720" marB="4572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indent="0" marL="0">
                        <a:buNone/>
                      </a:pPr>
                      <a:r>
                        <a:rPr lang="en-US" sz="1200" dirty="0">
                          <a:solidFill>
                            <a:srgbClr val="222222"/>
                          </a:solidFill>
                          <a:latin typeface="Arial" pitchFamily="34" charset="0"/>
                          <a:ea typeface="Arial" pitchFamily="34" charset="-122"/>
                          <a:cs typeface="Arial" pitchFamily="34" charset="-120"/>
                        </a:rPr>
                        <a:t>Convection</a:t>
                      </a:r>
                      <a:endParaRPr lang="en-US" sz="1200" dirty="0">
                        <a:latin typeface="Arial" charset="0"/>
                        <a:ea typeface="Arial" charset="0"/>
                        <a:cs typeface="Arial" charset="0"/>
                      </a:endParaRPr>
                    </a:p>
                  </a:txBody>
                  <a:tcPr marL="91440" marR="91440" marT="45720" marB="4572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indent="0" marL="0">
                        <a:buNone/>
                      </a:pPr>
                      <a:r>
                        <a:rPr lang="en-US" sz="1200" dirty="0">
                          <a:solidFill>
                            <a:srgbClr val="222222"/>
                          </a:solidFill>
                          <a:latin typeface="Arial" pitchFamily="34" charset="0"/>
                          <a:ea typeface="Arial" pitchFamily="34" charset="-122"/>
                          <a:cs typeface="Arial" pitchFamily="34" charset="-120"/>
                        </a:rPr>
                        <a:t>4</a:t>
                      </a:r>
                      <a:endParaRPr lang="en-US" sz="1200" dirty="0">
                        <a:latin typeface="Arial" charset="0"/>
                        <a:ea typeface="Arial" charset="0"/>
                        <a:cs typeface="Arial" charset="0"/>
                      </a:endParaRPr>
                    </a:p>
                  </a:txBody>
                  <a:tcPr marL="91440" marR="91440" marT="45720" marB="4572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indent="0" marL="0">
                        <a:buNone/>
                      </a:pPr>
                      <a:r>
                        <a:rPr lang="en-US" sz="1200" dirty="0">
                          <a:solidFill>
                            <a:srgbClr val="222222"/>
                          </a:solidFill>
                          <a:latin typeface="Arial" pitchFamily="34" charset="0"/>
                          <a:ea typeface="Arial" pitchFamily="34" charset="-122"/>
                          <a:cs typeface="Arial" pitchFamily="34" charset="-120"/>
                        </a:rPr>
                        <a:t>2,508'</a:t>
                      </a:r>
                      <a:endParaRPr lang="en-US" sz="1200" dirty="0">
                        <a:latin typeface="Arial" charset="0"/>
                        <a:ea typeface="Arial" charset="0"/>
                        <a:cs typeface="Arial" charset="0"/>
                      </a:endParaRPr>
                    </a:p>
                  </a:txBody>
                  <a:tcPr marL="91440" marR="91440" marT="45720" marB="4572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indent="0" marL="0">
                        <a:buNone/>
                      </a:pPr>
                      <a:r>
                        <a:rPr lang="en-US" sz="1200" dirty="0">
                          <a:solidFill>
                            <a:srgbClr val="222222"/>
                          </a:solidFill>
                          <a:latin typeface="Arial" pitchFamily="34" charset="0"/>
                          <a:ea typeface="Arial" pitchFamily="34" charset="-122"/>
                          <a:cs typeface="Arial" pitchFamily="34" charset="-120"/>
                        </a:rPr>
                        <a:t>4.026"</a:t>
                      </a:r>
                      <a:endParaRPr lang="en-US" sz="1200" dirty="0">
                        <a:latin typeface="Arial" charset="0"/>
                        <a:ea typeface="Arial" charset="0"/>
                        <a:cs typeface="Arial" charset="0"/>
                      </a:endParaRPr>
                    </a:p>
                  </a:txBody>
                  <a:tcPr marL="91440" marR="91440" marT="45720" marB="4572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indent="0" marL="0">
                        <a:buNone/>
                      </a:pPr>
                      <a:r>
                        <a:rPr lang="en-US" sz="1200" dirty="0">
                          <a:solidFill>
                            <a:srgbClr val="222222"/>
                          </a:solidFill>
                          <a:latin typeface="Arial" pitchFamily="34" charset="0"/>
                          <a:ea typeface="Arial" pitchFamily="34" charset="-122"/>
                          <a:cs typeface="Arial" pitchFamily="34" charset="-120"/>
                        </a:rPr>
                        <a:t>A312 347H</a:t>
                      </a:r>
                      <a:endParaRPr lang="en-US" sz="1200" dirty="0">
                        <a:latin typeface="Arial" charset="0"/>
                        <a:ea typeface="Arial" charset="0"/>
                        <a:cs typeface="Arial" charset="0"/>
                      </a:endParaRPr>
                    </a:p>
                  </a:txBody>
                  <a:tcPr marL="91440" marR="91440" marT="45720" marB="4572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r>
              <a:tr h="457200">
                <a:tc>
                  <a:txBody>
                    <a:bodyPr/>
                    <a:lstStyle/>
                    <a:p>
                      <a:pPr indent="0" marL="0">
                        <a:buNone/>
                      </a:pPr>
                      <a:r>
                        <a:rPr lang="en-US" sz="1200" dirty="0">
                          <a:solidFill>
                            <a:srgbClr val="222222"/>
                          </a:solidFill>
                          <a:latin typeface="Arial" pitchFamily="34" charset="0"/>
                          <a:ea typeface="Arial" pitchFamily="34" charset="-122"/>
                          <a:cs typeface="Arial" pitchFamily="34" charset="-120"/>
                        </a:rPr>
                        <a:t>H-101</a:t>
                      </a:r>
                      <a:endParaRPr lang="en-US" sz="1200" dirty="0">
                        <a:latin typeface="Arial" charset="0"/>
                        <a:ea typeface="Arial" charset="0"/>
                        <a:cs typeface="Arial" charset="0"/>
                      </a:endParaRPr>
                    </a:p>
                  </a:txBody>
                  <a:tcPr marL="91440" marR="91440" marT="45720" marB="4572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7F7F7"/>
                    </a:solidFill>
                  </a:tcPr>
                </a:tc>
                <a:tc>
                  <a:txBody>
                    <a:bodyPr/>
                    <a:lstStyle/>
                    <a:p>
                      <a:pPr indent="0" marL="0">
                        <a:buNone/>
                      </a:pPr>
                      <a:r>
                        <a:rPr lang="en-US" sz="1200" dirty="0">
                          <a:solidFill>
                            <a:srgbClr val="222222"/>
                          </a:solidFill>
                          <a:latin typeface="Arial" pitchFamily="34" charset="0"/>
                          <a:ea typeface="Arial" pitchFamily="34" charset="-122"/>
                          <a:cs typeface="Arial" pitchFamily="34" charset="-120"/>
                        </a:rPr>
                        <a:t>Radiant</a:t>
                      </a:r>
                      <a:endParaRPr lang="en-US" sz="1200" dirty="0">
                        <a:latin typeface="Arial" charset="0"/>
                        <a:ea typeface="Arial" charset="0"/>
                        <a:cs typeface="Arial" charset="0"/>
                      </a:endParaRPr>
                    </a:p>
                  </a:txBody>
                  <a:tcPr marL="91440" marR="91440" marT="45720" marB="4572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7F7F7"/>
                    </a:solidFill>
                  </a:tcPr>
                </a:tc>
                <a:tc>
                  <a:txBody>
                    <a:bodyPr/>
                    <a:lstStyle/>
                    <a:p>
                      <a:pPr indent="0" marL="0">
                        <a:buNone/>
                      </a:pPr>
                      <a:r>
                        <a:rPr lang="en-US" sz="1200" dirty="0">
                          <a:solidFill>
                            <a:srgbClr val="222222"/>
                          </a:solidFill>
                          <a:latin typeface="Arial" pitchFamily="34" charset="0"/>
                          <a:ea typeface="Arial" pitchFamily="34" charset="-122"/>
                          <a:cs typeface="Arial" pitchFamily="34" charset="-120"/>
                        </a:rPr>
                        <a:t>4</a:t>
                      </a:r>
                      <a:endParaRPr lang="en-US" sz="1200" dirty="0">
                        <a:latin typeface="Arial" charset="0"/>
                        <a:ea typeface="Arial" charset="0"/>
                        <a:cs typeface="Arial" charset="0"/>
                      </a:endParaRPr>
                    </a:p>
                  </a:txBody>
                  <a:tcPr marL="91440" marR="91440" marT="45720" marB="4572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7F7F7"/>
                    </a:solidFill>
                  </a:tcPr>
                </a:tc>
                <a:tc>
                  <a:txBody>
                    <a:bodyPr/>
                    <a:lstStyle/>
                    <a:p>
                      <a:pPr indent="0" marL="0">
                        <a:buNone/>
                      </a:pPr>
                      <a:r>
                        <a:rPr lang="en-US" sz="1200" dirty="0">
                          <a:solidFill>
                            <a:srgbClr val="222222"/>
                          </a:solidFill>
                          <a:latin typeface="Arial" pitchFamily="34" charset="0"/>
                          <a:ea typeface="Arial" pitchFamily="34" charset="-122"/>
                          <a:cs typeface="Arial" pitchFamily="34" charset="-120"/>
                        </a:rPr>
                        <a:t>7,524'</a:t>
                      </a:r>
                      <a:endParaRPr lang="en-US" sz="1200" dirty="0">
                        <a:latin typeface="Arial" charset="0"/>
                        <a:ea typeface="Arial" charset="0"/>
                        <a:cs typeface="Arial" charset="0"/>
                      </a:endParaRPr>
                    </a:p>
                  </a:txBody>
                  <a:tcPr marL="91440" marR="91440" marT="45720" marB="4572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7F7F7"/>
                    </a:solidFill>
                  </a:tcPr>
                </a:tc>
                <a:tc>
                  <a:txBody>
                    <a:bodyPr/>
                    <a:lstStyle/>
                    <a:p>
                      <a:pPr indent="0" marL="0">
                        <a:buNone/>
                      </a:pPr>
                      <a:r>
                        <a:rPr lang="en-US" sz="1200" dirty="0">
                          <a:solidFill>
                            <a:srgbClr val="222222"/>
                          </a:solidFill>
                          <a:latin typeface="Arial" pitchFamily="34" charset="0"/>
                          <a:ea typeface="Arial" pitchFamily="34" charset="-122"/>
                          <a:cs typeface="Arial" pitchFamily="34" charset="-120"/>
                        </a:rPr>
                        <a:t>4.026"</a:t>
                      </a:r>
                      <a:endParaRPr lang="en-US" sz="1200" dirty="0">
                        <a:latin typeface="Arial" charset="0"/>
                        <a:ea typeface="Arial" charset="0"/>
                        <a:cs typeface="Arial" charset="0"/>
                      </a:endParaRPr>
                    </a:p>
                  </a:txBody>
                  <a:tcPr marL="91440" marR="91440" marT="45720" marB="4572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7F7F7"/>
                    </a:solidFill>
                  </a:tcPr>
                </a:tc>
                <a:tc>
                  <a:txBody>
                    <a:bodyPr/>
                    <a:lstStyle/>
                    <a:p>
                      <a:pPr indent="0" marL="0">
                        <a:buNone/>
                      </a:pPr>
                      <a:r>
                        <a:rPr lang="en-US" sz="1200" dirty="0">
                          <a:solidFill>
                            <a:srgbClr val="222222"/>
                          </a:solidFill>
                          <a:latin typeface="Arial" pitchFamily="34" charset="0"/>
                          <a:ea typeface="Arial" pitchFamily="34" charset="-122"/>
                          <a:cs typeface="Arial" pitchFamily="34" charset="-120"/>
                        </a:rPr>
                        <a:t>A312 347H</a:t>
                      </a:r>
                      <a:endParaRPr lang="en-US" sz="1200" dirty="0">
                        <a:latin typeface="Arial" charset="0"/>
                        <a:ea typeface="Arial" charset="0"/>
                        <a:cs typeface="Arial" charset="0"/>
                      </a:endParaRPr>
                    </a:p>
                  </a:txBody>
                  <a:tcPr marL="91440" marR="91440" marT="45720" marB="4572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7F7F7"/>
                    </a:solidFill>
                  </a:tcPr>
                </a:tc>
              </a:tr>
            </a:tbl>
          </a:graphicData>
        </a:graphic>
      </p:graphicFrame>
      <p:sp>
        <p:nvSpPr>
          <p:cNvPr id="6" name="Text 3"/>
          <p:cNvSpPr txBox="1"/>
          <p:nvPr/>
        </p:nvSpPr>
        <p:spPr>
          <a:xfrm>
            <a:off x="548640" y="4206240"/>
            <a:ext cx="6675120" cy="274320"/>
          </a:xfrm>
          <a:prstGeom prst="rect">
            <a:avLst/>
          </a:prstGeom>
          <a:noFill/>
          <a:ln/>
        </p:spPr>
        <p:txBody>
          <a:bodyPr wrap="square" lIns="0" tIns="0" rIns="0" bIns="0" rtlCol="0" anchor="ctr"/>
          <a:lstStyle/>
          <a:p>
            <a:pPr indent="0" marL="0">
              <a:buNone/>
            </a:pPr>
            <a:r>
              <a:rPr lang="en-US" sz="1000" i="1" dirty="0">
                <a:solidFill>
                  <a:srgbClr val="8A8A8A"/>
                </a:solidFill>
                <a:latin typeface="Arial" pitchFamily="34" charset="0"/>
                <a:ea typeface="Arial" pitchFamily="34" charset="-122"/>
                <a:cs typeface="Arial" pitchFamily="34" charset="-120"/>
              </a:rPr>
              <a:t>Source: DSP#26098 Rev 1, Technical Data (coil data provided by Marathon)</a:t>
            </a:r>
            <a:endParaRPr lang="en-US" sz="1000" dirty="0"/>
          </a:p>
        </p:txBody>
      </p:sp>
      <p:sp>
        <p:nvSpPr>
          <p:cNvPr id="7" name="Text 4"/>
          <p:cNvSpPr txBox="1"/>
          <p:nvPr/>
        </p:nvSpPr>
        <p:spPr>
          <a:xfrm>
            <a:off x="548640" y="4709160"/>
            <a:ext cx="2103120" cy="640080"/>
          </a:xfrm>
          <a:prstGeom prst="rect">
            <a:avLst/>
          </a:prstGeom>
          <a:noFill/>
          <a:ln/>
        </p:spPr>
        <p:txBody>
          <a:bodyPr wrap="square" lIns="0" tIns="0" rIns="0" bIns="0" rtlCol="0" anchor="ctr"/>
          <a:lstStyle/>
          <a:p>
            <a:pPr indent="0" marL="0">
              <a:buNone/>
            </a:pPr>
            <a:r>
              <a:rPr lang="en-US" sz="3000" b="1" dirty="0">
                <a:solidFill>
                  <a:srgbClr val="222222"/>
                </a:solidFill>
                <a:latin typeface="Arial" pitchFamily="34" charset="0"/>
                <a:ea typeface="Arial" pitchFamily="34" charset="-122"/>
                <a:cs typeface="Arial" pitchFamily="34" charset="-120"/>
              </a:rPr>
              <a:t>6,300'</a:t>
            </a:r>
            <a:endParaRPr lang="en-US" sz="3000" dirty="0"/>
          </a:p>
        </p:txBody>
      </p:sp>
      <p:sp>
        <p:nvSpPr>
          <p:cNvPr id="8" name="Text 5"/>
          <p:cNvSpPr txBox="1"/>
          <p:nvPr/>
        </p:nvSpPr>
        <p:spPr>
          <a:xfrm>
            <a:off x="548640" y="5349240"/>
            <a:ext cx="2103120" cy="320040"/>
          </a:xfrm>
          <a:prstGeom prst="rect">
            <a:avLst/>
          </a:prstGeom>
          <a:noFill/>
          <a:ln/>
        </p:spPr>
        <p:txBody>
          <a:bodyPr wrap="square" lIns="0" tIns="0" rIns="0" bIns="0" rtlCol="0" anchor="ctr"/>
          <a:lstStyle/>
          <a:p>
            <a:pPr indent="0" marL="0">
              <a:buNone/>
            </a:pPr>
            <a:r>
              <a:rPr lang="en-US" sz="1200" dirty="0">
                <a:solidFill>
                  <a:srgbClr val="5E5E5E"/>
                </a:solidFill>
                <a:latin typeface="Arial" pitchFamily="34" charset="0"/>
                <a:ea typeface="Arial" pitchFamily="34" charset="-122"/>
                <a:cs typeface="Arial" pitchFamily="34" charset="-120"/>
              </a:rPr>
              <a:t>per Carson heater</a:t>
            </a:r>
            <a:endParaRPr lang="en-US" sz="1200" dirty="0"/>
          </a:p>
        </p:txBody>
      </p:sp>
      <p:sp>
        <p:nvSpPr>
          <p:cNvPr id="9" name="Text 6"/>
          <p:cNvSpPr txBox="1"/>
          <p:nvPr/>
        </p:nvSpPr>
        <p:spPr>
          <a:xfrm>
            <a:off x="2834640" y="4709160"/>
            <a:ext cx="2103120" cy="640080"/>
          </a:xfrm>
          <a:prstGeom prst="rect">
            <a:avLst/>
          </a:prstGeom>
          <a:noFill/>
          <a:ln/>
        </p:spPr>
        <p:txBody>
          <a:bodyPr wrap="square" lIns="0" tIns="0" rIns="0" bIns="0" rtlCol="0" anchor="ctr"/>
          <a:lstStyle/>
          <a:p>
            <a:pPr indent="0" marL="0">
              <a:buNone/>
            </a:pPr>
            <a:r>
              <a:rPr lang="en-US" sz="3000" b="1" dirty="0">
                <a:solidFill>
                  <a:srgbClr val="222222"/>
                </a:solidFill>
                <a:latin typeface="Arial" pitchFamily="34" charset="0"/>
                <a:ea typeface="Arial" pitchFamily="34" charset="-122"/>
                <a:cs typeface="Arial" pitchFamily="34" charset="-120"/>
              </a:rPr>
              <a:t>10,032'</a:t>
            </a:r>
            <a:endParaRPr lang="en-US" sz="3000" dirty="0"/>
          </a:p>
        </p:txBody>
      </p:sp>
      <p:sp>
        <p:nvSpPr>
          <p:cNvPr id="10" name="Text 7"/>
          <p:cNvSpPr txBox="1"/>
          <p:nvPr/>
        </p:nvSpPr>
        <p:spPr>
          <a:xfrm>
            <a:off x="2834640" y="5349240"/>
            <a:ext cx="2103120" cy="320040"/>
          </a:xfrm>
          <a:prstGeom prst="rect">
            <a:avLst/>
          </a:prstGeom>
          <a:noFill/>
          <a:ln/>
        </p:spPr>
        <p:txBody>
          <a:bodyPr wrap="square" lIns="0" tIns="0" rIns="0" bIns="0" rtlCol="0" anchor="ctr"/>
          <a:lstStyle/>
          <a:p>
            <a:pPr indent="0" marL="0">
              <a:buNone/>
            </a:pPr>
            <a:r>
              <a:rPr lang="en-US" sz="1200" dirty="0">
                <a:solidFill>
                  <a:srgbClr val="5E5E5E"/>
                </a:solidFill>
                <a:latin typeface="Arial" pitchFamily="34" charset="0"/>
                <a:ea typeface="Arial" pitchFamily="34" charset="-122"/>
                <a:cs typeface="Arial" pitchFamily="34" charset="-120"/>
              </a:rPr>
              <a:t>on H-101</a:t>
            </a:r>
            <a:endParaRPr lang="en-US" sz="1200" dirty="0"/>
          </a:p>
        </p:txBody>
      </p:sp>
      <p:sp>
        <p:nvSpPr>
          <p:cNvPr id="11" name="Text 8"/>
          <p:cNvSpPr txBox="1"/>
          <p:nvPr/>
        </p:nvSpPr>
        <p:spPr>
          <a:xfrm>
            <a:off x="5120640" y="4709160"/>
            <a:ext cx="2103120" cy="640080"/>
          </a:xfrm>
          <a:prstGeom prst="rect">
            <a:avLst/>
          </a:prstGeom>
          <a:noFill/>
          <a:ln/>
        </p:spPr>
        <p:txBody>
          <a:bodyPr wrap="square" lIns="0" tIns="0" rIns="0" bIns="0" rtlCol="0" anchor="ctr"/>
          <a:lstStyle/>
          <a:p>
            <a:pPr indent="0" marL="0">
              <a:buNone/>
            </a:pPr>
            <a:r>
              <a:rPr lang="en-US" sz="3000" b="1" dirty="0">
                <a:solidFill>
                  <a:srgbClr val="222222"/>
                </a:solidFill>
                <a:latin typeface="Arial" pitchFamily="34" charset="0"/>
                <a:ea typeface="Arial" pitchFamily="34" charset="-122"/>
                <a:cs typeface="Arial" pitchFamily="34" charset="-120"/>
              </a:rPr>
              <a:t>Grade</a:t>
            </a:r>
            <a:endParaRPr lang="en-US" sz="3000" dirty="0"/>
          </a:p>
        </p:txBody>
      </p:sp>
      <p:sp>
        <p:nvSpPr>
          <p:cNvPr id="12" name="Text 9"/>
          <p:cNvSpPr txBox="1"/>
          <p:nvPr/>
        </p:nvSpPr>
        <p:spPr>
          <a:xfrm>
            <a:off x="5120640" y="5349240"/>
            <a:ext cx="2103120" cy="320040"/>
          </a:xfrm>
          <a:prstGeom prst="rect">
            <a:avLst/>
          </a:prstGeom>
          <a:noFill/>
          <a:ln/>
        </p:spPr>
        <p:txBody>
          <a:bodyPr wrap="square" lIns="0" tIns="0" rIns="0" bIns="0" rtlCol="0" anchor="ctr"/>
          <a:lstStyle/>
          <a:p>
            <a:pPr indent="0" marL="0">
              <a:buNone/>
            </a:pPr>
            <a:r>
              <a:rPr lang="en-US" sz="1200" dirty="0">
                <a:solidFill>
                  <a:srgbClr val="5E5E5E"/>
                </a:solidFill>
                <a:latin typeface="Arial" pitchFamily="34" charset="0"/>
                <a:ea typeface="Arial" pitchFamily="34" charset="-122"/>
                <a:cs typeface="Arial" pitchFamily="34" charset="-120"/>
              </a:rPr>
              <a:t>launcher access (H-101 radiant: grade &amp; 1st deck)</a:t>
            </a:r>
            <a:endParaRPr lang="en-US" sz="1200" dirty="0"/>
          </a:p>
        </p:txBody>
      </p:sp>
      <p:sp>
        <p:nvSpPr>
          <p:cNvPr id="13" name="Shape 10"/>
          <p:cNvSpPr/>
          <p:nvPr/>
        </p:nvSpPr>
        <p:spPr>
          <a:xfrm>
            <a:off x="7680960" y="1783080"/>
            <a:ext cx="3959352" cy="1298448"/>
          </a:xfrm>
          <a:prstGeom prst="rect">
            <a:avLst/>
          </a:prstGeom>
          <a:solidFill>
            <a:srgbClr val="FFFFFF"/>
          </a:solidFill>
          <a:ln w="12700">
            <a:solidFill>
              <a:srgbClr val="FFFFFF"/>
            </a:solidFill>
            <a:prstDash val="solid"/>
          </a:ln>
          <a:effectLst>
            <a:outerShdw sx="100000" sy="100000" kx="0" ky="0" algn="bl" rotWithShape="0" blurRad="101600" dist="25400" dir="5400000">
              <a:srgbClr val="000000">
                <a:alpha val="12000"/>
              </a:srgbClr>
            </a:outerShdw>
          </a:effectLst>
        </p:spPr>
      </p:sp>
      <p:sp>
        <p:nvSpPr>
          <p:cNvPr id="14" name="Shape 11"/>
          <p:cNvSpPr/>
          <p:nvPr/>
        </p:nvSpPr>
        <p:spPr>
          <a:xfrm>
            <a:off x="7882128" y="2057400"/>
            <a:ext cx="658368" cy="658368"/>
          </a:xfrm>
          <a:prstGeom prst="ellipse">
            <a:avLst/>
          </a:prstGeom>
          <a:solidFill>
            <a:srgbClr val="1E1E1E"/>
          </a:solidFill>
          <a:ln w="12700">
            <a:solidFill>
              <a:srgbClr val="1E1E1E"/>
            </a:solidFill>
            <a:prstDash val="solid"/>
          </a:ln>
        </p:spPr>
      </p:sp>
      <p:pic>
        <p:nvPicPr>
          <p:cNvPr id="15" name="Image 0" descr="preencoded.png">    </p:cNvPr>
          <p:cNvPicPr>
            <a:picLocks noChangeAspect="1"/>
          </p:cNvPicPr>
          <p:nvPr/>
        </p:nvPicPr>
        <p:blipFill>
          <a:blip r:embed="rId1"/>
          <a:stretch>
            <a:fillRect/>
          </a:stretch>
        </p:blipFill>
        <p:spPr>
          <a:xfrm>
            <a:off x="8046720" y="2221992"/>
            <a:ext cx="329184" cy="329184"/>
          </a:xfrm>
          <a:prstGeom prst="rect">
            <a:avLst/>
          </a:prstGeom>
        </p:spPr>
      </p:pic>
      <p:sp>
        <p:nvSpPr>
          <p:cNvPr id="16" name="Text 12"/>
          <p:cNvSpPr txBox="1"/>
          <p:nvPr/>
        </p:nvSpPr>
        <p:spPr>
          <a:xfrm>
            <a:off x="8732520" y="1965960"/>
            <a:ext cx="2743200" cy="320040"/>
          </a:xfrm>
          <a:prstGeom prst="rect">
            <a:avLst/>
          </a:prstGeom>
          <a:noFill/>
          <a:ln/>
        </p:spPr>
        <p:txBody>
          <a:bodyPr wrap="square" lIns="0" tIns="0" rIns="0" bIns="0" rtlCol="0" anchor="ctr"/>
          <a:lstStyle/>
          <a:p>
            <a:pPr indent="0" marL="0">
              <a:buNone/>
            </a:pPr>
            <a:r>
              <a:rPr lang="en-US" sz="1500" b="1" dirty="0">
                <a:solidFill>
                  <a:srgbClr val="222222"/>
                </a:solidFill>
                <a:latin typeface="Arial" pitchFamily="34" charset="0"/>
                <a:ea typeface="Arial" pitchFamily="34" charset="-122"/>
                <a:cs typeface="Arial" pitchFamily="34" charset="-120"/>
              </a:rPr>
              <a:t>Stainless coils</a:t>
            </a:r>
            <a:endParaRPr lang="en-US" sz="1500" dirty="0"/>
          </a:p>
        </p:txBody>
      </p:sp>
      <p:sp>
        <p:nvSpPr>
          <p:cNvPr id="17" name="Text 13"/>
          <p:cNvSpPr txBox="1"/>
          <p:nvPr/>
        </p:nvSpPr>
        <p:spPr>
          <a:xfrm>
            <a:off x="8732520" y="2286000"/>
            <a:ext cx="2788920" cy="731520"/>
          </a:xfrm>
          <a:prstGeom prst="rect">
            <a:avLst/>
          </a:prstGeom>
          <a:noFill/>
          <a:ln/>
        </p:spPr>
        <p:txBody>
          <a:bodyPr wrap="square" lIns="0" tIns="0" rIns="0" bIns="0" rtlCol="0" anchor="t"/>
          <a:lstStyle/>
          <a:p>
            <a:pPr indent="0" marL="0">
              <a:buNone/>
            </a:pPr>
            <a:r>
              <a:rPr lang="en-US" sz="1150" dirty="0">
                <a:solidFill>
                  <a:srgbClr val="5E5E5E"/>
                </a:solidFill>
                <a:latin typeface="Arial" pitchFamily="34" charset="0"/>
                <a:ea typeface="Arial" pitchFamily="34" charset="-122"/>
                <a:cs typeface="Arial" pitchFamily="34" charset="-120"/>
              </a:rPr>
              <a:t>Water quality verified before fill; passivation coordinated with Marathon; no galvanized contact with tubes</a:t>
            </a:r>
            <a:endParaRPr lang="en-US" sz="1150" dirty="0"/>
          </a:p>
        </p:txBody>
      </p:sp>
      <p:sp>
        <p:nvSpPr>
          <p:cNvPr id="18" name="Shape 14"/>
          <p:cNvSpPr/>
          <p:nvPr/>
        </p:nvSpPr>
        <p:spPr>
          <a:xfrm>
            <a:off x="7680960" y="3246120"/>
            <a:ext cx="3959352" cy="1298448"/>
          </a:xfrm>
          <a:prstGeom prst="rect">
            <a:avLst/>
          </a:prstGeom>
          <a:solidFill>
            <a:srgbClr val="FFFFFF"/>
          </a:solidFill>
          <a:ln w="12700">
            <a:solidFill>
              <a:srgbClr val="FFFFFF"/>
            </a:solidFill>
            <a:prstDash val="solid"/>
          </a:ln>
          <a:effectLst>
            <a:outerShdw sx="100000" sy="100000" kx="0" ky="0" algn="bl" rotWithShape="0" blurRad="101600" dist="25400" dir="5400000">
              <a:srgbClr val="000000">
                <a:alpha val="12000"/>
              </a:srgbClr>
            </a:outerShdw>
          </a:effectLst>
        </p:spPr>
      </p:sp>
      <p:sp>
        <p:nvSpPr>
          <p:cNvPr id="19" name="Shape 15"/>
          <p:cNvSpPr/>
          <p:nvPr/>
        </p:nvSpPr>
        <p:spPr>
          <a:xfrm>
            <a:off x="7882128" y="3520440"/>
            <a:ext cx="658368" cy="658368"/>
          </a:xfrm>
          <a:prstGeom prst="ellipse">
            <a:avLst/>
          </a:prstGeom>
          <a:solidFill>
            <a:srgbClr val="1E1E1E"/>
          </a:solidFill>
          <a:ln w="12700">
            <a:solidFill>
              <a:srgbClr val="1E1E1E"/>
            </a:solidFill>
            <a:prstDash val="solid"/>
          </a:ln>
        </p:spPr>
      </p:sp>
      <p:pic>
        <p:nvPicPr>
          <p:cNvPr id="20" name="Image 1" descr="preencoded.png">    </p:cNvPr>
          <p:cNvPicPr>
            <a:picLocks noChangeAspect="1"/>
          </p:cNvPicPr>
          <p:nvPr/>
        </p:nvPicPr>
        <p:blipFill>
          <a:blip r:embed="rId2"/>
          <a:stretch>
            <a:fillRect/>
          </a:stretch>
        </p:blipFill>
        <p:spPr>
          <a:xfrm>
            <a:off x="8046720" y="3685032"/>
            <a:ext cx="329184" cy="329184"/>
          </a:xfrm>
          <a:prstGeom prst="rect">
            <a:avLst/>
          </a:prstGeom>
        </p:spPr>
      </p:pic>
      <p:sp>
        <p:nvSpPr>
          <p:cNvPr id="21" name="Text 16"/>
          <p:cNvSpPr txBox="1"/>
          <p:nvPr/>
        </p:nvSpPr>
        <p:spPr>
          <a:xfrm>
            <a:off x="8732520" y="3429000"/>
            <a:ext cx="2743200" cy="320040"/>
          </a:xfrm>
          <a:prstGeom prst="rect">
            <a:avLst/>
          </a:prstGeom>
          <a:noFill/>
          <a:ln/>
        </p:spPr>
        <p:txBody>
          <a:bodyPr wrap="square" lIns="0" tIns="0" rIns="0" bIns="0" rtlCol="0" anchor="ctr"/>
          <a:lstStyle/>
          <a:p>
            <a:pPr indent="0" marL="0">
              <a:buNone/>
            </a:pPr>
            <a:r>
              <a:rPr lang="en-US" sz="1500" b="1" dirty="0">
                <a:solidFill>
                  <a:srgbClr val="222222"/>
                </a:solidFill>
                <a:latin typeface="Arial" pitchFamily="34" charset="0"/>
                <a:ea typeface="Arial" pitchFamily="34" charset="-122"/>
                <a:cs typeface="Arial" pitchFamily="34" charset="-120"/>
              </a:rPr>
              <a:t>Connections</a:t>
            </a:r>
            <a:endParaRPr lang="en-US" sz="1500" dirty="0"/>
          </a:p>
        </p:txBody>
      </p:sp>
      <p:sp>
        <p:nvSpPr>
          <p:cNvPr id="22" name="Text 17"/>
          <p:cNvSpPr txBox="1"/>
          <p:nvPr/>
        </p:nvSpPr>
        <p:spPr>
          <a:xfrm>
            <a:off x="8732520" y="3749040"/>
            <a:ext cx="2788920" cy="731520"/>
          </a:xfrm>
          <a:prstGeom prst="rect">
            <a:avLst/>
          </a:prstGeom>
          <a:noFill/>
          <a:ln/>
        </p:spPr>
        <p:txBody>
          <a:bodyPr wrap="square" lIns="0" tIns="0" rIns="0" bIns="0" rtlCol="0" anchor="t"/>
          <a:lstStyle/>
          <a:p>
            <a:pPr indent="0" marL="0">
              <a:buNone/>
            </a:pPr>
            <a:r>
              <a:rPr lang="en-US" sz="1150" dirty="0">
                <a:solidFill>
                  <a:srgbClr val="5E5E5E"/>
                </a:solidFill>
                <a:latin typeface="Arial" pitchFamily="34" charset="0"/>
                <a:ea typeface="Arial" pitchFamily="34" charset="-122"/>
                <a:cs typeface="Arial" pitchFamily="34" charset="-120"/>
              </a:rPr>
              <a:t>600# RFWN coil flanges adapted to USA DeBusk 300# launchers and receivers</a:t>
            </a:r>
            <a:endParaRPr lang="en-US" sz="1150" dirty="0"/>
          </a:p>
        </p:txBody>
      </p:sp>
      <p:sp>
        <p:nvSpPr>
          <p:cNvPr id="23" name="Shape 18"/>
          <p:cNvSpPr/>
          <p:nvPr/>
        </p:nvSpPr>
        <p:spPr>
          <a:xfrm>
            <a:off x="7680960" y="4709160"/>
            <a:ext cx="3959352" cy="1298448"/>
          </a:xfrm>
          <a:prstGeom prst="rect">
            <a:avLst/>
          </a:prstGeom>
          <a:solidFill>
            <a:srgbClr val="FFFFFF"/>
          </a:solidFill>
          <a:ln w="12700">
            <a:solidFill>
              <a:srgbClr val="FFFFFF"/>
            </a:solidFill>
            <a:prstDash val="solid"/>
          </a:ln>
          <a:effectLst>
            <a:outerShdw sx="100000" sy="100000" kx="0" ky="0" algn="bl" rotWithShape="0" blurRad="101600" dist="25400" dir="5400000">
              <a:srgbClr val="000000">
                <a:alpha val="12000"/>
              </a:srgbClr>
            </a:outerShdw>
          </a:effectLst>
        </p:spPr>
      </p:sp>
      <p:sp>
        <p:nvSpPr>
          <p:cNvPr id="24" name="Shape 19"/>
          <p:cNvSpPr/>
          <p:nvPr/>
        </p:nvSpPr>
        <p:spPr>
          <a:xfrm>
            <a:off x="7882128" y="4983480"/>
            <a:ext cx="658368" cy="658368"/>
          </a:xfrm>
          <a:prstGeom prst="ellipse">
            <a:avLst/>
          </a:prstGeom>
          <a:solidFill>
            <a:srgbClr val="1E1E1E"/>
          </a:solidFill>
          <a:ln w="12700">
            <a:solidFill>
              <a:srgbClr val="1E1E1E"/>
            </a:solidFill>
            <a:prstDash val="solid"/>
          </a:ln>
        </p:spPr>
      </p:sp>
      <p:pic>
        <p:nvPicPr>
          <p:cNvPr id="25" name="Image 2" descr="preencoded.png">    </p:cNvPr>
          <p:cNvPicPr>
            <a:picLocks noChangeAspect="1"/>
          </p:cNvPicPr>
          <p:nvPr/>
        </p:nvPicPr>
        <p:blipFill>
          <a:blip r:embed="rId3"/>
          <a:stretch>
            <a:fillRect/>
          </a:stretch>
        </p:blipFill>
        <p:spPr>
          <a:xfrm>
            <a:off x="8046720" y="5148072"/>
            <a:ext cx="329184" cy="329184"/>
          </a:xfrm>
          <a:prstGeom prst="rect">
            <a:avLst/>
          </a:prstGeom>
        </p:spPr>
      </p:pic>
      <p:sp>
        <p:nvSpPr>
          <p:cNvPr id="26" name="Text 20"/>
          <p:cNvSpPr txBox="1"/>
          <p:nvPr/>
        </p:nvSpPr>
        <p:spPr>
          <a:xfrm>
            <a:off x="8732520" y="4892040"/>
            <a:ext cx="2743200" cy="320040"/>
          </a:xfrm>
          <a:prstGeom prst="rect">
            <a:avLst/>
          </a:prstGeom>
          <a:noFill/>
          <a:ln/>
        </p:spPr>
        <p:txBody>
          <a:bodyPr wrap="square" lIns="0" tIns="0" rIns="0" bIns="0" rtlCol="0" anchor="ctr"/>
          <a:lstStyle/>
          <a:p>
            <a:pPr indent="0" marL="0">
              <a:buNone/>
            </a:pPr>
            <a:r>
              <a:rPr lang="en-US" sz="1500" b="1" dirty="0">
                <a:solidFill>
                  <a:srgbClr val="222222"/>
                </a:solidFill>
                <a:latin typeface="Arial" pitchFamily="34" charset="0"/>
                <a:ea typeface="Arial" pitchFamily="34" charset="-122"/>
                <a:cs typeface="Arial" pitchFamily="34" charset="-120"/>
              </a:rPr>
              <a:t>Return bends</a:t>
            </a:r>
            <a:endParaRPr lang="en-US" sz="1500" dirty="0"/>
          </a:p>
        </p:txBody>
      </p:sp>
      <p:sp>
        <p:nvSpPr>
          <p:cNvPr id="27" name="Text 21"/>
          <p:cNvSpPr txBox="1"/>
          <p:nvPr/>
        </p:nvSpPr>
        <p:spPr>
          <a:xfrm>
            <a:off x="8732520" y="5212080"/>
            <a:ext cx="2788920" cy="731520"/>
          </a:xfrm>
          <a:prstGeom prst="rect">
            <a:avLst/>
          </a:prstGeom>
          <a:noFill/>
          <a:ln/>
        </p:spPr>
        <p:txBody>
          <a:bodyPr wrap="square" lIns="0" tIns="0" rIns="0" bIns="0" rtlCol="0" anchor="t"/>
          <a:lstStyle/>
          <a:p>
            <a:pPr indent="0" marL="0">
              <a:buNone/>
            </a:pPr>
            <a:r>
              <a:rPr lang="en-US" sz="1150" dirty="0">
                <a:solidFill>
                  <a:srgbClr val="5E5E5E"/>
                </a:solidFill>
                <a:latin typeface="Arial" pitchFamily="34" charset="0"/>
                <a:ea typeface="Arial" pitchFamily="34" charset="-122"/>
                <a:cs typeface="Arial" pitchFamily="34" charset="-120"/>
              </a:rPr>
              <a:t>Pig length and flexibility selected for 180° returns and mule ears</a:t>
            </a:r>
            <a:endParaRPr lang="en-US" sz="1150" dirty="0"/>
          </a:p>
        </p:txBody>
      </p:sp>
      <p:sp>
        <p:nvSpPr>
          <p:cNvPr id="28" name="Text 22"/>
          <p:cNvSpPr txBox="1"/>
          <p:nvPr/>
        </p:nvSpPr>
        <p:spPr>
          <a:xfrm>
            <a:off x="548640" y="6419088"/>
            <a:ext cx="7315200" cy="228600"/>
          </a:xfrm>
          <a:prstGeom prst="rect">
            <a:avLst/>
          </a:prstGeom>
          <a:noFill/>
          <a:ln/>
        </p:spPr>
        <p:txBody>
          <a:bodyPr wrap="square" lIns="0" tIns="0" rIns="0" bIns="0" rtlCol="0" anchor="ctr"/>
          <a:lstStyle/>
          <a:p>
            <a:pPr indent="0" marL="0">
              <a:buNone/>
            </a:pPr>
            <a:r>
              <a:rPr lang="en-US" sz="900" dirty="0">
                <a:solidFill>
                  <a:srgbClr val="9A9A9A"/>
                </a:solidFill>
                <a:latin typeface="Arial" pitchFamily="34" charset="0"/>
                <a:ea typeface="Arial" pitchFamily="34" charset="-122"/>
                <a:cs typeface="Arial" pitchFamily="34" charset="-120"/>
              </a:rPr>
              <a:t>USA DeBusk  |  LAR Heater Pigging &amp; Decoking Services  |  DSP#26098</a:t>
            </a:r>
            <a:endParaRPr lang="en-US" sz="900" dirty="0"/>
          </a:p>
        </p:txBody>
      </p:sp>
      <p:sp>
        <p:nvSpPr>
          <p:cNvPr id="29" name="Text 23"/>
          <p:cNvSpPr txBox="1"/>
          <p:nvPr/>
        </p:nvSpPr>
        <p:spPr>
          <a:xfrm>
            <a:off x="11155680" y="6419088"/>
            <a:ext cx="484632" cy="228600"/>
          </a:xfrm>
          <a:prstGeom prst="rect">
            <a:avLst/>
          </a:prstGeom>
          <a:noFill/>
          <a:ln/>
        </p:spPr>
        <p:txBody>
          <a:bodyPr wrap="square" lIns="0" tIns="0" rIns="0" bIns="0" rtlCol="0" anchor="ctr"/>
          <a:lstStyle/>
          <a:p>
            <a:pPr algn="r" indent="0" marL="0">
              <a:buNone/>
            </a:pPr>
            <a:r>
              <a:rPr lang="en-US" sz="900" dirty="0">
                <a:solidFill>
                  <a:srgbClr val="9A9A9A"/>
                </a:solidFill>
                <a:latin typeface="Arial" pitchFamily="34" charset="0"/>
                <a:ea typeface="Arial" pitchFamily="34" charset="-122"/>
                <a:cs typeface="Arial"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11480"/>
            <a:ext cx="3278619" cy="310896"/>
          </a:xfrm>
          <a:prstGeom prst="roundRect">
            <a:avLst>
              <a:gd name="adj" fmla="val 23529"/>
            </a:avLst>
          </a:prstGeom>
          <a:solidFill>
            <a:srgbClr val="FCC30A"/>
          </a:solidFill>
          <a:ln w="12700">
            <a:solidFill>
              <a:srgbClr val="FCC30A"/>
            </a:solidFill>
            <a:prstDash val="solid"/>
          </a:ln>
        </p:spPr>
      </p:sp>
      <p:sp>
        <p:nvSpPr>
          <p:cNvPr id="3" name="Text 1"/>
          <p:cNvSpPr txBox="1"/>
          <p:nvPr/>
        </p:nvSpPr>
        <p:spPr>
          <a:xfrm>
            <a:off x="548640" y="411480"/>
            <a:ext cx="3278619" cy="310896"/>
          </a:xfrm>
          <a:prstGeom prst="rect">
            <a:avLst/>
          </a:prstGeom>
          <a:noFill/>
          <a:ln/>
        </p:spPr>
        <p:txBody>
          <a:bodyPr wrap="square" lIns="0" tIns="0" rIns="0" bIns="0" rtlCol="0" anchor="ctr"/>
          <a:lstStyle/>
          <a:p>
            <a:pPr algn="ctr" indent="0" marL="0">
              <a:buNone/>
            </a:pPr>
            <a:r>
              <a:rPr lang="en-US" sz="1050" b="1" spc="150" kern="0" dirty="0">
                <a:solidFill>
                  <a:srgbClr val="1E1E1E"/>
                </a:solidFill>
                <a:latin typeface="Arial" pitchFamily="34" charset="0"/>
                <a:ea typeface="Arial" pitchFamily="34" charset="-122"/>
                <a:cs typeface="Arial" pitchFamily="34" charset="-120"/>
              </a:rPr>
              <a:t>02   EXECUTION PLAN &amp; SCHEDULE</a:t>
            </a:r>
            <a:endParaRPr lang="en-US" sz="1050" dirty="0"/>
          </a:p>
        </p:txBody>
      </p:sp>
      <p:sp>
        <p:nvSpPr>
          <p:cNvPr id="4" name="Text 2"/>
          <p:cNvSpPr txBox="1"/>
          <p:nvPr/>
        </p:nvSpPr>
        <p:spPr>
          <a:xfrm>
            <a:off x="548640" y="841248"/>
            <a:ext cx="11064240" cy="731520"/>
          </a:xfrm>
          <a:prstGeom prst="rect">
            <a:avLst/>
          </a:prstGeom>
          <a:noFill/>
          <a:ln/>
        </p:spPr>
        <p:txBody>
          <a:bodyPr wrap="square" lIns="0" tIns="0" rIns="0" bIns="0" rtlCol="0" anchor="t"/>
          <a:lstStyle/>
          <a:p>
            <a:pPr indent="0" marL="0">
              <a:buNone/>
            </a:pPr>
            <a:r>
              <a:rPr lang="en-US" sz="3200" b="1" dirty="0">
                <a:solidFill>
                  <a:srgbClr val="222222"/>
                </a:solidFill>
                <a:latin typeface="Arial" pitchFamily="34" charset="0"/>
                <a:ea typeface="Arial" pitchFamily="34" charset="-122"/>
                <a:cs typeface="Arial" pitchFamily="34" charset="-120"/>
              </a:rPr>
              <a:t>Execution plan per occurrence</a:t>
            </a:r>
            <a:endParaRPr lang="en-US" sz="3200" dirty="0"/>
          </a:p>
        </p:txBody>
      </p:sp>
      <p:sp>
        <p:nvSpPr>
          <p:cNvPr id="5" name="Text 3"/>
          <p:cNvSpPr txBox="1"/>
          <p:nvPr/>
        </p:nvSpPr>
        <p:spPr>
          <a:xfrm>
            <a:off x="548640" y="1481328"/>
            <a:ext cx="11064240" cy="365760"/>
          </a:xfrm>
          <a:prstGeom prst="rect">
            <a:avLst/>
          </a:prstGeom>
          <a:noFill/>
          <a:ln/>
        </p:spPr>
        <p:txBody>
          <a:bodyPr wrap="square" lIns="0" tIns="0" rIns="0" bIns="0" rtlCol="0" anchor="t"/>
          <a:lstStyle/>
          <a:p>
            <a:pPr indent="0" marL="0">
              <a:buNone/>
            </a:pPr>
            <a:r>
              <a:rPr lang="en-US" sz="1500" dirty="0">
                <a:solidFill>
                  <a:srgbClr val="5E5E5E"/>
                </a:solidFill>
                <a:latin typeface="Arial" pitchFamily="34" charset="0"/>
                <a:ea typeface="Arial" pitchFamily="34" charset="-122"/>
                <a:cs typeface="Arial" pitchFamily="34" charset="-120"/>
              </a:rPr>
              <a:t>Continuous 24/7 pigging on 12-hour shifts; passes pigged in conjunction</a:t>
            </a:r>
            <a:endParaRPr lang="en-US" sz="1500" dirty="0"/>
          </a:p>
        </p:txBody>
      </p:sp>
      <p:sp>
        <p:nvSpPr>
          <p:cNvPr id="6" name="Shape 4"/>
          <p:cNvSpPr/>
          <p:nvPr/>
        </p:nvSpPr>
        <p:spPr>
          <a:xfrm>
            <a:off x="3429000" y="2194560"/>
            <a:ext cx="0" cy="3511296"/>
          </a:xfrm>
          <a:prstGeom prst="line">
            <a:avLst/>
          </a:prstGeom>
          <a:noFill/>
          <a:ln w="12700">
            <a:solidFill>
              <a:srgbClr val="E6E6E6"/>
            </a:solidFill>
            <a:prstDash val="dash"/>
          </a:ln>
        </p:spPr>
      </p:sp>
      <p:sp>
        <p:nvSpPr>
          <p:cNvPr id="7" name="Text 5"/>
          <p:cNvSpPr txBox="1"/>
          <p:nvPr/>
        </p:nvSpPr>
        <p:spPr>
          <a:xfrm>
            <a:off x="3063240" y="1874520"/>
            <a:ext cx="731520" cy="256032"/>
          </a:xfrm>
          <a:prstGeom prst="rect">
            <a:avLst/>
          </a:prstGeom>
          <a:noFill/>
          <a:ln/>
        </p:spPr>
        <p:txBody>
          <a:bodyPr wrap="square" lIns="0" tIns="0" rIns="0" bIns="0" rtlCol="0" anchor="ctr"/>
          <a:lstStyle/>
          <a:p>
            <a:pPr algn="ctr" indent="0" marL="0">
              <a:buNone/>
            </a:pPr>
            <a:r>
              <a:rPr lang="en-US" sz="1000" dirty="0">
                <a:solidFill>
                  <a:srgbClr val="8A8A8A"/>
                </a:solidFill>
                <a:latin typeface="Arial" pitchFamily="34" charset="0"/>
                <a:ea typeface="Arial" pitchFamily="34" charset="-122"/>
                <a:cs typeface="Arial" pitchFamily="34" charset="-120"/>
              </a:rPr>
              <a:t>0 h</a:t>
            </a:r>
            <a:endParaRPr lang="en-US" sz="1000" dirty="0"/>
          </a:p>
        </p:txBody>
      </p:sp>
      <p:sp>
        <p:nvSpPr>
          <p:cNvPr id="8" name="Shape 6"/>
          <p:cNvSpPr/>
          <p:nvPr/>
        </p:nvSpPr>
        <p:spPr>
          <a:xfrm>
            <a:off x="5096022" y="2194560"/>
            <a:ext cx="0" cy="3511296"/>
          </a:xfrm>
          <a:prstGeom prst="line">
            <a:avLst/>
          </a:prstGeom>
          <a:noFill/>
          <a:ln w="12700">
            <a:solidFill>
              <a:srgbClr val="E6E6E6"/>
            </a:solidFill>
            <a:prstDash val="dash"/>
          </a:ln>
        </p:spPr>
      </p:sp>
      <p:sp>
        <p:nvSpPr>
          <p:cNvPr id="9" name="Text 7"/>
          <p:cNvSpPr txBox="1"/>
          <p:nvPr/>
        </p:nvSpPr>
        <p:spPr>
          <a:xfrm>
            <a:off x="4730262" y="1874520"/>
            <a:ext cx="731520" cy="256032"/>
          </a:xfrm>
          <a:prstGeom prst="rect">
            <a:avLst/>
          </a:prstGeom>
          <a:noFill/>
          <a:ln/>
        </p:spPr>
        <p:txBody>
          <a:bodyPr wrap="square" lIns="0" tIns="0" rIns="0" bIns="0" rtlCol="0" anchor="ctr"/>
          <a:lstStyle/>
          <a:p>
            <a:pPr algn="ctr" indent="0" marL="0">
              <a:buNone/>
            </a:pPr>
            <a:r>
              <a:rPr lang="en-US" sz="1000" dirty="0">
                <a:solidFill>
                  <a:srgbClr val="8A8A8A"/>
                </a:solidFill>
                <a:latin typeface="Arial" pitchFamily="34" charset="0"/>
                <a:ea typeface="Arial" pitchFamily="34" charset="-122"/>
                <a:cs typeface="Arial" pitchFamily="34" charset="-120"/>
              </a:rPr>
              <a:t>12 h</a:t>
            </a:r>
            <a:endParaRPr lang="en-US" sz="1000" dirty="0"/>
          </a:p>
        </p:txBody>
      </p:sp>
      <p:sp>
        <p:nvSpPr>
          <p:cNvPr id="10" name="Shape 8"/>
          <p:cNvSpPr/>
          <p:nvPr/>
        </p:nvSpPr>
        <p:spPr>
          <a:xfrm>
            <a:off x="6763043" y="2194560"/>
            <a:ext cx="0" cy="3511296"/>
          </a:xfrm>
          <a:prstGeom prst="line">
            <a:avLst/>
          </a:prstGeom>
          <a:noFill/>
          <a:ln w="12700">
            <a:solidFill>
              <a:srgbClr val="E6E6E6"/>
            </a:solidFill>
            <a:prstDash val="dash"/>
          </a:ln>
        </p:spPr>
      </p:sp>
      <p:sp>
        <p:nvSpPr>
          <p:cNvPr id="11" name="Text 9"/>
          <p:cNvSpPr txBox="1"/>
          <p:nvPr/>
        </p:nvSpPr>
        <p:spPr>
          <a:xfrm>
            <a:off x="6397283" y="1874520"/>
            <a:ext cx="731520" cy="256032"/>
          </a:xfrm>
          <a:prstGeom prst="rect">
            <a:avLst/>
          </a:prstGeom>
          <a:noFill/>
          <a:ln/>
        </p:spPr>
        <p:txBody>
          <a:bodyPr wrap="square" lIns="0" tIns="0" rIns="0" bIns="0" rtlCol="0" anchor="ctr"/>
          <a:lstStyle/>
          <a:p>
            <a:pPr algn="ctr" indent="0" marL="0">
              <a:buNone/>
            </a:pPr>
            <a:r>
              <a:rPr lang="en-US" sz="1000" dirty="0">
                <a:solidFill>
                  <a:srgbClr val="8A8A8A"/>
                </a:solidFill>
                <a:latin typeface="Arial" pitchFamily="34" charset="0"/>
                <a:ea typeface="Arial" pitchFamily="34" charset="-122"/>
                <a:cs typeface="Arial" pitchFamily="34" charset="-120"/>
              </a:rPr>
              <a:t>24 h</a:t>
            </a:r>
            <a:endParaRPr lang="en-US" sz="1000" dirty="0"/>
          </a:p>
        </p:txBody>
      </p:sp>
      <p:sp>
        <p:nvSpPr>
          <p:cNvPr id="12" name="Shape 10"/>
          <p:cNvSpPr/>
          <p:nvPr/>
        </p:nvSpPr>
        <p:spPr>
          <a:xfrm>
            <a:off x="8430065" y="2194560"/>
            <a:ext cx="0" cy="3511296"/>
          </a:xfrm>
          <a:prstGeom prst="line">
            <a:avLst/>
          </a:prstGeom>
          <a:noFill/>
          <a:ln w="12700">
            <a:solidFill>
              <a:srgbClr val="E6E6E6"/>
            </a:solidFill>
            <a:prstDash val="dash"/>
          </a:ln>
        </p:spPr>
      </p:sp>
      <p:sp>
        <p:nvSpPr>
          <p:cNvPr id="13" name="Text 11"/>
          <p:cNvSpPr txBox="1"/>
          <p:nvPr/>
        </p:nvSpPr>
        <p:spPr>
          <a:xfrm>
            <a:off x="8064305" y="1874520"/>
            <a:ext cx="731520" cy="256032"/>
          </a:xfrm>
          <a:prstGeom prst="rect">
            <a:avLst/>
          </a:prstGeom>
          <a:noFill/>
          <a:ln/>
        </p:spPr>
        <p:txBody>
          <a:bodyPr wrap="square" lIns="0" tIns="0" rIns="0" bIns="0" rtlCol="0" anchor="ctr"/>
          <a:lstStyle/>
          <a:p>
            <a:pPr algn="ctr" indent="0" marL="0">
              <a:buNone/>
            </a:pPr>
            <a:r>
              <a:rPr lang="en-US" sz="1000" dirty="0">
                <a:solidFill>
                  <a:srgbClr val="8A8A8A"/>
                </a:solidFill>
                <a:latin typeface="Arial" pitchFamily="34" charset="0"/>
                <a:ea typeface="Arial" pitchFamily="34" charset="-122"/>
                <a:cs typeface="Arial" pitchFamily="34" charset="-120"/>
              </a:rPr>
              <a:t>36 h</a:t>
            </a:r>
            <a:endParaRPr lang="en-US" sz="1000" dirty="0"/>
          </a:p>
        </p:txBody>
      </p:sp>
      <p:sp>
        <p:nvSpPr>
          <p:cNvPr id="14" name="Shape 12"/>
          <p:cNvSpPr/>
          <p:nvPr/>
        </p:nvSpPr>
        <p:spPr>
          <a:xfrm>
            <a:off x="10097086" y="2194560"/>
            <a:ext cx="0" cy="3511296"/>
          </a:xfrm>
          <a:prstGeom prst="line">
            <a:avLst/>
          </a:prstGeom>
          <a:noFill/>
          <a:ln w="12700">
            <a:solidFill>
              <a:srgbClr val="E6E6E6"/>
            </a:solidFill>
            <a:prstDash val="dash"/>
          </a:ln>
        </p:spPr>
      </p:sp>
      <p:sp>
        <p:nvSpPr>
          <p:cNvPr id="15" name="Text 13"/>
          <p:cNvSpPr txBox="1"/>
          <p:nvPr/>
        </p:nvSpPr>
        <p:spPr>
          <a:xfrm>
            <a:off x="9731326" y="1874520"/>
            <a:ext cx="731520" cy="256032"/>
          </a:xfrm>
          <a:prstGeom prst="rect">
            <a:avLst/>
          </a:prstGeom>
          <a:noFill/>
          <a:ln/>
        </p:spPr>
        <p:txBody>
          <a:bodyPr wrap="square" lIns="0" tIns="0" rIns="0" bIns="0" rtlCol="0" anchor="ctr"/>
          <a:lstStyle/>
          <a:p>
            <a:pPr algn="ctr" indent="0" marL="0">
              <a:buNone/>
            </a:pPr>
            <a:r>
              <a:rPr lang="en-US" sz="1000" dirty="0">
                <a:solidFill>
                  <a:srgbClr val="8A8A8A"/>
                </a:solidFill>
                <a:latin typeface="Arial" pitchFamily="34" charset="0"/>
                <a:ea typeface="Arial" pitchFamily="34" charset="-122"/>
                <a:cs typeface="Arial" pitchFamily="34" charset="-120"/>
              </a:rPr>
              <a:t>48 h</a:t>
            </a:r>
            <a:endParaRPr lang="en-US" sz="1000" dirty="0"/>
          </a:p>
        </p:txBody>
      </p:sp>
      <p:sp>
        <p:nvSpPr>
          <p:cNvPr id="16" name="Text 14"/>
          <p:cNvSpPr txBox="1"/>
          <p:nvPr/>
        </p:nvSpPr>
        <p:spPr>
          <a:xfrm>
            <a:off x="548640" y="2331720"/>
            <a:ext cx="2743200" cy="566928"/>
          </a:xfrm>
          <a:prstGeom prst="rect">
            <a:avLst/>
          </a:prstGeom>
          <a:noFill/>
          <a:ln/>
        </p:spPr>
        <p:txBody>
          <a:bodyPr wrap="square" lIns="0" tIns="0" rIns="0" bIns="0" rtlCol="0" anchor="ctr"/>
          <a:lstStyle/>
          <a:p>
            <a:pPr indent="0" marL="0">
              <a:buNone/>
            </a:pPr>
            <a:r>
              <a:rPr lang="en-US" sz="1300" b="1" dirty="0">
                <a:solidFill>
                  <a:srgbClr val="222222"/>
                </a:solidFill>
                <a:latin typeface="Arial" pitchFamily="34" charset="0"/>
                <a:ea typeface="Arial" pitchFamily="34" charset="-122"/>
                <a:cs typeface="Arial" pitchFamily="34" charset="-120"/>
              </a:rPr>
              <a:t>Carson Coker #1, Heater #1</a:t>
            </a:r>
            <a:endParaRPr lang="en-US" sz="1300" dirty="0"/>
          </a:p>
        </p:txBody>
      </p:sp>
      <p:sp>
        <p:nvSpPr>
          <p:cNvPr id="17" name="Shape 15"/>
          <p:cNvSpPr/>
          <p:nvPr/>
        </p:nvSpPr>
        <p:spPr>
          <a:xfrm>
            <a:off x="3429000" y="2331720"/>
            <a:ext cx="806079" cy="566928"/>
          </a:xfrm>
          <a:prstGeom prst="rect">
            <a:avLst/>
          </a:prstGeom>
          <a:solidFill>
            <a:srgbClr val="1E1E1E"/>
          </a:solidFill>
          <a:ln w="12700">
            <a:solidFill>
              <a:srgbClr val="1E1E1E"/>
            </a:solidFill>
            <a:prstDash val="solid"/>
          </a:ln>
        </p:spPr>
      </p:sp>
      <p:sp>
        <p:nvSpPr>
          <p:cNvPr id="18" name="Text 16"/>
          <p:cNvSpPr txBox="1"/>
          <p:nvPr/>
        </p:nvSpPr>
        <p:spPr>
          <a:xfrm>
            <a:off x="3429000" y="2331720"/>
            <a:ext cx="806079" cy="566928"/>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6</a:t>
            </a:r>
            <a:endParaRPr lang="en-US" sz="1200" dirty="0"/>
          </a:p>
        </p:txBody>
      </p:sp>
      <p:sp>
        <p:nvSpPr>
          <p:cNvPr id="19" name="Shape 17"/>
          <p:cNvSpPr/>
          <p:nvPr/>
        </p:nvSpPr>
        <p:spPr>
          <a:xfrm>
            <a:off x="4262511" y="2331720"/>
            <a:ext cx="4695796" cy="566928"/>
          </a:xfrm>
          <a:prstGeom prst="rect">
            <a:avLst/>
          </a:prstGeom>
          <a:solidFill>
            <a:srgbClr val="FCC30A"/>
          </a:solidFill>
          <a:ln w="12700">
            <a:solidFill>
              <a:srgbClr val="FCC30A"/>
            </a:solidFill>
            <a:prstDash val="solid"/>
          </a:ln>
        </p:spPr>
      </p:sp>
      <p:sp>
        <p:nvSpPr>
          <p:cNvPr id="20" name="Text 18"/>
          <p:cNvSpPr txBox="1"/>
          <p:nvPr/>
        </p:nvSpPr>
        <p:spPr>
          <a:xfrm>
            <a:off x="4262511" y="2331720"/>
            <a:ext cx="4695796" cy="566928"/>
          </a:xfrm>
          <a:prstGeom prst="rect">
            <a:avLst/>
          </a:prstGeom>
          <a:noFill/>
          <a:ln/>
        </p:spPr>
        <p:txBody>
          <a:bodyPr wrap="square" lIns="0" tIns="0" rIns="0" bIns="0" rtlCol="0" anchor="ctr"/>
          <a:lstStyle/>
          <a:p>
            <a:pPr algn="ctr" indent="0" marL="0">
              <a:buNone/>
            </a:pPr>
            <a:r>
              <a:rPr lang="en-US" sz="1200" b="1" dirty="0">
                <a:solidFill>
                  <a:srgbClr val="1E1E1E"/>
                </a:solidFill>
                <a:latin typeface="Arial" pitchFamily="34" charset="0"/>
                <a:ea typeface="Arial" pitchFamily="34" charset="-122"/>
                <a:cs typeface="Arial" pitchFamily="34" charset="-120"/>
              </a:rPr>
              <a:t>Pig all coils in conjunction: 34 h</a:t>
            </a:r>
            <a:endParaRPr lang="en-US" sz="1200" dirty="0"/>
          </a:p>
        </p:txBody>
      </p:sp>
      <p:sp>
        <p:nvSpPr>
          <p:cNvPr id="21" name="Shape 19"/>
          <p:cNvSpPr/>
          <p:nvPr/>
        </p:nvSpPr>
        <p:spPr>
          <a:xfrm>
            <a:off x="8985738" y="2331720"/>
            <a:ext cx="806079" cy="566928"/>
          </a:xfrm>
          <a:prstGeom prst="rect">
            <a:avLst/>
          </a:prstGeom>
          <a:solidFill>
            <a:srgbClr val="1E1E1E"/>
          </a:solidFill>
          <a:ln w="12700">
            <a:solidFill>
              <a:srgbClr val="1E1E1E"/>
            </a:solidFill>
            <a:prstDash val="solid"/>
          </a:ln>
        </p:spPr>
      </p:sp>
      <p:sp>
        <p:nvSpPr>
          <p:cNvPr id="22" name="Text 20"/>
          <p:cNvSpPr txBox="1"/>
          <p:nvPr/>
        </p:nvSpPr>
        <p:spPr>
          <a:xfrm>
            <a:off x="8985738" y="2331720"/>
            <a:ext cx="806079" cy="566928"/>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6</a:t>
            </a:r>
            <a:endParaRPr lang="en-US" sz="1200" dirty="0"/>
          </a:p>
        </p:txBody>
      </p:sp>
      <p:sp>
        <p:nvSpPr>
          <p:cNvPr id="23" name="Text 21"/>
          <p:cNvSpPr txBox="1"/>
          <p:nvPr/>
        </p:nvSpPr>
        <p:spPr>
          <a:xfrm>
            <a:off x="9928977" y="2331720"/>
            <a:ext cx="822960" cy="566928"/>
          </a:xfrm>
          <a:prstGeom prst="rect">
            <a:avLst/>
          </a:prstGeom>
          <a:noFill/>
          <a:ln/>
        </p:spPr>
        <p:txBody>
          <a:bodyPr wrap="square" lIns="0" tIns="0" rIns="0" bIns="0" rtlCol="0" anchor="ctr"/>
          <a:lstStyle/>
          <a:p>
            <a:pPr indent="0" marL="0">
              <a:buNone/>
            </a:pPr>
            <a:r>
              <a:rPr lang="en-US" sz="1800" b="1" dirty="0">
                <a:solidFill>
                  <a:srgbClr val="222222"/>
                </a:solidFill>
                <a:latin typeface="Arial" pitchFamily="34" charset="0"/>
                <a:ea typeface="Arial" pitchFamily="34" charset="-122"/>
                <a:cs typeface="Arial" pitchFamily="34" charset="-120"/>
              </a:rPr>
              <a:t>46 h</a:t>
            </a:r>
            <a:endParaRPr lang="en-US" sz="1800" dirty="0"/>
          </a:p>
        </p:txBody>
      </p:sp>
      <p:sp>
        <p:nvSpPr>
          <p:cNvPr id="24" name="Text 22"/>
          <p:cNvSpPr txBox="1"/>
          <p:nvPr/>
        </p:nvSpPr>
        <p:spPr>
          <a:xfrm>
            <a:off x="548640" y="3209544"/>
            <a:ext cx="2743200" cy="566928"/>
          </a:xfrm>
          <a:prstGeom prst="rect">
            <a:avLst/>
          </a:prstGeom>
          <a:noFill/>
          <a:ln/>
        </p:spPr>
        <p:txBody>
          <a:bodyPr wrap="square" lIns="0" tIns="0" rIns="0" bIns="0" rtlCol="0" anchor="ctr"/>
          <a:lstStyle/>
          <a:p>
            <a:pPr indent="0" marL="0">
              <a:buNone/>
            </a:pPr>
            <a:r>
              <a:rPr lang="en-US" sz="1300" b="1" dirty="0">
                <a:solidFill>
                  <a:srgbClr val="222222"/>
                </a:solidFill>
                <a:latin typeface="Arial" pitchFamily="34" charset="0"/>
                <a:ea typeface="Arial" pitchFamily="34" charset="-122"/>
                <a:cs typeface="Arial" pitchFamily="34" charset="-120"/>
              </a:rPr>
              <a:t>Carson Coker #1, Heater #2</a:t>
            </a:r>
            <a:endParaRPr lang="en-US" sz="1300" dirty="0"/>
          </a:p>
        </p:txBody>
      </p:sp>
      <p:sp>
        <p:nvSpPr>
          <p:cNvPr id="25" name="Shape 23"/>
          <p:cNvSpPr/>
          <p:nvPr/>
        </p:nvSpPr>
        <p:spPr>
          <a:xfrm>
            <a:off x="3429000" y="3209544"/>
            <a:ext cx="806079" cy="566928"/>
          </a:xfrm>
          <a:prstGeom prst="rect">
            <a:avLst/>
          </a:prstGeom>
          <a:solidFill>
            <a:srgbClr val="1E1E1E"/>
          </a:solidFill>
          <a:ln w="12700">
            <a:solidFill>
              <a:srgbClr val="1E1E1E"/>
            </a:solidFill>
            <a:prstDash val="solid"/>
          </a:ln>
        </p:spPr>
      </p:sp>
      <p:sp>
        <p:nvSpPr>
          <p:cNvPr id="26" name="Text 24"/>
          <p:cNvSpPr txBox="1"/>
          <p:nvPr/>
        </p:nvSpPr>
        <p:spPr>
          <a:xfrm>
            <a:off x="3429000" y="3209544"/>
            <a:ext cx="806079" cy="566928"/>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6</a:t>
            </a:r>
            <a:endParaRPr lang="en-US" sz="1200" dirty="0"/>
          </a:p>
        </p:txBody>
      </p:sp>
      <p:sp>
        <p:nvSpPr>
          <p:cNvPr id="27" name="Shape 25"/>
          <p:cNvSpPr/>
          <p:nvPr/>
        </p:nvSpPr>
        <p:spPr>
          <a:xfrm>
            <a:off x="4262511" y="3209544"/>
            <a:ext cx="4695796" cy="566928"/>
          </a:xfrm>
          <a:prstGeom prst="rect">
            <a:avLst/>
          </a:prstGeom>
          <a:solidFill>
            <a:srgbClr val="FCC30A"/>
          </a:solidFill>
          <a:ln w="12700">
            <a:solidFill>
              <a:srgbClr val="FCC30A"/>
            </a:solidFill>
            <a:prstDash val="solid"/>
          </a:ln>
        </p:spPr>
      </p:sp>
      <p:sp>
        <p:nvSpPr>
          <p:cNvPr id="28" name="Text 26"/>
          <p:cNvSpPr txBox="1"/>
          <p:nvPr/>
        </p:nvSpPr>
        <p:spPr>
          <a:xfrm>
            <a:off x="4262511" y="3209544"/>
            <a:ext cx="4695796" cy="566928"/>
          </a:xfrm>
          <a:prstGeom prst="rect">
            <a:avLst/>
          </a:prstGeom>
          <a:noFill/>
          <a:ln/>
        </p:spPr>
        <p:txBody>
          <a:bodyPr wrap="square" lIns="0" tIns="0" rIns="0" bIns="0" rtlCol="0" anchor="ctr"/>
          <a:lstStyle/>
          <a:p>
            <a:pPr algn="ctr" indent="0" marL="0">
              <a:buNone/>
            </a:pPr>
            <a:r>
              <a:rPr lang="en-US" sz="1200" b="1" dirty="0">
                <a:solidFill>
                  <a:srgbClr val="1E1E1E"/>
                </a:solidFill>
                <a:latin typeface="Arial" pitchFamily="34" charset="0"/>
                <a:ea typeface="Arial" pitchFamily="34" charset="-122"/>
                <a:cs typeface="Arial" pitchFamily="34" charset="-120"/>
              </a:rPr>
              <a:t>Pig all coils in conjunction: 34 h</a:t>
            </a:r>
            <a:endParaRPr lang="en-US" sz="1200" dirty="0"/>
          </a:p>
        </p:txBody>
      </p:sp>
      <p:sp>
        <p:nvSpPr>
          <p:cNvPr id="29" name="Shape 27"/>
          <p:cNvSpPr/>
          <p:nvPr/>
        </p:nvSpPr>
        <p:spPr>
          <a:xfrm>
            <a:off x="8985738" y="3209544"/>
            <a:ext cx="806079" cy="566928"/>
          </a:xfrm>
          <a:prstGeom prst="rect">
            <a:avLst/>
          </a:prstGeom>
          <a:solidFill>
            <a:srgbClr val="1E1E1E"/>
          </a:solidFill>
          <a:ln w="12700">
            <a:solidFill>
              <a:srgbClr val="1E1E1E"/>
            </a:solidFill>
            <a:prstDash val="solid"/>
          </a:ln>
        </p:spPr>
      </p:sp>
      <p:sp>
        <p:nvSpPr>
          <p:cNvPr id="30" name="Text 28"/>
          <p:cNvSpPr txBox="1"/>
          <p:nvPr/>
        </p:nvSpPr>
        <p:spPr>
          <a:xfrm>
            <a:off x="8985738" y="3209544"/>
            <a:ext cx="806079" cy="566928"/>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6</a:t>
            </a:r>
            <a:endParaRPr lang="en-US" sz="1200" dirty="0"/>
          </a:p>
        </p:txBody>
      </p:sp>
      <p:sp>
        <p:nvSpPr>
          <p:cNvPr id="31" name="Text 29"/>
          <p:cNvSpPr txBox="1"/>
          <p:nvPr/>
        </p:nvSpPr>
        <p:spPr>
          <a:xfrm>
            <a:off x="9928977" y="3209544"/>
            <a:ext cx="822960" cy="566928"/>
          </a:xfrm>
          <a:prstGeom prst="rect">
            <a:avLst/>
          </a:prstGeom>
          <a:noFill/>
          <a:ln/>
        </p:spPr>
        <p:txBody>
          <a:bodyPr wrap="square" lIns="0" tIns="0" rIns="0" bIns="0" rtlCol="0" anchor="ctr"/>
          <a:lstStyle/>
          <a:p>
            <a:pPr indent="0" marL="0">
              <a:buNone/>
            </a:pPr>
            <a:r>
              <a:rPr lang="en-US" sz="1800" b="1" dirty="0">
                <a:solidFill>
                  <a:srgbClr val="222222"/>
                </a:solidFill>
                <a:latin typeface="Arial" pitchFamily="34" charset="0"/>
                <a:ea typeface="Arial" pitchFamily="34" charset="-122"/>
                <a:cs typeface="Arial" pitchFamily="34" charset="-120"/>
              </a:rPr>
              <a:t>46 h</a:t>
            </a:r>
            <a:endParaRPr lang="en-US" sz="1800" dirty="0"/>
          </a:p>
        </p:txBody>
      </p:sp>
      <p:sp>
        <p:nvSpPr>
          <p:cNvPr id="32" name="Text 30"/>
          <p:cNvSpPr txBox="1"/>
          <p:nvPr/>
        </p:nvSpPr>
        <p:spPr>
          <a:xfrm>
            <a:off x="548640" y="4087368"/>
            <a:ext cx="2743200" cy="566928"/>
          </a:xfrm>
          <a:prstGeom prst="rect">
            <a:avLst/>
          </a:prstGeom>
          <a:noFill/>
          <a:ln/>
        </p:spPr>
        <p:txBody>
          <a:bodyPr wrap="square" lIns="0" tIns="0" rIns="0" bIns="0" rtlCol="0" anchor="ctr"/>
          <a:lstStyle/>
          <a:p>
            <a:pPr indent="0" marL="0">
              <a:buNone/>
            </a:pPr>
            <a:r>
              <a:rPr lang="en-US" sz="1300" b="1" dirty="0">
                <a:solidFill>
                  <a:srgbClr val="222222"/>
                </a:solidFill>
                <a:latin typeface="Arial" pitchFamily="34" charset="0"/>
                <a:ea typeface="Arial" pitchFamily="34" charset="-122"/>
                <a:cs typeface="Arial" pitchFamily="34" charset="-120"/>
              </a:rPr>
              <a:t>Carson Coker #2, Heater #3</a:t>
            </a:r>
            <a:endParaRPr lang="en-US" sz="1300" dirty="0"/>
          </a:p>
        </p:txBody>
      </p:sp>
      <p:sp>
        <p:nvSpPr>
          <p:cNvPr id="33" name="Shape 31"/>
          <p:cNvSpPr/>
          <p:nvPr/>
        </p:nvSpPr>
        <p:spPr>
          <a:xfrm>
            <a:off x="3429000" y="4087368"/>
            <a:ext cx="806079" cy="566928"/>
          </a:xfrm>
          <a:prstGeom prst="rect">
            <a:avLst/>
          </a:prstGeom>
          <a:solidFill>
            <a:srgbClr val="1E1E1E"/>
          </a:solidFill>
          <a:ln w="12700">
            <a:solidFill>
              <a:srgbClr val="1E1E1E"/>
            </a:solidFill>
            <a:prstDash val="solid"/>
          </a:ln>
        </p:spPr>
      </p:sp>
      <p:sp>
        <p:nvSpPr>
          <p:cNvPr id="34" name="Text 32"/>
          <p:cNvSpPr txBox="1"/>
          <p:nvPr/>
        </p:nvSpPr>
        <p:spPr>
          <a:xfrm>
            <a:off x="3429000" y="4087368"/>
            <a:ext cx="806079" cy="566928"/>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6</a:t>
            </a:r>
            <a:endParaRPr lang="en-US" sz="1200" dirty="0"/>
          </a:p>
        </p:txBody>
      </p:sp>
      <p:sp>
        <p:nvSpPr>
          <p:cNvPr id="35" name="Shape 33"/>
          <p:cNvSpPr/>
          <p:nvPr/>
        </p:nvSpPr>
        <p:spPr>
          <a:xfrm>
            <a:off x="4262511" y="4087368"/>
            <a:ext cx="4695796" cy="566928"/>
          </a:xfrm>
          <a:prstGeom prst="rect">
            <a:avLst/>
          </a:prstGeom>
          <a:solidFill>
            <a:srgbClr val="FCC30A"/>
          </a:solidFill>
          <a:ln w="12700">
            <a:solidFill>
              <a:srgbClr val="FCC30A"/>
            </a:solidFill>
            <a:prstDash val="solid"/>
          </a:ln>
        </p:spPr>
      </p:sp>
      <p:sp>
        <p:nvSpPr>
          <p:cNvPr id="36" name="Text 34"/>
          <p:cNvSpPr txBox="1"/>
          <p:nvPr/>
        </p:nvSpPr>
        <p:spPr>
          <a:xfrm>
            <a:off x="4262511" y="4087368"/>
            <a:ext cx="4695796" cy="566928"/>
          </a:xfrm>
          <a:prstGeom prst="rect">
            <a:avLst/>
          </a:prstGeom>
          <a:noFill/>
          <a:ln/>
        </p:spPr>
        <p:txBody>
          <a:bodyPr wrap="square" lIns="0" tIns="0" rIns="0" bIns="0" rtlCol="0" anchor="ctr"/>
          <a:lstStyle/>
          <a:p>
            <a:pPr algn="ctr" indent="0" marL="0">
              <a:buNone/>
            </a:pPr>
            <a:r>
              <a:rPr lang="en-US" sz="1200" b="1" dirty="0">
                <a:solidFill>
                  <a:srgbClr val="1E1E1E"/>
                </a:solidFill>
                <a:latin typeface="Arial" pitchFamily="34" charset="0"/>
                <a:ea typeface="Arial" pitchFamily="34" charset="-122"/>
                <a:cs typeface="Arial" pitchFamily="34" charset="-120"/>
              </a:rPr>
              <a:t>Pig all coils in conjunction: 34 h</a:t>
            </a:r>
            <a:endParaRPr lang="en-US" sz="1200" dirty="0"/>
          </a:p>
        </p:txBody>
      </p:sp>
      <p:sp>
        <p:nvSpPr>
          <p:cNvPr id="37" name="Shape 35"/>
          <p:cNvSpPr/>
          <p:nvPr/>
        </p:nvSpPr>
        <p:spPr>
          <a:xfrm>
            <a:off x="8985738" y="4087368"/>
            <a:ext cx="806079" cy="566928"/>
          </a:xfrm>
          <a:prstGeom prst="rect">
            <a:avLst/>
          </a:prstGeom>
          <a:solidFill>
            <a:srgbClr val="1E1E1E"/>
          </a:solidFill>
          <a:ln w="12700">
            <a:solidFill>
              <a:srgbClr val="1E1E1E"/>
            </a:solidFill>
            <a:prstDash val="solid"/>
          </a:ln>
        </p:spPr>
      </p:sp>
      <p:sp>
        <p:nvSpPr>
          <p:cNvPr id="38" name="Text 36"/>
          <p:cNvSpPr txBox="1"/>
          <p:nvPr/>
        </p:nvSpPr>
        <p:spPr>
          <a:xfrm>
            <a:off x="8985738" y="4087368"/>
            <a:ext cx="806079" cy="566928"/>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6</a:t>
            </a:r>
            <a:endParaRPr lang="en-US" sz="1200" dirty="0"/>
          </a:p>
        </p:txBody>
      </p:sp>
      <p:sp>
        <p:nvSpPr>
          <p:cNvPr id="39" name="Text 37"/>
          <p:cNvSpPr txBox="1"/>
          <p:nvPr/>
        </p:nvSpPr>
        <p:spPr>
          <a:xfrm>
            <a:off x="9928977" y="4087368"/>
            <a:ext cx="822960" cy="566928"/>
          </a:xfrm>
          <a:prstGeom prst="rect">
            <a:avLst/>
          </a:prstGeom>
          <a:noFill/>
          <a:ln/>
        </p:spPr>
        <p:txBody>
          <a:bodyPr wrap="square" lIns="0" tIns="0" rIns="0" bIns="0" rtlCol="0" anchor="ctr"/>
          <a:lstStyle/>
          <a:p>
            <a:pPr indent="0" marL="0">
              <a:buNone/>
            </a:pPr>
            <a:r>
              <a:rPr lang="en-US" sz="1800" b="1" dirty="0">
                <a:solidFill>
                  <a:srgbClr val="222222"/>
                </a:solidFill>
                <a:latin typeface="Arial" pitchFamily="34" charset="0"/>
                <a:ea typeface="Arial" pitchFamily="34" charset="-122"/>
                <a:cs typeface="Arial" pitchFamily="34" charset="-120"/>
              </a:rPr>
              <a:t>46 h</a:t>
            </a:r>
            <a:endParaRPr lang="en-US" sz="1800" dirty="0"/>
          </a:p>
        </p:txBody>
      </p:sp>
      <p:sp>
        <p:nvSpPr>
          <p:cNvPr id="40" name="Text 38"/>
          <p:cNvSpPr txBox="1"/>
          <p:nvPr/>
        </p:nvSpPr>
        <p:spPr>
          <a:xfrm>
            <a:off x="548640" y="4965192"/>
            <a:ext cx="2743200" cy="566928"/>
          </a:xfrm>
          <a:prstGeom prst="rect">
            <a:avLst/>
          </a:prstGeom>
          <a:noFill/>
          <a:ln/>
        </p:spPr>
        <p:txBody>
          <a:bodyPr wrap="square" lIns="0" tIns="0" rIns="0" bIns="0" rtlCol="0" anchor="ctr"/>
          <a:lstStyle/>
          <a:p>
            <a:pPr indent="0" marL="0">
              <a:buNone/>
            </a:pPr>
            <a:r>
              <a:rPr lang="en-US" sz="1300" b="1" dirty="0">
                <a:solidFill>
                  <a:srgbClr val="222222"/>
                </a:solidFill>
                <a:latin typeface="Arial" pitchFamily="34" charset="0"/>
                <a:ea typeface="Arial" pitchFamily="34" charset="-122"/>
                <a:cs typeface="Arial" pitchFamily="34" charset="-120"/>
              </a:rPr>
              <a:t>Wilmington DCU, H-101</a:t>
            </a:r>
            <a:endParaRPr lang="en-US" sz="1300" dirty="0"/>
          </a:p>
        </p:txBody>
      </p:sp>
      <p:sp>
        <p:nvSpPr>
          <p:cNvPr id="41" name="Shape 39"/>
          <p:cNvSpPr/>
          <p:nvPr/>
        </p:nvSpPr>
        <p:spPr>
          <a:xfrm>
            <a:off x="3429000" y="4965192"/>
            <a:ext cx="806079" cy="566928"/>
          </a:xfrm>
          <a:prstGeom prst="rect">
            <a:avLst/>
          </a:prstGeom>
          <a:solidFill>
            <a:srgbClr val="1E1E1E"/>
          </a:solidFill>
          <a:ln w="12700">
            <a:solidFill>
              <a:srgbClr val="1E1E1E"/>
            </a:solidFill>
            <a:prstDash val="solid"/>
          </a:ln>
        </p:spPr>
      </p:sp>
      <p:sp>
        <p:nvSpPr>
          <p:cNvPr id="42" name="Text 40"/>
          <p:cNvSpPr txBox="1"/>
          <p:nvPr/>
        </p:nvSpPr>
        <p:spPr>
          <a:xfrm>
            <a:off x="3429000" y="4965192"/>
            <a:ext cx="806079" cy="566928"/>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6</a:t>
            </a:r>
            <a:endParaRPr lang="en-US" sz="1200" dirty="0"/>
          </a:p>
        </p:txBody>
      </p:sp>
      <p:sp>
        <p:nvSpPr>
          <p:cNvPr id="43" name="Shape 41"/>
          <p:cNvSpPr/>
          <p:nvPr/>
        </p:nvSpPr>
        <p:spPr>
          <a:xfrm>
            <a:off x="4262511" y="4965192"/>
            <a:ext cx="2473100" cy="566928"/>
          </a:xfrm>
          <a:prstGeom prst="rect">
            <a:avLst/>
          </a:prstGeom>
          <a:solidFill>
            <a:srgbClr val="FCC30A"/>
          </a:solidFill>
          <a:ln w="12700">
            <a:solidFill>
              <a:srgbClr val="FCC30A"/>
            </a:solidFill>
            <a:prstDash val="solid"/>
          </a:ln>
        </p:spPr>
      </p:sp>
      <p:sp>
        <p:nvSpPr>
          <p:cNvPr id="44" name="Text 42"/>
          <p:cNvSpPr txBox="1"/>
          <p:nvPr/>
        </p:nvSpPr>
        <p:spPr>
          <a:xfrm>
            <a:off x="4262511" y="4965192"/>
            <a:ext cx="2473100" cy="566928"/>
          </a:xfrm>
          <a:prstGeom prst="rect">
            <a:avLst/>
          </a:prstGeom>
          <a:noFill/>
          <a:ln/>
        </p:spPr>
        <p:txBody>
          <a:bodyPr wrap="square" lIns="0" tIns="0" rIns="0" bIns="0" rtlCol="0" anchor="ctr"/>
          <a:lstStyle/>
          <a:p>
            <a:pPr algn="ctr" indent="0" marL="0">
              <a:buNone/>
            </a:pPr>
            <a:r>
              <a:rPr lang="en-US" sz="1200" b="1" dirty="0">
                <a:solidFill>
                  <a:srgbClr val="1E1E1E"/>
                </a:solidFill>
                <a:latin typeface="Arial" pitchFamily="34" charset="0"/>
                <a:ea typeface="Arial" pitchFamily="34" charset="-122"/>
                <a:cs typeface="Arial" pitchFamily="34" charset="-120"/>
              </a:rPr>
              <a:t>Pig coils 1 &amp; 2: 18 h</a:t>
            </a:r>
            <a:endParaRPr lang="en-US" sz="1200" dirty="0"/>
          </a:p>
        </p:txBody>
      </p:sp>
      <p:sp>
        <p:nvSpPr>
          <p:cNvPr id="45" name="Shape 43"/>
          <p:cNvSpPr/>
          <p:nvPr/>
        </p:nvSpPr>
        <p:spPr>
          <a:xfrm>
            <a:off x="6763043" y="4965192"/>
            <a:ext cx="528242" cy="566928"/>
          </a:xfrm>
          <a:prstGeom prst="rect">
            <a:avLst/>
          </a:prstGeom>
          <a:solidFill>
            <a:srgbClr val="BDBDBD"/>
          </a:solidFill>
          <a:ln w="12700">
            <a:solidFill>
              <a:srgbClr val="BDBDBD"/>
            </a:solidFill>
            <a:prstDash val="solid"/>
          </a:ln>
        </p:spPr>
      </p:sp>
      <p:sp>
        <p:nvSpPr>
          <p:cNvPr id="46" name="Text 44"/>
          <p:cNvSpPr txBox="1"/>
          <p:nvPr/>
        </p:nvSpPr>
        <p:spPr>
          <a:xfrm>
            <a:off x="6763043" y="4965192"/>
            <a:ext cx="528242" cy="566928"/>
          </a:xfrm>
          <a:prstGeom prst="rect">
            <a:avLst/>
          </a:prstGeom>
          <a:noFill/>
          <a:ln/>
        </p:spPr>
        <p:txBody>
          <a:bodyPr wrap="square" lIns="0" tIns="0" rIns="0" bIns="0" rtlCol="0" anchor="ctr"/>
          <a:lstStyle/>
          <a:p>
            <a:pPr algn="ctr" indent="0" marL="0">
              <a:buNone/>
            </a:pPr>
            <a:r>
              <a:rPr lang="en-US" sz="1200" b="1" dirty="0">
                <a:solidFill>
                  <a:srgbClr val="1E1E1E"/>
                </a:solidFill>
                <a:latin typeface="Arial" pitchFamily="34" charset="0"/>
                <a:ea typeface="Arial" pitchFamily="34" charset="-122"/>
                <a:cs typeface="Arial" pitchFamily="34" charset="-120"/>
              </a:rPr>
              <a:t>4</a:t>
            </a:r>
            <a:endParaRPr lang="en-US" sz="1200" dirty="0"/>
          </a:p>
        </p:txBody>
      </p:sp>
      <p:sp>
        <p:nvSpPr>
          <p:cNvPr id="47" name="Shape 45"/>
          <p:cNvSpPr/>
          <p:nvPr/>
        </p:nvSpPr>
        <p:spPr>
          <a:xfrm>
            <a:off x="7318717" y="4965192"/>
            <a:ext cx="2473100" cy="566928"/>
          </a:xfrm>
          <a:prstGeom prst="rect">
            <a:avLst/>
          </a:prstGeom>
          <a:solidFill>
            <a:srgbClr val="FCC30A"/>
          </a:solidFill>
          <a:ln w="12700">
            <a:solidFill>
              <a:srgbClr val="FCC30A"/>
            </a:solidFill>
            <a:prstDash val="solid"/>
          </a:ln>
        </p:spPr>
      </p:sp>
      <p:sp>
        <p:nvSpPr>
          <p:cNvPr id="48" name="Text 46"/>
          <p:cNvSpPr txBox="1"/>
          <p:nvPr/>
        </p:nvSpPr>
        <p:spPr>
          <a:xfrm>
            <a:off x="7318717" y="4965192"/>
            <a:ext cx="2473100" cy="566928"/>
          </a:xfrm>
          <a:prstGeom prst="rect">
            <a:avLst/>
          </a:prstGeom>
          <a:noFill/>
          <a:ln/>
        </p:spPr>
        <p:txBody>
          <a:bodyPr wrap="square" lIns="0" tIns="0" rIns="0" bIns="0" rtlCol="0" anchor="ctr"/>
          <a:lstStyle/>
          <a:p>
            <a:pPr algn="ctr" indent="0" marL="0">
              <a:buNone/>
            </a:pPr>
            <a:r>
              <a:rPr lang="en-US" sz="1200" b="1" dirty="0">
                <a:solidFill>
                  <a:srgbClr val="1E1E1E"/>
                </a:solidFill>
                <a:latin typeface="Arial" pitchFamily="34" charset="0"/>
                <a:ea typeface="Arial" pitchFamily="34" charset="-122"/>
                <a:cs typeface="Arial" pitchFamily="34" charset="-120"/>
              </a:rPr>
              <a:t>Pig coils 3 &amp; 4: 18 h</a:t>
            </a:r>
            <a:endParaRPr lang="en-US" sz="1200" dirty="0"/>
          </a:p>
        </p:txBody>
      </p:sp>
      <p:sp>
        <p:nvSpPr>
          <p:cNvPr id="49" name="Shape 47"/>
          <p:cNvSpPr/>
          <p:nvPr/>
        </p:nvSpPr>
        <p:spPr>
          <a:xfrm>
            <a:off x="9819249" y="4965192"/>
            <a:ext cx="806079" cy="566928"/>
          </a:xfrm>
          <a:prstGeom prst="rect">
            <a:avLst/>
          </a:prstGeom>
          <a:solidFill>
            <a:srgbClr val="1E1E1E"/>
          </a:solidFill>
          <a:ln w="12700">
            <a:solidFill>
              <a:srgbClr val="1E1E1E"/>
            </a:solidFill>
            <a:prstDash val="solid"/>
          </a:ln>
        </p:spPr>
      </p:sp>
      <p:sp>
        <p:nvSpPr>
          <p:cNvPr id="50" name="Text 48"/>
          <p:cNvSpPr txBox="1"/>
          <p:nvPr/>
        </p:nvSpPr>
        <p:spPr>
          <a:xfrm>
            <a:off x="9819249" y="4965192"/>
            <a:ext cx="806079" cy="566928"/>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6</a:t>
            </a:r>
            <a:endParaRPr lang="en-US" sz="1200" dirty="0"/>
          </a:p>
        </p:txBody>
      </p:sp>
      <p:sp>
        <p:nvSpPr>
          <p:cNvPr id="51" name="Text 49"/>
          <p:cNvSpPr txBox="1"/>
          <p:nvPr/>
        </p:nvSpPr>
        <p:spPr>
          <a:xfrm>
            <a:off x="10762488" y="4965192"/>
            <a:ext cx="822960" cy="566928"/>
          </a:xfrm>
          <a:prstGeom prst="rect">
            <a:avLst/>
          </a:prstGeom>
          <a:noFill/>
          <a:ln/>
        </p:spPr>
        <p:txBody>
          <a:bodyPr wrap="square" lIns="0" tIns="0" rIns="0" bIns="0" rtlCol="0" anchor="ctr"/>
          <a:lstStyle/>
          <a:p>
            <a:pPr indent="0" marL="0">
              <a:buNone/>
            </a:pPr>
            <a:r>
              <a:rPr lang="en-US" sz="1800" b="1" dirty="0">
                <a:solidFill>
                  <a:srgbClr val="222222"/>
                </a:solidFill>
                <a:latin typeface="Arial" pitchFamily="34" charset="0"/>
                <a:ea typeface="Arial" pitchFamily="34" charset="-122"/>
                <a:cs typeface="Arial" pitchFamily="34" charset="-120"/>
              </a:rPr>
              <a:t>52 h</a:t>
            </a:r>
            <a:endParaRPr lang="en-US" sz="1800" dirty="0"/>
          </a:p>
        </p:txBody>
      </p:sp>
      <p:sp>
        <p:nvSpPr>
          <p:cNvPr id="52" name="Shape 50"/>
          <p:cNvSpPr/>
          <p:nvPr/>
        </p:nvSpPr>
        <p:spPr>
          <a:xfrm>
            <a:off x="3429000" y="5897880"/>
            <a:ext cx="256032" cy="182880"/>
          </a:xfrm>
          <a:prstGeom prst="rect">
            <a:avLst/>
          </a:prstGeom>
          <a:solidFill>
            <a:srgbClr val="1E1E1E"/>
          </a:solidFill>
          <a:ln w="12700">
            <a:solidFill>
              <a:srgbClr val="1E1E1E"/>
            </a:solidFill>
            <a:prstDash val="solid"/>
          </a:ln>
        </p:spPr>
      </p:sp>
      <p:sp>
        <p:nvSpPr>
          <p:cNvPr id="53" name="Text 51"/>
          <p:cNvSpPr txBox="1"/>
          <p:nvPr/>
        </p:nvSpPr>
        <p:spPr>
          <a:xfrm>
            <a:off x="3776472" y="5852160"/>
            <a:ext cx="1737360" cy="274320"/>
          </a:xfrm>
          <a:prstGeom prst="rect">
            <a:avLst/>
          </a:prstGeom>
          <a:noFill/>
          <a:ln/>
        </p:spPr>
        <p:txBody>
          <a:bodyPr wrap="square" lIns="0" tIns="0" rIns="0" bIns="0" rtlCol="0" anchor="ctr"/>
          <a:lstStyle/>
          <a:p>
            <a:pPr indent="0" marL="0">
              <a:buNone/>
            </a:pPr>
            <a:r>
              <a:rPr lang="en-US" sz="1100" dirty="0">
                <a:solidFill>
                  <a:srgbClr val="5E5E5E"/>
                </a:solidFill>
                <a:latin typeface="Arial" pitchFamily="34" charset="0"/>
                <a:ea typeface="Arial" pitchFamily="34" charset="-122"/>
                <a:cs typeface="Arial" pitchFamily="34" charset="-120"/>
              </a:rPr>
              <a:t>Rig-in / rig-out</a:t>
            </a:r>
            <a:endParaRPr lang="en-US" sz="1100" dirty="0"/>
          </a:p>
        </p:txBody>
      </p:sp>
      <p:sp>
        <p:nvSpPr>
          <p:cNvPr id="54" name="Shape 52"/>
          <p:cNvSpPr/>
          <p:nvPr/>
        </p:nvSpPr>
        <p:spPr>
          <a:xfrm>
            <a:off x="5532120" y="5897880"/>
            <a:ext cx="256032" cy="182880"/>
          </a:xfrm>
          <a:prstGeom prst="rect">
            <a:avLst/>
          </a:prstGeom>
          <a:solidFill>
            <a:srgbClr val="FCC30A"/>
          </a:solidFill>
          <a:ln w="12700">
            <a:solidFill>
              <a:srgbClr val="FCC30A"/>
            </a:solidFill>
            <a:prstDash val="solid"/>
          </a:ln>
        </p:spPr>
      </p:sp>
      <p:sp>
        <p:nvSpPr>
          <p:cNvPr id="55" name="Text 53"/>
          <p:cNvSpPr txBox="1"/>
          <p:nvPr/>
        </p:nvSpPr>
        <p:spPr>
          <a:xfrm>
            <a:off x="5879592" y="5852160"/>
            <a:ext cx="1737360" cy="274320"/>
          </a:xfrm>
          <a:prstGeom prst="rect">
            <a:avLst/>
          </a:prstGeom>
          <a:noFill/>
          <a:ln/>
        </p:spPr>
        <p:txBody>
          <a:bodyPr wrap="square" lIns="0" tIns="0" rIns="0" bIns="0" rtlCol="0" anchor="ctr"/>
          <a:lstStyle/>
          <a:p>
            <a:pPr indent="0" marL="0">
              <a:buNone/>
            </a:pPr>
            <a:r>
              <a:rPr lang="en-US" sz="1100" dirty="0">
                <a:solidFill>
                  <a:srgbClr val="5E5E5E"/>
                </a:solidFill>
                <a:latin typeface="Arial" pitchFamily="34" charset="0"/>
                <a:ea typeface="Arial" pitchFamily="34" charset="-122"/>
                <a:cs typeface="Arial" pitchFamily="34" charset="-120"/>
              </a:rPr>
              <a:t>Pigging</a:t>
            </a:r>
            <a:endParaRPr lang="en-US" sz="1100" dirty="0"/>
          </a:p>
        </p:txBody>
      </p:sp>
      <p:sp>
        <p:nvSpPr>
          <p:cNvPr id="56" name="Shape 54"/>
          <p:cNvSpPr/>
          <p:nvPr/>
        </p:nvSpPr>
        <p:spPr>
          <a:xfrm>
            <a:off x="7635240" y="5897880"/>
            <a:ext cx="256032" cy="182880"/>
          </a:xfrm>
          <a:prstGeom prst="rect">
            <a:avLst/>
          </a:prstGeom>
          <a:solidFill>
            <a:srgbClr val="BDBDBD"/>
          </a:solidFill>
          <a:ln w="12700">
            <a:solidFill>
              <a:srgbClr val="BDBDBD"/>
            </a:solidFill>
            <a:prstDash val="solid"/>
          </a:ln>
        </p:spPr>
      </p:sp>
      <p:sp>
        <p:nvSpPr>
          <p:cNvPr id="57" name="Text 55"/>
          <p:cNvSpPr txBox="1"/>
          <p:nvPr/>
        </p:nvSpPr>
        <p:spPr>
          <a:xfrm>
            <a:off x="7982712" y="5852160"/>
            <a:ext cx="1737360" cy="274320"/>
          </a:xfrm>
          <a:prstGeom prst="rect">
            <a:avLst/>
          </a:prstGeom>
          <a:noFill/>
          <a:ln/>
        </p:spPr>
        <p:txBody>
          <a:bodyPr wrap="square" lIns="0" tIns="0" rIns="0" bIns="0" rtlCol="0" anchor="ctr"/>
          <a:lstStyle/>
          <a:p>
            <a:pPr indent="0" marL="0">
              <a:buNone/>
            </a:pPr>
            <a:r>
              <a:rPr lang="en-US" sz="1100" dirty="0">
                <a:solidFill>
                  <a:srgbClr val="5E5E5E"/>
                </a:solidFill>
                <a:latin typeface="Arial" pitchFamily="34" charset="0"/>
                <a:ea typeface="Arial" pitchFamily="34" charset="-122"/>
                <a:cs typeface="Arial" pitchFamily="34" charset="-120"/>
              </a:rPr>
              <a:t>Rig-over</a:t>
            </a:r>
            <a:endParaRPr lang="en-US" sz="1100" dirty="0"/>
          </a:p>
        </p:txBody>
      </p:sp>
      <p:sp>
        <p:nvSpPr>
          <p:cNvPr id="58" name="Text 56"/>
          <p:cNvSpPr txBox="1"/>
          <p:nvPr/>
        </p:nvSpPr>
        <p:spPr>
          <a:xfrm>
            <a:off x="548640" y="5852160"/>
            <a:ext cx="2743200" cy="365760"/>
          </a:xfrm>
          <a:prstGeom prst="rect">
            <a:avLst/>
          </a:prstGeom>
          <a:noFill/>
          <a:ln/>
        </p:spPr>
        <p:txBody>
          <a:bodyPr wrap="square" lIns="0" tIns="0" rIns="0" bIns="0" rtlCol="0" anchor="t"/>
          <a:lstStyle/>
          <a:p>
            <a:pPr indent="0" marL="0">
              <a:buNone/>
            </a:pPr>
            <a:r>
              <a:rPr lang="en-US" sz="1000" i="1" dirty="0">
                <a:solidFill>
                  <a:srgbClr val="8A8A8A"/>
                </a:solidFill>
                <a:latin typeface="Arial" pitchFamily="34" charset="0"/>
                <a:ea typeface="Arial" pitchFamily="34" charset="-122"/>
                <a:cs typeface="Arial" pitchFamily="34" charset="-120"/>
              </a:rPr>
              <a:t>Per occurrence; durations are not consecutive</a:t>
            </a:r>
            <a:endParaRPr lang="en-US" sz="1000" dirty="0"/>
          </a:p>
        </p:txBody>
      </p:sp>
      <p:sp>
        <p:nvSpPr>
          <p:cNvPr id="59" name="Text 57"/>
          <p:cNvSpPr txBox="1"/>
          <p:nvPr/>
        </p:nvSpPr>
        <p:spPr>
          <a:xfrm>
            <a:off x="548640" y="6419088"/>
            <a:ext cx="7315200" cy="228600"/>
          </a:xfrm>
          <a:prstGeom prst="rect">
            <a:avLst/>
          </a:prstGeom>
          <a:noFill/>
          <a:ln/>
        </p:spPr>
        <p:txBody>
          <a:bodyPr wrap="square" lIns="0" tIns="0" rIns="0" bIns="0" rtlCol="0" anchor="ctr"/>
          <a:lstStyle/>
          <a:p>
            <a:pPr indent="0" marL="0">
              <a:buNone/>
            </a:pPr>
            <a:r>
              <a:rPr lang="en-US" sz="900" dirty="0">
                <a:solidFill>
                  <a:srgbClr val="9A9A9A"/>
                </a:solidFill>
                <a:latin typeface="Arial" pitchFamily="34" charset="0"/>
                <a:ea typeface="Arial" pitchFamily="34" charset="-122"/>
                <a:cs typeface="Arial" pitchFamily="34" charset="-120"/>
              </a:rPr>
              <a:t>USA DeBusk  |  LAR Heater Pigging &amp; Decoking Services  |  DSP#26098</a:t>
            </a:r>
            <a:endParaRPr lang="en-US" sz="900" dirty="0"/>
          </a:p>
        </p:txBody>
      </p:sp>
      <p:sp>
        <p:nvSpPr>
          <p:cNvPr id="60" name="Text 58"/>
          <p:cNvSpPr txBox="1"/>
          <p:nvPr/>
        </p:nvSpPr>
        <p:spPr>
          <a:xfrm>
            <a:off x="11155680" y="6419088"/>
            <a:ext cx="484632" cy="228600"/>
          </a:xfrm>
          <a:prstGeom prst="rect">
            <a:avLst/>
          </a:prstGeom>
          <a:noFill/>
          <a:ln/>
        </p:spPr>
        <p:txBody>
          <a:bodyPr wrap="square" lIns="0" tIns="0" rIns="0" bIns="0" rtlCol="0" anchor="ctr"/>
          <a:lstStyle/>
          <a:p>
            <a:pPr algn="r" indent="0" marL="0">
              <a:buNone/>
            </a:pPr>
            <a:r>
              <a:rPr lang="en-US" sz="900" dirty="0">
                <a:solidFill>
                  <a:srgbClr val="9A9A9A"/>
                </a:solidFill>
                <a:latin typeface="Arial" pitchFamily="34" charset="0"/>
                <a:ea typeface="Arial" pitchFamily="34" charset="-122"/>
                <a:cs typeface="Arial"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E1E1E"/>
        </a:solidFill>
      </p:bgPr>
    </p:bg>
    <p:spTree>
      <p:nvGrpSpPr>
        <p:cNvPr id="1" name=""/>
        <p:cNvGrpSpPr/>
        <p:nvPr/>
      </p:nvGrpSpPr>
      <p:grpSpPr>
        <a:xfrm>
          <a:off x="0" y="0"/>
          <a:ext cx="0" cy="0"/>
          <a:chOff x="0" y="0"/>
          <a:chExt cx="0" cy="0"/>
        </a:xfrm>
      </p:grpSpPr>
      <p:sp>
        <p:nvSpPr>
          <p:cNvPr id="2" name="Shape 0"/>
          <p:cNvSpPr/>
          <p:nvPr/>
        </p:nvSpPr>
        <p:spPr>
          <a:xfrm>
            <a:off x="548640" y="411480"/>
            <a:ext cx="3278619" cy="310896"/>
          </a:xfrm>
          <a:prstGeom prst="roundRect">
            <a:avLst>
              <a:gd name="adj" fmla="val 23529"/>
            </a:avLst>
          </a:prstGeom>
          <a:solidFill>
            <a:srgbClr val="FCC30A"/>
          </a:solidFill>
          <a:ln w="12700">
            <a:solidFill>
              <a:srgbClr val="FCC30A"/>
            </a:solidFill>
            <a:prstDash val="solid"/>
          </a:ln>
        </p:spPr>
      </p:sp>
      <p:sp>
        <p:nvSpPr>
          <p:cNvPr id="3" name="Text 1"/>
          <p:cNvSpPr txBox="1"/>
          <p:nvPr/>
        </p:nvSpPr>
        <p:spPr>
          <a:xfrm>
            <a:off x="548640" y="411480"/>
            <a:ext cx="3278619" cy="310896"/>
          </a:xfrm>
          <a:prstGeom prst="rect">
            <a:avLst/>
          </a:prstGeom>
          <a:noFill/>
          <a:ln/>
        </p:spPr>
        <p:txBody>
          <a:bodyPr wrap="square" lIns="0" tIns="0" rIns="0" bIns="0" rtlCol="0" anchor="ctr"/>
          <a:lstStyle/>
          <a:p>
            <a:pPr algn="ctr" indent="0" marL="0">
              <a:buNone/>
            </a:pPr>
            <a:r>
              <a:rPr lang="en-US" sz="1050" b="1" spc="150" kern="0" dirty="0">
                <a:solidFill>
                  <a:srgbClr val="1E1E1E"/>
                </a:solidFill>
                <a:latin typeface="Arial" pitchFamily="34" charset="0"/>
                <a:ea typeface="Arial" pitchFamily="34" charset="-122"/>
                <a:cs typeface="Arial" pitchFamily="34" charset="-120"/>
              </a:rPr>
              <a:t>02   EXECUTION PLAN &amp; SCHEDULE</a:t>
            </a:r>
            <a:endParaRPr lang="en-US" sz="1050" dirty="0"/>
          </a:p>
        </p:txBody>
      </p:sp>
      <p:sp>
        <p:nvSpPr>
          <p:cNvPr id="4" name="Text 2"/>
          <p:cNvSpPr txBox="1"/>
          <p:nvPr/>
        </p:nvSpPr>
        <p:spPr>
          <a:xfrm>
            <a:off x="548640" y="841248"/>
            <a:ext cx="11064240" cy="731520"/>
          </a:xfrm>
          <a:prstGeom prst="rect">
            <a:avLst/>
          </a:prstGeom>
          <a:noFill/>
          <a:ln/>
        </p:spPr>
        <p:txBody>
          <a:bodyPr wrap="square" lIns="0" tIns="0" rIns="0" bIns="0" rtlCol="0" anchor="t"/>
          <a:lstStyle/>
          <a:p>
            <a:pPr indent="0" marL="0">
              <a:buNone/>
            </a:pPr>
            <a:r>
              <a:rPr lang="en-US" sz="3200" b="1" dirty="0">
                <a:solidFill>
                  <a:srgbClr val="FFFFFF"/>
                </a:solidFill>
                <a:latin typeface="Arial" pitchFamily="34" charset="0"/>
                <a:ea typeface="Arial" pitchFamily="34" charset="-122"/>
                <a:cs typeface="Arial" pitchFamily="34" charset="-120"/>
              </a:rPr>
              <a:t>Five-year program at a glance</a:t>
            </a:r>
            <a:endParaRPr lang="en-US" sz="3200" dirty="0"/>
          </a:p>
        </p:txBody>
      </p:sp>
      <p:sp>
        <p:nvSpPr>
          <p:cNvPr id="5" name="Text 3"/>
          <p:cNvSpPr txBox="1"/>
          <p:nvPr/>
        </p:nvSpPr>
        <p:spPr>
          <a:xfrm>
            <a:off x="548640" y="1481328"/>
            <a:ext cx="11064240" cy="365760"/>
          </a:xfrm>
          <a:prstGeom prst="rect">
            <a:avLst/>
          </a:prstGeom>
          <a:noFill/>
          <a:ln/>
        </p:spPr>
        <p:txBody>
          <a:bodyPr wrap="square" lIns="0" tIns="0" rIns="0" bIns="0" rtlCol="0" anchor="t"/>
          <a:lstStyle/>
          <a:p>
            <a:pPr indent="0" marL="0">
              <a:buNone/>
            </a:pPr>
            <a:r>
              <a:rPr lang="en-US" sz="1500" dirty="0">
                <a:solidFill>
                  <a:srgbClr val="BDBDBD"/>
                </a:solidFill>
                <a:latin typeface="Arial" pitchFamily="34" charset="0"/>
                <a:ea typeface="Arial" pitchFamily="34" charset="-122"/>
                <a:cs typeface="Arial" pitchFamily="34" charset="-120"/>
              </a:rPr>
              <a:t>Illustrative annual cadence: dates are set to Marathon's run-length and turnaround plan</a:t>
            </a:r>
            <a:endParaRPr lang="en-US" sz="1500" dirty="0"/>
          </a:p>
        </p:txBody>
      </p:sp>
      <p:sp>
        <p:nvSpPr>
          <p:cNvPr id="6" name="Text 4"/>
          <p:cNvSpPr txBox="1"/>
          <p:nvPr/>
        </p:nvSpPr>
        <p:spPr>
          <a:xfrm>
            <a:off x="3108960" y="2103120"/>
            <a:ext cx="384048" cy="274320"/>
          </a:xfrm>
          <a:prstGeom prst="rect">
            <a:avLst/>
          </a:prstGeom>
          <a:noFill/>
          <a:ln/>
        </p:spPr>
        <p:txBody>
          <a:bodyPr wrap="square" lIns="0" tIns="0" rIns="0" bIns="0" rtlCol="0" anchor="ctr"/>
          <a:lstStyle/>
          <a:p>
            <a:pPr algn="ctr" indent="0" marL="0">
              <a:buNone/>
            </a:pPr>
            <a:r>
              <a:rPr lang="en-US" sz="1100" dirty="0">
                <a:solidFill>
                  <a:srgbClr val="8A8A8A"/>
                </a:solidFill>
                <a:latin typeface="Arial" pitchFamily="34" charset="0"/>
                <a:ea typeface="Arial" pitchFamily="34" charset="-122"/>
                <a:cs typeface="Arial" pitchFamily="34" charset="-120"/>
              </a:rPr>
              <a:t>J</a:t>
            </a:r>
            <a:endParaRPr lang="en-US" sz="1100" dirty="0"/>
          </a:p>
        </p:txBody>
      </p:sp>
      <p:sp>
        <p:nvSpPr>
          <p:cNvPr id="7" name="Text 5"/>
          <p:cNvSpPr txBox="1"/>
          <p:nvPr/>
        </p:nvSpPr>
        <p:spPr>
          <a:xfrm>
            <a:off x="3493008" y="2103120"/>
            <a:ext cx="384048" cy="274320"/>
          </a:xfrm>
          <a:prstGeom prst="rect">
            <a:avLst/>
          </a:prstGeom>
          <a:noFill/>
          <a:ln/>
        </p:spPr>
        <p:txBody>
          <a:bodyPr wrap="square" lIns="0" tIns="0" rIns="0" bIns="0" rtlCol="0" anchor="ctr"/>
          <a:lstStyle/>
          <a:p>
            <a:pPr algn="ctr" indent="0" marL="0">
              <a:buNone/>
            </a:pPr>
            <a:r>
              <a:rPr lang="en-US" sz="1100" dirty="0">
                <a:solidFill>
                  <a:srgbClr val="8A8A8A"/>
                </a:solidFill>
                <a:latin typeface="Arial" pitchFamily="34" charset="0"/>
                <a:ea typeface="Arial" pitchFamily="34" charset="-122"/>
                <a:cs typeface="Arial" pitchFamily="34" charset="-120"/>
              </a:rPr>
              <a:t>F</a:t>
            </a:r>
            <a:endParaRPr lang="en-US" sz="1100" dirty="0"/>
          </a:p>
        </p:txBody>
      </p:sp>
      <p:sp>
        <p:nvSpPr>
          <p:cNvPr id="8" name="Text 6"/>
          <p:cNvSpPr txBox="1"/>
          <p:nvPr/>
        </p:nvSpPr>
        <p:spPr>
          <a:xfrm>
            <a:off x="3877056" y="2103120"/>
            <a:ext cx="384048" cy="274320"/>
          </a:xfrm>
          <a:prstGeom prst="rect">
            <a:avLst/>
          </a:prstGeom>
          <a:noFill/>
          <a:ln/>
        </p:spPr>
        <p:txBody>
          <a:bodyPr wrap="square" lIns="0" tIns="0" rIns="0" bIns="0" rtlCol="0" anchor="ctr"/>
          <a:lstStyle/>
          <a:p>
            <a:pPr algn="ctr" indent="0" marL="0">
              <a:buNone/>
            </a:pPr>
            <a:r>
              <a:rPr lang="en-US" sz="1100" dirty="0">
                <a:solidFill>
                  <a:srgbClr val="8A8A8A"/>
                </a:solidFill>
                <a:latin typeface="Arial" pitchFamily="34" charset="0"/>
                <a:ea typeface="Arial" pitchFamily="34" charset="-122"/>
                <a:cs typeface="Arial" pitchFamily="34" charset="-120"/>
              </a:rPr>
              <a:t>M</a:t>
            </a:r>
            <a:endParaRPr lang="en-US" sz="1100" dirty="0"/>
          </a:p>
        </p:txBody>
      </p:sp>
      <p:sp>
        <p:nvSpPr>
          <p:cNvPr id="9" name="Text 7"/>
          <p:cNvSpPr txBox="1"/>
          <p:nvPr/>
        </p:nvSpPr>
        <p:spPr>
          <a:xfrm>
            <a:off x="4261104" y="2103120"/>
            <a:ext cx="384048" cy="274320"/>
          </a:xfrm>
          <a:prstGeom prst="rect">
            <a:avLst/>
          </a:prstGeom>
          <a:noFill/>
          <a:ln/>
        </p:spPr>
        <p:txBody>
          <a:bodyPr wrap="square" lIns="0" tIns="0" rIns="0" bIns="0" rtlCol="0" anchor="ctr"/>
          <a:lstStyle/>
          <a:p>
            <a:pPr algn="ctr" indent="0" marL="0">
              <a:buNone/>
            </a:pPr>
            <a:r>
              <a:rPr lang="en-US" sz="1100" dirty="0">
                <a:solidFill>
                  <a:srgbClr val="8A8A8A"/>
                </a:solidFill>
                <a:latin typeface="Arial" pitchFamily="34" charset="0"/>
                <a:ea typeface="Arial" pitchFamily="34" charset="-122"/>
                <a:cs typeface="Arial" pitchFamily="34" charset="-120"/>
              </a:rPr>
              <a:t>A</a:t>
            </a:r>
            <a:endParaRPr lang="en-US" sz="1100" dirty="0"/>
          </a:p>
        </p:txBody>
      </p:sp>
      <p:sp>
        <p:nvSpPr>
          <p:cNvPr id="10" name="Text 8"/>
          <p:cNvSpPr txBox="1"/>
          <p:nvPr/>
        </p:nvSpPr>
        <p:spPr>
          <a:xfrm>
            <a:off x="4645152" y="2103120"/>
            <a:ext cx="384048" cy="274320"/>
          </a:xfrm>
          <a:prstGeom prst="rect">
            <a:avLst/>
          </a:prstGeom>
          <a:noFill/>
          <a:ln/>
        </p:spPr>
        <p:txBody>
          <a:bodyPr wrap="square" lIns="0" tIns="0" rIns="0" bIns="0" rtlCol="0" anchor="ctr"/>
          <a:lstStyle/>
          <a:p>
            <a:pPr algn="ctr" indent="0" marL="0">
              <a:buNone/>
            </a:pPr>
            <a:r>
              <a:rPr lang="en-US" sz="1100" dirty="0">
                <a:solidFill>
                  <a:srgbClr val="8A8A8A"/>
                </a:solidFill>
                <a:latin typeface="Arial" pitchFamily="34" charset="0"/>
                <a:ea typeface="Arial" pitchFamily="34" charset="-122"/>
                <a:cs typeface="Arial" pitchFamily="34" charset="-120"/>
              </a:rPr>
              <a:t>M</a:t>
            </a:r>
            <a:endParaRPr lang="en-US" sz="1100" dirty="0"/>
          </a:p>
        </p:txBody>
      </p:sp>
      <p:sp>
        <p:nvSpPr>
          <p:cNvPr id="11" name="Text 9"/>
          <p:cNvSpPr txBox="1"/>
          <p:nvPr/>
        </p:nvSpPr>
        <p:spPr>
          <a:xfrm>
            <a:off x="5029200" y="2103120"/>
            <a:ext cx="384048" cy="274320"/>
          </a:xfrm>
          <a:prstGeom prst="rect">
            <a:avLst/>
          </a:prstGeom>
          <a:noFill/>
          <a:ln/>
        </p:spPr>
        <p:txBody>
          <a:bodyPr wrap="square" lIns="0" tIns="0" rIns="0" bIns="0" rtlCol="0" anchor="ctr"/>
          <a:lstStyle/>
          <a:p>
            <a:pPr algn="ctr" indent="0" marL="0">
              <a:buNone/>
            </a:pPr>
            <a:r>
              <a:rPr lang="en-US" sz="1100" dirty="0">
                <a:solidFill>
                  <a:srgbClr val="8A8A8A"/>
                </a:solidFill>
                <a:latin typeface="Arial" pitchFamily="34" charset="0"/>
                <a:ea typeface="Arial" pitchFamily="34" charset="-122"/>
                <a:cs typeface="Arial" pitchFamily="34" charset="-120"/>
              </a:rPr>
              <a:t>J</a:t>
            </a:r>
            <a:endParaRPr lang="en-US" sz="1100" dirty="0"/>
          </a:p>
        </p:txBody>
      </p:sp>
      <p:sp>
        <p:nvSpPr>
          <p:cNvPr id="12" name="Text 10"/>
          <p:cNvSpPr txBox="1"/>
          <p:nvPr/>
        </p:nvSpPr>
        <p:spPr>
          <a:xfrm>
            <a:off x="5413248" y="2103120"/>
            <a:ext cx="384048" cy="274320"/>
          </a:xfrm>
          <a:prstGeom prst="rect">
            <a:avLst/>
          </a:prstGeom>
          <a:noFill/>
          <a:ln/>
        </p:spPr>
        <p:txBody>
          <a:bodyPr wrap="square" lIns="0" tIns="0" rIns="0" bIns="0" rtlCol="0" anchor="ctr"/>
          <a:lstStyle/>
          <a:p>
            <a:pPr algn="ctr" indent="0" marL="0">
              <a:buNone/>
            </a:pPr>
            <a:r>
              <a:rPr lang="en-US" sz="1100" dirty="0">
                <a:solidFill>
                  <a:srgbClr val="8A8A8A"/>
                </a:solidFill>
                <a:latin typeface="Arial" pitchFamily="34" charset="0"/>
                <a:ea typeface="Arial" pitchFamily="34" charset="-122"/>
                <a:cs typeface="Arial" pitchFamily="34" charset="-120"/>
              </a:rPr>
              <a:t>J</a:t>
            </a:r>
            <a:endParaRPr lang="en-US" sz="1100" dirty="0"/>
          </a:p>
        </p:txBody>
      </p:sp>
      <p:sp>
        <p:nvSpPr>
          <p:cNvPr id="13" name="Text 11"/>
          <p:cNvSpPr txBox="1"/>
          <p:nvPr/>
        </p:nvSpPr>
        <p:spPr>
          <a:xfrm>
            <a:off x="5797296" y="2103120"/>
            <a:ext cx="384048" cy="274320"/>
          </a:xfrm>
          <a:prstGeom prst="rect">
            <a:avLst/>
          </a:prstGeom>
          <a:noFill/>
          <a:ln/>
        </p:spPr>
        <p:txBody>
          <a:bodyPr wrap="square" lIns="0" tIns="0" rIns="0" bIns="0" rtlCol="0" anchor="ctr"/>
          <a:lstStyle/>
          <a:p>
            <a:pPr algn="ctr" indent="0" marL="0">
              <a:buNone/>
            </a:pPr>
            <a:r>
              <a:rPr lang="en-US" sz="1100" dirty="0">
                <a:solidFill>
                  <a:srgbClr val="8A8A8A"/>
                </a:solidFill>
                <a:latin typeface="Arial" pitchFamily="34" charset="0"/>
                <a:ea typeface="Arial" pitchFamily="34" charset="-122"/>
                <a:cs typeface="Arial" pitchFamily="34" charset="-120"/>
              </a:rPr>
              <a:t>A</a:t>
            </a:r>
            <a:endParaRPr lang="en-US" sz="1100" dirty="0"/>
          </a:p>
        </p:txBody>
      </p:sp>
      <p:sp>
        <p:nvSpPr>
          <p:cNvPr id="14" name="Text 12"/>
          <p:cNvSpPr txBox="1"/>
          <p:nvPr/>
        </p:nvSpPr>
        <p:spPr>
          <a:xfrm>
            <a:off x="6181344" y="2103120"/>
            <a:ext cx="384048" cy="274320"/>
          </a:xfrm>
          <a:prstGeom prst="rect">
            <a:avLst/>
          </a:prstGeom>
          <a:noFill/>
          <a:ln/>
        </p:spPr>
        <p:txBody>
          <a:bodyPr wrap="square" lIns="0" tIns="0" rIns="0" bIns="0" rtlCol="0" anchor="ctr"/>
          <a:lstStyle/>
          <a:p>
            <a:pPr algn="ctr" indent="0" marL="0">
              <a:buNone/>
            </a:pPr>
            <a:r>
              <a:rPr lang="en-US" sz="1100" dirty="0">
                <a:solidFill>
                  <a:srgbClr val="8A8A8A"/>
                </a:solidFill>
                <a:latin typeface="Arial" pitchFamily="34" charset="0"/>
                <a:ea typeface="Arial" pitchFamily="34" charset="-122"/>
                <a:cs typeface="Arial" pitchFamily="34" charset="-120"/>
              </a:rPr>
              <a:t>S</a:t>
            </a:r>
            <a:endParaRPr lang="en-US" sz="1100" dirty="0"/>
          </a:p>
        </p:txBody>
      </p:sp>
      <p:sp>
        <p:nvSpPr>
          <p:cNvPr id="15" name="Text 13"/>
          <p:cNvSpPr txBox="1"/>
          <p:nvPr/>
        </p:nvSpPr>
        <p:spPr>
          <a:xfrm>
            <a:off x="6565392" y="2103120"/>
            <a:ext cx="384048" cy="274320"/>
          </a:xfrm>
          <a:prstGeom prst="rect">
            <a:avLst/>
          </a:prstGeom>
          <a:noFill/>
          <a:ln/>
        </p:spPr>
        <p:txBody>
          <a:bodyPr wrap="square" lIns="0" tIns="0" rIns="0" bIns="0" rtlCol="0" anchor="ctr"/>
          <a:lstStyle/>
          <a:p>
            <a:pPr algn="ctr" indent="0" marL="0">
              <a:buNone/>
            </a:pPr>
            <a:r>
              <a:rPr lang="en-US" sz="1100" dirty="0">
                <a:solidFill>
                  <a:srgbClr val="8A8A8A"/>
                </a:solidFill>
                <a:latin typeface="Arial" pitchFamily="34" charset="0"/>
                <a:ea typeface="Arial" pitchFamily="34" charset="-122"/>
                <a:cs typeface="Arial" pitchFamily="34" charset="-120"/>
              </a:rPr>
              <a:t>O</a:t>
            </a:r>
            <a:endParaRPr lang="en-US" sz="1100" dirty="0"/>
          </a:p>
        </p:txBody>
      </p:sp>
      <p:sp>
        <p:nvSpPr>
          <p:cNvPr id="16" name="Text 14"/>
          <p:cNvSpPr txBox="1"/>
          <p:nvPr/>
        </p:nvSpPr>
        <p:spPr>
          <a:xfrm>
            <a:off x="6949440" y="2103120"/>
            <a:ext cx="384048" cy="274320"/>
          </a:xfrm>
          <a:prstGeom prst="rect">
            <a:avLst/>
          </a:prstGeom>
          <a:noFill/>
          <a:ln/>
        </p:spPr>
        <p:txBody>
          <a:bodyPr wrap="square" lIns="0" tIns="0" rIns="0" bIns="0" rtlCol="0" anchor="ctr"/>
          <a:lstStyle/>
          <a:p>
            <a:pPr algn="ctr" indent="0" marL="0">
              <a:buNone/>
            </a:pPr>
            <a:r>
              <a:rPr lang="en-US" sz="1100" dirty="0">
                <a:solidFill>
                  <a:srgbClr val="8A8A8A"/>
                </a:solidFill>
                <a:latin typeface="Arial" pitchFamily="34" charset="0"/>
                <a:ea typeface="Arial" pitchFamily="34" charset="-122"/>
                <a:cs typeface="Arial" pitchFamily="34" charset="-120"/>
              </a:rPr>
              <a:t>N</a:t>
            </a:r>
            <a:endParaRPr lang="en-US" sz="1100" dirty="0"/>
          </a:p>
        </p:txBody>
      </p:sp>
      <p:sp>
        <p:nvSpPr>
          <p:cNvPr id="17" name="Text 15"/>
          <p:cNvSpPr txBox="1"/>
          <p:nvPr/>
        </p:nvSpPr>
        <p:spPr>
          <a:xfrm>
            <a:off x="7333488" y="2103120"/>
            <a:ext cx="384048" cy="274320"/>
          </a:xfrm>
          <a:prstGeom prst="rect">
            <a:avLst/>
          </a:prstGeom>
          <a:noFill/>
          <a:ln/>
        </p:spPr>
        <p:txBody>
          <a:bodyPr wrap="square" lIns="0" tIns="0" rIns="0" bIns="0" rtlCol="0" anchor="ctr"/>
          <a:lstStyle/>
          <a:p>
            <a:pPr algn="ctr" indent="0" marL="0">
              <a:buNone/>
            </a:pPr>
            <a:r>
              <a:rPr lang="en-US" sz="1100" dirty="0">
                <a:solidFill>
                  <a:srgbClr val="8A8A8A"/>
                </a:solidFill>
                <a:latin typeface="Arial" pitchFamily="34" charset="0"/>
                <a:ea typeface="Arial" pitchFamily="34" charset="-122"/>
                <a:cs typeface="Arial" pitchFamily="34" charset="-120"/>
              </a:rPr>
              <a:t>D</a:t>
            </a:r>
            <a:endParaRPr lang="en-US" sz="1100" dirty="0"/>
          </a:p>
        </p:txBody>
      </p:sp>
      <p:sp>
        <p:nvSpPr>
          <p:cNvPr id="18" name="Text 16"/>
          <p:cNvSpPr txBox="1"/>
          <p:nvPr/>
        </p:nvSpPr>
        <p:spPr>
          <a:xfrm>
            <a:off x="548640" y="2514600"/>
            <a:ext cx="2468880" cy="457200"/>
          </a:xfrm>
          <a:prstGeom prst="rect">
            <a:avLst/>
          </a:prstGeom>
          <a:noFill/>
          <a:ln/>
        </p:spPr>
        <p:txBody>
          <a:bodyPr wrap="square" lIns="0" tIns="0" rIns="0" bIns="0" rtlCol="0" anchor="ctr"/>
          <a:lstStyle/>
          <a:p>
            <a:pPr indent="0" marL="0">
              <a:buNone/>
            </a:pPr>
            <a:r>
              <a:rPr lang="en-US" sz="1300" b="1" dirty="0">
                <a:solidFill>
                  <a:srgbClr val="FFFFFF"/>
                </a:solidFill>
                <a:latin typeface="Arial" pitchFamily="34" charset="0"/>
                <a:ea typeface="Arial" pitchFamily="34" charset="-122"/>
                <a:cs typeface="Arial" pitchFamily="34" charset="-120"/>
              </a:rPr>
              <a:t>Coker #1, Heater #1</a:t>
            </a:r>
            <a:endParaRPr lang="en-US" sz="1300" dirty="0"/>
          </a:p>
        </p:txBody>
      </p:sp>
      <p:sp>
        <p:nvSpPr>
          <p:cNvPr id="19" name="Shape 17"/>
          <p:cNvSpPr/>
          <p:nvPr/>
        </p:nvSpPr>
        <p:spPr>
          <a:xfrm>
            <a:off x="3108960" y="2587752"/>
            <a:ext cx="4608576" cy="310896"/>
          </a:xfrm>
          <a:prstGeom prst="rect">
            <a:avLst/>
          </a:prstGeom>
          <a:solidFill>
            <a:srgbClr val="2B2B2B"/>
          </a:solidFill>
          <a:ln w="12700">
            <a:solidFill>
              <a:srgbClr val="2B2B2B"/>
            </a:solidFill>
            <a:prstDash val="solid"/>
          </a:ln>
        </p:spPr>
      </p:sp>
      <p:sp>
        <p:nvSpPr>
          <p:cNvPr id="20" name="Shape 18"/>
          <p:cNvSpPr/>
          <p:nvPr/>
        </p:nvSpPr>
        <p:spPr>
          <a:xfrm>
            <a:off x="3502152" y="2560320"/>
            <a:ext cx="365760" cy="365760"/>
          </a:xfrm>
          <a:prstGeom prst="ellipse">
            <a:avLst/>
          </a:prstGeom>
          <a:solidFill>
            <a:srgbClr val="FCC30A"/>
          </a:solidFill>
          <a:ln w="25400">
            <a:solidFill>
              <a:srgbClr val="1E1E1E"/>
            </a:solidFill>
            <a:prstDash val="solid"/>
          </a:ln>
        </p:spPr>
      </p:sp>
      <p:sp>
        <p:nvSpPr>
          <p:cNvPr id="21" name="Shape 19"/>
          <p:cNvSpPr/>
          <p:nvPr/>
        </p:nvSpPr>
        <p:spPr>
          <a:xfrm>
            <a:off x="4654296" y="2560320"/>
            <a:ext cx="365760" cy="365760"/>
          </a:xfrm>
          <a:prstGeom prst="ellipse">
            <a:avLst/>
          </a:prstGeom>
          <a:solidFill>
            <a:srgbClr val="FCC30A"/>
          </a:solidFill>
          <a:ln w="25400">
            <a:solidFill>
              <a:srgbClr val="1E1E1E"/>
            </a:solidFill>
            <a:prstDash val="solid"/>
          </a:ln>
        </p:spPr>
      </p:sp>
      <p:sp>
        <p:nvSpPr>
          <p:cNvPr id="22" name="Shape 20"/>
          <p:cNvSpPr/>
          <p:nvPr/>
        </p:nvSpPr>
        <p:spPr>
          <a:xfrm>
            <a:off x="5806440" y="2560320"/>
            <a:ext cx="365760" cy="365760"/>
          </a:xfrm>
          <a:prstGeom prst="ellipse">
            <a:avLst/>
          </a:prstGeom>
          <a:solidFill>
            <a:srgbClr val="FCC30A"/>
          </a:solidFill>
          <a:ln w="25400">
            <a:solidFill>
              <a:srgbClr val="1E1E1E"/>
            </a:solidFill>
            <a:prstDash val="solid"/>
          </a:ln>
        </p:spPr>
      </p:sp>
      <p:sp>
        <p:nvSpPr>
          <p:cNvPr id="23" name="Shape 21"/>
          <p:cNvSpPr/>
          <p:nvPr/>
        </p:nvSpPr>
        <p:spPr>
          <a:xfrm>
            <a:off x="6958584" y="2560320"/>
            <a:ext cx="365760" cy="365760"/>
          </a:xfrm>
          <a:prstGeom prst="ellipse">
            <a:avLst/>
          </a:prstGeom>
          <a:solidFill>
            <a:srgbClr val="FCC30A"/>
          </a:solidFill>
          <a:ln w="25400">
            <a:solidFill>
              <a:srgbClr val="1E1E1E"/>
            </a:solidFill>
            <a:prstDash val="solid"/>
          </a:ln>
        </p:spPr>
      </p:sp>
      <p:sp>
        <p:nvSpPr>
          <p:cNvPr id="24" name="Text 22"/>
          <p:cNvSpPr txBox="1"/>
          <p:nvPr/>
        </p:nvSpPr>
        <p:spPr>
          <a:xfrm>
            <a:off x="7946136" y="2514600"/>
            <a:ext cx="914400" cy="457200"/>
          </a:xfrm>
          <a:prstGeom prst="rect">
            <a:avLst/>
          </a:prstGeom>
          <a:noFill/>
          <a:ln/>
        </p:spPr>
        <p:txBody>
          <a:bodyPr wrap="square" lIns="0" tIns="0" rIns="0" bIns="0" rtlCol="0" anchor="ctr"/>
          <a:lstStyle/>
          <a:p>
            <a:pPr indent="0" marL="0">
              <a:buNone/>
            </a:pPr>
            <a:r>
              <a:rPr lang="en-US" sz="1300" dirty="0">
                <a:solidFill>
                  <a:srgbClr val="BDBDBD"/>
                </a:solidFill>
                <a:latin typeface="Arial" pitchFamily="34" charset="0"/>
                <a:ea typeface="Arial" pitchFamily="34" charset="-122"/>
                <a:cs typeface="Arial" pitchFamily="34" charset="-120"/>
              </a:rPr>
              <a:t>4× / yr</a:t>
            </a:r>
            <a:endParaRPr lang="en-US" sz="1300" dirty="0"/>
          </a:p>
        </p:txBody>
      </p:sp>
      <p:sp>
        <p:nvSpPr>
          <p:cNvPr id="25" name="Text 23"/>
          <p:cNvSpPr txBox="1"/>
          <p:nvPr/>
        </p:nvSpPr>
        <p:spPr>
          <a:xfrm>
            <a:off x="548640" y="3246120"/>
            <a:ext cx="2468880" cy="457200"/>
          </a:xfrm>
          <a:prstGeom prst="rect">
            <a:avLst/>
          </a:prstGeom>
          <a:noFill/>
          <a:ln/>
        </p:spPr>
        <p:txBody>
          <a:bodyPr wrap="square" lIns="0" tIns="0" rIns="0" bIns="0" rtlCol="0" anchor="ctr"/>
          <a:lstStyle/>
          <a:p>
            <a:pPr indent="0" marL="0">
              <a:buNone/>
            </a:pPr>
            <a:r>
              <a:rPr lang="en-US" sz="1300" b="1" dirty="0">
                <a:solidFill>
                  <a:srgbClr val="FFFFFF"/>
                </a:solidFill>
                <a:latin typeface="Arial" pitchFamily="34" charset="0"/>
                <a:ea typeface="Arial" pitchFamily="34" charset="-122"/>
                <a:cs typeface="Arial" pitchFamily="34" charset="-120"/>
              </a:rPr>
              <a:t>Coker #1, Heater #2</a:t>
            </a:r>
            <a:endParaRPr lang="en-US" sz="1300" dirty="0"/>
          </a:p>
        </p:txBody>
      </p:sp>
      <p:sp>
        <p:nvSpPr>
          <p:cNvPr id="26" name="Shape 24"/>
          <p:cNvSpPr/>
          <p:nvPr/>
        </p:nvSpPr>
        <p:spPr>
          <a:xfrm>
            <a:off x="3108960" y="3319272"/>
            <a:ext cx="4608576" cy="310896"/>
          </a:xfrm>
          <a:prstGeom prst="rect">
            <a:avLst/>
          </a:prstGeom>
          <a:solidFill>
            <a:srgbClr val="2B2B2B"/>
          </a:solidFill>
          <a:ln w="12700">
            <a:solidFill>
              <a:srgbClr val="2B2B2B"/>
            </a:solidFill>
            <a:prstDash val="solid"/>
          </a:ln>
        </p:spPr>
      </p:sp>
      <p:sp>
        <p:nvSpPr>
          <p:cNvPr id="27" name="Shape 25"/>
          <p:cNvSpPr/>
          <p:nvPr/>
        </p:nvSpPr>
        <p:spPr>
          <a:xfrm>
            <a:off x="3886200" y="3291840"/>
            <a:ext cx="365760" cy="365760"/>
          </a:xfrm>
          <a:prstGeom prst="ellipse">
            <a:avLst/>
          </a:prstGeom>
          <a:solidFill>
            <a:srgbClr val="FCC30A"/>
          </a:solidFill>
          <a:ln w="25400">
            <a:solidFill>
              <a:srgbClr val="1E1E1E"/>
            </a:solidFill>
            <a:prstDash val="solid"/>
          </a:ln>
        </p:spPr>
      </p:sp>
      <p:sp>
        <p:nvSpPr>
          <p:cNvPr id="28" name="Shape 26"/>
          <p:cNvSpPr/>
          <p:nvPr/>
        </p:nvSpPr>
        <p:spPr>
          <a:xfrm>
            <a:off x="5038344" y="3291840"/>
            <a:ext cx="365760" cy="365760"/>
          </a:xfrm>
          <a:prstGeom prst="ellipse">
            <a:avLst/>
          </a:prstGeom>
          <a:solidFill>
            <a:srgbClr val="FCC30A"/>
          </a:solidFill>
          <a:ln w="25400">
            <a:solidFill>
              <a:srgbClr val="1E1E1E"/>
            </a:solidFill>
            <a:prstDash val="solid"/>
          </a:ln>
        </p:spPr>
      </p:sp>
      <p:sp>
        <p:nvSpPr>
          <p:cNvPr id="29" name="Shape 27"/>
          <p:cNvSpPr/>
          <p:nvPr/>
        </p:nvSpPr>
        <p:spPr>
          <a:xfrm>
            <a:off x="6190488" y="3291840"/>
            <a:ext cx="365760" cy="365760"/>
          </a:xfrm>
          <a:prstGeom prst="ellipse">
            <a:avLst/>
          </a:prstGeom>
          <a:solidFill>
            <a:srgbClr val="FCC30A"/>
          </a:solidFill>
          <a:ln w="25400">
            <a:solidFill>
              <a:srgbClr val="1E1E1E"/>
            </a:solidFill>
            <a:prstDash val="solid"/>
          </a:ln>
        </p:spPr>
      </p:sp>
      <p:sp>
        <p:nvSpPr>
          <p:cNvPr id="30" name="Shape 28"/>
          <p:cNvSpPr/>
          <p:nvPr/>
        </p:nvSpPr>
        <p:spPr>
          <a:xfrm>
            <a:off x="7342632" y="3291840"/>
            <a:ext cx="365760" cy="365760"/>
          </a:xfrm>
          <a:prstGeom prst="ellipse">
            <a:avLst/>
          </a:prstGeom>
          <a:solidFill>
            <a:srgbClr val="FCC30A"/>
          </a:solidFill>
          <a:ln w="25400">
            <a:solidFill>
              <a:srgbClr val="1E1E1E"/>
            </a:solidFill>
            <a:prstDash val="solid"/>
          </a:ln>
        </p:spPr>
      </p:sp>
      <p:sp>
        <p:nvSpPr>
          <p:cNvPr id="31" name="Text 29"/>
          <p:cNvSpPr txBox="1"/>
          <p:nvPr/>
        </p:nvSpPr>
        <p:spPr>
          <a:xfrm>
            <a:off x="7946136" y="3246120"/>
            <a:ext cx="914400" cy="457200"/>
          </a:xfrm>
          <a:prstGeom prst="rect">
            <a:avLst/>
          </a:prstGeom>
          <a:noFill/>
          <a:ln/>
        </p:spPr>
        <p:txBody>
          <a:bodyPr wrap="square" lIns="0" tIns="0" rIns="0" bIns="0" rtlCol="0" anchor="ctr"/>
          <a:lstStyle/>
          <a:p>
            <a:pPr indent="0" marL="0">
              <a:buNone/>
            </a:pPr>
            <a:r>
              <a:rPr lang="en-US" sz="1300" dirty="0">
                <a:solidFill>
                  <a:srgbClr val="BDBDBD"/>
                </a:solidFill>
                <a:latin typeface="Arial" pitchFamily="34" charset="0"/>
                <a:ea typeface="Arial" pitchFamily="34" charset="-122"/>
                <a:cs typeface="Arial" pitchFamily="34" charset="-120"/>
              </a:rPr>
              <a:t>4× / yr</a:t>
            </a:r>
            <a:endParaRPr lang="en-US" sz="1300" dirty="0"/>
          </a:p>
        </p:txBody>
      </p:sp>
      <p:sp>
        <p:nvSpPr>
          <p:cNvPr id="32" name="Text 30"/>
          <p:cNvSpPr txBox="1"/>
          <p:nvPr/>
        </p:nvSpPr>
        <p:spPr>
          <a:xfrm>
            <a:off x="548640" y="3977640"/>
            <a:ext cx="2468880" cy="457200"/>
          </a:xfrm>
          <a:prstGeom prst="rect">
            <a:avLst/>
          </a:prstGeom>
          <a:noFill/>
          <a:ln/>
        </p:spPr>
        <p:txBody>
          <a:bodyPr wrap="square" lIns="0" tIns="0" rIns="0" bIns="0" rtlCol="0" anchor="ctr"/>
          <a:lstStyle/>
          <a:p>
            <a:pPr indent="0" marL="0">
              <a:buNone/>
            </a:pPr>
            <a:r>
              <a:rPr lang="en-US" sz="1300" b="1" dirty="0">
                <a:solidFill>
                  <a:srgbClr val="FFFFFF"/>
                </a:solidFill>
                <a:latin typeface="Arial" pitchFamily="34" charset="0"/>
                <a:ea typeface="Arial" pitchFamily="34" charset="-122"/>
                <a:cs typeface="Arial" pitchFamily="34" charset="-120"/>
              </a:rPr>
              <a:t>Coker #2, Heater #3</a:t>
            </a:r>
            <a:endParaRPr lang="en-US" sz="1300" dirty="0"/>
          </a:p>
        </p:txBody>
      </p:sp>
      <p:sp>
        <p:nvSpPr>
          <p:cNvPr id="33" name="Shape 31"/>
          <p:cNvSpPr/>
          <p:nvPr/>
        </p:nvSpPr>
        <p:spPr>
          <a:xfrm>
            <a:off x="3108960" y="4050792"/>
            <a:ext cx="4608576" cy="310896"/>
          </a:xfrm>
          <a:prstGeom prst="rect">
            <a:avLst/>
          </a:prstGeom>
          <a:solidFill>
            <a:srgbClr val="2B2B2B"/>
          </a:solidFill>
          <a:ln w="12700">
            <a:solidFill>
              <a:srgbClr val="2B2B2B"/>
            </a:solidFill>
            <a:prstDash val="solid"/>
          </a:ln>
        </p:spPr>
      </p:sp>
      <p:sp>
        <p:nvSpPr>
          <p:cNvPr id="34" name="Shape 32"/>
          <p:cNvSpPr/>
          <p:nvPr/>
        </p:nvSpPr>
        <p:spPr>
          <a:xfrm>
            <a:off x="3886200" y="4023360"/>
            <a:ext cx="365760" cy="365760"/>
          </a:xfrm>
          <a:prstGeom prst="ellipse">
            <a:avLst/>
          </a:prstGeom>
          <a:solidFill>
            <a:srgbClr val="FCC30A"/>
          </a:solidFill>
          <a:ln w="25400">
            <a:solidFill>
              <a:srgbClr val="1E1E1E"/>
            </a:solidFill>
            <a:prstDash val="solid"/>
          </a:ln>
        </p:spPr>
      </p:sp>
      <p:sp>
        <p:nvSpPr>
          <p:cNvPr id="35" name="Shape 33"/>
          <p:cNvSpPr/>
          <p:nvPr/>
        </p:nvSpPr>
        <p:spPr>
          <a:xfrm>
            <a:off x="5422392" y="4023360"/>
            <a:ext cx="365760" cy="365760"/>
          </a:xfrm>
          <a:prstGeom prst="ellipse">
            <a:avLst/>
          </a:prstGeom>
          <a:solidFill>
            <a:srgbClr val="FCC30A"/>
          </a:solidFill>
          <a:ln w="25400">
            <a:solidFill>
              <a:srgbClr val="1E1E1E"/>
            </a:solidFill>
            <a:prstDash val="solid"/>
          </a:ln>
        </p:spPr>
      </p:sp>
      <p:sp>
        <p:nvSpPr>
          <p:cNvPr id="36" name="Shape 34"/>
          <p:cNvSpPr/>
          <p:nvPr/>
        </p:nvSpPr>
        <p:spPr>
          <a:xfrm>
            <a:off x="6958584" y="4023360"/>
            <a:ext cx="365760" cy="365760"/>
          </a:xfrm>
          <a:prstGeom prst="ellipse">
            <a:avLst/>
          </a:prstGeom>
          <a:solidFill>
            <a:srgbClr val="FCC30A"/>
          </a:solidFill>
          <a:ln w="25400">
            <a:solidFill>
              <a:srgbClr val="1E1E1E"/>
            </a:solidFill>
            <a:prstDash val="solid"/>
          </a:ln>
        </p:spPr>
      </p:sp>
      <p:sp>
        <p:nvSpPr>
          <p:cNvPr id="37" name="Text 35"/>
          <p:cNvSpPr txBox="1"/>
          <p:nvPr/>
        </p:nvSpPr>
        <p:spPr>
          <a:xfrm>
            <a:off x="7946136" y="3977640"/>
            <a:ext cx="914400" cy="457200"/>
          </a:xfrm>
          <a:prstGeom prst="rect">
            <a:avLst/>
          </a:prstGeom>
          <a:noFill/>
          <a:ln/>
        </p:spPr>
        <p:txBody>
          <a:bodyPr wrap="square" lIns="0" tIns="0" rIns="0" bIns="0" rtlCol="0" anchor="ctr"/>
          <a:lstStyle/>
          <a:p>
            <a:pPr indent="0" marL="0">
              <a:buNone/>
            </a:pPr>
            <a:r>
              <a:rPr lang="en-US" sz="1300" dirty="0">
                <a:solidFill>
                  <a:srgbClr val="BDBDBD"/>
                </a:solidFill>
                <a:latin typeface="Arial" pitchFamily="34" charset="0"/>
                <a:ea typeface="Arial" pitchFamily="34" charset="-122"/>
                <a:cs typeface="Arial" pitchFamily="34" charset="-120"/>
              </a:rPr>
              <a:t>3× / yr</a:t>
            </a:r>
            <a:endParaRPr lang="en-US" sz="1300" dirty="0"/>
          </a:p>
        </p:txBody>
      </p:sp>
      <p:sp>
        <p:nvSpPr>
          <p:cNvPr id="38" name="Text 36"/>
          <p:cNvSpPr txBox="1"/>
          <p:nvPr/>
        </p:nvSpPr>
        <p:spPr>
          <a:xfrm>
            <a:off x="548640" y="4709160"/>
            <a:ext cx="2468880" cy="457200"/>
          </a:xfrm>
          <a:prstGeom prst="rect">
            <a:avLst/>
          </a:prstGeom>
          <a:noFill/>
          <a:ln/>
        </p:spPr>
        <p:txBody>
          <a:bodyPr wrap="square" lIns="0" tIns="0" rIns="0" bIns="0" rtlCol="0" anchor="ctr"/>
          <a:lstStyle/>
          <a:p>
            <a:pPr indent="0" marL="0">
              <a:buNone/>
            </a:pPr>
            <a:r>
              <a:rPr lang="en-US" sz="1300" b="1" dirty="0">
                <a:solidFill>
                  <a:srgbClr val="FFFFFF"/>
                </a:solidFill>
                <a:latin typeface="Arial" pitchFamily="34" charset="0"/>
                <a:ea typeface="Arial" pitchFamily="34" charset="-122"/>
                <a:cs typeface="Arial" pitchFamily="34" charset="-120"/>
              </a:rPr>
              <a:t>DCU, H-101</a:t>
            </a:r>
            <a:endParaRPr lang="en-US" sz="1300" dirty="0"/>
          </a:p>
        </p:txBody>
      </p:sp>
      <p:sp>
        <p:nvSpPr>
          <p:cNvPr id="39" name="Shape 37"/>
          <p:cNvSpPr/>
          <p:nvPr/>
        </p:nvSpPr>
        <p:spPr>
          <a:xfrm>
            <a:off x="3108960" y="4782312"/>
            <a:ext cx="4608576" cy="310896"/>
          </a:xfrm>
          <a:prstGeom prst="rect">
            <a:avLst/>
          </a:prstGeom>
          <a:solidFill>
            <a:srgbClr val="2B2B2B"/>
          </a:solidFill>
          <a:ln w="12700">
            <a:solidFill>
              <a:srgbClr val="2B2B2B"/>
            </a:solidFill>
            <a:prstDash val="solid"/>
          </a:ln>
        </p:spPr>
      </p:sp>
      <p:sp>
        <p:nvSpPr>
          <p:cNvPr id="40" name="Shape 38"/>
          <p:cNvSpPr/>
          <p:nvPr/>
        </p:nvSpPr>
        <p:spPr>
          <a:xfrm>
            <a:off x="6190488" y="4754880"/>
            <a:ext cx="365760" cy="365760"/>
          </a:xfrm>
          <a:prstGeom prst="ellipse">
            <a:avLst/>
          </a:prstGeom>
          <a:solidFill>
            <a:srgbClr val="FCC30A"/>
          </a:solidFill>
          <a:ln w="25400">
            <a:solidFill>
              <a:srgbClr val="1E1E1E"/>
            </a:solidFill>
            <a:prstDash val="solid"/>
          </a:ln>
        </p:spPr>
      </p:sp>
      <p:sp>
        <p:nvSpPr>
          <p:cNvPr id="41" name="Text 39"/>
          <p:cNvSpPr txBox="1"/>
          <p:nvPr/>
        </p:nvSpPr>
        <p:spPr>
          <a:xfrm>
            <a:off x="7946136" y="4709160"/>
            <a:ext cx="914400" cy="457200"/>
          </a:xfrm>
          <a:prstGeom prst="rect">
            <a:avLst/>
          </a:prstGeom>
          <a:noFill/>
          <a:ln/>
        </p:spPr>
        <p:txBody>
          <a:bodyPr wrap="square" lIns="0" tIns="0" rIns="0" bIns="0" rtlCol="0" anchor="ctr"/>
          <a:lstStyle/>
          <a:p>
            <a:pPr indent="0" marL="0">
              <a:buNone/>
            </a:pPr>
            <a:r>
              <a:rPr lang="en-US" sz="1300" dirty="0">
                <a:solidFill>
                  <a:srgbClr val="BDBDBD"/>
                </a:solidFill>
                <a:latin typeface="Arial" pitchFamily="34" charset="0"/>
                <a:ea typeface="Arial" pitchFamily="34" charset="-122"/>
                <a:cs typeface="Arial" pitchFamily="34" charset="-120"/>
              </a:rPr>
              <a:t>1× / yr</a:t>
            </a:r>
            <a:endParaRPr lang="en-US" sz="1300" dirty="0"/>
          </a:p>
        </p:txBody>
      </p:sp>
      <p:sp>
        <p:nvSpPr>
          <p:cNvPr id="42" name="Shape 40"/>
          <p:cNvSpPr/>
          <p:nvPr/>
        </p:nvSpPr>
        <p:spPr>
          <a:xfrm>
            <a:off x="9144000" y="2011680"/>
            <a:ext cx="2496312" cy="896112"/>
          </a:xfrm>
          <a:prstGeom prst="rect">
            <a:avLst/>
          </a:prstGeom>
          <a:solidFill>
            <a:srgbClr val="2B2B2B"/>
          </a:solidFill>
          <a:ln w="12700">
            <a:solidFill>
              <a:srgbClr val="2B2B2B"/>
            </a:solidFill>
            <a:prstDash val="solid"/>
          </a:ln>
        </p:spPr>
      </p:sp>
      <p:sp>
        <p:nvSpPr>
          <p:cNvPr id="43" name="Text 41"/>
          <p:cNvSpPr txBox="1"/>
          <p:nvPr/>
        </p:nvSpPr>
        <p:spPr>
          <a:xfrm>
            <a:off x="9326880" y="2084832"/>
            <a:ext cx="1188720" cy="731520"/>
          </a:xfrm>
          <a:prstGeom prst="rect">
            <a:avLst/>
          </a:prstGeom>
          <a:noFill/>
          <a:ln/>
        </p:spPr>
        <p:txBody>
          <a:bodyPr wrap="square" lIns="0" tIns="0" rIns="0" bIns="0" rtlCol="0" anchor="ctr"/>
          <a:lstStyle/>
          <a:p>
            <a:pPr indent="0" marL="0">
              <a:buNone/>
            </a:pPr>
            <a:r>
              <a:rPr lang="en-US" sz="2800" b="1" dirty="0">
                <a:solidFill>
                  <a:srgbClr val="FCC30A"/>
                </a:solidFill>
                <a:latin typeface="Arial" pitchFamily="34" charset="0"/>
                <a:ea typeface="Arial" pitchFamily="34" charset="-122"/>
                <a:cs typeface="Arial" pitchFamily="34" charset="-120"/>
              </a:rPr>
              <a:t>12</a:t>
            </a:r>
            <a:endParaRPr lang="en-US" sz="2800" dirty="0"/>
          </a:p>
        </p:txBody>
      </p:sp>
      <p:sp>
        <p:nvSpPr>
          <p:cNvPr id="44" name="Text 42"/>
          <p:cNvSpPr txBox="1"/>
          <p:nvPr/>
        </p:nvSpPr>
        <p:spPr>
          <a:xfrm>
            <a:off x="10469880" y="2084832"/>
            <a:ext cx="1097280" cy="731520"/>
          </a:xfrm>
          <a:prstGeom prst="rect">
            <a:avLst/>
          </a:prstGeom>
          <a:noFill/>
          <a:ln/>
        </p:spPr>
        <p:txBody>
          <a:bodyPr wrap="square" lIns="0" tIns="0" rIns="0" bIns="0" rtlCol="0" anchor="ctr"/>
          <a:lstStyle/>
          <a:p>
            <a:pPr indent="0" marL="0">
              <a:buNone/>
            </a:pPr>
            <a:r>
              <a:rPr lang="en-US" sz="1150" dirty="0">
                <a:solidFill>
                  <a:srgbClr val="FFFFFF"/>
                </a:solidFill>
                <a:latin typeface="Arial" pitchFamily="34" charset="0"/>
                <a:ea typeface="Arial" pitchFamily="34" charset="-122"/>
                <a:cs typeface="Arial" pitchFamily="34" charset="-120"/>
              </a:rPr>
              <a:t>decokes a year</a:t>
            </a:r>
            <a:endParaRPr lang="en-US" sz="1150" dirty="0"/>
          </a:p>
        </p:txBody>
      </p:sp>
      <p:sp>
        <p:nvSpPr>
          <p:cNvPr id="45" name="Shape 43"/>
          <p:cNvSpPr/>
          <p:nvPr/>
        </p:nvSpPr>
        <p:spPr>
          <a:xfrm>
            <a:off x="9144000" y="3035808"/>
            <a:ext cx="2496312" cy="896112"/>
          </a:xfrm>
          <a:prstGeom prst="rect">
            <a:avLst/>
          </a:prstGeom>
          <a:solidFill>
            <a:srgbClr val="2B2B2B"/>
          </a:solidFill>
          <a:ln w="12700">
            <a:solidFill>
              <a:srgbClr val="2B2B2B"/>
            </a:solidFill>
            <a:prstDash val="solid"/>
          </a:ln>
        </p:spPr>
      </p:sp>
      <p:sp>
        <p:nvSpPr>
          <p:cNvPr id="46" name="Text 44"/>
          <p:cNvSpPr txBox="1"/>
          <p:nvPr/>
        </p:nvSpPr>
        <p:spPr>
          <a:xfrm>
            <a:off x="9326880" y="3108960"/>
            <a:ext cx="1188720" cy="731520"/>
          </a:xfrm>
          <a:prstGeom prst="rect">
            <a:avLst/>
          </a:prstGeom>
          <a:noFill/>
          <a:ln/>
        </p:spPr>
        <p:txBody>
          <a:bodyPr wrap="square" lIns="0" tIns="0" rIns="0" bIns="0" rtlCol="0" anchor="ctr"/>
          <a:lstStyle/>
          <a:p>
            <a:pPr indent="0" marL="0">
              <a:buNone/>
            </a:pPr>
            <a:r>
              <a:rPr lang="en-US" sz="2800" b="1" dirty="0">
                <a:solidFill>
                  <a:srgbClr val="FCC30A"/>
                </a:solidFill>
                <a:latin typeface="Arial" pitchFamily="34" charset="0"/>
                <a:ea typeface="Arial" pitchFamily="34" charset="-122"/>
                <a:cs typeface="Arial" pitchFamily="34" charset="-120"/>
              </a:rPr>
              <a:t>60</a:t>
            </a:r>
            <a:endParaRPr lang="en-US" sz="2800" dirty="0"/>
          </a:p>
        </p:txBody>
      </p:sp>
      <p:sp>
        <p:nvSpPr>
          <p:cNvPr id="47" name="Text 45"/>
          <p:cNvSpPr txBox="1"/>
          <p:nvPr/>
        </p:nvSpPr>
        <p:spPr>
          <a:xfrm>
            <a:off x="10469880" y="3108960"/>
            <a:ext cx="1097280" cy="731520"/>
          </a:xfrm>
          <a:prstGeom prst="rect">
            <a:avLst/>
          </a:prstGeom>
          <a:noFill/>
          <a:ln/>
        </p:spPr>
        <p:txBody>
          <a:bodyPr wrap="square" lIns="0" tIns="0" rIns="0" bIns="0" rtlCol="0" anchor="ctr"/>
          <a:lstStyle/>
          <a:p>
            <a:pPr indent="0" marL="0">
              <a:buNone/>
            </a:pPr>
            <a:r>
              <a:rPr lang="en-US" sz="1150" dirty="0">
                <a:solidFill>
                  <a:srgbClr val="FFFFFF"/>
                </a:solidFill>
                <a:latin typeface="Arial" pitchFamily="34" charset="0"/>
                <a:ea typeface="Arial" pitchFamily="34" charset="-122"/>
                <a:cs typeface="Arial" pitchFamily="34" charset="-120"/>
              </a:rPr>
              <a:t>decokes in 5 years</a:t>
            </a:r>
            <a:endParaRPr lang="en-US" sz="1150" dirty="0"/>
          </a:p>
        </p:txBody>
      </p:sp>
      <p:sp>
        <p:nvSpPr>
          <p:cNvPr id="48" name="Shape 46"/>
          <p:cNvSpPr/>
          <p:nvPr/>
        </p:nvSpPr>
        <p:spPr>
          <a:xfrm>
            <a:off x="9144000" y="4059936"/>
            <a:ext cx="2496312" cy="896112"/>
          </a:xfrm>
          <a:prstGeom prst="rect">
            <a:avLst/>
          </a:prstGeom>
          <a:solidFill>
            <a:srgbClr val="2B2B2B"/>
          </a:solidFill>
          <a:ln w="12700">
            <a:solidFill>
              <a:srgbClr val="2B2B2B"/>
            </a:solidFill>
            <a:prstDash val="solid"/>
          </a:ln>
        </p:spPr>
      </p:sp>
      <p:sp>
        <p:nvSpPr>
          <p:cNvPr id="49" name="Text 47"/>
          <p:cNvSpPr txBox="1"/>
          <p:nvPr/>
        </p:nvSpPr>
        <p:spPr>
          <a:xfrm>
            <a:off x="9326880" y="4133088"/>
            <a:ext cx="1188720" cy="731520"/>
          </a:xfrm>
          <a:prstGeom prst="rect">
            <a:avLst/>
          </a:prstGeom>
          <a:noFill/>
          <a:ln/>
        </p:spPr>
        <p:txBody>
          <a:bodyPr wrap="square" lIns="0" tIns="0" rIns="0" bIns="0" rtlCol="0" anchor="ctr"/>
          <a:lstStyle/>
          <a:p>
            <a:pPr indent="0" marL="0">
              <a:buNone/>
            </a:pPr>
            <a:r>
              <a:rPr lang="en-US" sz="2800" b="1" dirty="0">
                <a:solidFill>
                  <a:srgbClr val="FCC30A"/>
                </a:solidFill>
                <a:latin typeface="Arial" pitchFamily="34" charset="0"/>
                <a:ea typeface="Arial" pitchFamily="34" charset="-122"/>
                <a:cs typeface="Arial" pitchFamily="34" charset="-120"/>
              </a:rPr>
              <a:t>2,790</a:t>
            </a:r>
            <a:endParaRPr lang="en-US" sz="2800" dirty="0"/>
          </a:p>
        </p:txBody>
      </p:sp>
      <p:sp>
        <p:nvSpPr>
          <p:cNvPr id="50" name="Text 48"/>
          <p:cNvSpPr txBox="1"/>
          <p:nvPr/>
        </p:nvSpPr>
        <p:spPr>
          <a:xfrm>
            <a:off x="10469880" y="4133088"/>
            <a:ext cx="1097280" cy="731520"/>
          </a:xfrm>
          <a:prstGeom prst="rect">
            <a:avLst/>
          </a:prstGeom>
          <a:noFill/>
          <a:ln/>
        </p:spPr>
        <p:txBody>
          <a:bodyPr wrap="square" lIns="0" tIns="0" rIns="0" bIns="0" rtlCol="0" anchor="ctr"/>
          <a:lstStyle/>
          <a:p>
            <a:pPr indent="0" marL="0">
              <a:buNone/>
            </a:pPr>
            <a:r>
              <a:rPr lang="en-US" sz="1150" dirty="0">
                <a:solidFill>
                  <a:srgbClr val="FFFFFF"/>
                </a:solidFill>
                <a:latin typeface="Arial" pitchFamily="34" charset="0"/>
                <a:ea typeface="Arial" pitchFamily="34" charset="-122"/>
                <a:cs typeface="Arial" pitchFamily="34" charset="-120"/>
              </a:rPr>
              <a:t>project hours</a:t>
            </a:r>
            <a:endParaRPr lang="en-US" sz="1150" dirty="0"/>
          </a:p>
        </p:txBody>
      </p:sp>
      <p:sp>
        <p:nvSpPr>
          <p:cNvPr id="51" name="Shape 49"/>
          <p:cNvSpPr/>
          <p:nvPr/>
        </p:nvSpPr>
        <p:spPr>
          <a:xfrm>
            <a:off x="9144000" y="5084064"/>
            <a:ext cx="2496312" cy="896112"/>
          </a:xfrm>
          <a:prstGeom prst="rect">
            <a:avLst/>
          </a:prstGeom>
          <a:solidFill>
            <a:srgbClr val="2B2B2B"/>
          </a:solidFill>
          <a:ln w="12700">
            <a:solidFill>
              <a:srgbClr val="2B2B2B"/>
            </a:solidFill>
            <a:prstDash val="solid"/>
          </a:ln>
        </p:spPr>
      </p:sp>
      <p:sp>
        <p:nvSpPr>
          <p:cNvPr id="52" name="Text 50"/>
          <p:cNvSpPr txBox="1"/>
          <p:nvPr/>
        </p:nvSpPr>
        <p:spPr>
          <a:xfrm>
            <a:off x="9326880" y="5157216"/>
            <a:ext cx="1188720" cy="731520"/>
          </a:xfrm>
          <a:prstGeom prst="rect">
            <a:avLst/>
          </a:prstGeom>
          <a:noFill/>
          <a:ln/>
        </p:spPr>
        <p:txBody>
          <a:bodyPr wrap="square" lIns="0" tIns="0" rIns="0" bIns="0" rtlCol="0" anchor="ctr"/>
          <a:lstStyle/>
          <a:p>
            <a:pPr indent="0" marL="0">
              <a:buNone/>
            </a:pPr>
            <a:r>
              <a:rPr lang="en-US" sz="2800" b="1" dirty="0">
                <a:solidFill>
                  <a:srgbClr val="FCC30A"/>
                </a:solidFill>
                <a:latin typeface="Arial" pitchFamily="34" charset="0"/>
                <a:ea typeface="Arial" pitchFamily="34" charset="-122"/>
                <a:cs typeface="Arial" pitchFamily="34" charset="-120"/>
              </a:rPr>
              <a:t>$0</a:t>
            </a:r>
            <a:endParaRPr lang="en-US" sz="2800" dirty="0"/>
          </a:p>
        </p:txBody>
      </p:sp>
      <p:sp>
        <p:nvSpPr>
          <p:cNvPr id="53" name="Text 51"/>
          <p:cNvSpPr txBox="1"/>
          <p:nvPr/>
        </p:nvSpPr>
        <p:spPr>
          <a:xfrm>
            <a:off x="10469880" y="5157216"/>
            <a:ext cx="1097280" cy="731520"/>
          </a:xfrm>
          <a:prstGeom prst="rect">
            <a:avLst/>
          </a:prstGeom>
          <a:noFill/>
          <a:ln/>
        </p:spPr>
        <p:txBody>
          <a:bodyPr wrap="square" lIns="0" tIns="0" rIns="0" bIns="0" rtlCol="0" anchor="ctr"/>
          <a:lstStyle/>
          <a:p>
            <a:pPr indent="0" marL="0">
              <a:buNone/>
            </a:pPr>
            <a:r>
              <a:rPr lang="en-US" sz="1150" dirty="0">
                <a:solidFill>
                  <a:srgbClr val="FFFFFF"/>
                </a:solidFill>
                <a:latin typeface="Arial" pitchFamily="34" charset="0"/>
                <a:ea typeface="Arial" pitchFamily="34" charset="-122"/>
                <a:cs typeface="Arial" pitchFamily="34" charset="-120"/>
              </a:rPr>
              <a:t>mob / demob</a:t>
            </a:r>
            <a:endParaRPr lang="en-US" sz="1150" dirty="0"/>
          </a:p>
        </p:txBody>
      </p:sp>
      <p:sp>
        <p:nvSpPr>
          <p:cNvPr id="54" name="Text 52"/>
          <p:cNvSpPr txBox="1"/>
          <p:nvPr/>
        </p:nvSpPr>
        <p:spPr>
          <a:xfrm>
            <a:off x="548640" y="5577840"/>
            <a:ext cx="8138160" cy="548640"/>
          </a:xfrm>
          <a:prstGeom prst="rect">
            <a:avLst/>
          </a:prstGeom>
          <a:noFill/>
          <a:ln/>
        </p:spPr>
        <p:txBody>
          <a:bodyPr wrap="square" lIns="0" tIns="0" rIns="0" bIns="0" rtlCol="0" anchor="t"/>
          <a:lstStyle/>
          <a:p>
            <a:pPr indent="0" marL="0">
              <a:buNone/>
            </a:pPr>
            <a:r>
              <a:rPr lang="en-US" sz="1400" i="1" dirty="0">
                <a:solidFill>
                  <a:srgbClr val="BDBDBD"/>
                </a:solidFill>
                <a:latin typeface="Arial" pitchFamily="34" charset="0"/>
                <a:ea typeface="Arial" pitchFamily="34" charset="-122"/>
                <a:cs typeface="Arial" pitchFamily="34" charset="-120"/>
              </a:rPr>
              <a:t>Same crew leadership, same equipment and same procedures every visit: each decoke builds on the last one's records.</a:t>
            </a:r>
            <a:endParaRPr lang="en-US" sz="1400" dirty="0"/>
          </a:p>
        </p:txBody>
      </p:sp>
      <p:sp>
        <p:nvSpPr>
          <p:cNvPr id="55" name="Text 53"/>
          <p:cNvSpPr txBox="1"/>
          <p:nvPr/>
        </p:nvSpPr>
        <p:spPr>
          <a:xfrm>
            <a:off x="548640" y="6419088"/>
            <a:ext cx="7315200" cy="228600"/>
          </a:xfrm>
          <a:prstGeom prst="rect">
            <a:avLst/>
          </a:prstGeom>
          <a:noFill/>
          <a:ln/>
        </p:spPr>
        <p:txBody>
          <a:bodyPr wrap="square" lIns="0" tIns="0" rIns="0" bIns="0" rtlCol="0" anchor="ctr"/>
          <a:lstStyle/>
          <a:p>
            <a:pPr indent="0" marL="0">
              <a:buNone/>
            </a:pPr>
            <a:r>
              <a:rPr lang="en-US" sz="900" dirty="0">
                <a:solidFill>
                  <a:srgbClr val="BDBDBD"/>
                </a:solidFill>
                <a:latin typeface="Arial" pitchFamily="34" charset="0"/>
                <a:ea typeface="Arial" pitchFamily="34" charset="-122"/>
                <a:cs typeface="Arial" pitchFamily="34" charset="-120"/>
              </a:rPr>
              <a:t>USA DeBusk  |  LAR Heater Pigging &amp; Decoking Services  |  DSP#26098</a:t>
            </a:r>
            <a:endParaRPr lang="en-US" sz="900" dirty="0"/>
          </a:p>
        </p:txBody>
      </p:sp>
      <p:sp>
        <p:nvSpPr>
          <p:cNvPr id="56" name="Text 54"/>
          <p:cNvSpPr txBox="1"/>
          <p:nvPr/>
        </p:nvSpPr>
        <p:spPr>
          <a:xfrm>
            <a:off x="11155680" y="6419088"/>
            <a:ext cx="484632" cy="228600"/>
          </a:xfrm>
          <a:prstGeom prst="rect">
            <a:avLst/>
          </a:prstGeom>
          <a:noFill/>
          <a:ln/>
        </p:spPr>
        <p:txBody>
          <a:bodyPr wrap="square" lIns="0" tIns="0" rIns="0" bIns="0" rtlCol="0" anchor="ctr"/>
          <a:lstStyle/>
          <a:p>
            <a:pPr algn="r" indent="0" marL="0">
              <a:buNone/>
            </a:pPr>
            <a:r>
              <a:rPr lang="en-US" sz="900" dirty="0">
                <a:solidFill>
                  <a:srgbClr val="BDBDBD"/>
                </a:solidFill>
                <a:latin typeface="Arial" pitchFamily="34" charset="0"/>
                <a:ea typeface="Arial" pitchFamily="34" charset="-122"/>
                <a:cs typeface="Arial"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pic>
        <p:nvPicPr>
          <p:cNvPr id="2" name="Image 0" descr="/tmp/claude-0/-home-user-obsidian-work/c8998718-f22f-57a3-84c2-766db1d92b4c/scratchpad/deck/img/slot_ready.jpg">    </p:cNvPr>
          <p:cNvPicPr>
            <a:picLocks noChangeAspect="1"/>
          </p:cNvPicPr>
          <p:nvPr/>
        </p:nvPicPr>
        <p:blipFill>
          <a:blip r:embed="rId1"/>
          <a:stretch>
            <a:fillRect/>
          </a:stretch>
        </p:blipFill>
        <p:spPr>
          <a:xfrm>
            <a:off x="0" y="0"/>
            <a:ext cx="4206240" cy="6858000"/>
          </a:xfrm>
          <a:prstGeom prst="rect">
            <a:avLst/>
          </a:prstGeom>
        </p:spPr>
      </p:pic>
      <p:sp>
        <p:nvSpPr>
          <p:cNvPr id="3" name="Shape 0"/>
          <p:cNvSpPr/>
          <p:nvPr/>
        </p:nvSpPr>
        <p:spPr>
          <a:xfrm>
            <a:off x="4663440" y="411480"/>
            <a:ext cx="2913583" cy="310896"/>
          </a:xfrm>
          <a:prstGeom prst="roundRect">
            <a:avLst>
              <a:gd name="adj" fmla="val 23529"/>
            </a:avLst>
          </a:prstGeom>
          <a:solidFill>
            <a:srgbClr val="FCC30A"/>
          </a:solidFill>
          <a:ln w="12700">
            <a:solidFill>
              <a:srgbClr val="FCC30A"/>
            </a:solidFill>
            <a:prstDash val="solid"/>
          </a:ln>
        </p:spPr>
      </p:sp>
      <p:sp>
        <p:nvSpPr>
          <p:cNvPr id="4" name="Text 1"/>
          <p:cNvSpPr txBox="1"/>
          <p:nvPr/>
        </p:nvSpPr>
        <p:spPr>
          <a:xfrm>
            <a:off x="4663440" y="411480"/>
            <a:ext cx="2913583" cy="310896"/>
          </a:xfrm>
          <a:prstGeom prst="rect">
            <a:avLst/>
          </a:prstGeom>
          <a:noFill/>
          <a:ln/>
        </p:spPr>
        <p:txBody>
          <a:bodyPr wrap="square" lIns="0" tIns="0" rIns="0" bIns="0" rtlCol="0" anchor="ctr"/>
          <a:lstStyle/>
          <a:p>
            <a:pPr algn="ctr" indent="0" marL="0">
              <a:buNone/>
            </a:pPr>
            <a:r>
              <a:rPr lang="en-US" sz="1050" b="1" spc="150" kern="0" dirty="0">
                <a:solidFill>
                  <a:srgbClr val="1E1E1E"/>
                </a:solidFill>
                <a:latin typeface="Arial" pitchFamily="34" charset="0"/>
                <a:ea typeface="Arial" pitchFamily="34" charset="-122"/>
                <a:cs typeface="Arial" pitchFamily="34" charset="-120"/>
              </a:rPr>
              <a:t>03   READINESS &amp; RESOURCES</a:t>
            </a:r>
            <a:endParaRPr lang="en-US" sz="1050" dirty="0"/>
          </a:p>
        </p:txBody>
      </p:sp>
      <p:sp>
        <p:nvSpPr>
          <p:cNvPr id="5" name="Text 2"/>
          <p:cNvSpPr txBox="1"/>
          <p:nvPr/>
        </p:nvSpPr>
        <p:spPr>
          <a:xfrm>
            <a:off x="4663440" y="841248"/>
            <a:ext cx="6949440" cy="731520"/>
          </a:xfrm>
          <a:prstGeom prst="rect">
            <a:avLst/>
          </a:prstGeom>
          <a:noFill/>
          <a:ln/>
        </p:spPr>
        <p:txBody>
          <a:bodyPr wrap="square" lIns="0" tIns="0" rIns="0" bIns="0" rtlCol="0" anchor="t"/>
          <a:lstStyle/>
          <a:p>
            <a:pPr indent="0" marL="0">
              <a:buNone/>
            </a:pPr>
            <a:r>
              <a:rPr lang="en-US" sz="3000" b="1" dirty="0">
                <a:solidFill>
                  <a:srgbClr val="222222"/>
                </a:solidFill>
                <a:latin typeface="Arial" pitchFamily="34" charset="0"/>
                <a:ea typeface="Arial" pitchFamily="34" charset="-122"/>
                <a:cs typeface="Arial" pitchFamily="34" charset="-120"/>
              </a:rPr>
              <a:t>Crew &amp; equipment, every occurrence</a:t>
            </a:r>
            <a:endParaRPr lang="en-US" sz="3000" dirty="0"/>
          </a:p>
        </p:txBody>
      </p:sp>
      <p:sp>
        <p:nvSpPr>
          <p:cNvPr id="6" name="Text 3"/>
          <p:cNvSpPr txBox="1"/>
          <p:nvPr/>
        </p:nvSpPr>
        <p:spPr>
          <a:xfrm>
            <a:off x="5212080" y="1828800"/>
            <a:ext cx="2743200" cy="365760"/>
          </a:xfrm>
          <a:prstGeom prst="rect">
            <a:avLst/>
          </a:prstGeom>
          <a:noFill/>
          <a:ln/>
        </p:spPr>
        <p:txBody>
          <a:bodyPr wrap="square" lIns="0" tIns="0" rIns="0" bIns="0" rtlCol="0" anchor="ctr"/>
          <a:lstStyle/>
          <a:p>
            <a:pPr indent="0" marL="0">
              <a:buNone/>
            </a:pPr>
            <a:r>
              <a:rPr lang="en-US" sz="1600" b="1" dirty="0">
                <a:solidFill>
                  <a:srgbClr val="222222"/>
                </a:solidFill>
                <a:latin typeface="Arial" pitchFamily="34" charset="0"/>
                <a:ea typeface="Arial" pitchFamily="34" charset="-122"/>
                <a:cs typeface="Arial" pitchFamily="34" charset="-120"/>
              </a:rPr>
              <a:t>Equipment</a:t>
            </a:r>
            <a:endParaRPr lang="en-US" sz="1600" dirty="0"/>
          </a:p>
        </p:txBody>
      </p:sp>
      <p:sp>
        <p:nvSpPr>
          <p:cNvPr id="7" name="Text 4"/>
          <p:cNvSpPr txBox="1"/>
          <p:nvPr/>
        </p:nvSpPr>
        <p:spPr>
          <a:xfrm>
            <a:off x="4663440" y="2423160"/>
            <a:ext cx="502920" cy="502920"/>
          </a:xfrm>
          <a:prstGeom prst="rect">
            <a:avLst/>
          </a:prstGeom>
          <a:noFill/>
          <a:ln/>
        </p:spPr>
        <p:txBody>
          <a:bodyPr wrap="square" lIns="0" tIns="0" rIns="0" bIns="0" rtlCol="0" anchor="ctr"/>
          <a:lstStyle/>
          <a:p>
            <a:pPr indent="0" marL="0">
              <a:buNone/>
            </a:pPr>
            <a:r>
              <a:rPr lang="en-US" sz="2200" b="1" dirty="0">
                <a:solidFill>
                  <a:srgbClr val="FCC30A"/>
                </a:solidFill>
                <a:latin typeface="Arial" pitchFamily="34" charset="0"/>
                <a:ea typeface="Arial" pitchFamily="34" charset="-122"/>
                <a:cs typeface="Arial" pitchFamily="34" charset="-120"/>
              </a:rPr>
              <a:t>1</a:t>
            </a:r>
            <a:endParaRPr lang="en-US" sz="2200" dirty="0"/>
          </a:p>
        </p:txBody>
      </p:sp>
      <p:sp>
        <p:nvSpPr>
          <p:cNvPr id="8" name="Text 5"/>
          <p:cNvSpPr txBox="1"/>
          <p:nvPr/>
        </p:nvSpPr>
        <p:spPr>
          <a:xfrm>
            <a:off x="5212080" y="2423160"/>
            <a:ext cx="2743200" cy="502920"/>
          </a:xfrm>
          <a:prstGeom prst="rect">
            <a:avLst/>
          </a:prstGeom>
          <a:noFill/>
          <a:ln/>
        </p:spPr>
        <p:txBody>
          <a:bodyPr wrap="square" lIns="0" tIns="0" rIns="0" bIns="0" rtlCol="0" anchor="ctr"/>
          <a:lstStyle/>
          <a:p>
            <a:pPr indent="0" marL="0">
              <a:buNone/>
            </a:pPr>
            <a:r>
              <a:rPr lang="en-US" sz="1300" dirty="0">
                <a:solidFill>
                  <a:srgbClr val="222222"/>
                </a:solidFill>
                <a:latin typeface="Arial" pitchFamily="34" charset="0"/>
                <a:ea typeface="Arial" pitchFamily="34" charset="-122"/>
                <a:cs typeface="Arial" pitchFamily="34" charset="-120"/>
              </a:rPr>
              <a:t>TriMax triple pumper</a:t>
            </a:r>
            <a:endParaRPr lang="en-US" sz="1300" dirty="0"/>
          </a:p>
        </p:txBody>
      </p:sp>
      <p:sp>
        <p:nvSpPr>
          <p:cNvPr id="9" name="Text 6"/>
          <p:cNvSpPr txBox="1"/>
          <p:nvPr/>
        </p:nvSpPr>
        <p:spPr>
          <a:xfrm>
            <a:off x="4663440" y="3081528"/>
            <a:ext cx="502920" cy="502920"/>
          </a:xfrm>
          <a:prstGeom prst="rect">
            <a:avLst/>
          </a:prstGeom>
          <a:noFill/>
          <a:ln/>
        </p:spPr>
        <p:txBody>
          <a:bodyPr wrap="square" lIns="0" tIns="0" rIns="0" bIns="0" rtlCol="0" anchor="ctr"/>
          <a:lstStyle/>
          <a:p>
            <a:pPr indent="0" marL="0">
              <a:buNone/>
            </a:pPr>
            <a:r>
              <a:rPr lang="en-US" sz="2200" b="1" dirty="0">
                <a:solidFill>
                  <a:srgbClr val="FCC30A"/>
                </a:solidFill>
                <a:latin typeface="Arial" pitchFamily="34" charset="0"/>
                <a:ea typeface="Arial" pitchFamily="34" charset="-122"/>
                <a:cs typeface="Arial" pitchFamily="34" charset="-120"/>
              </a:rPr>
              <a:t>1</a:t>
            </a:r>
            <a:endParaRPr lang="en-US" sz="2200" dirty="0"/>
          </a:p>
        </p:txBody>
      </p:sp>
      <p:sp>
        <p:nvSpPr>
          <p:cNvPr id="10" name="Text 7"/>
          <p:cNvSpPr txBox="1"/>
          <p:nvPr/>
        </p:nvSpPr>
        <p:spPr>
          <a:xfrm>
            <a:off x="5212080" y="3081528"/>
            <a:ext cx="2743200" cy="502920"/>
          </a:xfrm>
          <a:prstGeom prst="rect">
            <a:avLst/>
          </a:prstGeom>
          <a:noFill/>
          <a:ln/>
        </p:spPr>
        <p:txBody>
          <a:bodyPr wrap="square" lIns="0" tIns="0" rIns="0" bIns="0" rtlCol="0" anchor="ctr"/>
          <a:lstStyle/>
          <a:p>
            <a:pPr indent="0" marL="0">
              <a:buNone/>
            </a:pPr>
            <a:r>
              <a:rPr lang="en-US" sz="1300" dirty="0">
                <a:solidFill>
                  <a:srgbClr val="222222"/>
                </a:solidFill>
                <a:latin typeface="Arial" pitchFamily="34" charset="0"/>
                <a:ea typeface="Arial" pitchFamily="34" charset="-122"/>
                <a:cs typeface="Arial" pitchFamily="34" charset="-120"/>
              </a:rPr>
              <a:t>Support unit: fittings, tooling, spares</a:t>
            </a:r>
            <a:endParaRPr lang="en-US" sz="1300" dirty="0"/>
          </a:p>
        </p:txBody>
      </p:sp>
      <p:sp>
        <p:nvSpPr>
          <p:cNvPr id="11" name="Text 8"/>
          <p:cNvSpPr txBox="1"/>
          <p:nvPr/>
        </p:nvSpPr>
        <p:spPr>
          <a:xfrm>
            <a:off x="4663440" y="3739896"/>
            <a:ext cx="502920" cy="502920"/>
          </a:xfrm>
          <a:prstGeom prst="rect">
            <a:avLst/>
          </a:prstGeom>
          <a:noFill/>
          <a:ln/>
        </p:spPr>
        <p:txBody>
          <a:bodyPr wrap="square" lIns="0" tIns="0" rIns="0" bIns="0" rtlCol="0" anchor="ctr"/>
          <a:lstStyle/>
          <a:p>
            <a:pPr indent="0" marL="0">
              <a:buNone/>
            </a:pPr>
            <a:r>
              <a:rPr lang="en-US" sz="2200" b="1" dirty="0">
                <a:solidFill>
                  <a:srgbClr val="FCC30A"/>
                </a:solidFill>
                <a:latin typeface="Arial" pitchFamily="34" charset="0"/>
                <a:ea typeface="Arial" pitchFamily="34" charset="-122"/>
                <a:cs typeface="Arial" pitchFamily="34" charset="-120"/>
              </a:rPr>
              <a:t>2</a:t>
            </a:r>
            <a:endParaRPr lang="en-US" sz="2200" dirty="0"/>
          </a:p>
        </p:txBody>
      </p:sp>
      <p:sp>
        <p:nvSpPr>
          <p:cNvPr id="12" name="Text 9"/>
          <p:cNvSpPr txBox="1"/>
          <p:nvPr/>
        </p:nvSpPr>
        <p:spPr>
          <a:xfrm>
            <a:off x="5212080" y="3739896"/>
            <a:ext cx="2743200" cy="502920"/>
          </a:xfrm>
          <a:prstGeom prst="rect">
            <a:avLst/>
          </a:prstGeom>
          <a:noFill/>
          <a:ln/>
        </p:spPr>
        <p:txBody>
          <a:bodyPr wrap="square" lIns="0" tIns="0" rIns="0" bIns="0" rtlCol="0" anchor="ctr"/>
          <a:lstStyle/>
          <a:p>
            <a:pPr indent="0" marL="0">
              <a:buNone/>
            </a:pPr>
            <a:r>
              <a:rPr lang="en-US" sz="1300" dirty="0">
                <a:solidFill>
                  <a:srgbClr val="222222"/>
                </a:solidFill>
                <a:latin typeface="Arial" pitchFamily="34" charset="0"/>
                <a:ea typeface="Arial" pitchFamily="34" charset="-122"/>
                <a:cs typeface="Arial" pitchFamily="34" charset="-120"/>
              </a:rPr>
              <a:t>Crew trucks</a:t>
            </a:r>
            <a:endParaRPr lang="en-US" sz="1300" dirty="0"/>
          </a:p>
        </p:txBody>
      </p:sp>
      <p:sp>
        <p:nvSpPr>
          <p:cNvPr id="13" name="Text 10"/>
          <p:cNvSpPr txBox="1"/>
          <p:nvPr/>
        </p:nvSpPr>
        <p:spPr>
          <a:xfrm>
            <a:off x="8732520" y="1828800"/>
            <a:ext cx="2743200" cy="365760"/>
          </a:xfrm>
          <a:prstGeom prst="rect">
            <a:avLst/>
          </a:prstGeom>
          <a:noFill/>
          <a:ln/>
        </p:spPr>
        <p:txBody>
          <a:bodyPr wrap="square" lIns="0" tIns="0" rIns="0" bIns="0" rtlCol="0" anchor="ctr"/>
          <a:lstStyle/>
          <a:p>
            <a:pPr indent="0" marL="0">
              <a:buNone/>
            </a:pPr>
            <a:r>
              <a:rPr lang="en-US" sz="1600" b="1" dirty="0">
                <a:solidFill>
                  <a:srgbClr val="222222"/>
                </a:solidFill>
                <a:latin typeface="Arial" pitchFamily="34" charset="0"/>
                <a:ea typeface="Arial" pitchFamily="34" charset="-122"/>
                <a:cs typeface="Arial" pitchFamily="34" charset="-120"/>
              </a:rPr>
              <a:t>Manpower</a:t>
            </a:r>
            <a:endParaRPr lang="en-US" sz="1600" dirty="0"/>
          </a:p>
        </p:txBody>
      </p:sp>
      <p:sp>
        <p:nvSpPr>
          <p:cNvPr id="14" name="Text 11"/>
          <p:cNvSpPr txBox="1"/>
          <p:nvPr/>
        </p:nvSpPr>
        <p:spPr>
          <a:xfrm>
            <a:off x="8183880" y="2423160"/>
            <a:ext cx="502920" cy="502920"/>
          </a:xfrm>
          <a:prstGeom prst="rect">
            <a:avLst/>
          </a:prstGeom>
          <a:noFill/>
          <a:ln/>
        </p:spPr>
        <p:txBody>
          <a:bodyPr wrap="square" lIns="0" tIns="0" rIns="0" bIns="0" rtlCol="0" anchor="ctr"/>
          <a:lstStyle/>
          <a:p>
            <a:pPr indent="0" marL="0">
              <a:buNone/>
            </a:pPr>
            <a:r>
              <a:rPr lang="en-US" sz="2200" b="1" dirty="0">
                <a:solidFill>
                  <a:srgbClr val="FCC30A"/>
                </a:solidFill>
                <a:latin typeface="Arial" pitchFamily="34" charset="0"/>
                <a:ea typeface="Arial" pitchFamily="34" charset="-122"/>
                <a:cs typeface="Arial" pitchFamily="34" charset="-120"/>
              </a:rPr>
              <a:t>2</a:t>
            </a:r>
            <a:endParaRPr lang="en-US" sz="2200" dirty="0"/>
          </a:p>
        </p:txBody>
      </p:sp>
      <p:sp>
        <p:nvSpPr>
          <p:cNvPr id="15" name="Text 12"/>
          <p:cNvSpPr txBox="1"/>
          <p:nvPr/>
        </p:nvSpPr>
        <p:spPr>
          <a:xfrm>
            <a:off x="8732520" y="2423160"/>
            <a:ext cx="2743200" cy="502920"/>
          </a:xfrm>
          <a:prstGeom prst="rect">
            <a:avLst/>
          </a:prstGeom>
          <a:noFill/>
          <a:ln/>
        </p:spPr>
        <p:txBody>
          <a:bodyPr wrap="square" lIns="0" tIns="0" rIns="0" bIns="0" rtlCol="0" anchor="ctr"/>
          <a:lstStyle/>
          <a:p>
            <a:pPr indent="0" marL="0">
              <a:buNone/>
            </a:pPr>
            <a:r>
              <a:rPr lang="en-US" sz="1300" dirty="0">
                <a:solidFill>
                  <a:srgbClr val="222222"/>
                </a:solidFill>
                <a:latin typeface="Arial" pitchFamily="34" charset="0"/>
                <a:ea typeface="Arial" pitchFamily="34" charset="-122"/>
                <a:cs typeface="Arial" pitchFamily="34" charset="-120"/>
              </a:rPr>
              <a:t>Supervisors: 1 day, 1 night</a:t>
            </a:r>
            <a:endParaRPr lang="en-US" sz="1300" dirty="0"/>
          </a:p>
        </p:txBody>
      </p:sp>
      <p:sp>
        <p:nvSpPr>
          <p:cNvPr id="16" name="Text 13"/>
          <p:cNvSpPr txBox="1"/>
          <p:nvPr/>
        </p:nvSpPr>
        <p:spPr>
          <a:xfrm>
            <a:off x="8183880" y="3081528"/>
            <a:ext cx="502920" cy="502920"/>
          </a:xfrm>
          <a:prstGeom prst="rect">
            <a:avLst/>
          </a:prstGeom>
          <a:noFill/>
          <a:ln/>
        </p:spPr>
        <p:txBody>
          <a:bodyPr wrap="square" lIns="0" tIns="0" rIns="0" bIns="0" rtlCol="0" anchor="ctr"/>
          <a:lstStyle/>
          <a:p>
            <a:pPr indent="0" marL="0">
              <a:buNone/>
            </a:pPr>
            <a:r>
              <a:rPr lang="en-US" sz="2200" b="1" dirty="0">
                <a:solidFill>
                  <a:srgbClr val="FCC30A"/>
                </a:solidFill>
                <a:latin typeface="Arial" pitchFamily="34" charset="0"/>
                <a:ea typeface="Arial" pitchFamily="34" charset="-122"/>
                <a:cs typeface="Arial" pitchFamily="34" charset="-120"/>
              </a:rPr>
              <a:t>3</a:t>
            </a:r>
            <a:endParaRPr lang="en-US" sz="2200" dirty="0"/>
          </a:p>
        </p:txBody>
      </p:sp>
      <p:sp>
        <p:nvSpPr>
          <p:cNvPr id="17" name="Text 14"/>
          <p:cNvSpPr txBox="1"/>
          <p:nvPr/>
        </p:nvSpPr>
        <p:spPr>
          <a:xfrm>
            <a:off x="8732520" y="3081528"/>
            <a:ext cx="2743200" cy="502920"/>
          </a:xfrm>
          <a:prstGeom prst="rect">
            <a:avLst/>
          </a:prstGeom>
          <a:noFill/>
          <a:ln/>
        </p:spPr>
        <p:txBody>
          <a:bodyPr wrap="square" lIns="0" tIns="0" rIns="0" bIns="0" rtlCol="0" anchor="ctr"/>
          <a:lstStyle/>
          <a:p>
            <a:pPr indent="0" marL="0">
              <a:buNone/>
            </a:pPr>
            <a:r>
              <a:rPr lang="en-US" sz="1300" dirty="0">
                <a:solidFill>
                  <a:srgbClr val="222222"/>
                </a:solidFill>
                <a:latin typeface="Arial" pitchFamily="34" charset="0"/>
                <a:ea typeface="Arial" pitchFamily="34" charset="-122"/>
                <a:cs typeface="Arial" pitchFamily="34" charset="-120"/>
              </a:rPr>
              <a:t>Operators: 2 day, 1 night</a:t>
            </a:r>
            <a:endParaRPr lang="en-US" sz="1300" dirty="0"/>
          </a:p>
        </p:txBody>
      </p:sp>
      <p:sp>
        <p:nvSpPr>
          <p:cNvPr id="18" name="Text 15"/>
          <p:cNvSpPr txBox="1"/>
          <p:nvPr/>
        </p:nvSpPr>
        <p:spPr>
          <a:xfrm>
            <a:off x="8183880" y="3739896"/>
            <a:ext cx="502920" cy="502920"/>
          </a:xfrm>
          <a:prstGeom prst="rect">
            <a:avLst/>
          </a:prstGeom>
          <a:noFill/>
          <a:ln/>
        </p:spPr>
        <p:txBody>
          <a:bodyPr wrap="square" lIns="0" tIns="0" rIns="0" bIns="0" rtlCol="0" anchor="ctr"/>
          <a:lstStyle/>
          <a:p>
            <a:pPr indent="0" marL="0">
              <a:buNone/>
            </a:pPr>
            <a:r>
              <a:rPr lang="en-US" sz="2200" b="1" dirty="0">
                <a:solidFill>
                  <a:srgbClr val="FCC30A"/>
                </a:solidFill>
                <a:latin typeface="Arial" pitchFamily="34" charset="0"/>
                <a:ea typeface="Arial" pitchFamily="34" charset="-122"/>
                <a:cs typeface="Arial" pitchFamily="34" charset="-120"/>
              </a:rPr>
              <a:t>1</a:t>
            </a:r>
            <a:endParaRPr lang="en-US" sz="2200" dirty="0"/>
          </a:p>
        </p:txBody>
      </p:sp>
      <p:sp>
        <p:nvSpPr>
          <p:cNvPr id="19" name="Text 16"/>
          <p:cNvSpPr txBox="1"/>
          <p:nvPr/>
        </p:nvSpPr>
        <p:spPr>
          <a:xfrm>
            <a:off x="8732520" y="3739896"/>
            <a:ext cx="2743200" cy="502920"/>
          </a:xfrm>
          <a:prstGeom prst="rect">
            <a:avLst/>
          </a:prstGeom>
          <a:noFill/>
          <a:ln/>
        </p:spPr>
        <p:txBody>
          <a:bodyPr wrap="square" lIns="0" tIns="0" rIns="0" bIns="0" rtlCol="0" anchor="ctr"/>
          <a:lstStyle/>
          <a:p>
            <a:pPr indent="0" marL="0">
              <a:buNone/>
            </a:pPr>
            <a:r>
              <a:rPr lang="en-US" sz="1300" dirty="0">
                <a:solidFill>
                  <a:srgbClr val="222222"/>
                </a:solidFill>
                <a:latin typeface="Arial" pitchFamily="34" charset="0"/>
                <a:ea typeface="Arial" pitchFamily="34" charset="-122"/>
                <a:cs typeface="Arial" pitchFamily="34" charset="-120"/>
              </a:rPr>
              <a:t>Project manager</a:t>
            </a:r>
            <a:endParaRPr lang="en-US" sz="1300" dirty="0"/>
          </a:p>
        </p:txBody>
      </p:sp>
      <p:sp>
        <p:nvSpPr>
          <p:cNvPr id="20" name="Shape 17"/>
          <p:cNvSpPr/>
          <p:nvPr/>
        </p:nvSpPr>
        <p:spPr>
          <a:xfrm>
            <a:off x="4663440" y="1783080"/>
            <a:ext cx="438912" cy="438912"/>
          </a:xfrm>
          <a:prstGeom prst="ellipse">
            <a:avLst/>
          </a:prstGeom>
          <a:solidFill>
            <a:srgbClr val="1E1E1E"/>
          </a:solidFill>
          <a:ln w="12700">
            <a:solidFill>
              <a:srgbClr val="1E1E1E"/>
            </a:solidFill>
            <a:prstDash val="solid"/>
          </a:ln>
        </p:spPr>
      </p:sp>
      <p:pic>
        <p:nvPicPr>
          <p:cNvPr id="21" name="Image 1" descr="preencoded.png">    </p:cNvPr>
          <p:cNvPicPr>
            <a:picLocks noChangeAspect="1"/>
          </p:cNvPicPr>
          <p:nvPr/>
        </p:nvPicPr>
        <p:blipFill>
          <a:blip r:embed="rId2"/>
          <a:stretch>
            <a:fillRect/>
          </a:stretch>
        </p:blipFill>
        <p:spPr>
          <a:xfrm>
            <a:off x="4773168" y="1892808"/>
            <a:ext cx="219456" cy="219456"/>
          </a:xfrm>
          <a:prstGeom prst="rect">
            <a:avLst/>
          </a:prstGeom>
        </p:spPr>
      </p:pic>
      <p:sp>
        <p:nvSpPr>
          <p:cNvPr id="22" name="Shape 18"/>
          <p:cNvSpPr/>
          <p:nvPr/>
        </p:nvSpPr>
        <p:spPr>
          <a:xfrm>
            <a:off x="8183880" y="1783080"/>
            <a:ext cx="438912" cy="438912"/>
          </a:xfrm>
          <a:prstGeom prst="ellipse">
            <a:avLst/>
          </a:prstGeom>
          <a:solidFill>
            <a:srgbClr val="1E1E1E"/>
          </a:solidFill>
          <a:ln w="12700">
            <a:solidFill>
              <a:srgbClr val="1E1E1E"/>
            </a:solidFill>
            <a:prstDash val="solid"/>
          </a:ln>
        </p:spPr>
      </p:sp>
      <p:pic>
        <p:nvPicPr>
          <p:cNvPr id="23" name="Image 2" descr="preencoded.png">    </p:cNvPr>
          <p:cNvPicPr>
            <a:picLocks noChangeAspect="1"/>
          </p:cNvPicPr>
          <p:nvPr/>
        </p:nvPicPr>
        <p:blipFill>
          <a:blip r:embed="rId3"/>
          <a:stretch>
            <a:fillRect/>
          </a:stretch>
        </p:blipFill>
        <p:spPr>
          <a:xfrm>
            <a:off x="8293608" y="1892808"/>
            <a:ext cx="219456" cy="219456"/>
          </a:xfrm>
          <a:prstGeom prst="rect">
            <a:avLst/>
          </a:prstGeom>
        </p:spPr>
      </p:pic>
      <p:sp>
        <p:nvSpPr>
          <p:cNvPr id="24" name="Shape 19"/>
          <p:cNvSpPr/>
          <p:nvPr/>
        </p:nvSpPr>
        <p:spPr>
          <a:xfrm>
            <a:off x="4663440" y="4617720"/>
            <a:ext cx="2148840" cy="1417320"/>
          </a:xfrm>
          <a:prstGeom prst="rect">
            <a:avLst/>
          </a:prstGeom>
          <a:solidFill>
            <a:srgbClr val="1E1E1E"/>
          </a:solidFill>
          <a:ln w="12700">
            <a:solidFill>
              <a:srgbClr val="1E1E1E"/>
            </a:solidFill>
            <a:prstDash val="solid"/>
          </a:ln>
        </p:spPr>
      </p:sp>
      <p:sp>
        <p:nvSpPr>
          <p:cNvPr id="25" name="Text 20"/>
          <p:cNvSpPr txBox="1"/>
          <p:nvPr/>
        </p:nvSpPr>
        <p:spPr>
          <a:xfrm>
            <a:off x="4846320" y="4754880"/>
            <a:ext cx="1828800" cy="640080"/>
          </a:xfrm>
          <a:prstGeom prst="rect">
            <a:avLst/>
          </a:prstGeom>
          <a:noFill/>
          <a:ln/>
        </p:spPr>
        <p:txBody>
          <a:bodyPr wrap="square" lIns="0" tIns="0" rIns="0" bIns="0" rtlCol="0" anchor="ctr"/>
          <a:lstStyle/>
          <a:p>
            <a:pPr indent="0" marL="0">
              <a:buNone/>
            </a:pPr>
            <a:r>
              <a:rPr lang="en-US" sz="3000" b="1" dirty="0">
                <a:solidFill>
                  <a:srgbClr val="FCC30A"/>
                </a:solidFill>
                <a:latin typeface="Arial" pitchFamily="34" charset="0"/>
                <a:ea typeface="Arial" pitchFamily="34" charset="-122"/>
                <a:cs typeface="Arial" pitchFamily="34" charset="-120"/>
              </a:rPr>
              <a:t>~5%</a:t>
            </a:r>
            <a:endParaRPr lang="en-US" sz="3000" dirty="0"/>
          </a:p>
        </p:txBody>
      </p:sp>
      <p:sp>
        <p:nvSpPr>
          <p:cNvPr id="26" name="Text 21"/>
          <p:cNvSpPr txBox="1"/>
          <p:nvPr/>
        </p:nvSpPr>
        <p:spPr>
          <a:xfrm>
            <a:off x="4846320" y="5394960"/>
            <a:ext cx="1828800" cy="548640"/>
          </a:xfrm>
          <a:prstGeom prst="rect">
            <a:avLst/>
          </a:prstGeom>
          <a:noFill/>
          <a:ln/>
        </p:spPr>
        <p:txBody>
          <a:bodyPr wrap="square" lIns="0" tIns="0" rIns="0" bIns="0" rtlCol="0" anchor="t"/>
          <a:lstStyle/>
          <a:p>
            <a:pPr indent="0" marL="0">
              <a:buNone/>
            </a:pPr>
            <a:r>
              <a:rPr lang="en-US" sz="1150" dirty="0">
                <a:solidFill>
                  <a:srgbClr val="FFFFFF"/>
                </a:solidFill>
                <a:latin typeface="Arial" pitchFamily="34" charset="0"/>
                <a:ea typeface="Arial" pitchFamily="34" charset="-122"/>
                <a:cs typeface="Arial" pitchFamily="34" charset="-120"/>
              </a:rPr>
              <a:t>crew turnover, last 12 months</a:t>
            </a:r>
            <a:endParaRPr lang="en-US" sz="1150" dirty="0"/>
          </a:p>
        </p:txBody>
      </p:sp>
      <p:sp>
        <p:nvSpPr>
          <p:cNvPr id="27" name="Shape 22"/>
          <p:cNvSpPr/>
          <p:nvPr/>
        </p:nvSpPr>
        <p:spPr>
          <a:xfrm>
            <a:off x="6995160" y="4617720"/>
            <a:ext cx="2148840" cy="1417320"/>
          </a:xfrm>
          <a:prstGeom prst="rect">
            <a:avLst/>
          </a:prstGeom>
          <a:solidFill>
            <a:srgbClr val="1E1E1E"/>
          </a:solidFill>
          <a:ln w="12700">
            <a:solidFill>
              <a:srgbClr val="1E1E1E"/>
            </a:solidFill>
            <a:prstDash val="solid"/>
          </a:ln>
        </p:spPr>
      </p:sp>
      <p:sp>
        <p:nvSpPr>
          <p:cNvPr id="28" name="Text 23"/>
          <p:cNvSpPr txBox="1"/>
          <p:nvPr/>
        </p:nvSpPr>
        <p:spPr>
          <a:xfrm>
            <a:off x="7178040" y="4754880"/>
            <a:ext cx="1828800" cy="640080"/>
          </a:xfrm>
          <a:prstGeom prst="rect">
            <a:avLst/>
          </a:prstGeom>
          <a:noFill/>
          <a:ln/>
        </p:spPr>
        <p:txBody>
          <a:bodyPr wrap="square" lIns="0" tIns="0" rIns="0" bIns="0" rtlCol="0" anchor="ctr"/>
          <a:lstStyle/>
          <a:p>
            <a:pPr indent="0" marL="0">
              <a:buNone/>
            </a:pPr>
            <a:r>
              <a:rPr lang="en-US" sz="3000" b="1" dirty="0">
                <a:solidFill>
                  <a:srgbClr val="FCC30A"/>
                </a:solidFill>
                <a:latin typeface="Arial" pitchFamily="34" charset="0"/>
                <a:ea typeface="Arial" pitchFamily="34" charset="-122"/>
                <a:cs typeface="Arial" pitchFamily="34" charset="-120"/>
              </a:rPr>
              <a:t>24/7</a:t>
            </a:r>
            <a:endParaRPr lang="en-US" sz="3000" dirty="0"/>
          </a:p>
        </p:txBody>
      </p:sp>
      <p:sp>
        <p:nvSpPr>
          <p:cNvPr id="29" name="Text 24"/>
          <p:cNvSpPr txBox="1"/>
          <p:nvPr/>
        </p:nvSpPr>
        <p:spPr>
          <a:xfrm>
            <a:off x="7178040" y="5394960"/>
            <a:ext cx="1828800" cy="548640"/>
          </a:xfrm>
          <a:prstGeom prst="rect">
            <a:avLst/>
          </a:prstGeom>
          <a:noFill/>
          <a:ln/>
        </p:spPr>
        <p:txBody>
          <a:bodyPr wrap="square" lIns="0" tIns="0" rIns="0" bIns="0" rtlCol="0" anchor="t"/>
          <a:lstStyle/>
          <a:p>
            <a:pPr indent="0" marL="0">
              <a:buNone/>
            </a:pPr>
            <a:r>
              <a:rPr lang="en-US" sz="1150" dirty="0">
                <a:solidFill>
                  <a:srgbClr val="FFFFFF"/>
                </a:solidFill>
                <a:latin typeface="Arial" pitchFamily="34" charset="0"/>
                <a:ea typeface="Arial" pitchFamily="34" charset="-122"/>
                <a:cs typeface="Arial" pitchFamily="34" charset="-120"/>
              </a:rPr>
              <a:t>two 12-hour shifts</a:t>
            </a:r>
            <a:endParaRPr lang="en-US" sz="1150" dirty="0"/>
          </a:p>
        </p:txBody>
      </p:sp>
      <p:sp>
        <p:nvSpPr>
          <p:cNvPr id="30" name="Shape 25"/>
          <p:cNvSpPr/>
          <p:nvPr/>
        </p:nvSpPr>
        <p:spPr>
          <a:xfrm>
            <a:off x="9326880" y="4617720"/>
            <a:ext cx="2148840" cy="1417320"/>
          </a:xfrm>
          <a:prstGeom prst="rect">
            <a:avLst/>
          </a:prstGeom>
          <a:solidFill>
            <a:srgbClr val="1E1E1E"/>
          </a:solidFill>
          <a:ln w="12700">
            <a:solidFill>
              <a:srgbClr val="1E1E1E"/>
            </a:solidFill>
            <a:prstDash val="solid"/>
          </a:ln>
        </p:spPr>
      </p:sp>
      <p:sp>
        <p:nvSpPr>
          <p:cNvPr id="31" name="Text 26"/>
          <p:cNvSpPr txBox="1"/>
          <p:nvPr/>
        </p:nvSpPr>
        <p:spPr>
          <a:xfrm>
            <a:off x="9509760" y="4754880"/>
            <a:ext cx="1828800" cy="640080"/>
          </a:xfrm>
          <a:prstGeom prst="rect">
            <a:avLst/>
          </a:prstGeom>
          <a:noFill/>
          <a:ln/>
        </p:spPr>
        <p:txBody>
          <a:bodyPr wrap="square" lIns="0" tIns="0" rIns="0" bIns="0" rtlCol="0" anchor="ctr"/>
          <a:lstStyle/>
          <a:p>
            <a:pPr indent="0" marL="0">
              <a:buNone/>
            </a:pPr>
            <a:r>
              <a:rPr lang="en-US" sz="3000" b="1" dirty="0">
                <a:solidFill>
                  <a:srgbClr val="FCC30A"/>
                </a:solidFill>
                <a:latin typeface="Arial" pitchFamily="34" charset="0"/>
                <a:ea typeface="Arial" pitchFamily="34" charset="-122"/>
                <a:cs typeface="Arial" pitchFamily="34" charset="-120"/>
              </a:rPr>
              <a:t>100%</a:t>
            </a:r>
            <a:endParaRPr lang="en-US" sz="3000" dirty="0"/>
          </a:p>
        </p:txBody>
      </p:sp>
      <p:sp>
        <p:nvSpPr>
          <p:cNvPr id="32" name="Text 27"/>
          <p:cNvSpPr txBox="1"/>
          <p:nvPr/>
        </p:nvSpPr>
        <p:spPr>
          <a:xfrm>
            <a:off x="9509760" y="5394960"/>
            <a:ext cx="1828800" cy="548640"/>
          </a:xfrm>
          <a:prstGeom prst="rect">
            <a:avLst/>
          </a:prstGeom>
          <a:noFill/>
          <a:ln/>
        </p:spPr>
        <p:txBody>
          <a:bodyPr wrap="square" lIns="0" tIns="0" rIns="0" bIns="0" rtlCol="0" anchor="t"/>
          <a:lstStyle/>
          <a:p>
            <a:pPr indent="0" marL="0">
              <a:buNone/>
            </a:pPr>
            <a:r>
              <a:rPr lang="en-US" sz="1150" dirty="0">
                <a:solidFill>
                  <a:srgbClr val="FFFFFF"/>
                </a:solidFill>
                <a:latin typeface="Arial" pitchFamily="34" charset="0"/>
                <a:ea typeface="Arial" pitchFamily="34" charset="-122"/>
                <a:cs typeface="Arial" pitchFamily="34" charset="-120"/>
              </a:rPr>
              <a:t>training verified before mobilization</a:t>
            </a:r>
            <a:endParaRPr lang="en-US" sz="1150" dirty="0"/>
          </a:p>
        </p:txBody>
      </p:sp>
      <p:sp>
        <p:nvSpPr>
          <p:cNvPr id="33" name="Text 28"/>
          <p:cNvSpPr txBox="1"/>
          <p:nvPr/>
        </p:nvSpPr>
        <p:spPr>
          <a:xfrm>
            <a:off x="4663440" y="6419088"/>
            <a:ext cx="7315200" cy="228600"/>
          </a:xfrm>
          <a:prstGeom prst="rect">
            <a:avLst/>
          </a:prstGeom>
          <a:noFill/>
          <a:ln/>
        </p:spPr>
        <p:txBody>
          <a:bodyPr wrap="square" lIns="0" tIns="0" rIns="0" bIns="0" rtlCol="0" anchor="ctr"/>
          <a:lstStyle/>
          <a:p>
            <a:pPr indent="0" marL="0">
              <a:buNone/>
            </a:pPr>
            <a:r>
              <a:rPr lang="en-US" sz="900" dirty="0">
                <a:solidFill>
                  <a:srgbClr val="9A9A9A"/>
                </a:solidFill>
                <a:latin typeface="Arial" pitchFamily="34" charset="0"/>
                <a:ea typeface="Arial" pitchFamily="34" charset="-122"/>
                <a:cs typeface="Arial" pitchFamily="34" charset="-120"/>
              </a:rPr>
              <a:t>USA DeBusk  |  LAR Heater Pigging &amp; Decoking Services  |  DSP#26098</a:t>
            </a:r>
            <a:endParaRPr lang="en-US" sz="900" dirty="0"/>
          </a:p>
        </p:txBody>
      </p:sp>
      <p:sp>
        <p:nvSpPr>
          <p:cNvPr id="34" name="Text 29"/>
          <p:cNvSpPr txBox="1"/>
          <p:nvPr/>
        </p:nvSpPr>
        <p:spPr>
          <a:xfrm>
            <a:off x="11155680" y="6419088"/>
            <a:ext cx="484632" cy="228600"/>
          </a:xfrm>
          <a:prstGeom prst="rect">
            <a:avLst/>
          </a:prstGeom>
          <a:noFill/>
          <a:ln/>
        </p:spPr>
        <p:txBody>
          <a:bodyPr wrap="square" lIns="0" tIns="0" rIns="0" bIns="0" rtlCol="0" anchor="ctr"/>
          <a:lstStyle/>
          <a:p>
            <a:pPr algn="r" indent="0" marL="0">
              <a:buNone/>
            </a:pPr>
            <a:r>
              <a:rPr lang="en-US" sz="900" dirty="0">
                <a:solidFill>
                  <a:srgbClr val="9A9A9A"/>
                </a:solidFill>
                <a:latin typeface="Arial" pitchFamily="34" charset="0"/>
                <a:ea typeface="Arial" pitchFamily="34" charset="-122"/>
                <a:cs typeface="Arial"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E1E1E"/>
        </a:solidFill>
      </p:bgPr>
    </p:bg>
    <p:spTree>
      <p:nvGrpSpPr>
        <p:cNvPr id="1" name=""/>
        <p:cNvGrpSpPr/>
        <p:nvPr/>
      </p:nvGrpSpPr>
      <p:grpSpPr>
        <a:xfrm>
          <a:off x="0" y="0"/>
          <a:ext cx="0" cy="0"/>
          <a:chOff x="0" y="0"/>
          <a:chExt cx="0" cy="0"/>
        </a:xfrm>
      </p:grpSpPr>
      <p:sp>
        <p:nvSpPr>
          <p:cNvPr id="2" name="Shape 0"/>
          <p:cNvSpPr/>
          <p:nvPr/>
        </p:nvSpPr>
        <p:spPr>
          <a:xfrm>
            <a:off x="548640" y="411480"/>
            <a:ext cx="2913583" cy="310896"/>
          </a:xfrm>
          <a:prstGeom prst="roundRect">
            <a:avLst>
              <a:gd name="adj" fmla="val 23529"/>
            </a:avLst>
          </a:prstGeom>
          <a:solidFill>
            <a:srgbClr val="FCC30A"/>
          </a:solidFill>
          <a:ln w="12700">
            <a:solidFill>
              <a:srgbClr val="FCC30A"/>
            </a:solidFill>
            <a:prstDash val="solid"/>
          </a:ln>
        </p:spPr>
      </p:sp>
      <p:sp>
        <p:nvSpPr>
          <p:cNvPr id="3" name="Text 1"/>
          <p:cNvSpPr txBox="1"/>
          <p:nvPr/>
        </p:nvSpPr>
        <p:spPr>
          <a:xfrm>
            <a:off x="548640" y="411480"/>
            <a:ext cx="2913583" cy="310896"/>
          </a:xfrm>
          <a:prstGeom prst="rect">
            <a:avLst/>
          </a:prstGeom>
          <a:noFill/>
          <a:ln/>
        </p:spPr>
        <p:txBody>
          <a:bodyPr wrap="square" lIns="0" tIns="0" rIns="0" bIns="0" rtlCol="0" anchor="ctr"/>
          <a:lstStyle/>
          <a:p>
            <a:pPr algn="ctr" indent="0" marL="0">
              <a:buNone/>
            </a:pPr>
            <a:r>
              <a:rPr lang="en-US" sz="1050" b="1" spc="150" kern="0" dirty="0">
                <a:solidFill>
                  <a:srgbClr val="1E1E1E"/>
                </a:solidFill>
                <a:latin typeface="Arial" pitchFamily="34" charset="0"/>
                <a:ea typeface="Arial" pitchFamily="34" charset="-122"/>
                <a:cs typeface="Arial" pitchFamily="34" charset="-120"/>
              </a:rPr>
              <a:t>03   READINESS &amp; RESOURCES</a:t>
            </a:r>
            <a:endParaRPr lang="en-US" sz="1050" dirty="0"/>
          </a:p>
        </p:txBody>
      </p:sp>
      <p:sp>
        <p:nvSpPr>
          <p:cNvPr id="4" name="Text 2"/>
          <p:cNvSpPr txBox="1"/>
          <p:nvPr/>
        </p:nvSpPr>
        <p:spPr>
          <a:xfrm>
            <a:off x="548640" y="841248"/>
            <a:ext cx="11064240" cy="731520"/>
          </a:xfrm>
          <a:prstGeom prst="rect">
            <a:avLst/>
          </a:prstGeom>
          <a:noFill/>
          <a:ln/>
        </p:spPr>
        <p:txBody>
          <a:bodyPr wrap="square" lIns="0" tIns="0" rIns="0" bIns="0" rtlCol="0" anchor="t"/>
          <a:lstStyle/>
          <a:p>
            <a:pPr indent="0" marL="0">
              <a:buNone/>
            </a:pPr>
            <a:r>
              <a:rPr lang="en-US" sz="3200" b="1" dirty="0">
                <a:solidFill>
                  <a:srgbClr val="FFFFFF"/>
                </a:solidFill>
                <a:latin typeface="Arial" pitchFamily="34" charset="0"/>
                <a:ea typeface="Arial" pitchFamily="34" charset="-122"/>
                <a:cs typeface="Arial" pitchFamily="34" charset="-120"/>
              </a:rPr>
              <a:t>Your LAR project team</a:t>
            </a:r>
            <a:endParaRPr lang="en-US" sz="3200" dirty="0"/>
          </a:p>
        </p:txBody>
      </p:sp>
      <p:sp>
        <p:nvSpPr>
          <p:cNvPr id="5" name="Shape 3"/>
          <p:cNvSpPr/>
          <p:nvPr/>
        </p:nvSpPr>
        <p:spPr>
          <a:xfrm>
            <a:off x="4453128" y="1737360"/>
            <a:ext cx="3291840" cy="868680"/>
          </a:xfrm>
          <a:prstGeom prst="rect">
            <a:avLst/>
          </a:prstGeom>
          <a:solidFill>
            <a:srgbClr val="2B2B2B"/>
          </a:solidFill>
          <a:ln w="12700">
            <a:solidFill>
              <a:srgbClr val="363636"/>
            </a:solidFill>
            <a:prstDash val="solid"/>
          </a:ln>
        </p:spPr>
      </p:sp>
      <p:sp>
        <p:nvSpPr>
          <p:cNvPr id="6" name="Text 4"/>
          <p:cNvSpPr txBox="1"/>
          <p:nvPr/>
        </p:nvSpPr>
        <p:spPr>
          <a:xfrm>
            <a:off x="4636008" y="1847088"/>
            <a:ext cx="2926080" cy="347472"/>
          </a:xfrm>
          <a:prstGeom prst="rect">
            <a:avLst/>
          </a:prstGeom>
          <a:noFill/>
          <a:ln/>
        </p:spPr>
        <p:txBody>
          <a:bodyPr wrap="square" lIns="0" tIns="0" rIns="0" bIns="0" rtlCol="0" anchor="ctr"/>
          <a:lstStyle/>
          <a:p>
            <a:pPr indent="0" marL="0">
              <a:buNone/>
            </a:pPr>
            <a:r>
              <a:rPr lang="en-US" sz="1600" b="1" dirty="0">
                <a:solidFill>
                  <a:srgbClr val="FFFFFF"/>
                </a:solidFill>
                <a:latin typeface="Arial" pitchFamily="34" charset="0"/>
                <a:ea typeface="Arial" pitchFamily="34" charset="-122"/>
                <a:cs typeface="Arial" pitchFamily="34" charset="-120"/>
              </a:rPr>
              <a:t>Anthony Fazio</a:t>
            </a:r>
            <a:endParaRPr lang="en-US" sz="1600" dirty="0"/>
          </a:p>
        </p:txBody>
      </p:sp>
      <p:sp>
        <p:nvSpPr>
          <p:cNvPr id="7" name="Text 5"/>
          <p:cNvSpPr txBox="1"/>
          <p:nvPr/>
        </p:nvSpPr>
        <p:spPr>
          <a:xfrm>
            <a:off x="4636008" y="2194560"/>
            <a:ext cx="2926080" cy="320040"/>
          </a:xfrm>
          <a:prstGeom prst="rect">
            <a:avLst/>
          </a:prstGeom>
          <a:noFill/>
          <a:ln/>
        </p:spPr>
        <p:txBody>
          <a:bodyPr wrap="square" lIns="0" tIns="0" rIns="0" bIns="0" rtlCol="0" anchor="ctr"/>
          <a:lstStyle/>
          <a:p>
            <a:pPr indent="0" marL="0">
              <a:buNone/>
            </a:pPr>
            <a:r>
              <a:rPr lang="en-US" sz="1200" dirty="0">
                <a:solidFill>
                  <a:srgbClr val="BDBDBD"/>
                </a:solidFill>
                <a:latin typeface="Arial" pitchFamily="34" charset="0"/>
                <a:ea typeface="Arial" pitchFamily="34" charset="-122"/>
                <a:cs typeface="Arial" pitchFamily="34" charset="-120"/>
              </a:rPr>
              <a:t>VP Operations</a:t>
            </a:r>
            <a:endParaRPr lang="en-US" sz="1200" dirty="0"/>
          </a:p>
        </p:txBody>
      </p:sp>
      <p:sp>
        <p:nvSpPr>
          <p:cNvPr id="8" name="Shape 6"/>
          <p:cNvSpPr/>
          <p:nvPr/>
        </p:nvSpPr>
        <p:spPr>
          <a:xfrm>
            <a:off x="6099048" y="2606040"/>
            <a:ext cx="0" cy="411480"/>
          </a:xfrm>
          <a:prstGeom prst="line">
            <a:avLst/>
          </a:prstGeom>
          <a:noFill/>
          <a:ln w="19050">
            <a:solidFill>
              <a:srgbClr val="8A8A8A"/>
            </a:solidFill>
            <a:prstDash val="solid"/>
          </a:ln>
        </p:spPr>
      </p:sp>
      <p:sp>
        <p:nvSpPr>
          <p:cNvPr id="9" name="Shape 7"/>
          <p:cNvSpPr/>
          <p:nvPr/>
        </p:nvSpPr>
        <p:spPr>
          <a:xfrm>
            <a:off x="4453128" y="3017520"/>
            <a:ext cx="3291840" cy="868680"/>
          </a:xfrm>
          <a:prstGeom prst="rect">
            <a:avLst/>
          </a:prstGeom>
          <a:solidFill>
            <a:srgbClr val="FCC30A"/>
          </a:solidFill>
          <a:ln w="12700">
            <a:solidFill>
              <a:srgbClr val="FCC30A"/>
            </a:solidFill>
            <a:prstDash val="solid"/>
          </a:ln>
        </p:spPr>
      </p:sp>
      <p:sp>
        <p:nvSpPr>
          <p:cNvPr id="10" name="Text 8"/>
          <p:cNvSpPr txBox="1"/>
          <p:nvPr/>
        </p:nvSpPr>
        <p:spPr>
          <a:xfrm>
            <a:off x="4636008" y="3127248"/>
            <a:ext cx="2926080" cy="347472"/>
          </a:xfrm>
          <a:prstGeom prst="rect">
            <a:avLst/>
          </a:prstGeom>
          <a:noFill/>
          <a:ln/>
        </p:spPr>
        <p:txBody>
          <a:bodyPr wrap="square" lIns="0" tIns="0" rIns="0" bIns="0" rtlCol="0" anchor="ctr"/>
          <a:lstStyle/>
          <a:p>
            <a:pPr indent="0" marL="0">
              <a:buNone/>
            </a:pPr>
            <a:r>
              <a:rPr lang="en-US" sz="1600" b="1" dirty="0">
                <a:solidFill>
                  <a:srgbClr val="1E1E1E"/>
                </a:solidFill>
                <a:latin typeface="Arial" pitchFamily="34" charset="0"/>
                <a:ea typeface="Arial" pitchFamily="34" charset="-122"/>
                <a:cs typeface="Arial" pitchFamily="34" charset="-120"/>
              </a:rPr>
              <a:t>Marshall Douglas</a:t>
            </a:r>
            <a:endParaRPr lang="en-US" sz="1600" dirty="0"/>
          </a:p>
        </p:txBody>
      </p:sp>
      <p:sp>
        <p:nvSpPr>
          <p:cNvPr id="11" name="Text 9"/>
          <p:cNvSpPr txBox="1"/>
          <p:nvPr/>
        </p:nvSpPr>
        <p:spPr>
          <a:xfrm>
            <a:off x="4636008" y="3474720"/>
            <a:ext cx="2926080" cy="320040"/>
          </a:xfrm>
          <a:prstGeom prst="rect">
            <a:avLst/>
          </a:prstGeom>
          <a:noFill/>
          <a:ln/>
        </p:spPr>
        <p:txBody>
          <a:bodyPr wrap="square" lIns="0" tIns="0" rIns="0" bIns="0" rtlCol="0" anchor="ctr"/>
          <a:lstStyle/>
          <a:p>
            <a:pPr indent="0" marL="0">
              <a:buNone/>
            </a:pPr>
            <a:r>
              <a:rPr lang="en-US" sz="1200" dirty="0">
                <a:solidFill>
                  <a:srgbClr val="1E1E1E"/>
                </a:solidFill>
                <a:latin typeface="Arial" pitchFamily="34" charset="0"/>
                <a:ea typeface="Arial" pitchFamily="34" charset="-122"/>
                <a:cs typeface="Arial" pitchFamily="34" charset="-120"/>
              </a:rPr>
              <a:t>Director of Pigging Operations</a:t>
            </a:r>
            <a:endParaRPr lang="en-US" sz="1200" dirty="0"/>
          </a:p>
        </p:txBody>
      </p:sp>
      <p:sp>
        <p:nvSpPr>
          <p:cNvPr id="12" name="Shape 10"/>
          <p:cNvSpPr/>
          <p:nvPr/>
        </p:nvSpPr>
        <p:spPr>
          <a:xfrm>
            <a:off x="7744968" y="3456432"/>
            <a:ext cx="914400" cy="0"/>
          </a:xfrm>
          <a:prstGeom prst="line">
            <a:avLst/>
          </a:prstGeom>
          <a:noFill/>
          <a:ln w="19050">
            <a:solidFill>
              <a:srgbClr val="8A8A8A"/>
            </a:solidFill>
            <a:prstDash val="dash"/>
          </a:ln>
        </p:spPr>
      </p:sp>
      <p:sp>
        <p:nvSpPr>
          <p:cNvPr id="13" name="Shape 11"/>
          <p:cNvSpPr/>
          <p:nvPr/>
        </p:nvSpPr>
        <p:spPr>
          <a:xfrm>
            <a:off x="8659368" y="3017520"/>
            <a:ext cx="2926080" cy="868680"/>
          </a:xfrm>
          <a:prstGeom prst="rect">
            <a:avLst/>
          </a:prstGeom>
          <a:solidFill>
            <a:srgbClr val="2B2B2B"/>
          </a:solidFill>
          <a:ln w="12700">
            <a:solidFill>
              <a:srgbClr val="363636"/>
            </a:solidFill>
            <a:prstDash val="solid"/>
          </a:ln>
        </p:spPr>
      </p:sp>
      <p:sp>
        <p:nvSpPr>
          <p:cNvPr id="14" name="Text 12"/>
          <p:cNvSpPr txBox="1"/>
          <p:nvPr/>
        </p:nvSpPr>
        <p:spPr>
          <a:xfrm>
            <a:off x="8842248" y="3127248"/>
            <a:ext cx="2560320" cy="347472"/>
          </a:xfrm>
          <a:prstGeom prst="rect">
            <a:avLst/>
          </a:prstGeom>
          <a:noFill/>
          <a:ln/>
        </p:spPr>
        <p:txBody>
          <a:bodyPr wrap="square" lIns="0" tIns="0" rIns="0" bIns="0" rtlCol="0" anchor="ctr"/>
          <a:lstStyle/>
          <a:p>
            <a:pPr indent="0" marL="0">
              <a:buNone/>
            </a:pPr>
            <a:r>
              <a:rPr lang="en-US" sz="1600" b="1" dirty="0">
                <a:solidFill>
                  <a:srgbClr val="FFFFFF"/>
                </a:solidFill>
                <a:latin typeface="Arial" pitchFamily="34" charset="0"/>
                <a:ea typeface="Arial" pitchFamily="34" charset="-122"/>
                <a:cs typeface="Arial" pitchFamily="34" charset="-120"/>
              </a:rPr>
              <a:t>Jason Harman</a:t>
            </a:r>
            <a:endParaRPr lang="en-US" sz="1600" dirty="0"/>
          </a:p>
        </p:txBody>
      </p:sp>
      <p:sp>
        <p:nvSpPr>
          <p:cNvPr id="15" name="Text 13"/>
          <p:cNvSpPr txBox="1"/>
          <p:nvPr/>
        </p:nvSpPr>
        <p:spPr>
          <a:xfrm>
            <a:off x="8842248" y="3474720"/>
            <a:ext cx="2560320" cy="320040"/>
          </a:xfrm>
          <a:prstGeom prst="rect">
            <a:avLst/>
          </a:prstGeom>
          <a:noFill/>
          <a:ln/>
        </p:spPr>
        <p:txBody>
          <a:bodyPr wrap="square" lIns="0" tIns="0" rIns="0" bIns="0" rtlCol="0" anchor="ctr"/>
          <a:lstStyle/>
          <a:p>
            <a:pPr indent="0" marL="0">
              <a:buNone/>
            </a:pPr>
            <a:r>
              <a:rPr lang="en-US" sz="1200" dirty="0">
                <a:solidFill>
                  <a:srgbClr val="BDBDBD"/>
                </a:solidFill>
                <a:latin typeface="Arial" pitchFamily="34" charset="0"/>
                <a:ea typeface="Arial" pitchFamily="34" charset="-122"/>
                <a:cs typeface="Arial" pitchFamily="34" charset="-120"/>
              </a:rPr>
              <a:t>Commercial Manager</a:t>
            </a:r>
            <a:endParaRPr lang="en-US" sz="1200" dirty="0"/>
          </a:p>
        </p:txBody>
      </p:sp>
      <p:sp>
        <p:nvSpPr>
          <p:cNvPr id="16" name="Shape 14"/>
          <p:cNvSpPr/>
          <p:nvPr/>
        </p:nvSpPr>
        <p:spPr>
          <a:xfrm>
            <a:off x="6099048" y="3886200"/>
            <a:ext cx="0" cy="411480"/>
          </a:xfrm>
          <a:prstGeom prst="line">
            <a:avLst/>
          </a:prstGeom>
          <a:noFill/>
          <a:ln w="19050">
            <a:solidFill>
              <a:srgbClr val="8A8A8A"/>
            </a:solidFill>
            <a:prstDash val="solid"/>
          </a:ln>
        </p:spPr>
      </p:sp>
      <p:sp>
        <p:nvSpPr>
          <p:cNvPr id="17" name="Shape 15"/>
          <p:cNvSpPr/>
          <p:nvPr/>
        </p:nvSpPr>
        <p:spPr>
          <a:xfrm>
            <a:off x="4453128" y="4297680"/>
            <a:ext cx="3291840" cy="868680"/>
          </a:xfrm>
          <a:prstGeom prst="rect">
            <a:avLst/>
          </a:prstGeom>
          <a:solidFill>
            <a:srgbClr val="2B2B2B"/>
          </a:solidFill>
          <a:ln w="12700">
            <a:solidFill>
              <a:srgbClr val="363636"/>
            </a:solidFill>
            <a:prstDash val="solid"/>
          </a:ln>
        </p:spPr>
      </p:sp>
      <p:sp>
        <p:nvSpPr>
          <p:cNvPr id="18" name="Text 16"/>
          <p:cNvSpPr txBox="1"/>
          <p:nvPr/>
        </p:nvSpPr>
        <p:spPr>
          <a:xfrm>
            <a:off x="4636008" y="4407408"/>
            <a:ext cx="2926080" cy="347472"/>
          </a:xfrm>
          <a:prstGeom prst="rect">
            <a:avLst/>
          </a:prstGeom>
          <a:noFill/>
          <a:ln/>
        </p:spPr>
        <p:txBody>
          <a:bodyPr wrap="square" lIns="0" tIns="0" rIns="0" bIns="0" rtlCol="0" anchor="ctr"/>
          <a:lstStyle/>
          <a:p>
            <a:pPr indent="0" marL="0">
              <a:buNone/>
            </a:pPr>
            <a:r>
              <a:rPr lang="en-US" sz="1600" b="1" dirty="0">
                <a:solidFill>
                  <a:srgbClr val="FFFFFF"/>
                </a:solidFill>
                <a:latin typeface="Arial" pitchFamily="34" charset="0"/>
                <a:ea typeface="Arial" pitchFamily="34" charset="-122"/>
                <a:cs typeface="Arial" pitchFamily="34" charset="-120"/>
              </a:rPr>
              <a:t>Travis Trenholm</a:t>
            </a:r>
            <a:endParaRPr lang="en-US" sz="1600" dirty="0"/>
          </a:p>
        </p:txBody>
      </p:sp>
      <p:sp>
        <p:nvSpPr>
          <p:cNvPr id="19" name="Text 17"/>
          <p:cNvSpPr txBox="1"/>
          <p:nvPr/>
        </p:nvSpPr>
        <p:spPr>
          <a:xfrm>
            <a:off x="4636008" y="4754880"/>
            <a:ext cx="2926080" cy="320040"/>
          </a:xfrm>
          <a:prstGeom prst="rect">
            <a:avLst/>
          </a:prstGeom>
          <a:noFill/>
          <a:ln/>
        </p:spPr>
        <p:txBody>
          <a:bodyPr wrap="square" lIns="0" tIns="0" rIns="0" bIns="0" rtlCol="0" anchor="ctr"/>
          <a:lstStyle/>
          <a:p>
            <a:pPr indent="0" marL="0">
              <a:buNone/>
            </a:pPr>
            <a:r>
              <a:rPr lang="en-US" sz="1200" dirty="0">
                <a:solidFill>
                  <a:srgbClr val="BDBDBD"/>
                </a:solidFill>
                <a:latin typeface="Arial" pitchFamily="34" charset="0"/>
                <a:ea typeface="Arial" pitchFamily="34" charset="-122"/>
                <a:cs typeface="Arial" pitchFamily="34" charset="-120"/>
              </a:rPr>
              <a:t>Pigging Operations Manager (PM)</a:t>
            </a:r>
            <a:endParaRPr lang="en-US" sz="1200" dirty="0"/>
          </a:p>
        </p:txBody>
      </p:sp>
      <p:sp>
        <p:nvSpPr>
          <p:cNvPr id="20" name="Shape 18"/>
          <p:cNvSpPr/>
          <p:nvPr/>
        </p:nvSpPr>
        <p:spPr>
          <a:xfrm>
            <a:off x="6099048" y="5166360"/>
            <a:ext cx="0" cy="274320"/>
          </a:xfrm>
          <a:prstGeom prst="line">
            <a:avLst/>
          </a:prstGeom>
          <a:noFill/>
          <a:ln w="19050">
            <a:solidFill>
              <a:srgbClr val="8A8A8A"/>
            </a:solidFill>
            <a:prstDash val="solid"/>
          </a:ln>
        </p:spPr>
      </p:sp>
      <p:sp>
        <p:nvSpPr>
          <p:cNvPr id="21" name="Shape 19"/>
          <p:cNvSpPr/>
          <p:nvPr/>
        </p:nvSpPr>
        <p:spPr>
          <a:xfrm>
            <a:off x="4087368" y="5440680"/>
            <a:ext cx="4023360" cy="0"/>
          </a:xfrm>
          <a:prstGeom prst="line">
            <a:avLst/>
          </a:prstGeom>
          <a:noFill/>
          <a:ln w="19050">
            <a:solidFill>
              <a:srgbClr val="8A8A8A"/>
            </a:solidFill>
            <a:prstDash val="solid"/>
          </a:ln>
        </p:spPr>
      </p:sp>
      <p:sp>
        <p:nvSpPr>
          <p:cNvPr id="22" name="Shape 20"/>
          <p:cNvSpPr/>
          <p:nvPr/>
        </p:nvSpPr>
        <p:spPr>
          <a:xfrm>
            <a:off x="4087368" y="5440680"/>
            <a:ext cx="0" cy="182880"/>
          </a:xfrm>
          <a:prstGeom prst="line">
            <a:avLst/>
          </a:prstGeom>
          <a:noFill/>
          <a:ln w="19050">
            <a:solidFill>
              <a:srgbClr val="8A8A8A"/>
            </a:solidFill>
            <a:prstDash val="solid"/>
          </a:ln>
        </p:spPr>
      </p:sp>
      <p:sp>
        <p:nvSpPr>
          <p:cNvPr id="23" name="Shape 21"/>
          <p:cNvSpPr/>
          <p:nvPr/>
        </p:nvSpPr>
        <p:spPr>
          <a:xfrm>
            <a:off x="8110728" y="5440680"/>
            <a:ext cx="0" cy="182880"/>
          </a:xfrm>
          <a:prstGeom prst="line">
            <a:avLst/>
          </a:prstGeom>
          <a:noFill/>
          <a:ln w="19050">
            <a:solidFill>
              <a:srgbClr val="8A8A8A"/>
            </a:solidFill>
            <a:prstDash val="solid"/>
          </a:ln>
        </p:spPr>
      </p:sp>
      <p:sp>
        <p:nvSpPr>
          <p:cNvPr id="24" name="Shape 22"/>
          <p:cNvSpPr/>
          <p:nvPr/>
        </p:nvSpPr>
        <p:spPr>
          <a:xfrm>
            <a:off x="2624328" y="5623560"/>
            <a:ext cx="2926080" cy="658368"/>
          </a:xfrm>
          <a:prstGeom prst="rect">
            <a:avLst/>
          </a:prstGeom>
          <a:solidFill>
            <a:srgbClr val="2B2B2B"/>
          </a:solidFill>
          <a:ln w="12700">
            <a:solidFill>
              <a:srgbClr val="363636"/>
            </a:solidFill>
            <a:prstDash val="solid"/>
          </a:ln>
        </p:spPr>
      </p:sp>
      <p:sp>
        <p:nvSpPr>
          <p:cNvPr id="25" name="Text 23"/>
          <p:cNvSpPr txBox="1"/>
          <p:nvPr/>
        </p:nvSpPr>
        <p:spPr>
          <a:xfrm>
            <a:off x="2761488" y="5650992"/>
            <a:ext cx="2651760" cy="301752"/>
          </a:xfrm>
          <a:prstGeom prst="rect">
            <a:avLst/>
          </a:prstGeom>
          <a:noFill/>
          <a:ln/>
        </p:spPr>
        <p:txBody>
          <a:bodyPr wrap="square" lIns="0" tIns="0" rIns="0" bIns="0" rtlCol="0" anchor="ctr"/>
          <a:lstStyle/>
          <a:p>
            <a:pPr indent="0" marL="0">
              <a:buNone/>
            </a:pPr>
            <a:r>
              <a:rPr lang="en-US" sz="1300" b="1" dirty="0">
                <a:solidFill>
                  <a:srgbClr val="FCC30A"/>
                </a:solidFill>
                <a:latin typeface="Arial" pitchFamily="34" charset="0"/>
                <a:ea typeface="Arial" pitchFamily="34" charset="-122"/>
                <a:cs typeface="Arial" pitchFamily="34" charset="-120"/>
              </a:rPr>
              <a:t>Day shift</a:t>
            </a:r>
            <a:endParaRPr lang="en-US" sz="1300" dirty="0"/>
          </a:p>
        </p:txBody>
      </p:sp>
      <p:sp>
        <p:nvSpPr>
          <p:cNvPr id="26" name="Text 24"/>
          <p:cNvSpPr txBox="1"/>
          <p:nvPr/>
        </p:nvSpPr>
        <p:spPr>
          <a:xfrm>
            <a:off x="2761488" y="5943600"/>
            <a:ext cx="2651760" cy="274320"/>
          </a:xfrm>
          <a:prstGeom prst="rect">
            <a:avLst/>
          </a:prstGeom>
          <a:noFill/>
          <a:ln/>
        </p:spPr>
        <p:txBody>
          <a:bodyPr wrap="square" lIns="0" tIns="0" rIns="0" bIns="0" rtlCol="0" anchor="ctr"/>
          <a:lstStyle/>
          <a:p>
            <a:pPr indent="0" marL="0">
              <a:buNone/>
            </a:pPr>
            <a:r>
              <a:rPr lang="en-US" sz="1100" dirty="0">
                <a:solidFill>
                  <a:srgbClr val="BDBDBD"/>
                </a:solidFill>
                <a:latin typeface="Arial" pitchFamily="34" charset="0"/>
                <a:ea typeface="Arial" pitchFamily="34" charset="-122"/>
                <a:cs typeface="Arial" pitchFamily="34" charset="-120"/>
              </a:rPr>
              <a:t>1 supervisor, 2 operators</a:t>
            </a:r>
            <a:endParaRPr lang="en-US" sz="1100" dirty="0"/>
          </a:p>
        </p:txBody>
      </p:sp>
      <p:sp>
        <p:nvSpPr>
          <p:cNvPr id="27" name="Shape 25"/>
          <p:cNvSpPr/>
          <p:nvPr/>
        </p:nvSpPr>
        <p:spPr>
          <a:xfrm>
            <a:off x="6647688" y="5623560"/>
            <a:ext cx="2926080" cy="658368"/>
          </a:xfrm>
          <a:prstGeom prst="rect">
            <a:avLst/>
          </a:prstGeom>
          <a:solidFill>
            <a:srgbClr val="2B2B2B"/>
          </a:solidFill>
          <a:ln w="12700">
            <a:solidFill>
              <a:srgbClr val="363636"/>
            </a:solidFill>
            <a:prstDash val="solid"/>
          </a:ln>
        </p:spPr>
      </p:sp>
      <p:sp>
        <p:nvSpPr>
          <p:cNvPr id="28" name="Text 26"/>
          <p:cNvSpPr txBox="1"/>
          <p:nvPr/>
        </p:nvSpPr>
        <p:spPr>
          <a:xfrm>
            <a:off x="6784848" y="5650992"/>
            <a:ext cx="2651760" cy="301752"/>
          </a:xfrm>
          <a:prstGeom prst="rect">
            <a:avLst/>
          </a:prstGeom>
          <a:noFill/>
          <a:ln/>
        </p:spPr>
        <p:txBody>
          <a:bodyPr wrap="square" lIns="0" tIns="0" rIns="0" bIns="0" rtlCol="0" anchor="ctr"/>
          <a:lstStyle/>
          <a:p>
            <a:pPr indent="0" marL="0">
              <a:buNone/>
            </a:pPr>
            <a:r>
              <a:rPr lang="en-US" sz="1300" b="1" dirty="0">
                <a:solidFill>
                  <a:srgbClr val="FCC30A"/>
                </a:solidFill>
                <a:latin typeface="Arial" pitchFamily="34" charset="0"/>
                <a:ea typeface="Arial" pitchFamily="34" charset="-122"/>
                <a:cs typeface="Arial" pitchFamily="34" charset="-120"/>
              </a:rPr>
              <a:t>Night shift</a:t>
            </a:r>
            <a:endParaRPr lang="en-US" sz="1300" dirty="0"/>
          </a:p>
        </p:txBody>
      </p:sp>
      <p:sp>
        <p:nvSpPr>
          <p:cNvPr id="29" name="Text 27"/>
          <p:cNvSpPr txBox="1"/>
          <p:nvPr/>
        </p:nvSpPr>
        <p:spPr>
          <a:xfrm>
            <a:off x="6784848" y="5943600"/>
            <a:ext cx="2651760" cy="274320"/>
          </a:xfrm>
          <a:prstGeom prst="rect">
            <a:avLst/>
          </a:prstGeom>
          <a:noFill/>
          <a:ln/>
        </p:spPr>
        <p:txBody>
          <a:bodyPr wrap="square" lIns="0" tIns="0" rIns="0" bIns="0" rtlCol="0" anchor="ctr"/>
          <a:lstStyle/>
          <a:p>
            <a:pPr indent="0" marL="0">
              <a:buNone/>
            </a:pPr>
            <a:r>
              <a:rPr lang="en-US" sz="1100" dirty="0">
                <a:solidFill>
                  <a:srgbClr val="BDBDBD"/>
                </a:solidFill>
                <a:latin typeface="Arial" pitchFamily="34" charset="0"/>
                <a:ea typeface="Arial" pitchFamily="34" charset="-122"/>
                <a:cs typeface="Arial" pitchFamily="34" charset="-120"/>
              </a:rPr>
              <a:t>1 supervisor, 1 operator</a:t>
            </a:r>
            <a:endParaRPr lang="en-US" sz="1100" dirty="0"/>
          </a:p>
        </p:txBody>
      </p:sp>
      <p:sp>
        <p:nvSpPr>
          <p:cNvPr id="30" name="Shape 28"/>
          <p:cNvSpPr/>
          <p:nvPr/>
        </p:nvSpPr>
        <p:spPr>
          <a:xfrm>
            <a:off x="548640" y="1737360"/>
            <a:ext cx="3291840" cy="1188720"/>
          </a:xfrm>
          <a:prstGeom prst="rect">
            <a:avLst/>
          </a:prstGeom>
          <a:solidFill>
            <a:srgbClr val="2B2B2B"/>
          </a:solidFill>
          <a:ln w="12700">
            <a:solidFill>
              <a:srgbClr val="FCC30A"/>
            </a:solidFill>
            <a:prstDash val="solid"/>
          </a:ln>
        </p:spPr>
      </p:sp>
      <p:sp>
        <p:nvSpPr>
          <p:cNvPr id="31" name="Text 29"/>
          <p:cNvSpPr txBox="1"/>
          <p:nvPr/>
        </p:nvSpPr>
        <p:spPr>
          <a:xfrm>
            <a:off x="731520" y="1828800"/>
            <a:ext cx="2926080" cy="594360"/>
          </a:xfrm>
          <a:prstGeom prst="rect">
            <a:avLst/>
          </a:prstGeom>
          <a:noFill/>
          <a:ln/>
        </p:spPr>
        <p:txBody>
          <a:bodyPr wrap="square" lIns="0" tIns="0" rIns="0" bIns="0" rtlCol="0" anchor="ctr"/>
          <a:lstStyle/>
          <a:p>
            <a:pPr indent="0" marL="0">
              <a:buNone/>
            </a:pPr>
            <a:r>
              <a:rPr lang="en-US" sz="3400" b="1" dirty="0">
                <a:solidFill>
                  <a:srgbClr val="FCC30A"/>
                </a:solidFill>
                <a:latin typeface="Arial" pitchFamily="34" charset="0"/>
                <a:ea typeface="Arial" pitchFamily="34" charset="-122"/>
                <a:cs typeface="Arial" pitchFamily="34" charset="-120"/>
              </a:rPr>
              <a:t>200+</a:t>
            </a:r>
            <a:endParaRPr lang="en-US" sz="3400" dirty="0"/>
          </a:p>
        </p:txBody>
      </p:sp>
      <p:sp>
        <p:nvSpPr>
          <p:cNvPr id="32" name="Text 30"/>
          <p:cNvSpPr txBox="1"/>
          <p:nvPr/>
        </p:nvSpPr>
        <p:spPr>
          <a:xfrm>
            <a:off x="731520" y="2423160"/>
            <a:ext cx="2926080" cy="411480"/>
          </a:xfrm>
          <a:prstGeom prst="rect">
            <a:avLst/>
          </a:prstGeom>
          <a:noFill/>
          <a:ln/>
        </p:spPr>
        <p:txBody>
          <a:bodyPr wrap="square" lIns="0" tIns="0" rIns="0" bIns="0" rtlCol="0" anchor="t"/>
          <a:lstStyle/>
          <a:p>
            <a:pPr indent="0" marL="0">
              <a:buNone/>
            </a:pPr>
            <a:r>
              <a:rPr lang="en-US" sz="1150" dirty="0">
                <a:solidFill>
                  <a:srgbClr val="FFFFFF"/>
                </a:solidFill>
                <a:latin typeface="Arial" pitchFamily="34" charset="0"/>
                <a:ea typeface="Arial" pitchFamily="34" charset="-122"/>
                <a:cs typeface="Arial" pitchFamily="34" charset="-120"/>
              </a:rPr>
              <a:t>years of combined pigging &amp; decoking experience</a:t>
            </a:r>
            <a:endParaRPr lang="en-US" sz="1150" dirty="0"/>
          </a:p>
        </p:txBody>
      </p:sp>
      <p:sp>
        <p:nvSpPr>
          <p:cNvPr id="33" name="Shape 31"/>
          <p:cNvSpPr/>
          <p:nvPr/>
        </p:nvSpPr>
        <p:spPr>
          <a:xfrm>
            <a:off x="548640" y="3108960"/>
            <a:ext cx="3291840" cy="1188720"/>
          </a:xfrm>
          <a:prstGeom prst="rect">
            <a:avLst/>
          </a:prstGeom>
          <a:solidFill>
            <a:srgbClr val="2B2B2B"/>
          </a:solidFill>
          <a:ln w="12700">
            <a:solidFill>
              <a:srgbClr val="FCC30A"/>
            </a:solidFill>
            <a:prstDash val="solid"/>
          </a:ln>
        </p:spPr>
      </p:sp>
      <p:sp>
        <p:nvSpPr>
          <p:cNvPr id="34" name="Text 32"/>
          <p:cNvSpPr txBox="1"/>
          <p:nvPr/>
        </p:nvSpPr>
        <p:spPr>
          <a:xfrm>
            <a:off x="731520" y="3200400"/>
            <a:ext cx="2926080" cy="594360"/>
          </a:xfrm>
          <a:prstGeom prst="rect">
            <a:avLst/>
          </a:prstGeom>
          <a:noFill/>
          <a:ln/>
        </p:spPr>
        <p:txBody>
          <a:bodyPr wrap="square" lIns="0" tIns="0" rIns="0" bIns="0" rtlCol="0" anchor="ctr"/>
          <a:lstStyle/>
          <a:p>
            <a:pPr indent="0" marL="0">
              <a:buNone/>
            </a:pPr>
            <a:r>
              <a:rPr lang="en-US" sz="3400" b="1" dirty="0">
                <a:solidFill>
                  <a:srgbClr val="FCC30A"/>
                </a:solidFill>
                <a:latin typeface="Arial" pitchFamily="34" charset="0"/>
                <a:ea typeface="Arial" pitchFamily="34" charset="-122"/>
                <a:cs typeface="Arial" pitchFamily="34" charset="-120"/>
              </a:rPr>
              <a:t>15+</a:t>
            </a:r>
            <a:endParaRPr lang="en-US" sz="3400" dirty="0"/>
          </a:p>
        </p:txBody>
      </p:sp>
      <p:sp>
        <p:nvSpPr>
          <p:cNvPr id="35" name="Text 33"/>
          <p:cNvSpPr txBox="1"/>
          <p:nvPr/>
        </p:nvSpPr>
        <p:spPr>
          <a:xfrm>
            <a:off x="731520" y="3794760"/>
            <a:ext cx="2926080" cy="411480"/>
          </a:xfrm>
          <a:prstGeom prst="rect">
            <a:avLst/>
          </a:prstGeom>
          <a:noFill/>
          <a:ln/>
        </p:spPr>
        <p:txBody>
          <a:bodyPr wrap="square" lIns="0" tIns="0" rIns="0" bIns="0" rtlCol="0" anchor="t"/>
          <a:lstStyle/>
          <a:p>
            <a:pPr indent="0" marL="0">
              <a:buNone/>
            </a:pPr>
            <a:r>
              <a:rPr lang="en-US" sz="1150" dirty="0">
                <a:solidFill>
                  <a:srgbClr val="FFFFFF"/>
                </a:solidFill>
                <a:latin typeface="Arial" pitchFamily="34" charset="0"/>
                <a:ea typeface="Arial" pitchFamily="34" charset="-122"/>
                <a:cs typeface="Arial" pitchFamily="34" charset="-120"/>
              </a:rPr>
              <a:t>years self-performing heater pigging</a:t>
            </a:r>
            <a:endParaRPr lang="en-US" sz="1150" dirty="0"/>
          </a:p>
        </p:txBody>
      </p:sp>
      <p:sp>
        <p:nvSpPr>
          <p:cNvPr id="36" name="Text 34"/>
          <p:cNvSpPr txBox="1"/>
          <p:nvPr/>
        </p:nvSpPr>
        <p:spPr>
          <a:xfrm>
            <a:off x="548640" y="5897880"/>
            <a:ext cx="2286000" cy="274320"/>
          </a:xfrm>
          <a:prstGeom prst="rect">
            <a:avLst/>
          </a:prstGeom>
          <a:noFill/>
          <a:ln/>
        </p:spPr>
        <p:txBody>
          <a:bodyPr wrap="square" lIns="0" tIns="0" rIns="0" bIns="0" rtlCol="0" anchor="ctr"/>
          <a:lstStyle/>
          <a:p>
            <a:pPr indent="0" marL="0">
              <a:buNone/>
            </a:pPr>
            <a:r>
              <a:rPr lang="en-US" sz="1000" i="1" dirty="0">
                <a:solidFill>
                  <a:srgbClr val="8A8A8A"/>
                </a:solidFill>
                <a:latin typeface="Arial" pitchFamily="34" charset="0"/>
                <a:ea typeface="Arial" pitchFamily="34" charset="-122"/>
                <a:cs typeface="Arial" pitchFamily="34" charset="-120"/>
              </a:rPr>
              <a:t>Site org chart finalized at award</a:t>
            </a:r>
            <a:endParaRPr lang="en-US" sz="1000" dirty="0"/>
          </a:p>
        </p:txBody>
      </p:sp>
      <p:sp>
        <p:nvSpPr>
          <p:cNvPr id="37" name="Text 35"/>
          <p:cNvSpPr txBox="1"/>
          <p:nvPr/>
        </p:nvSpPr>
        <p:spPr>
          <a:xfrm>
            <a:off x="548640" y="6419088"/>
            <a:ext cx="7315200" cy="228600"/>
          </a:xfrm>
          <a:prstGeom prst="rect">
            <a:avLst/>
          </a:prstGeom>
          <a:noFill/>
          <a:ln/>
        </p:spPr>
        <p:txBody>
          <a:bodyPr wrap="square" lIns="0" tIns="0" rIns="0" bIns="0" rtlCol="0" anchor="ctr"/>
          <a:lstStyle/>
          <a:p>
            <a:pPr indent="0" marL="0">
              <a:buNone/>
            </a:pPr>
            <a:r>
              <a:rPr lang="en-US" sz="900" dirty="0">
                <a:solidFill>
                  <a:srgbClr val="BDBDBD"/>
                </a:solidFill>
                <a:latin typeface="Arial" pitchFamily="34" charset="0"/>
                <a:ea typeface="Arial" pitchFamily="34" charset="-122"/>
                <a:cs typeface="Arial" pitchFamily="34" charset="-120"/>
              </a:rPr>
              <a:t>USA DeBusk  |  LAR Heater Pigging &amp; Decoking Services  |  DSP#26098</a:t>
            </a:r>
            <a:endParaRPr lang="en-US" sz="900" dirty="0"/>
          </a:p>
        </p:txBody>
      </p:sp>
      <p:sp>
        <p:nvSpPr>
          <p:cNvPr id="38" name="Text 36"/>
          <p:cNvSpPr txBox="1"/>
          <p:nvPr/>
        </p:nvSpPr>
        <p:spPr>
          <a:xfrm>
            <a:off x="11155680" y="6419088"/>
            <a:ext cx="484632" cy="228600"/>
          </a:xfrm>
          <a:prstGeom prst="rect">
            <a:avLst/>
          </a:prstGeom>
          <a:noFill/>
          <a:ln/>
        </p:spPr>
        <p:txBody>
          <a:bodyPr wrap="square" lIns="0" tIns="0" rIns="0" bIns="0" rtlCol="0" anchor="ctr"/>
          <a:lstStyle/>
          <a:p>
            <a:pPr algn="r" indent="0" marL="0">
              <a:buNone/>
            </a:pPr>
            <a:r>
              <a:rPr lang="en-US" sz="900" dirty="0">
                <a:solidFill>
                  <a:srgbClr val="BDBDBD"/>
                </a:solidFill>
                <a:latin typeface="Arial" pitchFamily="34" charset="0"/>
                <a:ea typeface="Arial" pitchFamily="34" charset="-122"/>
                <a:cs typeface="Arial"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E1E1E"/>
        </a:solidFill>
      </p:bgPr>
    </p:bg>
    <p:spTree>
      <p:nvGrpSpPr>
        <p:cNvPr id="1" name=""/>
        <p:cNvGrpSpPr/>
        <p:nvPr/>
      </p:nvGrpSpPr>
      <p:grpSpPr>
        <a:xfrm>
          <a:off x="0" y="0"/>
          <a:ext cx="0" cy="0"/>
          <a:chOff x="0" y="0"/>
          <a:chExt cx="0" cy="0"/>
        </a:xfrm>
      </p:grpSpPr>
      <p:pic>
        <p:nvPicPr>
          <p:cNvPr id="2" name="Image 0" descr="/tmp/claude-0/-home-user-obsidian-work/c8998718-f22f-57a3-84c2-766db1d92b4c/scratchpad/deck/img/slot_trimax.jpg">    </p:cNvPr>
          <p:cNvPicPr>
            <a:picLocks noChangeAspect="1"/>
          </p:cNvPicPr>
          <p:nvPr/>
        </p:nvPicPr>
        <p:blipFill>
          <a:blip r:embed="rId1"/>
          <a:stretch>
            <a:fillRect/>
          </a:stretch>
        </p:blipFill>
        <p:spPr>
          <a:xfrm>
            <a:off x="0" y="0"/>
            <a:ext cx="12191695" cy="6858000"/>
          </a:xfrm>
          <a:prstGeom prst="rect">
            <a:avLst/>
          </a:prstGeom>
        </p:spPr>
      </p:pic>
      <p:pic>
        <p:nvPicPr>
          <p:cNvPr id="3" name="Image 1" descr="/tmp/claude-0/-home-user-obsidian-work/c8998718-f22f-57a3-84c2-766db1d92b4c/scratchpad/deck/img/fade_left.png">    </p:cNvPr>
          <p:cNvPicPr>
            <a:picLocks noChangeAspect="1"/>
          </p:cNvPicPr>
          <p:nvPr/>
        </p:nvPicPr>
        <p:blipFill>
          <a:blip r:embed="rId2"/>
          <a:stretch>
            <a:fillRect/>
          </a:stretch>
        </p:blipFill>
        <p:spPr>
          <a:xfrm>
            <a:off x="0" y="0"/>
            <a:ext cx="12191695" cy="6858000"/>
          </a:xfrm>
          <a:prstGeom prst="rect">
            <a:avLst/>
          </a:prstGeom>
        </p:spPr>
      </p:pic>
      <p:pic>
        <p:nvPicPr>
          <p:cNvPr id="4" name="Image 2" descr="/tmp/claude-0/-home-user-obsidian-work/c8998718-f22f-57a3-84c2-766db1d92b4c/scratchpad/deck/img/fade_left.png">    </p:cNvPr>
          <p:cNvPicPr>
            <a:picLocks noChangeAspect="1"/>
          </p:cNvPicPr>
          <p:nvPr/>
        </p:nvPicPr>
        <p:blipFill>
          <a:blip r:embed="rId3"/>
          <a:stretch>
            <a:fillRect/>
          </a:stretch>
        </p:blipFill>
        <p:spPr>
          <a:xfrm>
            <a:off x="0" y="0"/>
            <a:ext cx="9601200" cy="6858000"/>
          </a:xfrm>
          <a:prstGeom prst="rect">
            <a:avLst/>
          </a:prstGeom>
        </p:spPr>
      </p:pic>
      <p:sp>
        <p:nvSpPr>
          <p:cNvPr id="5" name="Shape 0"/>
          <p:cNvSpPr/>
          <p:nvPr/>
        </p:nvSpPr>
        <p:spPr>
          <a:xfrm>
            <a:off x="548640" y="411480"/>
            <a:ext cx="3043714" cy="310896"/>
          </a:xfrm>
          <a:prstGeom prst="roundRect">
            <a:avLst>
              <a:gd name="adj" fmla="val 23529"/>
            </a:avLst>
          </a:prstGeom>
          <a:solidFill>
            <a:srgbClr val="FCC30A"/>
          </a:solidFill>
          <a:ln w="12700">
            <a:solidFill>
              <a:srgbClr val="FCC30A"/>
            </a:solidFill>
            <a:prstDash val="solid"/>
          </a:ln>
        </p:spPr>
      </p:sp>
      <p:sp>
        <p:nvSpPr>
          <p:cNvPr id="6" name="Text 1"/>
          <p:cNvSpPr txBox="1"/>
          <p:nvPr/>
        </p:nvSpPr>
        <p:spPr>
          <a:xfrm>
            <a:off x="548640" y="411480"/>
            <a:ext cx="3043714" cy="310896"/>
          </a:xfrm>
          <a:prstGeom prst="rect">
            <a:avLst/>
          </a:prstGeom>
          <a:noFill/>
          <a:ln/>
        </p:spPr>
        <p:txBody>
          <a:bodyPr wrap="square" lIns="0" tIns="0" rIns="0" bIns="0" rtlCol="0" anchor="ctr"/>
          <a:lstStyle/>
          <a:p>
            <a:pPr algn="ctr" indent="0" marL="0">
              <a:buNone/>
            </a:pPr>
            <a:r>
              <a:rPr lang="en-US" sz="1050" b="1" spc="150" kern="0" dirty="0">
                <a:solidFill>
                  <a:srgbClr val="1E1E1E"/>
                </a:solidFill>
                <a:latin typeface="Arial" pitchFamily="34" charset="0"/>
                <a:ea typeface="Arial" pitchFamily="34" charset="-122"/>
                <a:cs typeface="Arial" pitchFamily="34" charset="-120"/>
              </a:rPr>
              <a:t>04   EQUIPMENT &amp; TECHNOLOGY</a:t>
            </a:r>
            <a:endParaRPr lang="en-US" sz="1050" dirty="0"/>
          </a:p>
        </p:txBody>
      </p:sp>
      <p:sp>
        <p:nvSpPr>
          <p:cNvPr id="7" name="Text 2"/>
          <p:cNvSpPr txBox="1"/>
          <p:nvPr/>
        </p:nvSpPr>
        <p:spPr>
          <a:xfrm>
            <a:off x="548640" y="841248"/>
            <a:ext cx="6400800" cy="731520"/>
          </a:xfrm>
          <a:prstGeom prst="rect">
            <a:avLst/>
          </a:prstGeom>
          <a:noFill/>
          <a:ln/>
        </p:spPr>
        <p:txBody>
          <a:bodyPr wrap="square" lIns="0" tIns="0" rIns="0" bIns="0" rtlCol="0" anchor="t"/>
          <a:lstStyle/>
          <a:p>
            <a:pPr indent="0" marL="0">
              <a:buNone/>
            </a:pPr>
            <a:r>
              <a:rPr lang="en-US" sz="3200" b="1" dirty="0">
                <a:solidFill>
                  <a:srgbClr val="FFFFFF"/>
                </a:solidFill>
                <a:latin typeface="Arial" pitchFamily="34" charset="0"/>
                <a:ea typeface="Arial" pitchFamily="34" charset="-122"/>
                <a:cs typeface="Arial" pitchFamily="34" charset="-120"/>
              </a:rPr>
              <a:t>The TriMax triple pumper</a:t>
            </a:r>
            <a:endParaRPr lang="en-US" sz="3200" dirty="0"/>
          </a:p>
        </p:txBody>
      </p:sp>
      <p:sp>
        <p:nvSpPr>
          <p:cNvPr id="8" name="Text 3"/>
          <p:cNvSpPr txBox="1"/>
          <p:nvPr/>
        </p:nvSpPr>
        <p:spPr>
          <a:xfrm>
            <a:off x="548640" y="1481328"/>
            <a:ext cx="6400800" cy="365760"/>
          </a:xfrm>
          <a:prstGeom prst="rect">
            <a:avLst/>
          </a:prstGeom>
          <a:noFill/>
          <a:ln/>
        </p:spPr>
        <p:txBody>
          <a:bodyPr wrap="square" lIns="0" tIns="0" rIns="0" bIns="0" rtlCol="0" anchor="t"/>
          <a:lstStyle/>
          <a:p>
            <a:pPr indent="0" marL="0">
              <a:buNone/>
            </a:pPr>
            <a:r>
              <a:rPr lang="en-US" sz="1500" dirty="0">
                <a:solidFill>
                  <a:srgbClr val="BDBDBD"/>
                </a:solidFill>
                <a:latin typeface="Arial" pitchFamily="34" charset="0"/>
                <a:ea typeface="Arial" pitchFamily="34" charset="-122"/>
                <a:cs typeface="Arial" pitchFamily="34" charset="-120"/>
              </a:rPr>
              <a:t>6 identical TriMax units, 18 engines: one standardized fleet</a:t>
            </a:r>
            <a:endParaRPr lang="en-US" sz="1500" dirty="0"/>
          </a:p>
        </p:txBody>
      </p:sp>
      <p:sp>
        <p:nvSpPr>
          <p:cNvPr id="9" name="Shape 4"/>
          <p:cNvSpPr/>
          <p:nvPr/>
        </p:nvSpPr>
        <p:spPr>
          <a:xfrm>
            <a:off x="548640" y="2011680"/>
            <a:ext cx="566928" cy="566928"/>
          </a:xfrm>
          <a:prstGeom prst="ellipse">
            <a:avLst/>
          </a:prstGeom>
          <a:solidFill>
            <a:srgbClr val="FCC30A"/>
          </a:solidFill>
          <a:ln w="12700">
            <a:solidFill>
              <a:srgbClr val="FCC30A"/>
            </a:solidFill>
            <a:prstDash val="solid"/>
          </a:ln>
        </p:spPr>
      </p:sp>
      <p:pic>
        <p:nvPicPr>
          <p:cNvPr id="10" name="Image 3" descr="preencoded.png">    </p:cNvPr>
          <p:cNvPicPr>
            <a:picLocks noChangeAspect="1"/>
          </p:cNvPicPr>
          <p:nvPr/>
        </p:nvPicPr>
        <p:blipFill>
          <a:blip r:embed="rId4"/>
          <a:stretch>
            <a:fillRect/>
          </a:stretch>
        </p:blipFill>
        <p:spPr>
          <a:xfrm>
            <a:off x="690372" y="2153412"/>
            <a:ext cx="283464" cy="283464"/>
          </a:xfrm>
          <a:prstGeom prst="rect">
            <a:avLst/>
          </a:prstGeom>
        </p:spPr>
      </p:pic>
      <p:sp>
        <p:nvSpPr>
          <p:cNvPr id="11" name="Text 5"/>
          <p:cNvSpPr txBox="1"/>
          <p:nvPr/>
        </p:nvSpPr>
        <p:spPr>
          <a:xfrm>
            <a:off x="1280160" y="1993392"/>
            <a:ext cx="5120640" cy="320040"/>
          </a:xfrm>
          <a:prstGeom prst="rect">
            <a:avLst/>
          </a:prstGeom>
          <a:noFill/>
          <a:ln/>
        </p:spPr>
        <p:txBody>
          <a:bodyPr wrap="square" lIns="0" tIns="0" rIns="0" bIns="0" rtlCol="0" anchor="ctr"/>
          <a:lstStyle/>
          <a:p>
            <a:pPr indent="0" marL="0">
              <a:buNone/>
            </a:pPr>
            <a:r>
              <a:rPr lang="en-US" sz="1600" b="1" dirty="0">
                <a:solidFill>
                  <a:srgbClr val="FFFFFF"/>
                </a:solidFill>
                <a:latin typeface="Arial" pitchFamily="34" charset="0"/>
                <a:ea typeface="Arial" pitchFamily="34" charset="-122"/>
                <a:cs typeface="Arial" pitchFamily="34" charset="-120"/>
              </a:rPr>
              <a:t>Three independent pump systems</a:t>
            </a:r>
            <a:endParaRPr lang="en-US" sz="1600" dirty="0"/>
          </a:p>
        </p:txBody>
      </p:sp>
      <p:sp>
        <p:nvSpPr>
          <p:cNvPr id="12" name="Text 6"/>
          <p:cNvSpPr txBox="1"/>
          <p:nvPr/>
        </p:nvSpPr>
        <p:spPr>
          <a:xfrm>
            <a:off x="1280160" y="2304288"/>
            <a:ext cx="5120640" cy="274320"/>
          </a:xfrm>
          <a:prstGeom prst="rect">
            <a:avLst/>
          </a:prstGeom>
          <a:noFill/>
          <a:ln/>
        </p:spPr>
        <p:txBody>
          <a:bodyPr wrap="square" lIns="0" tIns="0" rIns="0" bIns="0" rtlCol="0" anchor="ctr"/>
          <a:lstStyle/>
          <a:p>
            <a:pPr indent="0" marL="0">
              <a:buNone/>
            </a:pPr>
            <a:r>
              <a:rPr lang="en-US" sz="1200" dirty="0">
                <a:solidFill>
                  <a:srgbClr val="BDBDBD"/>
                </a:solidFill>
                <a:latin typeface="Arial" pitchFamily="34" charset="0"/>
                <a:ea typeface="Arial" pitchFamily="34" charset="-122"/>
                <a:cs typeface="Arial" pitchFamily="34" charset="-120"/>
              </a:rPr>
              <a:t>Closed-loop, bi-directional; 50% more productive than a twin pumper</a:t>
            </a:r>
            <a:endParaRPr lang="en-US" sz="1200" dirty="0"/>
          </a:p>
        </p:txBody>
      </p:sp>
      <p:sp>
        <p:nvSpPr>
          <p:cNvPr id="13" name="Shape 7"/>
          <p:cNvSpPr/>
          <p:nvPr/>
        </p:nvSpPr>
        <p:spPr>
          <a:xfrm>
            <a:off x="548640" y="2743200"/>
            <a:ext cx="566928" cy="566928"/>
          </a:xfrm>
          <a:prstGeom prst="ellipse">
            <a:avLst/>
          </a:prstGeom>
          <a:solidFill>
            <a:srgbClr val="FCC30A"/>
          </a:solidFill>
          <a:ln w="12700">
            <a:solidFill>
              <a:srgbClr val="FCC30A"/>
            </a:solidFill>
            <a:prstDash val="solid"/>
          </a:ln>
        </p:spPr>
      </p:sp>
      <p:pic>
        <p:nvPicPr>
          <p:cNvPr id="14" name="Image 4" descr="preencoded.png">    </p:cNvPr>
          <p:cNvPicPr>
            <a:picLocks noChangeAspect="1"/>
          </p:cNvPicPr>
          <p:nvPr/>
        </p:nvPicPr>
        <p:blipFill>
          <a:blip r:embed="rId5"/>
          <a:stretch>
            <a:fillRect/>
          </a:stretch>
        </p:blipFill>
        <p:spPr>
          <a:xfrm>
            <a:off x="690372" y="2884932"/>
            <a:ext cx="283464" cy="283464"/>
          </a:xfrm>
          <a:prstGeom prst="rect">
            <a:avLst/>
          </a:prstGeom>
        </p:spPr>
      </p:pic>
      <p:sp>
        <p:nvSpPr>
          <p:cNvPr id="15" name="Text 8"/>
          <p:cNvSpPr txBox="1"/>
          <p:nvPr/>
        </p:nvSpPr>
        <p:spPr>
          <a:xfrm>
            <a:off x="1280160" y="2724912"/>
            <a:ext cx="5120640" cy="320040"/>
          </a:xfrm>
          <a:prstGeom prst="rect">
            <a:avLst/>
          </a:prstGeom>
          <a:noFill/>
          <a:ln/>
        </p:spPr>
        <p:txBody>
          <a:bodyPr wrap="square" lIns="0" tIns="0" rIns="0" bIns="0" rtlCol="0" anchor="ctr"/>
          <a:lstStyle/>
          <a:p>
            <a:pPr indent="0" marL="0">
              <a:buNone/>
            </a:pPr>
            <a:r>
              <a:rPr lang="en-US" sz="1600" b="1" dirty="0">
                <a:solidFill>
                  <a:srgbClr val="FFFFFF"/>
                </a:solidFill>
                <a:latin typeface="Arial" pitchFamily="34" charset="0"/>
                <a:ea typeface="Arial" pitchFamily="34" charset="-122"/>
                <a:cs typeface="Arial" pitchFamily="34" charset="-120"/>
              </a:rPr>
              <a:t>Automated HMI control</a:t>
            </a:r>
            <a:endParaRPr lang="en-US" sz="1600" dirty="0"/>
          </a:p>
        </p:txBody>
      </p:sp>
      <p:sp>
        <p:nvSpPr>
          <p:cNvPr id="16" name="Text 9"/>
          <p:cNvSpPr txBox="1"/>
          <p:nvPr/>
        </p:nvSpPr>
        <p:spPr>
          <a:xfrm>
            <a:off x="1280160" y="3035808"/>
            <a:ext cx="5120640" cy="274320"/>
          </a:xfrm>
          <a:prstGeom prst="rect">
            <a:avLst/>
          </a:prstGeom>
          <a:noFill/>
          <a:ln/>
        </p:spPr>
        <p:txBody>
          <a:bodyPr wrap="square" lIns="0" tIns="0" rIns="0" bIns="0" rtlCol="0" anchor="ctr"/>
          <a:lstStyle/>
          <a:p>
            <a:pPr indent="0" marL="0">
              <a:buNone/>
            </a:pPr>
            <a:r>
              <a:rPr lang="en-US" sz="1200" dirty="0">
                <a:solidFill>
                  <a:srgbClr val="BDBDBD"/>
                </a:solidFill>
                <a:latin typeface="Arial" pitchFamily="34" charset="0"/>
                <a:ea typeface="Arial" pitchFamily="34" charset="-122"/>
                <a:cs typeface="Arial" pitchFamily="34" charset="-120"/>
              </a:rPr>
              <a:t>Three 17" touchscreens, automated digital pig logs</a:t>
            </a:r>
            <a:endParaRPr lang="en-US" sz="1200" dirty="0"/>
          </a:p>
        </p:txBody>
      </p:sp>
      <p:sp>
        <p:nvSpPr>
          <p:cNvPr id="17" name="Shape 10"/>
          <p:cNvSpPr/>
          <p:nvPr/>
        </p:nvSpPr>
        <p:spPr>
          <a:xfrm>
            <a:off x="548640" y="3474720"/>
            <a:ext cx="566928" cy="566928"/>
          </a:xfrm>
          <a:prstGeom prst="ellipse">
            <a:avLst/>
          </a:prstGeom>
          <a:solidFill>
            <a:srgbClr val="FCC30A"/>
          </a:solidFill>
          <a:ln w="12700">
            <a:solidFill>
              <a:srgbClr val="FCC30A"/>
            </a:solidFill>
            <a:prstDash val="solid"/>
          </a:ln>
        </p:spPr>
      </p:sp>
      <p:pic>
        <p:nvPicPr>
          <p:cNvPr id="18" name="Image 5" descr="preencoded.png">    </p:cNvPr>
          <p:cNvPicPr>
            <a:picLocks noChangeAspect="1"/>
          </p:cNvPicPr>
          <p:nvPr/>
        </p:nvPicPr>
        <p:blipFill>
          <a:blip r:embed="rId6"/>
          <a:stretch>
            <a:fillRect/>
          </a:stretch>
        </p:blipFill>
        <p:spPr>
          <a:xfrm>
            <a:off x="690372" y="3616452"/>
            <a:ext cx="283464" cy="283464"/>
          </a:xfrm>
          <a:prstGeom prst="rect">
            <a:avLst/>
          </a:prstGeom>
        </p:spPr>
      </p:pic>
      <p:sp>
        <p:nvSpPr>
          <p:cNvPr id="19" name="Text 11"/>
          <p:cNvSpPr txBox="1"/>
          <p:nvPr/>
        </p:nvSpPr>
        <p:spPr>
          <a:xfrm>
            <a:off x="1280160" y="3456432"/>
            <a:ext cx="5120640" cy="320040"/>
          </a:xfrm>
          <a:prstGeom prst="rect">
            <a:avLst/>
          </a:prstGeom>
          <a:noFill/>
          <a:ln/>
        </p:spPr>
        <p:txBody>
          <a:bodyPr wrap="square" lIns="0" tIns="0" rIns="0" bIns="0" rtlCol="0" anchor="ctr"/>
          <a:lstStyle/>
          <a:p>
            <a:pPr indent="0" marL="0">
              <a:buNone/>
            </a:pPr>
            <a:r>
              <a:rPr lang="en-US" sz="1600" b="1" dirty="0">
                <a:solidFill>
                  <a:srgbClr val="FFFFFF"/>
                </a:solidFill>
                <a:latin typeface="Arial" pitchFamily="34" charset="0"/>
                <a:ea typeface="Arial" pitchFamily="34" charset="-122"/>
                <a:cs typeface="Arial" pitchFamily="34" charset="-120"/>
              </a:rPr>
              <a:t>150–300 psi working pressure</a:t>
            </a:r>
            <a:endParaRPr lang="en-US" sz="1600" dirty="0"/>
          </a:p>
        </p:txBody>
      </p:sp>
      <p:sp>
        <p:nvSpPr>
          <p:cNvPr id="20" name="Text 12"/>
          <p:cNvSpPr txBox="1"/>
          <p:nvPr/>
        </p:nvSpPr>
        <p:spPr>
          <a:xfrm>
            <a:off x="1280160" y="3767328"/>
            <a:ext cx="5120640" cy="274320"/>
          </a:xfrm>
          <a:prstGeom prst="rect">
            <a:avLst/>
          </a:prstGeom>
          <a:noFill/>
          <a:ln/>
        </p:spPr>
        <p:txBody>
          <a:bodyPr wrap="square" lIns="0" tIns="0" rIns="0" bIns="0" rtlCol="0" anchor="ctr"/>
          <a:lstStyle/>
          <a:p>
            <a:pPr indent="0" marL="0">
              <a:buNone/>
            </a:pPr>
            <a:r>
              <a:rPr lang="en-US" sz="1200" dirty="0">
                <a:solidFill>
                  <a:srgbClr val="BDBDBD"/>
                </a:solidFill>
                <a:latin typeface="Arial" pitchFamily="34" charset="0"/>
                <a:ea typeface="Arial" pitchFamily="34" charset="-122"/>
                <a:cs typeface="Arial" pitchFamily="34" charset="-120"/>
              </a:rPr>
              <a:t>Pump rated 600 psi; 500–550 psi effective after valve losses</a:t>
            </a:r>
            <a:endParaRPr lang="en-US" sz="1200" dirty="0"/>
          </a:p>
        </p:txBody>
      </p:sp>
      <p:sp>
        <p:nvSpPr>
          <p:cNvPr id="21" name="Shape 13"/>
          <p:cNvSpPr/>
          <p:nvPr/>
        </p:nvSpPr>
        <p:spPr>
          <a:xfrm>
            <a:off x="548640" y="4206240"/>
            <a:ext cx="566928" cy="566928"/>
          </a:xfrm>
          <a:prstGeom prst="ellipse">
            <a:avLst/>
          </a:prstGeom>
          <a:solidFill>
            <a:srgbClr val="FCC30A"/>
          </a:solidFill>
          <a:ln w="12700">
            <a:solidFill>
              <a:srgbClr val="FCC30A"/>
            </a:solidFill>
            <a:prstDash val="solid"/>
          </a:ln>
        </p:spPr>
      </p:sp>
      <p:pic>
        <p:nvPicPr>
          <p:cNvPr id="22" name="Image 6" descr="preencoded.png">    </p:cNvPr>
          <p:cNvPicPr>
            <a:picLocks noChangeAspect="1"/>
          </p:cNvPicPr>
          <p:nvPr/>
        </p:nvPicPr>
        <p:blipFill>
          <a:blip r:embed="rId7"/>
          <a:stretch>
            <a:fillRect/>
          </a:stretch>
        </p:blipFill>
        <p:spPr>
          <a:xfrm>
            <a:off x="690372" y="4347972"/>
            <a:ext cx="283464" cy="283464"/>
          </a:xfrm>
          <a:prstGeom prst="rect">
            <a:avLst/>
          </a:prstGeom>
        </p:spPr>
      </p:pic>
      <p:sp>
        <p:nvSpPr>
          <p:cNvPr id="23" name="Text 14"/>
          <p:cNvSpPr txBox="1"/>
          <p:nvPr/>
        </p:nvSpPr>
        <p:spPr>
          <a:xfrm>
            <a:off x="1280160" y="4187952"/>
            <a:ext cx="5120640" cy="320040"/>
          </a:xfrm>
          <a:prstGeom prst="rect">
            <a:avLst/>
          </a:prstGeom>
          <a:noFill/>
          <a:ln/>
        </p:spPr>
        <p:txBody>
          <a:bodyPr wrap="square" lIns="0" tIns="0" rIns="0" bIns="0" rtlCol="0" anchor="ctr"/>
          <a:lstStyle/>
          <a:p>
            <a:pPr indent="0" marL="0">
              <a:buNone/>
            </a:pPr>
            <a:r>
              <a:rPr lang="en-US" sz="1600" b="1" dirty="0">
                <a:solidFill>
                  <a:srgbClr val="FFFFFF"/>
                </a:solidFill>
                <a:latin typeface="Arial" pitchFamily="34" charset="0"/>
                <a:ea typeface="Arial" pitchFamily="34" charset="-122"/>
                <a:cs typeface="Arial" pitchFamily="34" charset="-120"/>
              </a:rPr>
              <a:t>Real-time sensor data</a:t>
            </a:r>
            <a:endParaRPr lang="en-US" sz="1600" dirty="0"/>
          </a:p>
        </p:txBody>
      </p:sp>
      <p:sp>
        <p:nvSpPr>
          <p:cNvPr id="24" name="Text 15"/>
          <p:cNvSpPr txBox="1"/>
          <p:nvPr/>
        </p:nvSpPr>
        <p:spPr>
          <a:xfrm>
            <a:off x="1280160" y="4498848"/>
            <a:ext cx="5120640" cy="274320"/>
          </a:xfrm>
          <a:prstGeom prst="rect">
            <a:avLst/>
          </a:prstGeom>
          <a:noFill/>
          <a:ln/>
        </p:spPr>
        <p:txBody>
          <a:bodyPr wrap="square" lIns="0" tIns="0" rIns="0" bIns="0" rtlCol="0" anchor="ctr"/>
          <a:lstStyle/>
          <a:p>
            <a:pPr indent="0" marL="0">
              <a:buNone/>
            </a:pPr>
            <a:r>
              <a:rPr lang="en-US" sz="1200" dirty="0">
                <a:solidFill>
                  <a:srgbClr val="BDBDBD"/>
                </a:solidFill>
                <a:latin typeface="Arial" pitchFamily="34" charset="0"/>
                <a:ea typeface="Arial" pitchFamily="34" charset="-122"/>
                <a:cs typeface="Arial" pitchFamily="34" charset="-120"/>
              </a:rPr>
              <a:t>Coke shows as pressure spikes at the operator interface</a:t>
            </a:r>
            <a:endParaRPr lang="en-US" sz="1200" dirty="0"/>
          </a:p>
        </p:txBody>
      </p:sp>
      <p:sp>
        <p:nvSpPr>
          <p:cNvPr id="25" name="Shape 16"/>
          <p:cNvSpPr/>
          <p:nvPr/>
        </p:nvSpPr>
        <p:spPr>
          <a:xfrm>
            <a:off x="548640" y="4937760"/>
            <a:ext cx="566928" cy="566928"/>
          </a:xfrm>
          <a:prstGeom prst="ellipse">
            <a:avLst/>
          </a:prstGeom>
          <a:solidFill>
            <a:srgbClr val="FCC30A"/>
          </a:solidFill>
          <a:ln w="12700">
            <a:solidFill>
              <a:srgbClr val="FCC30A"/>
            </a:solidFill>
            <a:prstDash val="solid"/>
          </a:ln>
        </p:spPr>
      </p:sp>
      <p:pic>
        <p:nvPicPr>
          <p:cNvPr id="26" name="Image 7" descr="preencoded.png">    </p:cNvPr>
          <p:cNvPicPr>
            <a:picLocks noChangeAspect="1"/>
          </p:cNvPicPr>
          <p:nvPr/>
        </p:nvPicPr>
        <p:blipFill>
          <a:blip r:embed="rId8"/>
          <a:stretch>
            <a:fillRect/>
          </a:stretch>
        </p:blipFill>
        <p:spPr>
          <a:xfrm>
            <a:off x="690372" y="5079492"/>
            <a:ext cx="283464" cy="283464"/>
          </a:xfrm>
          <a:prstGeom prst="rect">
            <a:avLst/>
          </a:prstGeom>
        </p:spPr>
      </p:pic>
      <p:sp>
        <p:nvSpPr>
          <p:cNvPr id="27" name="Text 17"/>
          <p:cNvSpPr txBox="1"/>
          <p:nvPr/>
        </p:nvSpPr>
        <p:spPr>
          <a:xfrm>
            <a:off x="1280160" y="4919472"/>
            <a:ext cx="5120640" cy="320040"/>
          </a:xfrm>
          <a:prstGeom prst="rect">
            <a:avLst/>
          </a:prstGeom>
          <a:noFill/>
          <a:ln/>
        </p:spPr>
        <p:txBody>
          <a:bodyPr wrap="square" lIns="0" tIns="0" rIns="0" bIns="0" rtlCol="0" anchor="ctr"/>
          <a:lstStyle/>
          <a:p>
            <a:pPr indent="0" marL="0">
              <a:buNone/>
            </a:pPr>
            <a:r>
              <a:rPr lang="en-US" sz="1600" b="1" dirty="0">
                <a:solidFill>
                  <a:srgbClr val="FFFFFF"/>
                </a:solidFill>
                <a:latin typeface="Arial" pitchFamily="34" charset="0"/>
                <a:ea typeface="Arial" pitchFamily="34" charset="-122"/>
                <a:cs typeface="Arial" pitchFamily="34" charset="-120"/>
              </a:rPr>
              <a:t>Cummins QSL9, 333 bhp, Tier 4 Final</a:t>
            </a:r>
            <a:endParaRPr lang="en-US" sz="1600" dirty="0"/>
          </a:p>
        </p:txBody>
      </p:sp>
      <p:sp>
        <p:nvSpPr>
          <p:cNvPr id="28" name="Text 18"/>
          <p:cNvSpPr txBox="1"/>
          <p:nvPr/>
        </p:nvSpPr>
        <p:spPr>
          <a:xfrm>
            <a:off x="1280160" y="5230368"/>
            <a:ext cx="5120640" cy="274320"/>
          </a:xfrm>
          <a:prstGeom prst="rect">
            <a:avLst/>
          </a:prstGeom>
          <a:noFill/>
          <a:ln/>
        </p:spPr>
        <p:txBody>
          <a:bodyPr wrap="square" lIns="0" tIns="0" rIns="0" bIns="0" rtlCol="0" anchor="ctr"/>
          <a:lstStyle/>
          <a:p>
            <a:pPr indent="0" marL="0">
              <a:buNone/>
            </a:pPr>
            <a:r>
              <a:rPr lang="en-US" sz="1200" dirty="0">
                <a:solidFill>
                  <a:srgbClr val="BDBDBD"/>
                </a:solidFill>
                <a:latin typeface="Arial" pitchFamily="34" charset="0"/>
                <a:ea typeface="Arial" pitchFamily="34" charset="-122"/>
                <a:cs typeface="Arial" pitchFamily="34" charset="-120"/>
              </a:rPr>
              <a:t>CARB-registered engines, California-ready</a:t>
            </a:r>
            <a:endParaRPr lang="en-US" sz="1200" dirty="0"/>
          </a:p>
        </p:txBody>
      </p:sp>
      <p:sp>
        <p:nvSpPr>
          <p:cNvPr id="29" name="Text 19"/>
          <p:cNvSpPr txBox="1"/>
          <p:nvPr/>
        </p:nvSpPr>
        <p:spPr>
          <a:xfrm>
            <a:off x="548640" y="5513832"/>
            <a:ext cx="3657600" cy="201168"/>
          </a:xfrm>
          <a:prstGeom prst="rect">
            <a:avLst/>
          </a:prstGeom>
          <a:noFill/>
          <a:ln/>
        </p:spPr>
        <p:txBody>
          <a:bodyPr wrap="square" lIns="0" tIns="0" rIns="0" bIns="0" rtlCol="0" anchor="ctr"/>
          <a:lstStyle/>
          <a:p>
            <a:pPr indent="0" marL="0">
              <a:buNone/>
            </a:pPr>
            <a:r>
              <a:rPr lang="en-US" sz="950" b="1" spc="100" kern="0" dirty="0">
                <a:solidFill>
                  <a:srgbClr val="BDBDBD"/>
                </a:solidFill>
                <a:latin typeface="Arial" pitchFamily="34" charset="0"/>
                <a:ea typeface="Arial" pitchFamily="34" charset="-122"/>
                <a:cs typeface="Arial" pitchFamily="34" charset="-120"/>
              </a:rPr>
              <a:t>OPERATING PRESSURE, PSI</a:t>
            </a:r>
            <a:endParaRPr lang="en-US" sz="950" dirty="0"/>
          </a:p>
        </p:txBody>
      </p:sp>
      <p:sp>
        <p:nvSpPr>
          <p:cNvPr id="30" name="Shape 20"/>
          <p:cNvSpPr/>
          <p:nvPr/>
        </p:nvSpPr>
        <p:spPr>
          <a:xfrm>
            <a:off x="548640" y="5897880"/>
            <a:ext cx="5760720" cy="164592"/>
          </a:xfrm>
          <a:prstGeom prst="rect">
            <a:avLst/>
          </a:prstGeom>
          <a:solidFill>
            <a:srgbClr val="3A3A3A"/>
          </a:solidFill>
          <a:ln w="12700">
            <a:solidFill>
              <a:srgbClr val="3A3A3A"/>
            </a:solidFill>
            <a:prstDash val="solid"/>
          </a:ln>
        </p:spPr>
      </p:sp>
      <p:sp>
        <p:nvSpPr>
          <p:cNvPr id="31" name="Shape 21"/>
          <p:cNvSpPr/>
          <p:nvPr/>
        </p:nvSpPr>
        <p:spPr>
          <a:xfrm>
            <a:off x="1988820" y="5897880"/>
            <a:ext cx="1440180" cy="164592"/>
          </a:xfrm>
          <a:prstGeom prst="rect">
            <a:avLst/>
          </a:prstGeom>
          <a:solidFill>
            <a:srgbClr val="FCC30A"/>
          </a:solidFill>
          <a:ln w="12700">
            <a:solidFill>
              <a:srgbClr val="FCC30A"/>
            </a:solidFill>
            <a:prstDash val="solid"/>
          </a:ln>
        </p:spPr>
      </p:sp>
      <p:sp>
        <p:nvSpPr>
          <p:cNvPr id="32" name="Shape 22"/>
          <p:cNvSpPr/>
          <p:nvPr/>
        </p:nvSpPr>
        <p:spPr>
          <a:xfrm>
            <a:off x="5349240" y="5897880"/>
            <a:ext cx="480060" cy="164592"/>
          </a:xfrm>
          <a:prstGeom prst="rect">
            <a:avLst/>
          </a:prstGeom>
          <a:solidFill>
            <a:srgbClr val="B8860B"/>
          </a:solidFill>
          <a:ln w="12700">
            <a:solidFill>
              <a:srgbClr val="B8860B"/>
            </a:solidFill>
            <a:prstDash val="solid"/>
          </a:ln>
        </p:spPr>
      </p:sp>
      <p:sp>
        <p:nvSpPr>
          <p:cNvPr id="33" name="Shape 23"/>
          <p:cNvSpPr/>
          <p:nvPr/>
        </p:nvSpPr>
        <p:spPr>
          <a:xfrm>
            <a:off x="6309360" y="5824728"/>
            <a:ext cx="0" cy="310896"/>
          </a:xfrm>
          <a:prstGeom prst="line">
            <a:avLst/>
          </a:prstGeom>
          <a:noFill/>
          <a:ln w="19050">
            <a:solidFill>
              <a:srgbClr val="FFFFFF"/>
            </a:solidFill>
            <a:prstDash val="solid"/>
          </a:ln>
        </p:spPr>
      </p:sp>
      <p:sp>
        <p:nvSpPr>
          <p:cNvPr id="34" name="Text 24"/>
          <p:cNvSpPr txBox="1"/>
          <p:nvPr/>
        </p:nvSpPr>
        <p:spPr>
          <a:xfrm>
            <a:off x="274320" y="6099048"/>
            <a:ext cx="548640" cy="182880"/>
          </a:xfrm>
          <a:prstGeom prst="rect">
            <a:avLst/>
          </a:prstGeom>
          <a:noFill/>
          <a:ln/>
        </p:spPr>
        <p:txBody>
          <a:bodyPr wrap="square" lIns="0" tIns="0" rIns="0" bIns="0" rtlCol="0" anchor="ctr"/>
          <a:lstStyle/>
          <a:p>
            <a:pPr algn="ctr" indent="0" marL="0">
              <a:buNone/>
            </a:pPr>
            <a:r>
              <a:rPr lang="en-US" sz="900" dirty="0">
                <a:solidFill>
                  <a:srgbClr val="BDBDBD"/>
                </a:solidFill>
                <a:latin typeface="Arial" pitchFamily="34" charset="0"/>
                <a:ea typeface="Arial" pitchFamily="34" charset="-122"/>
                <a:cs typeface="Arial" pitchFamily="34" charset="-120"/>
              </a:rPr>
              <a:t>0</a:t>
            </a:r>
            <a:endParaRPr lang="en-US" sz="900" dirty="0"/>
          </a:p>
        </p:txBody>
      </p:sp>
      <p:sp>
        <p:nvSpPr>
          <p:cNvPr id="35" name="Text 25"/>
          <p:cNvSpPr txBox="1"/>
          <p:nvPr/>
        </p:nvSpPr>
        <p:spPr>
          <a:xfrm>
            <a:off x="1714500" y="6099048"/>
            <a:ext cx="548640" cy="182880"/>
          </a:xfrm>
          <a:prstGeom prst="rect">
            <a:avLst/>
          </a:prstGeom>
          <a:noFill/>
          <a:ln/>
        </p:spPr>
        <p:txBody>
          <a:bodyPr wrap="square" lIns="0" tIns="0" rIns="0" bIns="0" rtlCol="0" anchor="ctr"/>
          <a:lstStyle/>
          <a:p>
            <a:pPr algn="ctr" indent="0" marL="0">
              <a:buNone/>
            </a:pPr>
            <a:r>
              <a:rPr lang="en-US" sz="900" dirty="0">
                <a:solidFill>
                  <a:srgbClr val="BDBDBD"/>
                </a:solidFill>
                <a:latin typeface="Arial" pitchFamily="34" charset="0"/>
                <a:ea typeface="Arial" pitchFamily="34" charset="-122"/>
                <a:cs typeface="Arial" pitchFamily="34" charset="-120"/>
              </a:rPr>
              <a:t>150</a:t>
            </a:r>
            <a:endParaRPr lang="en-US" sz="900" dirty="0"/>
          </a:p>
        </p:txBody>
      </p:sp>
      <p:sp>
        <p:nvSpPr>
          <p:cNvPr id="36" name="Text 26"/>
          <p:cNvSpPr txBox="1"/>
          <p:nvPr/>
        </p:nvSpPr>
        <p:spPr>
          <a:xfrm>
            <a:off x="3154680" y="6099048"/>
            <a:ext cx="548640" cy="182880"/>
          </a:xfrm>
          <a:prstGeom prst="rect">
            <a:avLst/>
          </a:prstGeom>
          <a:noFill/>
          <a:ln/>
        </p:spPr>
        <p:txBody>
          <a:bodyPr wrap="square" lIns="0" tIns="0" rIns="0" bIns="0" rtlCol="0" anchor="ctr"/>
          <a:lstStyle/>
          <a:p>
            <a:pPr algn="ctr" indent="0" marL="0">
              <a:buNone/>
            </a:pPr>
            <a:r>
              <a:rPr lang="en-US" sz="900" dirty="0">
                <a:solidFill>
                  <a:srgbClr val="BDBDBD"/>
                </a:solidFill>
                <a:latin typeface="Arial" pitchFamily="34" charset="0"/>
                <a:ea typeface="Arial" pitchFamily="34" charset="-122"/>
                <a:cs typeface="Arial" pitchFamily="34" charset="-120"/>
              </a:rPr>
              <a:t>300</a:t>
            </a:r>
            <a:endParaRPr lang="en-US" sz="900" dirty="0"/>
          </a:p>
        </p:txBody>
      </p:sp>
      <p:sp>
        <p:nvSpPr>
          <p:cNvPr id="37" name="Text 27"/>
          <p:cNvSpPr txBox="1"/>
          <p:nvPr/>
        </p:nvSpPr>
        <p:spPr>
          <a:xfrm>
            <a:off x="5074920" y="6099048"/>
            <a:ext cx="548640" cy="182880"/>
          </a:xfrm>
          <a:prstGeom prst="rect">
            <a:avLst/>
          </a:prstGeom>
          <a:noFill/>
          <a:ln/>
        </p:spPr>
        <p:txBody>
          <a:bodyPr wrap="square" lIns="0" tIns="0" rIns="0" bIns="0" rtlCol="0" anchor="ctr"/>
          <a:lstStyle/>
          <a:p>
            <a:pPr algn="ctr" indent="0" marL="0">
              <a:buNone/>
            </a:pPr>
            <a:r>
              <a:rPr lang="en-US" sz="900" dirty="0">
                <a:solidFill>
                  <a:srgbClr val="BDBDBD"/>
                </a:solidFill>
                <a:latin typeface="Arial" pitchFamily="34" charset="0"/>
                <a:ea typeface="Arial" pitchFamily="34" charset="-122"/>
                <a:cs typeface="Arial" pitchFamily="34" charset="-120"/>
              </a:rPr>
              <a:t>500</a:t>
            </a:r>
            <a:endParaRPr lang="en-US" sz="900" dirty="0"/>
          </a:p>
        </p:txBody>
      </p:sp>
      <p:sp>
        <p:nvSpPr>
          <p:cNvPr id="38" name="Text 28"/>
          <p:cNvSpPr txBox="1"/>
          <p:nvPr/>
        </p:nvSpPr>
        <p:spPr>
          <a:xfrm>
            <a:off x="6035040" y="6099048"/>
            <a:ext cx="548640" cy="182880"/>
          </a:xfrm>
          <a:prstGeom prst="rect">
            <a:avLst/>
          </a:prstGeom>
          <a:noFill/>
          <a:ln/>
        </p:spPr>
        <p:txBody>
          <a:bodyPr wrap="square" lIns="0" tIns="0" rIns="0" bIns="0" rtlCol="0" anchor="ctr"/>
          <a:lstStyle/>
          <a:p>
            <a:pPr algn="ctr" indent="0" marL="0">
              <a:buNone/>
            </a:pPr>
            <a:r>
              <a:rPr lang="en-US" sz="900" dirty="0">
                <a:solidFill>
                  <a:srgbClr val="BDBDBD"/>
                </a:solidFill>
                <a:latin typeface="Arial" pitchFamily="34" charset="0"/>
                <a:ea typeface="Arial" pitchFamily="34" charset="-122"/>
                <a:cs typeface="Arial" pitchFamily="34" charset="-120"/>
              </a:rPr>
              <a:t>600</a:t>
            </a:r>
            <a:endParaRPr lang="en-US" sz="900" dirty="0"/>
          </a:p>
        </p:txBody>
      </p:sp>
      <p:sp>
        <p:nvSpPr>
          <p:cNvPr id="39" name="Text 29"/>
          <p:cNvSpPr txBox="1"/>
          <p:nvPr/>
        </p:nvSpPr>
        <p:spPr>
          <a:xfrm>
            <a:off x="1988820" y="5678424"/>
            <a:ext cx="1440180" cy="182880"/>
          </a:xfrm>
          <a:prstGeom prst="rect">
            <a:avLst/>
          </a:prstGeom>
          <a:noFill/>
          <a:ln/>
        </p:spPr>
        <p:txBody>
          <a:bodyPr wrap="square" lIns="0" tIns="0" rIns="0" bIns="0" rtlCol="0" anchor="ctr"/>
          <a:lstStyle/>
          <a:p>
            <a:pPr algn="ctr" indent="0" marL="0">
              <a:buNone/>
            </a:pPr>
            <a:r>
              <a:rPr lang="en-US" sz="950" b="1" dirty="0">
                <a:solidFill>
                  <a:srgbClr val="FCC30A"/>
                </a:solidFill>
                <a:latin typeface="Arial" pitchFamily="34" charset="0"/>
                <a:ea typeface="Arial" pitchFamily="34" charset="-122"/>
                <a:cs typeface="Arial" pitchFamily="34" charset="-120"/>
              </a:rPr>
              <a:t>Normal pigging</a:t>
            </a:r>
            <a:endParaRPr lang="en-US" sz="950" dirty="0"/>
          </a:p>
        </p:txBody>
      </p:sp>
      <p:sp>
        <p:nvSpPr>
          <p:cNvPr id="40" name="Text 30"/>
          <p:cNvSpPr txBox="1"/>
          <p:nvPr/>
        </p:nvSpPr>
        <p:spPr>
          <a:xfrm>
            <a:off x="4773168" y="5678424"/>
            <a:ext cx="1632204" cy="182880"/>
          </a:xfrm>
          <a:prstGeom prst="rect">
            <a:avLst/>
          </a:prstGeom>
          <a:noFill/>
          <a:ln/>
        </p:spPr>
        <p:txBody>
          <a:bodyPr wrap="square" lIns="0" tIns="0" rIns="0" bIns="0" rtlCol="0" anchor="ctr"/>
          <a:lstStyle/>
          <a:p>
            <a:pPr algn="ctr" indent="0" marL="0">
              <a:buNone/>
            </a:pPr>
            <a:r>
              <a:rPr lang="en-US" sz="950" b="1" dirty="0">
                <a:solidFill>
                  <a:srgbClr val="E0B000"/>
                </a:solidFill>
                <a:latin typeface="Arial" pitchFamily="34" charset="0"/>
                <a:ea typeface="Arial" pitchFamily="34" charset="-122"/>
                <a:cs typeface="Arial" pitchFamily="34" charset="-120"/>
              </a:rPr>
              <a:t>Effective max</a:t>
            </a:r>
            <a:endParaRPr lang="en-US" sz="950" dirty="0"/>
          </a:p>
        </p:txBody>
      </p:sp>
      <p:sp>
        <p:nvSpPr>
          <p:cNvPr id="41" name="Text 31"/>
          <p:cNvSpPr txBox="1"/>
          <p:nvPr/>
        </p:nvSpPr>
        <p:spPr>
          <a:xfrm>
            <a:off x="548640" y="6419088"/>
            <a:ext cx="7315200" cy="228600"/>
          </a:xfrm>
          <a:prstGeom prst="rect">
            <a:avLst/>
          </a:prstGeom>
          <a:noFill/>
          <a:ln/>
        </p:spPr>
        <p:txBody>
          <a:bodyPr wrap="square" lIns="0" tIns="0" rIns="0" bIns="0" rtlCol="0" anchor="ctr"/>
          <a:lstStyle/>
          <a:p>
            <a:pPr indent="0" marL="0">
              <a:buNone/>
            </a:pPr>
            <a:r>
              <a:rPr lang="en-US" sz="900" dirty="0">
                <a:solidFill>
                  <a:srgbClr val="BDBDBD"/>
                </a:solidFill>
                <a:latin typeface="Arial" pitchFamily="34" charset="0"/>
                <a:ea typeface="Arial" pitchFamily="34" charset="-122"/>
                <a:cs typeface="Arial" pitchFamily="34" charset="-120"/>
              </a:rPr>
              <a:t>USA DeBusk  |  LAR Heater Pigging &amp; Decoking Services  |  DSP#26098</a:t>
            </a:r>
            <a:endParaRPr lang="en-US" sz="900" dirty="0"/>
          </a:p>
        </p:txBody>
      </p:sp>
      <p:sp>
        <p:nvSpPr>
          <p:cNvPr id="42" name="Text 32"/>
          <p:cNvSpPr txBox="1"/>
          <p:nvPr/>
        </p:nvSpPr>
        <p:spPr>
          <a:xfrm>
            <a:off x="11155680" y="6419088"/>
            <a:ext cx="484632" cy="228600"/>
          </a:xfrm>
          <a:prstGeom prst="rect">
            <a:avLst/>
          </a:prstGeom>
          <a:noFill/>
          <a:ln/>
        </p:spPr>
        <p:txBody>
          <a:bodyPr wrap="square" lIns="0" tIns="0" rIns="0" bIns="0" rtlCol="0" anchor="ctr"/>
          <a:lstStyle/>
          <a:p>
            <a:pPr algn="r" indent="0" marL="0">
              <a:buNone/>
            </a:pPr>
            <a:r>
              <a:rPr lang="en-US" sz="900" dirty="0">
                <a:solidFill>
                  <a:srgbClr val="BDBDBD"/>
                </a:solidFill>
                <a:latin typeface="Arial" pitchFamily="34" charset="0"/>
                <a:ea typeface="Arial" pitchFamily="34" charset="-122"/>
                <a:cs typeface="Arial"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E1E1E"/>
        </a:solidFill>
      </p:bgPr>
    </p:bg>
    <p:spTree>
      <p:nvGrpSpPr>
        <p:cNvPr id="1" name=""/>
        <p:cNvGrpSpPr/>
        <p:nvPr/>
      </p:nvGrpSpPr>
      <p:grpSpPr>
        <a:xfrm>
          <a:off x="0" y="0"/>
          <a:ext cx="0" cy="0"/>
          <a:chOff x="0" y="0"/>
          <a:chExt cx="0" cy="0"/>
        </a:xfrm>
      </p:grpSpPr>
      <p:sp>
        <p:nvSpPr>
          <p:cNvPr id="2" name="Shape 0"/>
          <p:cNvSpPr/>
          <p:nvPr/>
        </p:nvSpPr>
        <p:spPr>
          <a:xfrm>
            <a:off x="548640" y="411480"/>
            <a:ext cx="3043714" cy="310896"/>
          </a:xfrm>
          <a:prstGeom prst="roundRect">
            <a:avLst>
              <a:gd name="adj" fmla="val 23529"/>
            </a:avLst>
          </a:prstGeom>
          <a:solidFill>
            <a:srgbClr val="FCC30A"/>
          </a:solidFill>
          <a:ln w="12700">
            <a:solidFill>
              <a:srgbClr val="FCC30A"/>
            </a:solidFill>
            <a:prstDash val="solid"/>
          </a:ln>
        </p:spPr>
      </p:sp>
      <p:sp>
        <p:nvSpPr>
          <p:cNvPr id="3" name="Text 1"/>
          <p:cNvSpPr txBox="1"/>
          <p:nvPr/>
        </p:nvSpPr>
        <p:spPr>
          <a:xfrm>
            <a:off x="548640" y="411480"/>
            <a:ext cx="3043714" cy="310896"/>
          </a:xfrm>
          <a:prstGeom prst="rect">
            <a:avLst/>
          </a:prstGeom>
          <a:noFill/>
          <a:ln/>
        </p:spPr>
        <p:txBody>
          <a:bodyPr wrap="square" lIns="0" tIns="0" rIns="0" bIns="0" rtlCol="0" anchor="ctr"/>
          <a:lstStyle/>
          <a:p>
            <a:pPr algn="ctr" indent="0" marL="0">
              <a:buNone/>
            </a:pPr>
            <a:r>
              <a:rPr lang="en-US" sz="1050" b="1" spc="150" kern="0" dirty="0">
                <a:solidFill>
                  <a:srgbClr val="1E1E1E"/>
                </a:solidFill>
                <a:latin typeface="Arial" pitchFamily="34" charset="0"/>
                <a:ea typeface="Arial" pitchFamily="34" charset="-122"/>
                <a:cs typeface="Arial" pitchFamily="34" charset="-120"/>
              </a:rPr>
              <a:t>04   EQUIPMENT &amp; TECHNOLOGY</a:t>
            </a:r>
            <a:endParaRPr lang="en-US" sz="1050" dirty="0"/>
          </a:p>
        </p:txBody>
      </p:sp>
      <p:sp>
        <p:nvSpPr>
          <p:cNvPr id="4" name="Text 2"/>
          <p:cNvSpPr txBox="1"/>
          <p:nvPr/>
        </p:nvSpPr>
        <p:spPr>
          <a:xfrm>
            <a:off x="548640" y="841248"/>
            <a:ext cx="11064240" cy="731520"/>
          </a:xfrm>
          <a:prstGeom prst="rect">
            <a:avLst/>
          </a:prstGeom>
          <a:noFill/>
          <a:ln/>
        </p:spPr>
        <p:txBody>
          <a:bodyPr wrap="square" lIns="0" tIns="0" rIns="0" bIns="0" rtlCol="0" anchor="t"/>
          <a:lstStyle/>
          <a:p>
            <a:pPr indent="0" marL="0">
              <a:buNone/>
            </a:pPr>
            <a:r>
              <a:rPr lang="en-US" sz="3200" b="1" dirty="0">
                <a:solidFill>
                  <a:srgbClr val="FFFFFF"/>
                </a:solidFill>
                <a:latin typeface="Arial" pitchFamily="34" charset="0"/>
                <a:ea typeface="Arial" pitchFamily="34" charset="-122"/>
                <a:cs typeface="Arial" pitchFamily="34" charset="-120"/>
              </a:rPr>
              <a:t>Real-time control at every operator station</a:t>
            </a:r>
            <a:endParaRPr lang="en-US" sz="3200" dirty="0"/>
          </a:p>
        </p:txBody>
      </p:sp>
      <p:sp>
        <p:nvSpPr>
          <p:cNvPr id="5" name="Shape 3"/>
          <p:cNvSpPr/>
          <p:nvPr/>
        </p:nvSpPr>
        <p:spPr>
          <a:xfrm>
            <a:off x="475488" y="1664208"/>
            <a:ext cx="6181344" cy="4672584"/>
          </a:xfrm>
          <a:prstGeom prst="rect">
            <a:avLst/>
          </a:prstGeom>
          <a:solidFill>
            <a:srgbClr val="363636"/>
          </a:solidFill>
          <a:ln w="12700">
            <a:solidFill>
              <a:srgbClr val="363636"/>
            </a:solidFill>
            <a:prstDash val="solid"/>
          </a:ln>
        </p:spPr>
      </p:sp>
      <p:pic>
        <p:nvPicPr>
          <p:cNvPr id="6" name="Image 0" descr="/tmp/claude-0/-home-user-obsidian-work/c8998718-f22f-57a3-84c2-766db1d92b4c/scratchpad/deck/img/hmi2.jpg">    </p:cNvPr>
          <p:cNvPicPr>
            <a:picLocks noChangeAspect="1"/>
          </p:cNvPicPr>
          <p:nvPr/>
        </p:nvPicPr>
        <p:blipFill>
          <a:blip r:embed="rId1"/>
          <a:stretch>
            <a:fillRect/>
          </a:stretch>
        </p:blipFill>
        <p:spPr>
          <a:xfrm>
            <a:off x="548640" y="1737360"/>
            <a:ext cx="6035040" cy="4526280"/>
          </a:xfrm>
          <a:prstGeom prst="rect">
            <a:avLst/>
          </a:prstGeom>
        </p:spPr>
      </p:pic>
      <p:sp>
        <p:nvSpPr>
          <p:cNvPr id="7" name="Shape 4"/>
          <p:cNvSpPr/>
          <p:nvPr/>
        </p:nvSpPr>
        <p:spPr>
          <a:xfrm>
            <a:off x="908914" y="4722876"/>
            <a:ext cx="365760" cy="365760"/>
          </a:xfrm>
          <a:prstGeom prst="ellipse">
            <a:avLst/>
          </a:prstGeom>
          <a:solidFill>
            <a:srgbClr val="FCC30A"/>
          </a:solidFill>
          <a:ln w="25400">
            <a:solidFill>
              <a:srgbClr val="1E1E1E"/>
            </a:solidFill>
            <a:prstDash val="solid"/>
          </a:ln>
        </p:spPr>
      </p:sp>
      <p:sp>
        <p:nvSpPr>
          <p:cNvPr id="8" name="Text 5"/>
          <p:cNvSpPr txBox="1"/>
          <p:nvPr/>
        </p:nvSpPr>
        <p:spPr>
          <a:xfrm>
            <a:off x="908914" y="4722876"/>
            <a:ext cx="365760" cy="365760"/>
          </a:xfrm>
          <a:prstGeom prst="rect">
            <a:avLst/>
          </a:prstGeom>
          <a:noFill/>
          <a:ln/>
        </p:spPr>
        <p:txBody>
          <a:bodyPr wrap="square" lIns="0" tIns="0" rIns="0" bIns="0" rtlCol="0" anchor="ctr"/>
          <a:lstStyle/>
          <a:p>
            <a:pPr algn="ctr" indent="0" marL="0">
              <a:buNone/>
            </a:pPr>
            <a:r>
              <a:rPr lang="en-US" sz="1300" b="1" dirty="0">
                <a:solidFill>
                  <a:srgbClr val="1E1E1E"/>
                </a:solidFill>
                <a:latin typeface="Arial" pitchFamily="34" charset="0"/>
                <a:ea typeface="Arial" pitchFamily="34" charset="-122"/>
                <a:cs typeface="Arial" pitchFamily="34" charset="-120"/>
              </a:rPr>
              <a:t>1</a:t>
            </a:r>
            <a:endParaRPr lang="en-US" sz="1300" dirty="0"/>
          </a:p>
        </p:txBody>
      </p:sp>
      <p:sp>
        <p:nvSpPr>
          <p:cNvPr id="9" name="Shape 6"/>
          <p:cNvSpPr/>
          <p:nvPr/>
        </p:nvSpPr>
        <p:spPr>
          <a:xfrm>
            <a:off x="3473806" y="4170670"/>
            <a:ext cx="365760" cy="365760"/>
          </a:xfrm>
          <a:prstGeom prst="ellipse">
            <a:avLst/>
          </a:prstGeom>
          <a:solidFill>
            <a:srgbClr val="FCC30A"/>
          </a:solidFill>
          <a:ln w="25400">
            <a:solidFill>
              <a:srgbClr val="1E1E1E"/>
            </a:solidFill>
            <a:prstDash val="solid"/>
          </a:ln>
        </p:spPr>
      </p:sp>
      <p:sp>
        <p:nvSpPr>
          <p:cNvPr id="10" name="Text 7"/>
          <p:cNvSpPr txBox="1"/>
          <p:nvPr/>
        </p:nvSpPr>
        <p:spPr>
          <a:xfrm>
            <a:off x="3473806" y="4170670"/>
            <a:ext cx="365760" cy="365760"/>
          </a:xfrm>
          <a:prstGeom prst="rect">
            <a:avLst/>
          </a:prstGeom>
          <a:noFill/>
          <a:ln/>
        </p:spPr>
        <p:txBody>
          <a:bodyPr wrap="square" lIns="0" tIns="0" rIns="0" bIns="0" rtlCol="0" anchor="ctr"/>
          <a:lstStyle/>
          <a:p>
            <a:pPr algn="ctr" indent="0" marL="0">
              <a:buNone/>
            </a:pPr>
            <a:r>
              <a:rPr lang="en-US" sz="1300" b="1" dirty="0">
                <a:solidFill>
                  <a:srgbClr val="1E1E1E"/>
                </a:solidFill>
                <a:latin typeface="Arial" pitchFamily="34" charset="0"/>
                <a:ea typeface="Arial" pitchFamily="34" charset="-122"/>
                <a:cs typeface="Arial" pitchFamily="34" charset="-120"/>
              </a:rPr>
              <a:t>2</a:t>
            </a:r>
            <a:endParaRPr lang="en-US" sz="1300" dirty="0"/>
          </a:p>
        </p:txBody>
      </p:sp>
      <p:sp>
        <p:nvSpPr>
          <p:cNvPr id="11" name="Shape 8"/>
          <p:cNvSpPr/>
          <p:nvPr/>
        </p:nvSpPr>
        <p:spPr>
          <a:xfrm>
            <a:off x="1572768" y="2821838"/>
            <a:ext cx="365760" cy="365760"/>
          </a:xfrm>
          <a:prstGeom prst="ellipse">
            <a:avLst/>
          </a:prstGeom>
          <a:solidFill>
            <a:srgbClr val="FCC30A"/>
          </a:solidFill>
          <a:ln w="25400">
            <a:solidFill>
              <a:srgbClr val="1E1E1E"/>
            </a:solidFill>
            <a:prstDash val="solid"/>
          </a:ln>
        </p:spPr>
      </p:sp>
      <p:sp>
        <p:nvSpPr>
          <p:cNvPr id="12" name="Text 9"/>
          <p:cNvSpPr txBox="1"/>
          <p:nvPr/>
        </p:nvSpPr>
        <p:spPr>
          <a:xfrm>
            <a:off x="1572768" y="2821838"/>
            <a:ext cx="365760" cy="365760"/>
          </a:xfrm>
          <a:prstGeom prst="rect">
            <a:avLst/>
          </a:prstGeom>
          <a:noFill/>
          <a:ln/>
        </p:spPr>
        <p:txBody>
          <a:bodyPr wrap="square" lIns="0" tIns="0" rIns="0" bIns="0" rtlCol="0" anchor="ctr"/>
          <a:lstStyle/>
          <a:p>
            <a:pPr algn="ctr" indent="0" marL="0">
              <a:buNone/>
            </a:pPr>
            <a:r>
              <a:rPr lang="en-US" sz="1300" b="1" dirty="0">
                <a:solidFill>
                  <a:srgbClr val="1E1E1E"/>
                </a:solidFill>
                <a:latin typeface="Arial" pitchFamily="34" charset="0"/>
                <a:ea typeface="Arial" pitchFamily="34" charset="-122"/>
                <a:cs typeface="Arial" pitchFamily="34" charset="-120"/>
              </a:rPr>
              <a:t>3</a:t>
            </a:r>
            <a:endParaRPr lang="en-US" sz="1300" dirty="0"/>
          </a:p>
        </p:txBody>
      </p:sp>
      <p:sp>
        <p:nvSpPr>
          <p:cNvPr id="13" name="Shape 10"/>
          <p:cNvSpPr/>
          <p:nvPr/>
        </p:nvSpPr>
        <p:spPr>
          <a:xfrm>
            <a:off x="2598725" y="1871320"/>
            <a:ext cx="365760" cy="365760"/>
          </a:xfrm>
          <a:prstGeom prst="ellipse">
            <a:avLst/>
          </a:prstGeom>
          <a:solidFill>
            <a:srgbClr val="FCC30A"/>
          </a:solidFill>
          <a:ln w="25400">
            <a:solidFill>
              <a:srgbClr val="1E1E1E"/>
            </a:solidFill>
            <a:prstDash val="solid"/>
          </a:ln>
        </p:spPr>
      </p:sp>
      <p:sp>
        <p:nvSpPr>
          <p:cNvPr id="14" name="Text 11"/>
          <p:cNvSpPr txBox="1"/>
          <p:nvPr/>
        </p:nvSpPr>
        <p:spPr>
          <a:xfrm>
            <a:off x="2598725" y="1871320"/>
            <a:ext cx="365760" cy="365760"/>
          </a:xfrm>
          <a:prstGeom prst="rect">
            <a:avLst/>
          </a:prstGeom>
          <a:noFill/>
          <a:ln/>
        </p:spPr>
        <p:txBody>
          <a:bodyPr wrap="square" lIns="0" tIns="0" rIns="0" bIns="0" rtlCol="0" anchor="ctr"/>
          <a:lstStyle/>
          <a:p>
            <a:pPr algn="ctr" indent="0" marL="0">
              <a:buNone/>
            </a:pPr>
            <a:r>
              <a:rPr lang="en-US" sz="1300" b="1" dirty="0">
                <a:solidFill>
                  <a:srgbClr val="1E1E1E"/>
                </a:solidFill>
                <a:latin typeface="Arial" pitchFamily="34" charset="0"/>
                <a:ea typeface="Arial" pitchFamily="34" charset="-122"/>
                <a:cs typeface="Arial" pitchFamily="34" charset="-120"/>
              </a:rPr>
              <a:t>4</a:t>
            </a:r>
            <a:endParaRPr lang="en-US" sz="1300" dirty="0"/>
          </a:p>
        </p:txBody>
      </p:sp>
      <p:sp>
        <p:nvSpPr>
          <p:cNvPr id="15" name="Shape 12"/>
          <p:cNvSpPr/>
          <p:nvPr/>
        </p:nvSpPr>
        <p:spPr>
          <a:xfrm>
            <a:off x="2538374" y="2640787"/>
            <a:ext cx="365760" cy="365760"/>
          </a:xfrm>
          <a:prstGeom prst="ellipse">
            <a:avLst/>
          </a:prstGeom>
          <a:solidFill>
            <a:srgbClr val="FCC30A"/>
          </a:solidFill>
          <a:ln w="25400">
            <a:solidFill>
              <a:srgbClr val="1E1E1E"/>
            </a:solidFill>
            <a:prstDash val="solid"/>
          </a:ln>
        </p:spPr>
      </p:sp>
      <p:sp>
        <p:nvSpPr>
          <p:cNvPr id="16" name="Text 13"/>
          <p:cNvSpPr txBox="1"/>
          <p:nvPr/>
        </p:nvSpPr>
        <p:spPr>
          <a:xfrm>
            <a:off x="2538374" y="2640787"/>
            <a:ext cx="365760" cy="365760"/>
          </a:xfrm>
          <a:prstGeom prst="rect">
            <a:avLst/>
          </a:prstGeom>
          <a:noFill/>
          <a:ln/>
        </p:spPr>
        <p:txBody>
          <a:bodyPr wrap="square" lIns="0" tIns="0" rIns="0" bIns="0" rtlCol="0" anchor="ctr"/>
          <a:lstStyle/>
          <a:p>
            <a:pPr algn="ctr" indent="0" marL="0">
              <a:buNone/>
            </a:pPr>
            <a:r>
              <a:rPr lang="en-US" sz="1300" b="1" dirty="0">
                <a:solidFill>
                  <a:srgbClr val="1E1E1E"/>
                </a:solidFill>
                <a:latin typeface="Arial" pitchFamily="34" charset="0"/>
                <a:ea typeface="Arial" pitchFamily="34" charset="-122"/>
                <a:cs typeface="Arial" pitchFamily="34" charset="-120"/>
              </a:rPr>
              <a:t>5</a:t>
            </a:r>
            <a:endParaRPr lang="en-US" sz="1300" dirty="0"/>
          </a:p>
        </p:txBody>
      </p:sp>
      <p:sp>
        <p:nvSpPr>
          <p:cNvPr id="17" name="Shape 14"/>
          <p:cNvSpPr/>
          <p:nvPr/>
        </p:nvSpPr>
        <p:spPr>
          <a:xfrm>
            <a:off x="5151547" y="1961845"/>
            <a:ext cx="365760" cy="365760"/>
          </a:xfrm>
          <a:prstGeom prst="ellipse">
            <a:avLst/>
          </a:prstGeom>
          <a:solidFill>
            <a:srgbClr val="FCC30A"/>
          </a:solidFill>
          <a:ln w="25400">
            <a:solidFill>
              <a:srgbClr val="1E1E1E"/>
            </a:solidFill>
            <a:prstDash val="solid"/>
          </a:ln>
        </p:spPr>
      </p:sp>
      <p:sp>
        <p:nvSpPr>
          <p:cNvPr id="18" name="Text 15"/>
          <p:cNvSpPr txBox="1"/>
          <p:nvPr/>
        </p:nvSpPr>
        <p:spPr>
          <a:xfrm>
            <a:off x="5151547" y="1961845"/>
            <a:ext cx="365760" cy="365760"/>
          </a:xfrm>
          <a:prstGeom prst="rect">
            <a:avLst/>
          </a:prstGeom>
          <a:noFill/>
          <a:ln/>
        </p:spPr>
        <p:txBody>
          <a:bodyPr wrap="square" lIns="0" tIns="0" rIns="0" bIns="0" rtlCol="0" anchor="ctr"/>
          <a:lstStyle/>
          <a:p>
            <a:pPr algn="ctr" indent="0" marL="0">
              <a:buNone/>
            </a:pPr>
            <a:r>
              <a:rPr lang="en-US" sz="1300" b="1" dirty="0">
                <a:solidFill>
                  <a:srgbClr val="1E1E1E"/>
                </a:solidFill>
                <a:latin typeface="Arial" pitchFamily="34" charset="0"/>
                <a:ea typeface="Arial" pitchFamily="34" charset="-122"/>
                <a:cs typeface="Arial" pitchFamily="34" charset="-120"/>
              </a:rPr>
              <a:t>6</a:t>
            </a:r>
            <a:endParaRPr lang="en-US" sz="1300" dirty="0"/>
          </a:p>
        </p:txBody>
      </p:sp>
      <p:sp>
        <p:nvSpPr>
          <p:cNvPr id="19" name="Shape 16"/>
          <p:cNvSpPr/>
          <p:nvPr/>
        </p:nvSpPr>
        <p:spPr>
          <a:xfrm>
            <a:off x="7269480" y="1764792"/>
            <a:ext cx="365760" cy="365760"/>
          </a:xfrm>
          <a:prstGeom prst="ellipse">
            <a:avLst/>
          </a:prstGeom>
          <a:solidFill>
            <a:srgbClr val="FCC30A"/>
          </a:solidFill>
          <a:ln w="12700">
            <a:solidFill>
              <a:srgbClr val="FCC30A"/>
            </a:solidFill>
            <a:prstDash val="solid"/>
          </a:ln>
        </p:spPr>
      </p:sp>
      <p:sp>
        <p:nvSpPr>
          <p:cNvPr id="20" name="Text 17"/>
          <p:cNvSpPr txBox="1"/>
          <p:nvPr/>
        </p:nvSpPr>
        <p:spPr>
          <a:xfrm>
            <a:off x="7269480" y="1764792"/>
            <a:ext cx="365760" cy="365760"/>
          </a:xfrm>
          <a:prstGeom prst="rect">
            <a:avLst/>
          </a:prstGeom>
          <a:noFill/>
          <a:ln/>
        </p:spPr>
        <p:txBody>
          <a:bodyPr wrap="square" lIns="0" tIns="0" rIns="0" bIns="0" rtlCol="0" anchor="ctr"/>
          <a:lstStyle/>
          <a:p>
            <a:pPr algn="ctr" indent="0" marL="0">
              <a:buNone/>
            </a:pPr>
            <a:r>
              <a:rPr lang="en-US" sz="1300" b="1" dirty="0">
                <a:solidFill>
                  <a:srgbClr val="1E1E1E"/>
                </a:solidFill>
                <a:latin typeface="Arial" pitchFamily="34" charset="0"/>
                <a:ea typeface="Arial" pitchFamily="34" charset="-122"/>
                <a:cs typeface="Arial" pitchFamily="34" charset="-120"/>
              </a:rPr>
              <a:t>1</a:t>
            </a:r>
            <a:endParaRPr lang="en-US" sz="1300" dirty="0"/>
          </a:p>
        </p:txBody>
      </p:sp>
      <p:sp>
        <p:nvSpPr>
          <p:cNvPr id="21" name="Text 18"/>
          <p:cNvSpPr txBox="1"/>
          <p:nvPr/>
        </p:nvSpPr>
        <p:spPr>
          <a:xfrm>
            <a:off x="7818120" y="1719072"/>
            <a:ext cx="3840480" cy="274320"/>
          </a:xfrm>
          <a:prstGeom prst="rect">
            <a:avLst/>
          </a:prstGeom>
          <a:noFill/>
          <a:ln/>
        </p:spPr>
        <p:txBody>
          <a:bodyPr wrap="square" lIns="0" tIns="0" rIns="0" bIns="0" rtlCol="0" anchor="ctr"/>
          <a:lstStyle/>
          <a:p>
            <a:pPr indent="0" marL="0">
              <a:buNone/>
            </a:pPr>
            <a:r>
              <a:rPr lang="en-US" sz="1400" b="1" dirty="0">
                <a:solidFill>
                  <a:srgbClr val="FFFFFF"/>
                </a:solidFill>
                <a:latin typeface="Arial" pitchFamily="34" charset="0"/>
                <a:ea typeface="Arial" pitchFamily="34" charset="-122"/>
                <a:cs typeface="Arial" pitchFamily="34" charset="-120"/>
              </a:rPr>
              <a:t>Live trends</a:t>
            </a:r>
            <a:endParaRPr lang="en-US" sz="1400" dirty="0"/>
          </a:p>
        </p:txBody>
      </p:sp>
      <p:sp>
        <p:nvSpPr>
          <p:cNvPr id="22" name="Text 19"/>
          <p:cNvSpPr txBox="1"/>
          <p:nvPr/>
        </p:nvSpPr>
        <p:spPr>
          <a:xfrm>
            <a:off x="7818120" y="1993392"/>
            <a:ext cx="3840480" cy="411480"/>
          </a:xfrm>
          <a:prstGeom prst="rect">
            <a:avLst/>
          </a:prstGeom>
          <a:noFill/>
          <a:ln/>
        </p:spPr>
        <p:txBody>
          <a:bodyPr wrap="square" lIns="0" tIns="0" rIns="0" bIns="0" rtlCol="0" anchor="t"/>
          <a:lstStyle/>
          <a:p>
            <a:pPr indent="0" marL="0">
              <a:buNone/>
            </a:pPr>
            <a:r>
              <a:rPr lang="en-US" sz="1150" dirty="0">
                <a:solidFill>
                  <a:srgbClr val="BDBDBD"/>
                </a:solidFill>
                <a:latin typeface="Arial" pitchFamily="34" charset="0"/>
                <a:ea typeface="Arial" pitchFamily="34" charset="-122"/>
                <a:cs typeface="Arial" pitchFamily="34" charset="-120"/>
              </a:rPr>
              <a:t>Pressure ahead of and behind the pig, plus flow; coke shows as a spike</a:t>
            </a:r>
            <a:endParaRPr lang="en-US" sz="1150" dirty="0"/>
          </a:p>
        </p:txBody>
      </p:sp>
      <p:sp>
        <p:nvSpPr>
          <p:cNvPr id="23" name="Shape 20"/>
          <p:cNvSpPr/>
          <p:nvPr/>
        </p:nvSpPr>
        <p:spPr>
          <a:xfrm>
            <a:off x="7269480" y="2496312"/>
            <a:ext cx="365760" cy="365760"/>
          </a:xfrm>
          <a:prstGeom prst="ellipse">
            <a:avLst/>
          </a:prstGeom>
          <a:solidFill>
            <a:srgbClr val="FCC30A"/>
          </a:solidFill>
          <a:ln w="12700">
            <a:solidFill>
              <a:srgbClr val="FCC30A"/>
            </a:solidFill>
            <a:prstDash val="solid"/>
          </a:ln>
        </p:spPr>
      </p:sp>
      <p:sp>
        <p:nvSpPr>
          <p:cNvPr id="24" name="Text 21"/>
          <p:cNvSpPr txBox="1"/>
          <p:nvPr/>
        </p:nvSpPr>
        <p:spPr>
          <a:xfrm>
            <a:off x="7269480" y="2496312"/>
            <a:ext cx="365760" cy="365760"/>
          </a:xfrm>
          <a:prstGeom prst="rect">
            <a:avLst/>
          </a:prstGeom>
          <a:noFill/>
          <a:ln/>
        </p:spPr>
        <p:txBody>
          <a:bodyPr wrap="square" lIns="0" tIns="0" rIns="0" bIns="0" rtlCol="0" anchor="ctr"/>
          <a:lstStyle/>
          <a:p>
            <a:pPr algn="ctr" indent="0" marL="0">
              <a:buNone/>
            </a:pPr>
            <a:r>
              <a:rPr lang="en-US" sz="1300" b="1" dirty="0">
                <a:solidFill>
                  <a:srgbClr val="1E1E1E"/>
                </a:solidFill>
                <a:latin typeface="Arial" pitchFamily="34" charset="0"/>
                <a:ea typeface="Arial" pitchFamily="34" charset="-122"/>
                <a:cs typeface="Arial" pitchFamily="34" charset="-120"/>
              </a:rPr>
              <a:t>2</a:t>
            </a:r>
            <a:endParaRPr lang="en-US" sz="1300" dirty="0"/>
          </a:p>
        </p:txBody>
      </p:sp>
      <p:sp>
        <p:nvSpPr>
          <p:cNvPr id="25" name="Text 22"/>
          <p:cNvSpPr txBox="1"/>
          <p:nvPr/>
        </p:nvSpPr>
        <p:spPr>
          <a:xfrm>
            <a:off x="7818120" y="2450592"/>
            <a:ext cx="3840480" cy="274320"/>
          </a:xfrm>
          <a:prstGeom prst="rect">
            <a:avLst/>
          </a:prstGeom>
          <a:noFill/>
          <a:ln/>
        </p:spPr>
        <p:txBody>
          <a:bodyPr wrap="square" lIns="0" tIns="0" rIns="0" bIns="0" rtlCol="0" anchor="ctr"/>
          <a:lstStyle/>
          <a:p>
            <a:pPr indent="0" marL="0">
              <a:buNone/>
            </a:pPr>
            <a:r>
              <a:rPr lang="en-US" sz="1400" b="1" dirty="0">
                <a:solidFill>
                  <a:srgbClr val="FFFFFF"/>
                </a:solidFill>
                <a:latin typeface="Arial" pitchFamily="34" charset="0"/>
                <a:ea typeface="Arial" pitchFamily="34" charset="-122"/>
                <a:cs typeface="Arial" pitchFamily="34" charset="-120"/>
              </a:rPr>
              <a:t>Flow &amp; pressure</a:t>
            </a:r>
            <a:endParaRPr lang="en-US" sz="1400" dirty="0"/>
          </a:p>
        </p:txBody>
      </p:sp>
      <p:sp>
        <p:nvSpPr>
          <p:cNvPr id="26" name="Text 23"/>
          <p:cNvSpPr txBox="1"/>
          <p:nvPr/>
        </p:nvSpPr>
        <p:spPr>
          <a:xfrm>
            <a:off x="7818120" y="2724912"/>
            <a:ext cx="3840480" cy="411480"/>
          </a:xfrm>
          <a:prstGeom prst="rect">
            <a:avLst/>
          </a:prstGeom>
          <a:noFill/>
          <a:ln/>
        </p:spPr>
        <p:txBody>
          <a:bodyPr wrap="square" lIns="0" tIns="0" rIns="0" bIns="0" rtlCol="0" anchor="t"/>
          <a:lstStyle/>
          <a:p>
            <a:pPr indent="0" marL="0">
              <a:buNone/>
            </a:pPr>
            <a:r>
              <a:rPr lang="en-US" sz="1150" dirty="0">
                <a:solidFill>
                  <a:srgbClr val="BDBDBD"/>
                </a:solidFill>
                <a:latin typeface="Arial" pitchFamily="34" charset="0"/>
                <a:ea typeface="Arial" pitchFamily="34" charset="-122"/>
                <a:cs typeface="Arial" pitchFamily="34" charset="-120"/>
              </a:rPr>
              <a:t>GPM and psi at the pump, updated continuously</a:t>
            </a:r>
            <a:endParaRPr lang="en-US" sz="1150" dirty="0"/>
          </a:p>
        </p:txBody>
      </p:sp>
      <p:sp>
        <p:nvSpPr>
          <p:cNvPr id="27" name="Shape 24"/>
          <p:cNvSpPr/>
          <p:nvPr/>
        </p:nvSpPr>
        <p:spPr>
          <a:xfrm>
            <a:off x="7269480" y="3227832"/>
            <a:ext cx="365760" cy="365760"/>
          </a:xfrm>
          <a:prstGeom prst="ellipse">
            <a:avLst/>
          </a:prstGeom>
          <a:solidFill>
            <a:srgbClr val="FCC30A"/>
          </a:solidFill>
          <a:ln w="12700">
            <a:solidFill>
              <a:srgbClr val="FCC30A"/>
            </a:solidFill>
            <a:prstDash val="solid"/>
          </a:ln>
        </p:spPr>
      </p:sp>
      <p:sp>
        <p:nvSpPr>
          <p:cNvPr id="28" name="Text 25"/>
          <p:cNvSpPr txBox="1"/>
          <p:nvPr/>
        </p:nvSpPr>
        <p:spPr>
          <a:xfrm>
            <a:off x="7269480" y="3227832"/>
            <a:ext cx="365760" cy="365760"/>
          </a:xfrm>
          <a:prstGeom prst="rect">
            <a:avLst/>
          </a:prstGeom>
          <a:noFill/>
          <a:ln/>
        </p:spPr>
        <p:txBody>
          <a:bodyPr wrap="square" lIns="0" tIns="0" rIns="0" bIns="0" rtlCol="0" anchor="ctr"/>
          <a:lstStyle/>
          <a:p>
            <a:pPr algn="ctr" indent="0" marL="0">
              <a:buNone/>
            </a:pPr>
            <a:r>
              <a:rPr lang="en-US" sz="1300" b="1" dirty="0">
                <a:solidFill>
                  <a:srgbClr val="1E1E1E"/>
                </a:solidFill>
                <a:latin typeface="Arial" pitchFamily="34" charset="0"/>
                <a:ea typeface="Arial" pitchFamily="34" charset="-122"/>
                <a:cs typeface="Arial" pitchFamily="34" charset="-120"/>
              </a:rPr>
              <a:t>3</a:t>
            </a:r>
            <a:endParaRPr lang="en-US" sz="1300" dirty="0"/>
          </a:p>
        </p:txBody>
      </p:sp>
      <p:sp>
        <p:nvSpPr>
          <p:cNvPr id="29" name="Text 26"/>
          <p:cNvSpPr txBox="1"/>
          <p:nvPr/>
        </p:nvSpPr>
        <p:spPr>
          <a:xfrm>
            <a:off x="7818120" y="3182112"/>
            <a:ext cx="3840480" cy="274320"/>
          </a:xfrm>
          <a:prstGeom prst="rect">
            <a:avLst/>
          </a:prstGeom>
          <a:noFill/>
          <a:ln/>
        </p:spPr>
        <p:txBody>
          <a:bodyPr wrap="square" lIns="0" tIns="0" rIns="0" bIns="0" rtlCol="0" anchor="ctr"/>
          <a:lstStyle/>
          <a:p>
            <a:pPr indent="0" marL="0">
              <a:buNone/>
            </a:pPr>
            <a:r>
              <a:rPr lang="en-US" sz="1400" b="1" dirty="0">
                <a:solidFill>
                  <a:srgbClr val="FFFFFF"/>
                </a:solidFill>
                <a:latin typeface="Arial" pitchFamily="34" charset="0"/>
                <a:ea typeface="Arial" pitchFamily="34" charset="-122"/>
                <a:cs typeface="Arial" pitchFamily="34" charset="-120"/>
              </a:rPr>
              <a:t>Tank levels</a:t>
            </a:r>
            <a:endParaRPr lang="en-US" sz="1400" dirty="0"/>
          </a:p>
        </p:txBody>
      </p:sp>
      <p:sp>
        <p:nvSpPr>
          <p:cNvPr id="30" name="Text 27"/>
          <p:cNvSpPr txBox="1"/>
          <p:nvPr/>
        </p:nvSpPr>
        <p:spPr>
          <a:xfrm>
            <a:off x="7818120" y="3456432"/>
            <a:ext cx="3840480" cy="411480"/>
          </a:xfrm>
          <a:prstGeom prst="rect">
            <a:avLst/>
          </a:prstGeom>
          <a:noFill/>
          <a:ln/>
        </p:spPr>
        <p:txBody>
          <a:bodyPr wrap="square" lIns="0" tIns="0" rIns="0" bIns="0" rtlCol="0" anchor="t"/>
          <a:lstStyle/>
          <a:p>
            <a:pPr indent="0" marL="0">
              <a:buNone/>
            </a:pPr>
            <a:r>
              <a:rPr lang="en-US" sz="1150" dirty="0">
                <a:solidFill>
                  <a:srgbClr val="BDBDBD"/>
                </a:solidFill>
                <a:latin typeface="Arial" pitchFamily="34" charset="0"/>
                <a:ea typeface="Arial" pitchFamily="34" charset="-122"/>
                <a:cs typeface="Arial" pitchFamily="34" charset="-120"/>
              </a:rPr>
              <a:t>Clean and effluent tanks on guided-radar indicators</a:t>
            </a:r>
            <a:endParaRPr lang="en-US" sz="1150" dirty="0"/>
          </a:p>
        </p:txBody>
      </p:sp>
      <p:sp>
        <p:nvSpPr>
          <p:cNvPr id="31" name="Shape 28"/>
          <p:cNvSpPr/>
          <p:nvPr/>
        </p:nvSpPr>
        <p:spPr>
          <a:xfrm>
            <a:off x="7269480" y="3959352"/>
            <a:ext cx="365760" cy="365760"/>
          </a:xfrm>
          <a:prstGeom prst="ellipse">
            <a:avLst/>
          </a:prstGeom>
          <a:solidFill>
            <a:srgbClr val="FCC30A"/>
          </a:solidFill>
          <a:ln w="12700">
            <a:solidFill>
              <a:srgbClr val="FCC30A"/>
            </a:solidFill>
            <a:prstDash val="solid"/>
          </a:ln>
        </p:spPr>
      </p:sp>
      <p:sp>
        <p:nvSpPr>
          <p:cNvPr id="32" name="Text 29"/>
          <p:cNvSpPr txBox="1"/>
          <p:nvPr/>
        </p:nvSpPr>
        <p:spPr>
          <a:xfrm>
            <a:off x="7269480" y="3959352"/>
            <a:ext cx="365760" cy="365760"/>
          </a:xfrm>
          <a:prstGeom prst="rect">
            <a:avLst/>
          </a:prstGeom>
          <a:noFill/>
          <a:ln/>
        </p:spPr>
        <p:txBody>
          <a:bodyPr wrap="square" lIns="0" tIns="0" rIns="0" bIns="0" rtlCol="0" anchor="ctr"/>
          <a:lstStyle/>
          <a:p>
            <a:pPr algn="ctr" indent="0" marL="0">
              <a:buNone/>
            </a:pPr>
            <a:r>
              <a:rPr lang="en-US" sz="1300" b="1" dirty="0">
                <a:solidFill>
                  <a:srgbClr val="1E1E1E"/>
                </a:solidFill>
                <a:latin typeface="Arial" pitchFamily="34" charset="0"/>
                <a:ea typeface="Arial" pitchFamily="34" charset="-122"/>
                <a:cs typeface="Arial" pitchFamily="34" charset="-120"/>
              </a:rPr>
              <a:t>4</a:t>
            </a:r>
            <a:endParaRPr lang="en-US" sz="1300" dirty="0"/>
          </a:p>
        </p:txBody>
      </p:sp>
      <p:sp>
        <p:nvSpPr>
          <p:cNvPr id="33" name="Text 30"/>
          <p:cNvSpPr txBox="1"/>
          <p:nvPr/>
        </p:nvSpPr>
        <p:spPr>
          <a:xfrm>
            <a:off x="7818120" y="3913632"/>
            <a:ext cx="3840480" cy="274320"/>
          </a:xfrm>
          <a:prstGeom prst="rect">
            <a:avLst/>
          </a:prstGeom>
          <a:noFill/>
          <a:ln/>
        </p:spPr>
        <p:txBody>
          <a:bodyPr wrap="square" lIns="0" tIns="0" rIns="0" bIns="0" rtlCol="0" anchor="ctr"/>
          <a:lstStyle/>
          <a:p>
            <a:pPr indent="0" marL="0">
              <a:buNone/>
            </a:pPr>
            <a:r>
              <a:rPr lang="en-US" sz="1400" b="1" dirty="0">
                <a:solidFill>
                  <a:srgbClr val="FFFFFF"/>
                </a:solidFill>
                <a:latin typeface="Arial" pitchFamily="34" charset="0"/>
                <a:ea typeface="Arial" pitchFamily="34" charset="-122"/>
                <a:cs typeface="Arial" pitchFamily="34" charset="-120"/>
              </a:rPr>
              <a:t>Setpoint alarms</a:t>
            </a:r>
            <a:endParaRPr lang="en-US" sz="1400" dirty="0"/>
          </a:p>
        </p:txBody>
      </p:sp>
      <p:sp>
        <p:nvSpPr>
          <p:cNvPr id="34" name="Text 31"/>
          <p:cNvSpPr txBox="1"/>
          <p:nvPr/>
        </p:nvSpPr>
        <p:spPr>
          <a:xfrm>
            <a:off x="7818120" y="4187952"/>
            <a:ext cx="3840480" cy="411480"/>
          </a:xfrm>
          <a:prstGeom prst="rect">
            <a:avLst/>
          </a:prstGeom>
          <a:noFill/>
          <a:ln/>
        </p:spPr>
        <p:txBody>
          <a:bodyPr wrap="square" lIns="0" tIns="0" rIns="0" bIns="0" rtlCol="0" anchor="t"/>
          <a:lstStyle/>
          <a:p>
            <a:pPr indent="0" marL="0">
              <a:buNone/>
            </a:pPr>
            <a:r>
              <a:rPr lang="en-US" sz="1150" dirty="0">
                <a:solidFill>
                  <a:srgbClr val="BDBDBD"/>
                </a:solidFill>
                <a:latin typeface="Arial" pitchFamily="34" charset="0"/>
                <a:ea typeface="Arial" pitchFamily="34" charset="-122"/>
                <a:cs typeface="Arial" pitchFamily="34" charset="-120"/>
              </a:rPr>
              <a:t>Upper and lower limits on pressure and flow trigger alerts</a:t>
            </a:r>
            <a:endParaRPr lang="en-US" sz="1150" dirty="0"/>
          </a:p>
        </p:txBody>
      </p:sp>
      <p:sp>
        <p:nvSpPr>
          <p:cNvPr id="35" name="Shape 32"/>
          <p:cNvSpPr/>
          <p:nvPr/>
        </p:nvSpPr>
        <p:spPr>
          <a:xfrm>
            <a:off x="7269480" y="4690872"/>
            <a:ext cx="365760" cy="365760"/>
          </a:xfrm>
          <a:prstGeom prst="ellipse">
            <a:avLst/>
          </a:prstGeom>
          <a:solidFill>
            <a:srgbClr val="FCC30A"/>
          </a:solidFill>
          <a:ln w="12700">
            <a:solidFill>
              <a:srgbClr val="FCC30A"/>
            </a:solidFill>
            <a:prstDash val="solid"/>
          </a:ln>
        </p:spPr>
      </p:sp>
      <p:sp>
        <p:nvSpPr>
          <p:cNvPr id="36" name="Text 33"/>
          <p:cNvSpPr txBox="1"/>
          <p:nvPr/>
        </p:nvSpPr>
        <p:spPr>
          <a:xfrm>
            <a:off x="7269480" y="4690872"/>
            <a:ext cx="365760" cy="365760"/>
          </a:xfrm>
          <a:prstGeom prst="rect">
            <a:avLst/>
          </a:prstGeom>
          <a:noFill/>
          <a:ln/>
        </p:spPr>
        <p:txBody>
          <a:bodyPr wrap="square" lIns="0" tIns="0" rIns="0" bIns="0" rtlCol="0" anchor="ctr"/>
          <a:lstStyle/>
          <a:p>
            <a:pPr algn="ctr" indent="0" marL="0">
              <a:buNone/>
            </a:pPr>
            <a:r>
              <a:rPr lang="en-US" sz="1300" b="1" dirty="0">
                <a:solidFill>
                  <a:srgbClr val="1E1E1E"/>
                </a:solidFill>
                <a:latin typeface="Arial" pitchFamily="34" charset="0"/>
                <a:ea typeface="Arial" pitchFamily="34" charset="-122"/>
                <a:cs typeface="Arial" pitchFamily="34" charset="-120"/>
              </a:rPr>
              <a:t>5</a:t>
            </a:r>
            <a:endParaRPr lang="en-US" sz="1300" dirty="0"/>
          </a:p>
        </p:txBody>
      </p:sp>
      <p:sp>
        <p:nvSpPr>
          <p:cNvPr id="37" name="Text 34"/>
          <p:cNvSpPr txBox="1"/>
          <p:nvPr/>
        </p:nvSpPr>
        <p:spPr>
          <a:xfrm>
            <a:off x="7818120" y="4645152"/>
            <a:ext cx="3840480" cy="274320"/>
          </a:xfrm>
          <a:prstGeom prst="rect">
            <a:avLst/>
          </a:prstGeom>
          <a:noFill/>
          <a:ln/>
        </p:spPr>
        <p:txBody>
          <a:bodyPr wrap="square" lIns="0" tIns="0" rIns="0" bIns="0" rtlCol="0" anchor="ctr"/>
          <a:lstStyle/>
          <a:p>
            <a:pPr indent="0" marL="0">
              <a:buNone/>
            </a:pPr>
            <a:r>
              <a:rPr lang="en-US" sz="1400" b="1" dirty="0">
                <a:solidFill>
                  <a:srgbClr val="FFFFFF"/>
                </a:solidFill>
                <a:latin typeface="Arial" pitchFamily="34" charset="0"/>
                <a:ea typeface="Arial" pitchFamily="34" charset="-122"/>
                <a:cs typeface="Arial" pitchFamily="34" charset="-120"/>
              </a:rPr>
              <a:t>Digital pig logs</a:t>
            </a:r>
            <a:endParaRPr lang="en-US" sz="1400" dirty="0"/>
          </a:p>
        </p:txBody>
      </p:sp>
      <p:sp>
        <p:nvSpPr>
          <p:cNvPr id="38" name="Text 35"/>
          <p:cNvSpPr txBox="1"/>
          <p:nvPr/>
        </p:nvSpPr>
        <p:spPr>
          <a:xfrm>
            <a:off x="7818120" y="4919472"/>
            <a:ext cx="3840480" cy="411480"/>
          </a:xfrm>
          <a:prstGeom prst="rect">
            <a:avLst/>
          </a:prstGeom>
          <a:noFill/>
          <a:ln/>
        </p:spPr>
        <p:txBody>
          <a:bodyPr wrap="square" lIns="0" tIns="0" rIns="0" bIns="0" rtlCol="0" anchor="t"/>
          <a:lstStyle/>
          <a:p>
            <a:pPr indent="0" marL="0">
              <a:buNone/>
            </a:pPr>
            <a:r>
              <a:rPr lang="en-US" sz="1150" dirty="0">
                <a:solidFill>
                  <a:srgbClr val="BDBDBD"/>
                </a:solidFill>
                <a:latin typeface="Arial" pitchFamily="34" charset="0"/>
                <a:ea typeface="Arial" pitchFamily="34" charset="-122"/>
                <a:cs typeface="Arial" pitchFamily="34" charset="-120"/>
              </a:rPr>
              <a:t>Pass completion, pig run sheet and data sheet recorded automatically</a:t>
            </a:r>
            <a:endParaRPr lang="en-US" sz="1150" dirty="0"/>
          </a:p>
        </p:txBody>
      </p:sp>
      <p:sp>
        <p:nvSpPr>
          <p:cNvPr id="39" name="Shape 36"/>
          <p:cNvSpPr/>
          <p:nvPr/>
        </p:nvSpPr>
        <p:spPr>
          <a:xfrm>
            <a:off x="7269480" y="5422392"/>
            <a:ext cx="365760" cy="365760"/>
          </a:xfrm>
          <a:prstGeom prst="ellipse">
            <a:avLst/>
          </a:prstGeom>
          <a:solidFill>
            <a:srgbClr val="FCC30A"/>
          </a:solidFill>
          <a:ln w="12700">
            <a:solidFill>
              <a:srgbClr val="FCC30A"/>
            </a:solidFill>
            <a:prstDash val="solid"/>
          </a:ln>
        </p:spPr>
      </p:sp>
      <p:sp>
        <p:nvSpPr>
          <p:cNvPr id="40" name="Text 37"/>
          <p:cNvSpPr txBox="1"/>
          <p:nvPr/>
        </p:nvSpPr>
        <p:spPr>
          <a:xfrm>
            <a:off x="7269480" y="5422392"/>
            <a:ext cx="365760" cy="365760"/>
          </a:xfrm>
          <a:prstGeom prst="rect">
            <a:avLst/>
          </a:prstGeom>
          <a:noFill/>
          <a:ln/>
        </p:spPr>
        <p:txBody>
          <a:bodyPr wrap="square" lIns="0" tIns="0" rIns="0" bIns="0" rtlCol="0" anchor="ctr"/>
          <a:lstStyle/>
          <a:p>
            <a:pPr algn="ctr" indent="0" marL="0">
              <a:buNone/>
            </a:pPr>
            <a:r>
              <a:rPr lang="en-US" sz="1300" b="1" dirty="0">
                <a:solidFill>
                  <a:srgbClr val="1E1E1E"/>
                </a:solidFill>
                <a:latin typeface="Arial" pitchFamily="34" charset="0"/>
                <a:ea typeface="Arial" pitchFamily="34" charset="-122"/>
                <a:cs typeface="Arial" pitchFamily="34" charset="-120"/>
              </a:rPr>
              <a:t>6</a:t>
            </a:r>
            <a:endParaRPr lang="en-US" sz="1300" dirty="0"/>
          </a:p>
        </p:txBody>
      </p:sp>
      <p:sp>
        <p:nvSpPr>
          <p:cNvPr id="41" name="Text 38"/>
          <p:cNvSpPr txBox="1"/>
          <p:nvPr/>
        </p:nvSpPr>
        <p:spPr>
          <a:xfrm>
            <a:off x="7818120" y="5376672"/>
            <a:ext cx="3840480" cy="274320"/>
          </a:xfrm>
          <a:prstGeom prst="rect">
            <a:avLst/>
          </a:prstGeom>
          <a:noFill/>
          <a:ln/>
        </p:spPr>
        <p:txBody>
          <a:bodyPr wrap="square" lIns="0" tIns="0" rIns="0" bIns="0" rtlCol="0" anchor="ctr"/>
          <a:lstStyle/>
          <a:p>
            <a:pPr indent="0" marL="0">
              <a:buNone/>
            </a:pPr>
            <a:r>
              <a:rPr lang="en-US" sz="1400" b="1" dirty="0">
                <a:solidFill>
                  <a:srgbClr val="FFFFFF"/>
                </a:solidFill>
                <a:latin typeface="Arial" pitchFamily="34" charset="0"/>
                <a:ea typeface="Arial" pitchFamily="34" charset="-122"/>
                <a:cs typeface="Arial" pitchFamily="34" charset="-120"/>
              </a:rPr>
              <a:t>One station per pass</a:t>
            </a:r>
            <a:endParaRPr lang="en-US" sz="1400" dirty="0"/>
          </a:p>
        </p:txBody>
      </p:sp>
      <p:sp>
        <p:nvSpPr>
          <p:cNvPr id="42" name="Text 39"/>
          <p:cNvSpPr txBox="1"/>
          <p:nvPr/>
        </p:nvSpPr>
        <p:spPr>
          <a:xfrm>
            <a:off x="7818120" y="5650992"/>
            <a:ext cx="3840480" cy="411480"/>
          </a:xfrm>
          <a:prstGeom prst="rect">
            <a:avLst/>
          </a:prstGeom>
          <a:noFill/>
          <a:ln/>
        </p:spPr>
        <p:txBody>
          <a:bodyPr wrap="square" lIns="0" tIns="0" rIns="0" bIns="0" rtlCol="0" anchor="t"/>
          <a:lstStyle/>
          <a:p>
            <a:pPr indent="0" marL="0">
              <a:buNone/>
            </a:pPr>
            <a:r>
              <a:rPr lang="en-US" sz="1150" dirty="0">
                <a:solidFill>
                  <a:srgbClr val="BDBDBD"/>
                </a:solidFill>
                <a:latin typeface="Arial" pitchFamily="34" charset="0"/>
                <a:ea typeface="Arial" pitchFamily="34" charset="-122"/>
                <a:cs typeface="Arial" pitchFamily="34" charset="-120"/>
              </a:rPr>
              <a:t>Left, center and right stations run independently</a:t>
            </a:r>
            <a:endParaRPr lang="en-US" sz="1150" dirty="0"/>
          </a:p>
        </p:txBody>
      </p:sp>
      <p:sp>
        <p:nvSpPr>
          <p:cNvPr id="43" name="Text 40"/>
          <p:cNvSpPr txBox="1"/>
          <p:nvPr/>
        </p:nvSpPr>
        <p:spPr>
          <a:xfrm>
            <a:off x="548640" y="6419088"/>
            <a:ext cx="7315200" cy="228600"/>
          </a:xfrm>
          <a:prstGeom prst="rect">
            <a:avLst/>
          </a:prstGeom>
          <a:noFill/>
          <a:ln/>
        </p:spPr>
        <p:txBody>
          <a:bodyPr wrap="square" lIns="0" tIns="0" rIns="0" bIns="0" rtlCol="0" anchor="ctr"/>
          <a:lstStyle/>
          <a:p>
            <a:pPr indent="0" marL="0">
              <a:buNone/>
            </a:pPr>
            <a:r>
              <a:rPr lang="en-US" sz="900" dirty="0">
                <a:solidFill>
                  <a:srgbClr val="BDBDBD"/>
                </a:solidFill>
                <a:latin typeface="Arial" pitchFamily="34" charset="0"/>
                <a:ea typeface="Arial" pitchFamily="34" charset="-122"/>
                <a:cs typeface="Arial" pitchFamily="34" charset="-120"/>
              </a:rPr>
              <a:t>USA DeBusk  |  LAR Heater Pigging &amp; Decoking Services  |  DSP#26098</a:t>
            </a:r>
            <a:endParaRPr lang="en-US" sz="900" dirty="0"/>
          </a:p>
        </p:txBody>
      </p:sp>
      <p:sp>
        <p:nvSpPr>
          <p:cNvPr id="44" name="Text 41"/>
          <p:cNvSpPr txBox="1"/>
          <p:nvPr/>
        </p:nvSpPr>
        <p:spPr>
          <a:xfrm>
            <a:off x="11155680" y="6419088"/>
            <a:ext cx="484632" cy="228600"/>
          </a:xfrm>
          <a:prstGeom prst="rect">
            <a:avLst/>
          </a:prstGeom>
          <a:noFill/>
          <a:ln/>
        </p:spPr>
        <p:txBody>
          <a:bodyPr wrap="square" lIns="0" tIns="0" rIns="0" bIns="0" rtlCol="0" anchor="ctr"/>
          <a:lstStyle/>
          <a:p>
            <a:pPr algn="r" indent="0" marL="0">
              <a:buNone/>
            </a:pPr>
            <a:r>
              <a:rPr lang="en-US" sz="900" dirty="0">
                <a:solidFill>
                  <a:srgbClr val="BDBDBD"/>
                </a:solidFill>
                <a:latin typeface="Arial" pitchFamily="34" charset="0"/>
                <a:ea typeface="Arial" pitchFamily="34" charset="-122"/>
                <a:cs typeface="Arial" pitchFamily="34" charset="-120"/>
              </a:rPr>
              <a:t>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11480"/>
            <a:ext cx="3043714" cy="310896"/>
          </a:xfrm>
          <a:prstGeom prst="roundRect">
            <a:avLst>
              <a:gd name="adj" fmla="val 23529"/>
            </a:avLst>
          </a:prstGeom>
          <a:solidFill>
            <a:srgbClr val="FCC30A"/>
          </a:solidFill>
          <a:ln w="12700">
            <a:solidFill>
              <a:srgbClr val="FCC30A"/>
            </a:solidFill>
            <a:prstDash val="solid"/>
          </a:ln>
        </p:spPr>
      </p:sp>
      <p:sp>
        <p:nvSpPr>
          <p:cNvPr id="3" name="Text 1"/>
          <p:cNvSpPr txBox="1"/>
          <p:nvPr/>
        </p:nvSpPr>
        <p:spPr>
          <a:xfrm>
            <a:off x="548640" y="411480"/>
            <a:ext cx="3043714" cy="310896"/>
          </a:xfrm>
          <a:prstGeom prst="rect">
            <a:avLst/>
          </a:prstGeom>
          <a:noFill/>
          <a:ln/>
        </p:spPr>
        <p:txBody>
          <a:bodyPr wrap="square" lIns="0" tIns="0" rIns="0" bIns="0" rtlCol="0" anchor="ctr"/>
          <a:lstStyle/>
          <a:p>
            <a:pPr algn="ctr" indent="0" marL="0">
              <a:buNone/>
            </a:pPr>
            <a:r>
              <a:rPr lang="en-US" sz="1050" b="1" spc="150" kern="0" dirty="0">
                <a:solidFill>
                  <a:srgbClr val="1E1E1E"/>
                </a:solidFill>
                <a:latin typeface="Arial" pitchFamily="34" charset="0"/>
                <a:ea typeface="Arial" pitchFamily="34" charset="-122"/>
                <a:cs typeface="Arial" pitchFamily="34" charset="-120"/>
              </a:rPr>
              <a:t>04   EQUIPMENT &amp; TECHNOLOGY</a:t>
            </a:r>
            <a:endParaRPr lang="en-US" sz="1050" dirty="0"/>
          </a:p>
        </p:txBody>
      </p:sp>
      <p:sp>
        <p:nvSpPr>
          <p:cNvPr id="4" name="Text 2"/>
          <p:cNvSpPr txBox="1"/>
          <p:nvPr/>
        </p:nvSpPr>
        <p:spPr>
          <a:xfrm>
            <a:off x="548640" y="841248"/>
            <a:ext cx="11064240" cy="731520"/>
          </a:xfrm>
          <a:prstGeom prst="rect">
            <a:avLst/>
          </a:prstGeom>
          <a:noFill/>
          <a:ln/>
        </p:spPr>
        <p:txBody>
          <a:bodyPr wrap="square" lIns="0" tIns="0" rIns="0" bIns="0" rtlCol="0" anchor="t"/>
          <a:lstStyle/>
          <a:p>
            <a:pPr indent="0" marL="0">
              <a:buNone/>
            </a:pPr>
            <a:r>
              <a:rPr lang="en-US" sz="3200" b="1" dirty="0">
                <a:solidFill>
                  <a:srgbClr val="222222"/>
                </a:solidFill>
                <a:latin typeface="Arial" pitchFamily="34" charset="0"/>
                <a:ea typeface="Arial" pitchFamily="34" charset="-122"/>
                <a:cs typeface="Arial" pitchFamily="34" charset="-120"/>
              </a:rPr>
              <a:t>California-ready, CARB-registered fleet</a:t>
            </a:r>
            <a:endParaRPr lang="en-US" sz="3200" dirty="0"/>
          </a:p>
        </p:txBody>
      </p:sp>
      <p:sp>
        <p:nvSpPr>
          <p:cNvPr id="5" name="Text 3"/>
          <p:cNvSpPr txBox="1"/>
          <p:nvPr/>
        </p:nvSpPr>
        <p:spPr>
          <a:xfrm>
            <a:off x="548640" y="1481328"/>
            <a:ext cx="11064240" cy="365760"/>
          </a:xfrm>
          <a:prstGeom prst="rect">
            <a:avLst/>
          </a:prstGeom>
          <a:noFill/>
          <a:ln/>
        </p:spPr>
        <p:txBody>
          <a:bodyPr wrap="square" lIns="0" tIns="0" rIns="0" bIns="0" rtlCol="0" anchor="t"/>
          <a:lstStyle/>
          <a:p>
            <a:pPr indent="0" marL="0">
              <a:buNone/>
            </a:pPr>
            <a:r>
              <a:rPr lang="en-US" sz="1500" dirty="0">
                <a:solidFill>
                  <a:srgbClr val="5E5E5E"/>
                </a:solidFill>
                <a:latin typeface="Arial" pitchFamily="34" charset="0"/>
                <a:ea typeface="Arial" pitchFamily="34" charset="-122"/>
                <a:cs typeface="Arial" pitchFamily="34" charset="-120"/>
              </a:rPr>
              <a:t>CARB Statewide Portable Equipment Registration (PERP); certificates shown</a:t>
            </a:r>
            <a:endParaRPr lang="en-US" sz="1500" dirty="0"/>
          </a:p>
        </p:txBody>
      </p:sp>
      <p:sp>
        <p:nvSpPr>
          <p:cNvPr id="6" name="Text 4"/>
          <p:cNvSpPr txBox="1"/>
          <p:nvPr/>
        </p:nvSpPr>
        <p:spPr>
          <a:xfrm>
            <a:off x="548640" y="2103120"/>
            <a:ext cx="2834640" cy="731520"/>
          </a:xfrm>
          <a:prstGeom prst="rect">
            <a:avLst/>
          </a:prstGeom>
          <a:noFill/>
          <a:ln/>
        </p:spPr>
        <p:txBody>
          <a:bodyPr wrap="square" lIns="0" tIns="0" rIns="0" bIns="0" rtlCol="0" anchor="ctr"/>
          <a:lstStyle/>
          <a:p>
            <a:pPr indent="0" marL="0">
              <a:buNone/>
            </a:pPr>
            <a:r>
              <a:rPr lang="en-US" sz="4000" b="1" dirty="0">
                <a:solidFill>
                  <a:srgbClr val="222222"/>
                </a:solidFill>
                <a:latin typeface="Arial" pitchFamily="34" charset="0"/>
                <a:ea typeface="Arial" pitchFamily="34" charset="-122"/>
                <a:cs typeface="Arial" pitchFamily="34" charset="-120"/>
              </a:rPr>
              <a:t>6</a:t>
            </a:r>
            <a:endParaRPr lang="en-US" sz="4000" dirty="0"/>
          </a:p>
        </p:txBody>
      </p:sp>
      <p:sp>
        <p:nvSpPr>
          <p:cNvPr id="7" name="Text 5"/>
          <p:cNvSpPr txBox="1"/>
          <p:nvPr/>
        </p:nvSpPr>
        <p:spPr>
          <a:xfrm>
            <a:off x="548640" y="2834640"/>
            <a:ext cx="2834640" cy="365760"/>
          </a:xfrm>
          <a:prstGeom prst="rect">
            <a:avLst/>
          </a:prstGeom>
          <a:noFill/>
          <a:ln/>
        </p:spPr>
        <p:txBody>
          <a:bodyPr wrap="square" lIns="0" tIns="0" rIns="0" bIns="0" rtlCol="0" anchor="ctr"/>
          <a:lstStyle/>
          <a:p>
            <a:pPr indent="0" marL="0">
              <a:buNone/>
            </a:pPr>
            <a:r>
              <a:rPr lang="en-US" sz="1300" dirty="0">
                <a:solidFill>
                  <a:srgbClr val="5E5E5E"/>
                </a:solidFill>
                <a:latin typeface="Arial" pitchFamily="34" charset="0"/>
                <a:ea typeface="Arial" pitchFamily="34" charset="-122"/>
                <a:cs typeface="Arial" pitchFamily="34" charset="-120"/>
              </a:rPr>
              <a:t>identical TriMax units, SCAQMD-ready</a:t>
            </a:r>
            <a:endParaRPr lang="en-US" sz="1300" dirty="0"/>
          </a:p>
        </p:txBody>
      </p:sp>
      <p:sp>
        <p:nvSpPr>
          <p:cNvPr id="8" name="Text 6"/>
          <p:cNvSpPr txBox="1"/>
          <p:nvPr/>
        </p:nvSpPr>
        <p:spPr>
          <a:xfrm>
            <a:off x="3611880" y="2103120"/>
            <a:ext cx="2834640" cy="731520"/>
          </a:xfrm>
          <a:prstGeom prst="rect">
            <a:avLst/>
          </a:prstGeom>
          <a:noFill/>
          <a:ln/>
        </p:spPr>
        <p:txBody>
          <a:bodyPr wrap="square" lIns="0" tIns="0" rIns="0" bIns="0" rtlCol="0" anchor="ctr"/>
          <a:lstStyle/>
          <a:p>
            <a:pPr indent="0" marL="0">
              <a:buNone/>
            </a:pPr>
            <a:r>
              <a:rPr lang="en-US" sz="4000" b="1" dirty="0">
                <a:solidFill>
                  <a:srgbClr val="222222"/>
                </a:solidFill>
                <a:latin typeface="Arial" pitchFamily="34" charset="0"/>
                <a:ea typeface="Arial" pitchFamily="34" charset="-122"/>
                <a:cs typeface="Arial" pitchFamily="34" charset="-120"/>
              </a:rPr>
              <a:t>18</a:t>
            </a:r>
            <a:endParaRPr lang="en-US" sz="4000" dirty="0"/>
          </a:p>
        </p:txBody>
      </p:sp>
      <p:sp>
        <p:nvSpPr>
          <p:cNvPr id="9" name="Text 7"/>
          <p:cNvSpPr txBox="1"/>
          <p:nvPr/>
        </p:nvSpPr>
        <p:spPr>
          <a:xfrm>
            <a:off x="3611880" y="2834640"/>
            <a:ext cx="2834640" cy="365760"/>
          </a:xfrm>
          <a:prstGeom prst="rect">
            <a:avLst/>
          </a:prstGeom>
          <a:noFill/>
          <a:ln/>
        </p:spPr>
        <p:txBody>
          <a:bodyPr wrap="square" lIns="0" tIns="0" rIns="0" bIns="0" rtlCol="0" anchor="ctr"/>
          <a:lstStyle/>
          <a:p>
            <a:pPr indent="0" marL="0">
              <a:buNone/>
            </a:pPr>
            <a:r>
              <a:rPr lang="en-US" sz="1300" dirty="0">
                <a:solidFill>
                  <a:srgbClr val="5E5E5E"/>
                </a:solidFill>
                <a:latin typeface="Arial" pitchFamily="34" charset="0"/>
                <a:ea typeface="Arial" pitchFamily="34" charset="-122"/>
                <a:cs typeface="Arial" pitchFamily="34" charset="-120"/>
              </a:rPr>
              <a:t>registered pumping engines</a:t>
            </a:r>
            <a:endParaRPr lang="en-US" sz="1300" dirty="0"/>
          </a:p>
        </p:txBody>
      </p:sp>
      <p:sp>
        <p:nvSpPr>
          <p:cNvPr id="10" name="Text 8"/>
          <p:cNvSpPr txBox="1"/>
          <p:nvPr/>
        </p:nvSpPr>
        <p:spPr>
          <a:xfrm>
            <a:off x="548640" y="3520440"/>
            <a:ext cx="2834640" cy="731520"/>
          </a:xfrm>
          <a:prstGeom prst="rect">
            <a:avLst/>
          </a:prstGeom>
          <a:noFill/>
          <a:ln/>
        </p:spPr>
        <p:txBody>
          <a:bodyPr wrap="square" lIns="0" tIns="0" rIns="0" bIns="0" rtlCol="0" anchor="ctr"/>
          <a:lstStyle/>
          <a:p>
            <a:pPr indent="0" marL="0">
              <a:buNone/>
            </a:pPr>
            <a:r>
              <a:rPr lang="en-US" sz="4000" b="1" dirty="0">
                <a:solidFill>
                  <a:srgbClr val="222222"/>
                </a:solidFill>
                <a:latin typeface="Arial" pitchFamily="34" charset="0"/>
                <a:ea typeface="Arial" pitchFamily="34" charset="-122"/>
                <a:cs typeface="Arial" pitchFamily="34" charset="-120"/>
              </a:rPr>
              <a:t>Tier 4</a:t>
            </a:r>
            <a:endParaRPr lang="en-US" sz="4000" dirty="0"/>
          </a:p>
        </p:txBody>
      </p:sp>
      <p:sp>
        <p:nvSpPr>
          <p:cNvPr id="11" name="Text 9"/>
          <p:cNvSpPr txBox="1"/>
          <p:nvPr/>
        </p:nvSpPr>
        <p:spPr>
          <a:xfrm>
            <a:off x="548640" y="4251960"/>
            <a:ext cx="2834640" cy="365760"/>
          </a:xfrm>
          <a:prstGeom prst="rect">
            <a:avLst/>
          </a:prstGeom>
          <a:noFill/>
          <a:ln/>
        </p:spPr>
        <p:txBody>
          <a:bodyPr wrap="square" lIns="0" tIns="0" rIns="0" bIns="0" rtlCol="0" anchor="ctr"/>
          <a:lstStyle/>
          <a:p>
            <a:pPr indent="0" marL="0">
              <a:buNone/>
            </a:pPr>
            <a:r>
              <a:rPr lang="en-US" sz="1300" dirty="0">
                <a:solidFill>
                  <a:srgbClr val="5E5E5E"/>
                </a:solidFill>
                <a:latin typeface="Arial" pitchFamily="34" charset="0"/>
                <a:ea typeface="Arial" pitchFamily="34" charset="-122"/>
                <a:cs typeface="Arial" pitchFamily="34" charset="-120"/>
              </a:rPr>
              <a:t>engines (blue placard)</a:t>
            </a:r>
            <a:endParaRPr lang="en-US" sz="1300" dirty="0"/>
          </a:p>
        </p:txBody>
      </p:sp>
      <p:sp>
        <p:nvSpPr>
          <p:cNvPr id="12" name="Text 10"/>
          <p:cNvSpPr txBox="1"/>
          <p:nvPr/>
        </p:nvSpPr>
        <p:spPr>
          <a:xfrm>
            <a:off x="3611880" y="3520440"/>
            <a:ext cx="2834640" cy="731520"/>
          </a:xfrm>
          <a:prstGeom prst="rect">
            <a:avLst/>
          </a:prstGeom>
          <a:noFill/>
          <a:ln/>
        </p:spPr>
        <p:txBody>
          <a:bodyPr wrap="square" lIns="0" tIns="0" rIns="0" bIns="0" rtlCol="0" anchor="ctr"/>
          <a:lstStyle/>
          <a:p>
            <a:pPr indent="0" marL="0">
              <a:buNone/>
            </a:pPr>
            <a:r>
              <a:rPr lang="en-US" sz="4000" b="1" dirty="0">
                <a:solidFill>
                  <a:srgbClr val="222222"/>
                </a:solidFill>
                <a:latin typeface="Arial" pitchFamily="34" charset="0"/>
                <a:ea typeface="Arial" pitchFamily="34" charset="-122"/>
                <a:cs typeface="Arial" pitchFamily="34" charset="-120"/>
              </a:rPr>
              <a:t>0.015</a:t>
            </a:r>
            <a:endParaRPr lang="en-US" sz="4000" dirty="0"/>
          </a:p>
        </p:txBody>
      </p:sp>
      <p:sp>
        <p:nvSpPr>
          <p:cNvPr id="13" name="Text 11"/>
          <p:cNvSpPr txBox="1"/>
          <p:nvPr/>
        </p:nvSpPr>
        <p:spPr>
          <a:xfrm>
            <a:off x="3611880" y="4251960"/>
            <a:ext cx="2834640" cy="365760"/>
          </a:xfrm>
          <a:prstGeom prst="rect">
            <a:avLst/>
          </a:prstGeom>
          <a:noFill/>
          <a:ln/>
        </p:spPr>
        <p:txBody>
          <a:bodyPr wrap="square" lIns="0" tIns="0" rIns="0" bIns="0" rtlCol="0" anchor="ctr"/>
          <a:lstStyle/>
          <a:p>
            <a:pPr indent="0" marL="0">
              <a:buNone/>
            </a:pPr>
            <a:r>
              <a:rPr lang="en-US" sz="1300" dirty="0">
                <a:solidFill>
                  <a:srgbClr val="5E5E5E"/>
                </a:solidFill>
                <a:latin typeface="Arial" pitchFamily="34" charset="0"/>
                <a:ea typeface="Arial" pitchFamily="34" charset="-122"/>
                <a:cs typeface="Arial" pitchFamily="34" charset="-120"/>
              </a:rPr>
              <a:t>g/bhp-hr diesel PM emission factor</a:t>
            </a:r>
            <a:endParaRPr lang="en-US" sz="1300" dirty="0"/>
          </a:p>
        </p:txBody>
      </p:sp>
      <p:pic>
        <p:nvPicPr>
          <p:cNvPr id="14" name="Image 0" descr="/tmp/claude-0/-home-user-obsidian-work/c8998718-f22f-57a3-84c2-766db1d92b4c/scratchpad/deck/img/cert_t1.png">    </p:cNvPr>
          <p:cNvPicPr>
            <a:picLocks noChangeAspect="1"/>
          </p:cNvPicPr>
          <p:nvPr/>
        </p:nvPicPr>
        <p:blipFill>
          <a:blip r:embed="rId1"/>
          <a:stretch>
            <a:fillRect/>
          </a:stretch>
        </p:blipFill>
        <p:spPr>
          <a:xfrm>
            <a:off x="6720840" y="1920240"/>
            <a:ext cx="1554480" cy="2020824"/>
          </a:xfrm>
          <a:prstGeom prst="rect">
            <a:avLst/>
          </a:prstGeom>
          <a:effectLst>
            <a:outerShdw sx="100000" sy="100000" kx="0" ky="0" algn="bl" rotWithShape="0" blurRad="101600" dist="25400" dir="5400000">
              <a:srgbClr val="000000">
                <a:alpha val="12000"/>
              </a:srgbClr>
            </a:outerShdw>
          </a:effectLst>
        </p:spPr>
      </p:pic>
      <p:sp>
        <p:nvSpPr>
          <p:cNvPr id="15" name="Text 12"/>
          <p:cNvSpPr txBox="1"/>
          <p:nvPr/>
        </p:nvSpPr>
        <p:spPr>
          <a:xfrm>
            <a:off x="6720840" y="4023360"/>
            <a:ext cx="1554480" cy="274320"/>
          </a:xfrm>
          <a:prstGeom prst="rect">
            <a:avLst/>
          </a:prstGeom>
          <a:noFill/>
          <a:ln/>
        </p:spPr>
        <p:txBody>
          <a:bodyPr wrap="square" lIns="0" tIns="0" rIns="0" bIns="0" rtlCol="0" anchor="ctr"/>
          <a:lstStyle/>
          <a:p>
            <a:pPr algn="ctr" indent="0" marL="0">
              <a:buNone/>
            </a:pPr>
            <a:r>
              <a:rPr lang="en-US" sz="1100" b="1" dirty="0">
                <a:solidFill>
                  <a:srgbClr val="222222"/>
                </a:solidFill>
                <a:latin typeface="Arial" pitchFamily="34" charset="0"/>
                <a:ea typeface="Arial" pitchFamily="34" charset="-122"/>
                <a:cs typeface="Arial" pitchFamily="34" charset="-120"/>
              </a:rPr>
              <a:t>TriMax 1</a:t>
            </a:r>
            <a:endParaRPr lang="en-US" sz="1100" dirty="0"/>
          </a:p>
        </p:txBody>
      </p:sp>
      <p:pic>
        <p:nvPicPr>
          <p:cNvPr id="16" name="Image 1" descr="/tmp/claude-0/-home-user-obsidian-work/c8998718-f22f-57a3-84c2-766db1d92b4c/scratchpad/deck/img/cert_t2.png">    </p:cNvPr>
          <p:cNvPicPr>
            <a:picLocks noChangeAspect="1"/>
          </p:cNvPicPr>
          <p:nvPr/>
        </p:nvPicPr>
        <p:blipFill>
          <a:blip r:embed="rId2"/>
          <a:stretch>
            <a:fillRect/>
          </a:stretch>
        </p:blipFill>
        <p:spPr>
          <a:xfrm>
            <a:off x="8412480" y="1920240"/>
            <a:ext cx="1554480" cy="2020824"/>
          </a:xfrm>
          <a:prstGeom prst="rect">
            <a:avLst/>
          </a:prstGeom>
          <a:effectLst>
            <a:outerShdw sx="100000" sy="100000" kx="0" ky="0" algn="bl" rotWithShape="0" blurRad="101600" dist="25400" dir="5400000">
              <a:srgbClr val="000000">
                <a:alpha val="12000"/>
              </a:srgbClr>
            </a:outerShdw>
          </a:effectLst>
        </p:spPr>
      </p:pic>
      <p:sp>
        <p:nvSpPr>
          <p:cNvPr id="17" name="Text 13"/>
          <p:cNvSpPr txBox="1"/>
          <p:nvPr/>
        </p:nvSpPr>
        <p:spPr>
          <a:xfrm>
            <a:off x="8412480" y="4023360"/>
            <a:ext cx="1554480" cy="274320"/>
          </a:xfrm>
          <a:prstGeom prst="rect">
            <a:avLst/>
          </a:prstGeom>
          <a:noFill/>
          <a:ln/>
        </p:spPr>
        <p:txBody>
          <a:bodyPr wrap="square" lIns="0" tIns="0" rIns="0" bIns="0" rtlCol="0" anchor="ctr"/>
          <a:lstStyle/>
          <a:p>
            <a:pPr algn="ctr" indent="0" marL="0">
              <a:buNone/>
            </a:pPr>
            <a:r>
              <a:rPr lang="en-US" sz="1100" b="1" dirty="0">
                <a:solidFill>
                  <a:srgbClr val="222222"/>
                </a:solidFill>
                <a:latin typeface="Arial" pitchFamily="34" charset="0"/>
                <a:ea typeface="Arial" pitchFamily="34" charset="-122"/>
                <a:cs typeface="Arial" pitchFamily="34" charset="-120"/>
              </a:rPr>
              <a:t>TriMax 2</a:t>
            </a:r>
            <a:endParaRPr lang="en-US" sz="1100" dirty="0"/>
          </a:p>
        </p:txBody>
      </p:sp>
      <p:pic>
        <p:nvPicPr>
          <p:cNvPr id="18" name="Image 2" descr="/tmp/claude-0/-home-user-obsidian-work/c8998718-f22f-57a3-84c2-766db1d92b4c/scratchpad/deck/img/cert_t6.png">    </p:cNvPr>
          <p:cNvPicPr>
            <a:picLocks noChangeAspect="1"/>
          </p:cNvPicPr>
          <p:nvPr/>
        </p:nvPicPr>
        <p:blipFill>
          <a:blip r:embed="rId3"/>
          <a:stretch>
            <a:fillRect/>
          </a:stretch>
        </p:blipFill>
        <p:spPr>
          <a:xfrm>
            <a:off x="10104120" y="1920240"/>
            <a:ext cx="1554480" cy="2020824"/>
          </a:xfrm>
          <a:prstGeom prst="rect">
            <a:avLst/>
          </a:prstGeom>
          <a:effectLst>
            <a:outerShdw sx="100000" sy="100000" kx="0" ky="0" algn="bl" rotWithShape="0" blurRad="101600" dist="25400" dir="5400000">
              <a:srgbClr val="000000">
                <a:alpha val="12000"/>
              </a:srgbClr>
            </a:outerShdw>
          </a:effectLst>
        </p:spPr>
      </p:pic>
      <p:sp>
        <p:nvSpPr>
          <p:cNvPr id="19" name="Text 14"/>
          <p:cNvSpPr txBox="1"/>
          <p:nvPr/>
        </p:nvSpPr>
        <p:spPr>
          <a:xfrm>
            <a:off x="10104120" y="4023360"/>
            <a:ext cx="1554480" cy="274320"/>
          </a:xfrm>
          <a:prstGeom prst="rect">
            <a:avLst/>
          </a:prstGeom>
          <a:noFill/>
          <a:ln/>
        </p:spPr>
        <p:txBody>
          <a:bodyPr wrap="square" lIns="0" tIns="0" rIns="0" bIns="0" rtlCol="0" anchor="ctr"/>
          <a:lstStyle/>
          <a:p>
            <a:pPr algn="ctr" indent="0" marL="0">
              <a:buNone/>
            </a:pPr>
            <a:r>
              <a:rPr lang="en-US" sz="1100" b="1" dirty="0">
                <a:solidFill>
                  <a:srgbClr val="222222"/>
                </a:solidFill>
                <a:latin typeface="Arial" pitchFamily="34" charset="0"/>
                <a:ea typeface="Arial" pitchFamily="34" charset="-122"/>
                <a:cs typeface="Arial" pitchFamily="34" charset="-120"/>
              </a:rPr>
              <a:t>TriMax 6</a:t>
            </a:r>
            <a:endParaRPr lang="en-US" sz="1100" dirty="0"/>
          </a:p>
        </p:txBody>
      </p:sp>
      <p:sp>
        <p:nvSpPr>
          <p:cNvPr id="20" name="Text 15"/>
          <p:cNvSpPr txBox="1"/>
          <p:nvPr/>
        </p:nvSpPr>
        <p:spPr>
          <a:xfrm>
            <a:off x="6720840" y="4526280"/>
            <a:ext cx="4937760" cy="274320"/>
          </a:xfrm>
          <a:prstGeom prst="rect">
            <a:avLst/>
          </a:prstGeom>
          <a:noFill/>
          <a:ln/>
        </p:spPr>
        <p:txBody>
          <a:bodyPr wrap="square" lIns="0" tIns="0" rIns="0" bIns="0" rtlCol="0" anchor="ctr"/>
          <a:lstStyle/>
          <a:p>
            <a:pPr algn="ctr" indent="0" marL="0">
              <a:buNone/>
            </a:pPr>
            <a:r>
              <a:rPr lang="en-US" sz="1000" i="1" dirty="0">
                <a:solidFill>
                  <a:srgbClr val="8A8A8A"/>
                </a:solidFill>
                <a:latin typeface="Arial" pitchFamily="34" charset="0"/>
                <a:ea typeface="Arial" pitchFamily="34" charset="-122"/>
                <a:cs typeface="Arial" pitchFamily="34" charset="-120"/>
              </a:rPr>
              <a:t>CARB PERP registration certificates</a:t>
            </a:r>
            <a:endParaRPr lang="en-US" sz="1000" dirty="0"/>
          </a:p>
        </p:txBody>
      </p:sp>
      <p:sp>
        <p:nvSpPr>
          <p:cNvPr id="21" name="Shape 16"/>
          <p:cNvSpPr/>
          <p:nvPr/>
        </p:nvSpPr>
        <p:spPr>
          <a:xfrm>
            <a:off x="548640" y="4983480"/>
            <a:ext cx="11091672" cy="1188720"/>
          </a:xfrm>
          <a:prstGeom prst="rect">
            <a:avLst/>
          </a:prstGeom>
          <a:solidFill>
            <a:srgbClr val="F4F4F4"/>
          </a:solidFill>
          <a:ln w="12700">
            <a:solidFill>
              <a:srgbClr val="F4F4F4"/>
            </a:solidFill>
            <a:prstDash val="solid"/>
          </a:ln>
        </p:spPr>
      </p:sp>
      <p:sp>
        <p:nvSpPr>
          <p:cNvPr id="22" name="Shape 17"/>
          <p:cNvSpPr/>
          <p:nvPr/>
        </p:nvSpPr>
        <p:spPr>
          <a:xfrm>
            <a:off x="777240" y="5239512"/>
            <a:ext cx="658368" cy="658368"/>
          </a:xfrm>
          <a:prstGeom prst="ellipse">
            <a:avLst/>
          </a:prstGeom>
          <a:solidFill>
            <a:srgbClr val="1E1E1E"/>
          </a:solidFill>
          <a:ln w="12700">
            <a:solidFill>
              <a:srgbClr val="1E1E1E"/>
            </a:solidFill>
            <a:prstDash val="solid"/>
          </a:ln>
        </p:spPr>
      </p:sp>
      <p:pic>
        <p:nvPicPr>
          <p:cNvPr id="23" name="Image 3" descr="preencoded.png">    </p:cNvPr>
          <p:cNvPicPr>
            <a:picLocks noChangeAspect="1"/>
          </p:cNvPicPr>
          <p:nvPr/>
        </p:nvPicPr>
        <p:blipFill>
          <a:blip r:embed="rId4"/>
          <a:stretch>
            <a:fillRect/>
          </a:stretch>
        </p:blipFill>
        <p:spPr>
          <a:xfrm>
            <a:off x="941832" y="5404104"/>
            <a:ext cx="329184" cy="329184"/>
          </a:xfrm>
          <a:prstGeom prst="rect">
            <a:avLst/>
          </a:prstGeom>
        </p:spPr>
      </p:pic>
      <p:sp>
        <p:nvSpPr>
          <p:cNvPr id="24" name="Text 18"/>
          <p:cNvSpPr txBox="1"/>
          <p:nvPr/>
        </p:nvSpPr>
        <p:spPr>
          <a:xfrm>
            <a:off x="1527048" y="5193792"/>
            <a:ext cx="1261872" cy="749808"/>
          </a:xfrm>
          <a:prstGeom prst="rect">
            <a:avLst/>
          </a:prstGeom>
          <a:noFill/>
          <a:ln/>
        </p:spPr>
        <p:txBody>
          <a:bodyPr wrap="square" lIns="0" tIns="0" rIns="0" bIns="0" rtlCol="0" anchor="ctr"/>
          <a:lstStyle/>
          <a:p>
            <a:pPr indent="0" marL="0">
              <a:buNone/>
            </a:pPr>
            <a:r>
              <a:rPr lang="en-US" sz="1150" dirty="0">
                <a:solidFill>
                  <a:srgbClr val="222222"/>
                </a:solidFill>
                <a:latin typeface="Arial" pitchFamily="34" charset="0"/>
                <a:ea typeface="Arial" pitchFamily="34" charset="-122"/>
                <a:cs typeface="Arial" pitchFamily="34" charset="-120"/>
              </a:rPr>
              <a:t>Support unit</a:t>
            </a:r>
            <a:endParaRPr lang="en-US" sz="1150" dirty="0"/>
          </a:p>
        </p:txBody>
      </p:sp>
      <p:sp>
        <p:nvSpPr>
          <p:cNvPr id="25" name="Shape 19"/>
          <p:cNvSpPr/>
          <p:nvPr/>
        </p:nvSpPr>
        <p:spPr>
          <a:xfrm>
            <a:off x="2971800" y="5239512"/>
            <a:ext cx="658368" cy="658368"/>
          </a:xfrm>
          <a:prstGeom prst="ellipse">
            <a:avLst/>
          </a:prstGeom>
          <a:solidFill>
            <a:srgbClr val="1E1E1E"/>
          </a:solidFill>
          <a:ln w="12700">
            <a:solidFill>
              <a:srgbClr val="1E1E1E"/>
            </a:solidFill>
            <a:prstDash val="solid"/>
          </a:ln>
        </p:spPr>
      </p:sp>
      <p:pic>
        <p:nvPicPr>
          <p:cNvPr id="26" name="Image 4" descr="preencoded.png">    </p:cNvPr>
          <p:cNvPicPr>
            <a:picLocks noChangeAspect="1"/>
          </p:cNvPicPr>
          <p:nvPr/>
        </p:nvPicPr>
        <p:blipFill>
          <a:blip r:embed="rId5"/>
          <a:stretch>
            <a:fillRect/>
          </a:stretch>
        </p:blipFill>
        <p:spPr>
          <a:xfrm>
            <a:off x="3136392" y="5404104"/>
            <a:ext cx="329184" cy="329184"/>
          </a:xfrm>
          <a:prstGeom prst="rect">
            <a:avLst/>
          </a:prstGeom>
        </p:spPr>
      </p:pic>
      <p:sp>
        <p:nvSpPr>
          <p:cNvPr id="27" name="Text 20"/>
          <p:cNvSpPr txBox="1"/>
          <p:nvPr/>
        </p:nvSpPr>
        <p:spPr>
          <a:xfrm>
            <a:off x="3721608" y="5193792"/>
            <a:ext cx="1261872" cy="749808"/>
          </a:xfrm>
          <a:prstGeom prst="rect">
            <a:avLst/>
          </a:prstGeom>
          <a:noFill/>
          <a:ln/>
        </p:spPr>
        <p:txBody>
          <a:bodyPr wrap="square" lIns="0" tIns="0" rIns="0" bIns="0" rtlCol="0" anchor="ctr"/>
          <a:lstStyle/>
          <a:p>
            <a:pPr indent="0" marL="0">
              <a:buNone/>
            </a:pPr>
            <a:r>
              <a:rPr lang="en-US" sz="1150" dirty="0">
                <a:solidFill>
                  <a:srgbClr val="222222"/>
                </a:solidFill>
                <a:latin typeface="Arial" pitchFamily="34" charset="0"/>
                <a:ea typeface="Arial" pitchFamily="34" charset="-122"/>
                <a:cs typeface="Arial" pitchFamily="34" charset="-120"/>
              </a:rPr>
              <a:t>300# launchers &amp; receivers</a:t>
            </a:r>
            <a:endParaRPr lang="en-US" sz="1150" dirty="0"/>
          </a:p>
        </p:txBody>
      </p:sp>
      <p:sp>
        <p:nvSpPr>
          <p:cNvPr id="28" name="Shape 21"/>
          <p:cNvSpPr/>
          <p:nvPr/>
        </p:nvSpPr>
        <p:spPr>
          <a:xfrm>
            <a:off x="5166360" y="5239512"/>
            <a:ext cx="658368" cy="658368"/>
          </a:xfrm>
          <a:prstGeom prst="ellipse">
            <a:avLst/>
          </a:prstGeom>
          <a:solidFill>
            <a:srgbClr val="1E1E1E"/>
          </a:solidFill>
          <a:ln w="12700">
            <a:solidFill>
              <a:srgbClr val="1E1E1E"/>
            </a:solidFill>
            <a:prstDash val="solid"/>
          </a:ln>
        </p:spPr>
      </p:sp>
      <p:pic>
        <p:nvPicPr>
          <p:cNvPr id="29" name="Image 5" descr="preencoded.png">    </p:cNvPr>
          <p:cNvPicPr>
            <a:picLocks noChangeAspect="1"/>
          </p:cNvPicPr>
          <p:nvPr/>
        </p:nvPicPr>
        <p:blipFill>
          <a:blip r:embed="rId6"/>
          <a:stretch>
            <a:fillRect/>
          </a:stretch>
        </p:blipFill>
        <p:spPr>
          <a:xfrm>
            <a:off x="5330952" y="5404104"/>
            <a:ext cx="329184" cy="329184"/>
          </a:xfrm>
          <a:prstGeom prst="rect">
            <a:avLst/>
          </a:prstGeom>
        </p:spPr>
      </p:pic>
      <p:sp>
        <p:nvSpPr>
          <p:cNvPr id="30" name="Text 22"/>
          <p:cNvSpPr txBox="1"/>
          <p:nvPr/>
        </p:nvSpPr>
        <p:spPr>
          <a:xfrm>
            <a:off x="5916168" y="5193792"/>
            <a:ext cx="1261872" cy="749808"/>
          </a:xfrm>
          <a:prstGeom prst="rect">
            <a:avLst/>
          </a:prstGeom>
          <a:noFill/>
          <a:ln/>
        </p:spPr>
        <p:txBody>
          <a:bodyPr wrap="square" lIns="0" tIns="0" rIns="0" bIns="0" rtlCol="0" anchor="ctr"/>
          <a:lstStyle/>
          <a:p>
            <a:pPr indent="0" marL="0">
              <a:buNone/>
            </a:pPr>
            <a:r>
              <a:rPr lang="en-US" sz="1150" dirty="0">
                <a:solidFill>
                  <a:srgbClr val="222222"/>
                </a:solidFill>
                <a:latin typeface="Arial" pitchFamily="34" charset="0"/>
                <a:ea typeface="Arial" pitchFamily="34" charset="-122"/>
                <a:cs typeface="Arial" pitchFamily="34" charset="-120"/>
              </a:rPr>
              <a:t>Tested &amp; certified hard and flex pipe</a:t>
            </a:r>
            <a:endParaRPr lang="en-US" sz="1150" dirty="0"/>
          </a:p>
        </p:txBody>
      </p:sp>
      <p:sp>
        <p:nvSpPr>
          <p:cNvPr id="31" name="Shape 23"/>
          <p:cNvSpPr/>
          <p:nvPr/>
        </p:nvSpPr>
        <p:spPr>
          <a:xfrm>
            <a:off x="7360920" y="5239512"/>
            <a:ext cx="658368" cy="658368"/>
          </a:xfrm>
          <a:prstGeom prst="ellipse">
            <a:avLst/>
          </a:prstGeom>
          <a:solidFill>
            <a:srgbClr val="1E1E1E"/>
          </a:solidFill>
          <a:ln w="12700">
            <a:solidFill>
              <a:srgbClr val="1E1E1E"/>
            </a:solidFill>
            <a:prstDash val="solid"/>
          </a:ln>
        </p:spPr>
      </p:sp>
      <p:pic>
        <p:nvPicPr>
          <p:cNvPr id="32" name="Image 6" descr="preencoded.png">    </p:cNvPr>
          <p:cNvPicPr>
            <a:picLocks noChangeAspect="1"/>
          </p:cNvPicPr>
          <p:nvPr/>
        </p:nvPicPr>
        <p:blipFill>
          <a:blip r:embed="rId7"/>
          <a:stretch>
            <a:fillRect/>
          </a:stretch>
        </p:blipFill>
        <p:spPr>
          <a:xfrm>
            <a:off x="7525512" y="5404104"/>
            <a:ext cx="329184" cy="329184"/>
          </a:xfrm>
          <a:prstGeom prst="rect">
            <a:avLst/>
          </a:prstGeom>
        </p:spPr>
      </p:pic>
      <p:sp>
        <p:nvSpPr>
          <p:cNvPr id="33" name="Text 24"/>
          <p:cNvSpPr txBox="1"/>
          <p:nvPr/>
        </p:nvSpPr>
        <p:spPr>
          <a:xfrm>
            <a:off x="8110728" y="5193792"/>
            <a:ext cx="1261872" cy="749808"/>
          </a:xfrm>
          <a:prstGeom prst="rect">
            <a:avLst/>
          </a:prstGeom>
          <a:noFill/>
          <a:ln/>
        </p:spPr>
        <p:txBody>
          <a:bodyPr wrap="square" lIns="0" tIns="0" rIns="0" bIns="0" rtlCol="0" anchor="ctr"/>
          <a:lstStyle/>
          <a:p>
            <a:pPr indent="0" marL="0">
              <a:buNone/>
            </a:pPr>
            <a:r>
              <a:rPr lang="en-US" sz="1150" dirty="0">
                <a:solidFill>
                  <a:srgbClr val="222222"/>
                </a:solidFill>
                <a:latin typeface="Arial" pitchFamily="34" charset="0"/>
                <a:ea typeface="Arial" pitchFamily="34" charset="-122"/>
                <a:cs typeface="Arial" pitchFamily="34" charset="-120"/>
              </a:rPr>
              <a:t>All pigs &amp; foam swabs</a:t>
            </a:r>
            <a:endParaRPr lang="en-US" sz="1150" dirty="0"/>
          </a:p>
        </p:txBody>
      </p:sp>
      <p:sp>
        <p:nvSpPr>
          <p:cNvPr id="34" name="Shape 25"/>
          <p:cNvSpPr/>
          <p:nvPr/>
        </p:nvSpPr>
        <p:spPr>
          <a:xfrm>
            <a:off x="9555480" y="5239512"/>
            <a:ext cx="658368" cy="658368"/>
          </a:xfrm>
          <a:prstGeom prst="ellipse">
            <a:avLst/>
          </a:prstGeom>
          <a:solidFill>
            <a:srgbClr val="1E1E1E"/>
          </a:solidFill>
          <a:ln w="12700">
            <a:solidFill>
              <a:srgbClr val="1E1E1E"/>
            </a:solidFill>
            <a:prstDash val="solid"/>
          </a:ln>
        </p:spPr>
      </p:sp>
      <p:pic>
        <p:nvPicPr>
          <p:cNvPr id="35" name="Image 7" descr="preencoded.png">    </p:cNvPr>
          <p:cNvPicPr>
            <a:picLocks noChangeAspect="1"/>
          </p:cNvPicPr>
          <p:nvPr/>
        </p:nvPicPr>
        <p:blipFill>
          <a:blip r:embed="rId8"/>
          <a:stretch>
            <a:fillRect/>
          </a:stretch>
        </p:blipFill>
        <p:spPr>
          <a:xfrm>
            <a:off x="9720072" y="5404104"/>
            <a:ext cx="329184" cy="329184"/>
          </a:xfrm>
          <a:prstGeom prst="rect">
            <a:avLst/>
          </a:prstGeom>
        </p:spPr>
      </p:pic>
      <p:sp>
        <p:nvSpPr>
          <p:cNvPr id="36" name="Text 26"/>
          <p:cNvSpPr txBox="1"/>
          <p:nvPr/>
        </p:nvSpPr>
        <p:spPr>
          <a:xfrm>
            <a:off x="10305288" y="5193792"/>
            <a:ext cx="1261872" cy="749808"/>
          </a:xfrm>
          <a:prstGeom prst="rect">
            <a:avLst/>
          </a:prstGeom>
          <a:noFill/>
          <a:ln/>
        </p:spPr>
        <p:txBody>
          <a:bodyPr wrap="square" lIns="0" tIns="0" rIns="0" bIns="0" rtlCol="0" anchor="ctr"/>
          <a:lstStyle/>
          <a:p>
            <a:pPr indent="0" marL="0">
              <a:buNone/>
            </a:pPr>
            <a:r>
              <a:rPr lang="en-US" sz="1150" dirty="0">
                <a:solidFill>
                  <a:srgbClr val="222222"/>
                </a:solidFill>
                <a:latin typeface="Arial" pitchFamily="34" charset="0"/>
                <a:ea typeface="Arial" pitchFamily="34" charset="-122"/>
                <a:cs typeface="Arial" pitchFamily="34" charset="-120"/>
              </a:rPr>
              <a:t>Optional: closed-loop filtration</a:t>
            </a:r>
            <a:endParaRPr lang="en-US" sz="1150" dirty="0"/>
          </a:p>
        </p:txBody>
      </p:sp>
      <p:sp>
        <p:nvSpPr>
          <p:cNvPr id="37" name="Text 27"/>
          <p:cNvSpPr txBox="1"/>
          <p:nvPr/>
        </p:nvSpPr>
        <p:spPr>
          <a:xfrm>
            <a:off x="548640" y="6419088"/>
            <a:ext cx="7315200" cy="228600"/>
          </a:xfrm>
          <a:prstGeom prst="rect">
            <a:avLst/>
          </a:prstGeom>
          <a:noFill/>
          <a:ln/>
        </p:spPr>
        <p:txBody>
          <a:bodyPr wrap="square" lIns="0" tIns="0" rIns="0" bIns="0" rtlCol="0" anchor="ctr"/>
          <a:lstStyle/>
          <a:p>
            <a:pPr indent="0" marL="0">
              <a:buNone/>
            </a:pPr>
            <a:r>
              <a:rPr lang="en-US" sz="900" dirty="0">
                <a:solidFill>
                  <a:srgbClr val="9A9A9A"/>
                </a:solidFill>
                <a:latin typeface="Arial" pitchFamily="34" charset="0"/>
                <a:ea typeface="Arial" pitchFamily="34" charset="-122"/>
                <a:cs typeface="Arial" pitchFamily="34" charset="-120"/>
              </a:rPr>
              <a:t>USA DeBusk  |  LAR Heater Pigging &amp; Decoking Services  |  DSP#26098</a:t>
            </a:r>
            <a:endParaRPr lang="en-US" sz="900" dirty="0"/>
          </a:p>
        </p:txBody>
      </p:sp>
      <p:sp>
        <p:nvSpPr>
          <p:cNvPr id="38" name="Text 28"/>
          <p:cNvSpPr txBox="1"/>
          <p:nvPr/>
        </p:nvSpPr>
        <p:spPr>
          <a:xfrm>
            <a:off x="11155680" y="6419088"/>
            <a:ext cx="484632" cy="228600"/>
          </a:xfrm>
          <a:prstGeom prst="rect">
            <a:avLst/>
          </a:prstGeom>
          <a:noFill/>
          <a:ln/>
        </p:spPr>
        <p:txBody>
          <a:bodyPr wrap="square" lIns="0" tIns="0" rIns="0" bIns="0" rtlCol="0" anchor="ctr"/>
          <a:lstStyle/>
          <a:p>
            <a:pPr algn="r" indent="0" marL="0">
              <a:buNone/>
            </a:pPr>
            <a:r>
              <a:rPr lang="en-US" sz="900" dirty="0">
                <a:solidFill>
                  <a:srgbClr val="9A9A9A"/>
                </a:solidFill>
                <a:latin typeface="Arial" pitchFamily="34" charset="0"/>
                <a:ea typeface="Arial" pitchFamily="34" charset="-122"/>
                <a:cs typeface="Arial" pitchFamily="34" charset="-120"/>
              </a:rPr>
              <a:t>14</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E1E1E"/>
        </a:solidFill>
      </p:bgPr>
    </p:bg>
    <p:spTree>
      <p:nvGrpSpPr>
        <p:cNvPr id="1" name=""/>
        <p:cNvGrpSpPr/>
        <p:nvPr/>
      </p:nvGrpSpPr>
      <p:grpSpPr>
        <a:xfrm>
          <a:off x="0" y="0"/>
          <a:ext cx="0" cy="0"/>
          <a:chOff x="0" y="0"/>
          <a:chExt cx="0" cy="0"/>
        </a:xfrm>
      </p:grpSpPr>
      <p:sp>
        <p:nvSpPr>
          <p:cNvPr id="2" name="Shape 0"/>
          <p:cNvSpPr/>
          <p:nvPr/>
        </p:nvSpPr>
        <p:spPr>
          <a:xfrm>
            <a:off x="548640" y="411480"/>
            <a:ext cx="3856558" cy="310896"/>
          </a:xfrm>
          <a:prstGeom prst="roundRect">
            <a:avLst>
              <a:gd name="adj" fmla="val 23529"/>
            </a:avLst>
          </a:prstGeom>
          <a:solidFill>
            <a:srgbClr val="FCC30A"/>
          </a:solidFill>
          <a:ln w="12700">
            <a:solidFill>
              <a:srgbClr val="FCC30A"/>
            </a:solidFill>
            <a:prstDash val="solid"/>
          </a:ln>
        </p:spPr>
      </p:sp>
      <p:sp>
        <p:nvSpPr>
          <p:cNvPr id="3" name="Text 1"/>
          <p:cNvSpPr txBox="1"/>
          <p:nvPr/>
        </p:nvSpPr>
        <p:spPr>
          <a:xfrm>
            <a:off x="548640" y="411480"/>
            <a:ext cx="3856558" cy="310896"/>
          </a:xfrm>
          <a:prstGeom prst="rect">
            <a:avLst/>
          </a:prstGeom>
          <a:noFill/>
          <a:ln/>
        </p:spPr>
        <p:txBody>
          <a:bodyPr wrap="square" lIns="0" tIns="0" rIns="0" bIns="0" rtlCol="0" anchor="ctr"/>
          <a:lstStyle/>
          <a:p>
            <a:pPr algn="ctr" indent="0" marL="0">
              <a:buNone/>
            </a:pPr>
            <a:r>
              <a:rPr lang="en-US" sz="1050" b="1" spc="150" kern="0" dirty="0">
                <a:solidFill>
                  <a:srgbClr val="1E1E1E"/>
                </a:solidFill>
                <a:latin typeface="Arial" pitchFamily="34" charset="0"/>
                <a:ea typeface="Arial" pitchFamily="34" charset="-122"/>
                <a:cs typeface="Arial" pitchFamily="34" charset="-120"/>
              </a:rPr>
              <a:t>05   CLEANLINESS VERIFICATION &amp; QA/QC</a:t>
            </a:r>
            <a:endParaRPr lang="en-US" sz="1050" dirty="0"/>
          </a:p>
        </p:txBody>
      </p:sp>
      <p:sp>
        <p:nvSpPr>
          <p:cNvPr id="4" name="Text 2"/>
          <p:cNvSpPr txBox="1"/>
          <p:nvPr/>
        </p:nvSpPr>
        <p:spPr>
          <a:xfrm>
            <a:off x="548640" y="841248"/>
            <a:ext cx="11064240" cy="731520"/>
          </a:xfrm>
          <a:prstGeom prst="rect">
            <a:avLst/>
          </a:prstGeom>
          <a:noFill/>
          <a:ln/>
        </p:spPr>
        <p:txBody>
          <a:bodyPr wrap="square" lIns="0" tIns="0" rIns="0" bIns="0" rtlCol="0" anchor="t"/>
          <a:lstStyle/>
          <a:p>
            <a:pPr indent="0" marL="0">
              <a:buNone/>
            </a:pPr>
            <a:r>
              <a:rPr lang="en-US" sz="3200" b="1" dirty="0">
                <a:solidFill>
                  <a:srgbClr val="FFFFFF"/>
                </a:solidFill>
                <a:latin typeface="Arial" pitchFamily="34" charset="0"/>
                <a:ea typeface="Arial" pitchFamily="34" charset="-122"/>
                <a:cs typeface="Arial" pitchFamily="34" charset="-120"/>
              </a:rPr>
              <a:t>Verifying every pass is clean</a:t>
            </a:r>
            <a:endParaRPr lang="en-US" sz="3200" dirty="0"/>
          </a:p>
        </p:txBody>
      </p:sp>
      <p:sp>
        <p:nvSpPr>
          <p:cNvPr id="5" name="Text 3"/>
          <p:cNvSpPr txBox="1"/>
          <p:nvPr/>
        </p:nvSpPr>
        <p:spPr>
          <a:xfrm>
            <a:off x="548640" y="1481328"/>
            <a:ext cx="11064240" cy="365760"/>
          </a:xfrm>
          <a:prstGeom prst="rect">
            <a:avLst/>
          </a:prstGeom>
          <a:noFill/>
          <a:ln/>
        </p:spPr>
        <p:txBody>
          <a:bodyPr wrap="square" lIns="0" tIns="0" rIns="0" bIns="0" rtlCol="0" anchor="t"/>
          <a:lstStyle/>
          <a:p>
            <a:pPr indent="0" marL="0">
              <a:buNone/>
            </a:pPr>
            <a:r>
              <a:rPr lang="en-US" sz="1500" dirty="0">
                <a:solidFill>
                  <a:srgbClr val="BDBDBD"/>
                </a:solidFill>
                <a:latin typeface="Arial" pitchFamily="34" charset="0"/>
                <a:ea typeface="Arial" pitchFamily="34" charset="-122"/>
                <a:cs typeface="Arial" pitchFamily="34" charset="-120"/>
              </a:rPr>
              <a:t>Four independent indicators, reviewed side by side with Marathon</a:t>
            </a:r>
            <a:endParaRPr lang="en-US" sz="1500" dirty="0"/>
          </a:p>
        </p:txBody>
      </p:sp>
      <p:sp>
        <p:nvSpPr>
          <p:cNvPr id="6" name="Shape 4"/>
          <p:cNvSpPr/>
          <p:nvPr/>
        </p:nvSpPr>
        <p:spPr>
          <a:xfrm>
            <a:off x="4956048" y="3017520"/>
            <a:ext cx="2286000" cy="2286000"/>
          </a:xfrm>
          <a:prstGeom prst="ellipse">
            <a:avLst/>
          </a:prstGeom>
          <a:solidFill>
            <a:srgbClr val="FCC30A"/>
          </a:solidFill>
          <a:ln w="12700">
            <a:solidFill>
              <a:srgbClr val="FCC30A"/>
            </a:solidFill>
            <a:prstDash val="solid"/>
          </a:ln>
        </p:spPr>
      </p:sp>
      <p:sp>
        <p:nvSpPr>
          <p:cNvPr id="7" name="Text 5"/>
          <p:cNvSpPr txBox="1"/>
          <p:nvPr/>
        </p:nvSpPr>
        <p:spPr>
          <a:xfrm>
            <a:off x="5093208" y="3429000"/>
            <a:ext cx="2011680" cy="1463040"/>
          </a:xfrm>
          <a:prstGeom prst="rect">
            <a:avLst/>
          </a:prstGeom>
          <a:noFill/>
          <a:ln/>
        </p:spPr>
        <p:txBody>
          <a:bodyPr wrap="square" lIns="0" tIns="0" rIns="0" bIns="0" rtlCol="0" anchor="ctr"/>
          <a:lstStyle/>
          <a:p>
            <a:pPr algn="ctr" indent="0" marL="0">
              <a:buNone/>
            </a:pPr>
            <a:r>
              <a:rPr lang="en-US" sz="1900" b="1" dirty="0">
                <a:solidFill>
                  <a:srgbClr val="1E1E1E"/>
                </a:solidFill>
                <a:latin typeface="Arial" pitchFamily="34" charset="0"/>
                <a:ea typeface="Arial" pitchFamily="34" charset="-122"/>
                <a:cs typeface="Arial" pitchFamily="34" charset="-120"/>
              </a:rPr>
              <a:t>Joint</a:t>
            </a:r>
            <a:endParaRPr lang="en-US" sz="1900" dirty="0"/>
          </a:p>
          <a:p>
            <a:pPr algn="ctr" indent="0" marL="0">
              <a:buNone/>
            </a:pPr>
            <a:r>
              <a:rPr lang="en-US" sz="1900" b="1" dirty="0">
                <a:solidFill>
                  <a:srgbClr val="1E1E1E"/>
                </a:solidFill>
                <a:latin typeface="Arial" pitchFamily="34" charset="0"/>
                <a:ea typeface="Arial" pitchFamily="34" charset="-122"/>
                <a:cs typeface="Arial" pitchFamily="34" charset="-120"/>
              </a:rPr>
              <a:t>sign-off</a:t>
            </a:r>
            <a:endParaRPr lang="en-US" sz="1900" dirty="0"/>
          </a:p>
          <a:p>
            <a:pPr algn="ctr" indent="0" marL="0">
              <a:buNone/>
            </a:pPr>
            <a:r>
              <a:rPr lang="en-US" sz="1900" b="1" dirty="0">
                <a:solidFill>
                  <a:srgbClr val="1E1E1E"/>
                </a:solidFill>
                <a:latin typeface="Arial" pitchFamily="34" charset="0"/>
                <a:ea typeface="Arial" pitchFamily="34" charset="-122"/>
                <a:cs typeface="Arial" pitchFamily="34" charset="-120"/>
              </a:rPr>
              <a:t>per pass</a:t>
            </a:r>
            <a:endParaRPr lang="en-US" sz="1900" dirty="0"/>
          </a:p>
        </p:txBody>
      </p:sp>
      <p:sp>
        <p:nvSpPr>
          <p:cNvPr id="8" name="Shape 6"/>
          <p:cNvSpPr/>
          <p:nvPr/>
        </p:nvSpPr>
        <p:spPr>
          <a:xfrm>
            <a:off x="548640" y="2148840"/>
            <a:ext cx="3456432" cy="1417320"/>
          </a:xfrm>
          <a:prstGeom prst="rect">
            <a:avLst/>
          </a:prstGeom>
          <a:solidFill>
            <a:srgbClr val="2B2B2B"/>
          </a:solidFill>
          <a:ln w="12700">
            <a:solidFill>
              <a:srgbClr val="363636"/>
            </a:solidFill>
            <a:prstDash val="solid"/>
          </a:ln>
        </p:spPr>
      </p:sp>
      <p:sp>
        <p:nvSpPr>
          <p:cNvPr id="9" name="Shape 7"/>
          <p:cNvSpPr/>
          <p:nvPr/>
        </p:nvSpPr>
        <p:spPr>
          <a:xfrm>
            <a:off x="749808" y="2377440"/>
            <a:ext cx="566928" cy="566928"/>
          </a:xfrm>
          <a:prstGeom prst="ellipse">
            <a:avLst/>
          </a:prstGeom>
          <a:solidFill>
            <a:srgbClr val="FCC30A"/>
          </a:solidFill>
          <a:ln w="12700">
            <a:solidFill>
              <a:srgbClr val="FCC30A"/>
            </a:solidFill>
            <a:prstDash val="solid"/>
          </a:ln>
        </p:spPr>
      </p:sp>
      <p:pic>
        <p:nvPicPr>
          <p:cNvPr id="10" name="Image 0" descr="preencoded.png">    </p:cNvPr>
          <p:cNvPicPr>
            <a:picLocks noChangeAspect="1"/>
          </p:cNvPicPr>
          <p:nvPr/>
        </p:nvPicPr>
        <p:blipFill>
          <a:blip r:embed="rId1"/>
          <a:stretch>
            <a:fillRect/>
          </a:stretch>
        </p:blipFill>
        <p:spPr>
          <a:xfrm>
            <a:off x="891540" y="2519172"/>
            <a:ext cx="283464" cy="283464"/>
          </a:xfrm>
          <a:prstGeom prst="rect">
            <a:avLst/>
          </a:prstGeom>
        </p:spPr>
      </p:pic>
      <p:sp>
        <p:nvSpPr>
          <p:cNvPr id="11" name="Text 8"/>
          <p:cNvSpPr txBox="1"/>
          <p:nvPr/>
        </p:nvSpPr>
        <p:spPr>
          <a:xfrm>
            <a:off x="1463040" y="2350008"/>
            <a:ext cx="2423160" cy="320040"/>
          </a:xfrm>
          <a:prstGeom prst="rect">
            <a:avLst/>
          </a:prstGeom>
          <a:noFill/>
          <a:ln/>
        </p:spPr>
        <p:txBody>
          <a:bodyPr wrap="square" lIns="0" tIns="0" rIns="0" bIns="0" rtlCol="0" anchor="ctr"/>
          <a:lstStyle/>
          <a:p>
            <a:pPr indent="0" marL="0">
              <a:buNone/>
            </a:pPr>
            <a:r>
              <a:rPr lang="en-US" sz="1500" b="1" dirty="0">
                <a:solidFill>
                  <a:srgbClr val="FFFFFF"/>
                </a:solidFill>
                <a:latin typeface="Arial" pitchFamily="34" charset="0"/>
                <a:ea typeface="Arial" pitchFamily="34" charset="-122"/>
                <a:cs typeface="Arial" pitchFamily="34" charset="-120"/>
              </a:rPr>
              <a:t>1  Sensor data</a:t>
            </a:r>
            <a:endParaRPr lang="en-US" sz="1500" dirty="0"/>
          </a:p>
        </p:txBody>
      </p:sp>
      <p:sp>
        <p:nvSpPr>
          <p:cNvPr id="12" name="Text 9"/>
          <p:cNvSpPr txBox="1"/>
          <p:nvPr/>
        </p:nvSpPr>
        <p:spPr>
          <a:xfrm>
            <a:off x="1463040" y="2697480"/>
            <a:ext cx="2423160" cy="777240"/>
          </a:xfrm>
          <a:prstGeom prst="rect">
            <a:avLst/>
          </a:prstGeom>
          <a:noFill/>
          <a:ln/>
        </p:spPr>
        <p:txBody>
          <a:bodyPr wrap="square" lIns="0" tIns="0" rIns="0" bIns="0" rtlCol="0" anchor="t"/>
          <a:lstStyle/>
          <a:p>
            <a:pPr indent="0" marL="0">
              <a:buNone/>
            </a:pPr>
            <a:r>
              <a:rPr lang="en-US" sz="1150" dirty="0">
                <a:solidFill>
                  <a:srgbClr val="BDBDBD"/>
                </a:solidFill>
                <a:latin typeface="Arial" pitchFamily="34" charset="0"/>
                <a:ea typeface="Arial" pitchFamily="34" charset="-122"/>
                <a:cs typeface="Arial" pitchFamily="34" charset="-120"/>
              </a:rPr>
              <a:t>Coke shows as a pressure spike; the tech stops and scrubs that exact spot</a:t>
            </a:r>
            <a:endParaRPr lang="en-US" sz="1150" dirty="0"/>
          </a:p>
        </p:txBody>
      </p:sp>
      <p:sp>
        <p:nvSpPr>
          <p:cNvPr id="13" name="Shape 10"/>
          <p:cNvSpPr/>
          <p:nvPr/>
        </p:nvSpPr>
        <p:spPr>
          <a:xfrm>
            <a:off x="8183880" y="2148840"/>
            <a:ext cx="3456432" cy="1417320"/>
          </a:xfrm>
          <a:prstGeom prst="rect">
            <a:avLst/>
          </a:prstGeom>
          <a:solidFill>
            <a:srgbClr val="2B2B2B"/>
          </a:solidFill>
          <a:ln w="12700">
            <a:solidFill>
              <a:srgbClr val="363636"/>
            </a:solidFill>
            <a:prstDash val="solid"/>
          </a:ln>
        </p:spPr>
      </p:sp>
      <p:sp>
        <p:nvSpPr>
          <p:cNvPr id="14" name="Shape 11"/>
          <p:cNvSpPr/>
          <p:nvPr/>
        </p:nvSpPr>
        <p:spPr>
          <a:xfrm>
            <a:off x="8385048" y="2377440"/>
            <a:ext cx="566928" cy="566928"/>
          </a:xfrm>
          <a:prstGeom prst="ellipse">
            <a:avLst/>
          </a:prstGeom>
          <a:solidFill>
            <a:srgbClr val="FCC30A"/>
          </a:solidFill>
          <a:ln w="12700">
            <a:solidFill>
              <a:srgbClr val="FCC30A"/>
            </a:solidFill>
            <a:prstDash val="solid"/>
          </a:ln>
        </p:spPr>
      </p:sp>
      <p:pic>
        <p:nvPicPr>
          <p:cNvPr id="15" name="Image 1" descr="preencoded.png">    </p:cNvPr>
          <p:cNvPicPr>
            <a:picLocks noChangeAspect="1"/>
          </p:cNvPicPr>
          <p:nvPr/>
        </p:nvPicPr>
        <p:blipFill>
          <a:blip r:embed="rId2"/>
          <a:stretch>
            <a:fillRect/>
          </a:stretch>
        </p:blipFill>
        <p:spPr>
          <a:xfrm>
            <a:off x="8526780" y="2519172"/>
            <a:ext cx="283464" cy="283464"/>
          </a:xfrm>
          <a:prstGeom prst="rect">
            <a:avLst/>
          </a:prstGeom>
        </p:spPr>
      </p:pic>
      <p:sp>
        <p:nvSpPr>
          <p:cNvPr id="16" name="Text 12"/>
          <p:cNvSpPr txBox="1"/>
          <p:nvPr/>
        </p:nvSpPr>
        <p:spPr>
          <a:xfrm>
            <a:off x="9098280" y="2350008"/>
            <a:ext cx="2423160" cy="320040"/>
          </a:xfrm>
          <a:prstGeom prst="rect">
            <a:avLst/>
          </a:prstGeom>
          <a:noFill/>
          <a:ln/>
        </p:spPr>
        <p:txBody>
          <a:bodyPr wrap="square" lIns="0" tIns="0" rIns="0" bIns="0" rtlCol="0" anchor="ctr"/>
          <a:lstStyle/>
          <a:p>
            <a:pPr indent="0" marL="0">
              <a:buNone/>
            </a:pPr>
            <a:r>
              <a:rPr lang="en-US" sz="1500" b="1" dirty="0">
                <a:solidFill>
                  <a:srgbClr val="FFFFFF"/>
                </a:solidFill>
                <a:latin typeface="Arial" pitchFamily="34" charset="0"/>
                <a:ea typeface="Arial" pitchFamily="34" charset="-122"/>
                <a:cs typeface="Arial" pitchFamily="34" charset="-120"/>
              </a:rPr>
              <a:t>2  Effluent returns</a:t>
            </a:r>
            <a:endParaRPr lang="en-US" sz="1500" dirty="0"/>
          </a:p>
        </p:txBody>
      </p:sp>
      <p:sp>
        <p:nvSpPr>
          <p:cNvPr id="17" name="Text 13"/>
          <p:cNvSpPr txBox="1"/>
          <p:nvPr/>
        </p:nvSpPr>
        <p:spPr>
          <a:xfrm>
            <a:off x="9098280" y="2697480"/>
            <a:ext cx="2423160" cy="777240"/>
          </a:xfrm>
          <a:prstGeom prst="rect">
            <a:avLst/>
          </a:prstGeom>
          <a:noFill/>
          <a:ln/>
        </p:spPr>
        <p:txBody>
          <a:bodyPr wrap="square" lIns="0" tIns="0" rIns="0" bIns="0" rtlCol="0" anchor="t"/>
          <a:lstStyle/>
          <a:p>
            <a:pPr indent="0" marL="0">
              <a:buNone/>
            </a:pPr>
            <a:r>
              <a:rPr lang="en-US" sz="1150" dirty="0">
                <a:solidFill>
                  <a:srgbClr val="BDBDBD"/>
                </a:solidFill>
                <a:latin typeface="Arial" pitchFamily="34" charset="0"/>
                <a:ea typeface="Arial" pitchFamily="34" charset="-122"/>
                <a:cs typeface="Arial" pitchFamily="34" charset="-120"/>
              </a:rPr>
              <a:t>"Black" in the return stream fades to nothing as the pass cleans</a:t>
            </a:r>
            <a:endParaRPr lang="en-US" sz="1150" dirty="0"/>
          </a:p>
        </p:txBody>
      </p:sp>
      <p:sp>
        <p:nvSpPr>
          <p:cNvPr id="18" name="Shape 14"/>
          <p:cNvSpPr/>
          <p:nvPr/>
        </p:nvSpPr>
        <p:spPr>
          <a:xfrm>
            <a:off x="548640" y="4572000"/>
            <a:ext cx="3456432" cy="1417320"/>
          </a:xfrm>
          <a:prstGeom prst="rect">
            <a:avLst/>
          </a:prstGeom>
          <a:solidFill>
            <a:srgbClr val="2B2B2B"/>
          </a:solidFill>
          <a:ln w="12700">
            <a:solidFill>
              <a:srgbClr val="363636"/>
            </a:solidFill>
            <a:prstDash val="solid"/>
          </a:ln>
        </p:spPr>
      </p:sp>
      <p:pic>
        <p:nvPicPr>
          <p:cNvPr id="19" name="Image 2" descr="/tmp/claude-0/-home-user-obsidian-work/c8998718-f22f-57a3-84c2-766db1d92b4c/scratchpad/deck/img/pigs_three.jpg">    </p:cNvPr>
          <p:cNvPicPr>
            <a:picLocks noChangeAspect="1"/>
          </p:cNvPicPr>
          <p:nvPr/>
        </p:nvPicPr>
        <p:blipFill>
          <a:blip r:embed="rId3"/>
          <a:stretch>
            <a:fillRect/>
          </a:stretch>
        </p:blipFill>
        <p:spPr>
          <a:xfrm>
            <a:off x="713232" y="4937760"/>
            <a:ext cx="1097280" cy="672084"/>
          </a:xfrm>
          <a:prstGeom prst="rect">
            <a:avLst/>
          </a:prstGeom>
        </p:spPr>
      </p:pic>
      <p:sp>
        <p:nvSpPr>
          <p:cNvPr id="20" name="Text 15"/>
          <p:cNvSpPr txBox="1"/>
          <p:nvPr/>
        </p:nvSpPr>
        <p:spPr>
          <a:xfrm>
            <a:off x="1920240" y="4773168"/>
            <a:ext cx="2011680" cy="320040"/>
          </a:xfrm>
          <a:prstGeom prst="rect">
            <a:avLst/>
          </a:prstGeom>
          <a:noFill/>
          <a:ln/>
        </p:spPr>
        <p:txBody>
          <a:bodyPr wrap="square" lIns="0" tIns="0" rIns="0" bIns="0" rtlCol="0" anchor="ctr"/>
          <a:lstStyle/>
          <a:p>
            <a:pPr indent="0" marL="0">
              <a:buNone/>
            </a:pPr>
            <a:r>
              <a:rPr lang="en-US" sz="1500" b="1" dirty="0">
                <a:solidFill>
                  <a:srgbClr val="FFFFFF"/>
                </a:solidFill>
                <a:latin typeface="Arial" pitchFamily="34" charset="0"/>
                <a:ea typeface="Arial" pitchFamily="34" charset="-122"/>
                <a:cs typeface="Arial" pitchFamily="34" charset="-120"/>
              </a:rPr>
              <a:t>3  Pig condition</a:t>
            </a:r>
            <a:endParaRPr lang="en-US" sz="1500" dirty="0"/>
          </a:p>
        </p:txBody>
      </p:sp>
      <p:sp>
        <p:nvSpPr>
          <p:cNvPr id="21" name="Text 16"/>
          <p:cNvSpPr txBox="1"/>
          <p:nvPr/>
        </p:nvSpPr>
        <p:spPr>
          <a:xfrm>
            <a:off x="1920240" y="5120640"/>
            <a:ext cx="2011680" cy="777240"/>
          </a:xfrm>
          <a:prstGeom prst="rect">
            <a:avLst/>
          </a:prstGeom>
          <a:noFill/>
          <a:ln/>
        </p:spPr>
        <p:txBody>
          <a:bodyPr wrap="square" lIns="0" tIns="0" rIns="0" bIns="0" rtlCol="0" anchor="t"/>
          <a:lstStyle/>
          <a:p>
            <a:pPr indent="0" marL="0">
              <a:buNone/>
            </a:pPr>
            <a:r>
              <a:rPr lang="en-US" sz="1100" dirty="0">
                <a:solidFill>
                  <a:srgbClr val="BDBDBD"/>
                </a:solidFill>
                <a:latin typeface="Arial" pitchFamily="34" charset="0"/>
                <a:ea typeface="Arial" pitchFamily="34" charset="-122"/>
                <a:cs typeface="Arial" pitchFamily="34" charset="-120"/>
              </a:rPr>
              <a:t>Wear marks guide pig size and appendage choices</a:t>
            </a:r>
            <a:endParaRPr lang="en-US" sz="1100" dirty="0"/>
          </a:p>
        </p:txBody>
      </p:sp>
      <p:sp>
        <p:nvSpPr>
          <p:cNvPr id="22" name="Shape 17"/>
          <p:cNvSpPr/>
          <p:nvPr/>
        </p:nvSpPr>
        <p:spPr>
          <a:xfrm>
            <a:off x="8183880" y="4572000"/>
            <a:ext cx="3456432" cy="1417320"/>
          </a:xfrm>
          <a:prstGeom prst="rect">
            <a:avLst/>
          </a:prstGeom>
          <a:solidFill>
            <a:srgbClr val="2B2B2B"/>
          </a:solidFill>
          <a:ln w="12700">
            <a:solidFill>
              <a:srgbClr val="363636"/>
            </a:solidFill>
            <a:prstDash val="solid"/>
          </a:ln>
        </p:spPr>
      </p:sp>
      <p:sp>
        <p:nvSpPr>
          <p:cNvPr id="23" name="Shape 18"/>
          <p:cNvSpPr/>
          <p:nvPr/>
        </p:nvSpPr>
        <p:spPr>
          <a:xfrm>
            <a:off x="8385048" y="4800600"/>
            <a:ext cx="566928" cy="566928"/>
          </a:xfrm>
          <a:prstGeom prst="ellipse">
            <a:avLst/>
          </a:prstGeom>
          <a:solidFill>
            <a:srgbClr val="FCC30A"/>
          </a:solidFill>
          <a:ln w="12700">
            <a:solidFill>
              <a:srgbClr val="FCC30A"/>
            </a:solidFill>
            <a:prstDash val="solid"/>
          </a:ln>
        </p:spPr>
      </p:sp>
      <p:pic>
        <p:nvPicPr>
          <p:cNvPr id="24" name="Image 3" descr="preencoded.png">    </p:cNvPr>
          <p:cNvPicPr>
            <a:picLocks noChangeAspect="1"/>
          </p:cNvPicPr>
          <p:nvPr/>
        </p:nvPicPr>
        <p:blipFill>
          <a:blip r:embed="rId4"/>
          <a:stretch>
            <a:fillRect/>
          </a:stretch>
        </p:blipFill>
        <p:spPr>
          <a:xfrm>
            <a:off x="8526780" y="4942332"/>
            <a:ext cx="283464" cy="283464"/>
          </a:xfrm>
          <a:prstGeom prst="rect">
            <a:avLst/>
          </a:prstGeom>
        </p:spPr>
      </p:pic>
      <p:sp>
        <p:nvSpPr>
          <p:cNvPr id="25" name="Text 19"/>
          <p:cNvSpPr txBox="1"/>
          <p:nvPr/>
        </p:nvSpPr>
        <p:spPr>
          <a:xfrm>
            <a:off x="9098280" y="4773168"/>
            <a:ext cx="2423160" cy="320040"/>
          </a:xfrm>
          <a:prstGeom prst="rect">
            <a:avLst/>
          </a:prstGeom>
          <a:noFill/>
          <a:ln/>
        </p:spPr>
        <p:txBody>
          <a:bodyPr wrap="square" lIns="0" tIns="0" rIns="0" bIns="0" rtlCol="0" anchor="ctr"/>
          <a:lstStyle/>
          <a:p>
            <a:pPr indent="0" marL="0">
              <a:buNone/>
            </a:pPr>
            <a:r>
              <a:rPr lang="en-US" sz="1500" b="1" dirty="0">
                <a:solidFill>
                  <a:srgbClr val="FFFFFF"/>
                </a:solidFill>
                <a:latin typeface="Arial" pitchFamily="34" charset="0"/>
                <a:ea typeface="Arial" pitchFamily="34" charset="-122"/>
                <a:cs typeface="Arial" pitchFamily="34" charset="-120"/>
              </a:rPr>
              <a:t>4  Final gauge foam</a:t>
            </a:r>
            <a:endParaRPr lang="en-US" sz="1500" dirty="0"/>
          </a:p>
        </p:txBody>
      </p:sp>
      <p:sp>
        <p:nvSpPr>
          <p:cNvPr id="26" name="Text 20"/>
          <p:cNvSpPr txBox="1"/>
          <p:nvPr/>
        </p:nvSpPr>
        <p:spPr>
          <a:xfrm>
            <a:off x="9098280" y="5120640"/>
            <a:ext cx="2423160" cy="777240"/>
          </a:xfrm>
          <a:prstGeom prst="rect">
            <a:avLst/>
          </a:prstGeom>
          <a:noFill/>
          <a:ln/>
        </p:spPr>
        <p:txBody>
          <a:bodyPr wrap="square" lIns="0" tIns="0" rIns="0" bIns="0" rtlCol="0" anchor="t"/>
          <a:lstStyle/>
          <a:p>
            <a:pPr indent="0" marL="0">
              <a:buNone/>
            </a:pPr>
            <a:r>
              <a:rPr lang="en-US" sz="1150" dirty="0">
                <a:solidFill>
                  <a:srgbClr val="BDBDBD"/>
                </a:solidFill>
                <a:latin typeface="Arial" pitchFamily="34" charset="0"/>
                <a:ea typeface="Arial" pitchFamily="34" charset="-122"/>
                <a:cs typeface="Arial" pitchFamily="34" charset="-120"/>
              </a:rPr>
              <a:t>Soft line-size (or slightly over) foam, witnessed by the Marathon rep</a:t>
            </a:r>
            <a:endParaRPr lang="en-US" sz="1150" dirty="0"/>
          </a:p>
        </p:txBody>
      </p:sp>
      <p:sp>
        <p:nvSpPr>
          <p:cNvPr id="27" name="Shape 21"/>
          <p:cNvSpPr/>
          <p:nvPr/>
        </p:nvSpPr>
        <p:spPr>
          <a:xfrm>
            <a:off x="4005072" y="2834640"/>
            <a:ext cx="1225296" cy="594360"/>
          </a:xfrm>
          <a:prstGeom prst="line">
            <a:avLst/>
          </a:prstGeom>
          <a:noFill/>
          <a:ln w="19050">
            <a:solidFill>
              <a:srgbClr val="FCC30A"/>
            </a:solidFill>
            <a:prstDash val="dash"/>
          </a:ln>
        </p:spPr>
      </p:sp>
      <p:sp>
        <p:nvSpPr>
          <p:cNvPr id="28" name="Shape 22"/>
          <p:cNvSpPr/>
          <p:nvPr/>
        </p:nvSpPr>
        <p:spPr>
          <a:xfrm flipH="1">
            <a:off x="6967728" y="2834640"/>
            <a:ext cx="1216152" cy="594360"/>
          </a:xfrm>
          <a:prstGeom prst="line">
            <a:avLst/>
          </a:prstGeom>
          <a:noFill/>
          <a:ln w="19050">
            <a:solidFill>
              <a:srgbClr val="FCC30A"/>
            </a:solidFill>
            <a:prstDash val="dash"/>
          </a:ln>
        </p:spPr>
      </p:sp>
      <p:sp>
        <p:nvSpPr>
          <p:cNvPr id="29" name="Shape 23"/>
          <p:cNvSpPr/>
          <p:nvPr/>
        </p:nvSpPr>
        <p:spPr>
          <a:xfrm flipH="1">
            <a:off x="4005072" y="4892040"/>
            <a:ext cx="1225296" cy="411480"/>
          </a:xfrm>
          <a:prstGeom prst="line">
            <a:avLst/>
          </a:prstGeom>
          <a:noFill/>
          <a:ln w="19050">
            <a:solidFill>
              <a:srgbClr val="FCC30A"/>
            </a:solidFill>
            <a:prstDash val="dash"/>
          </a:ln>
        </p:spPr>
      </p:sp>
      <p:sp>
        <p:nvSpPr>
          <p:cNvPr id="30" name="Shape 24"/>
          <p:cNvSpPr/>
          <p:nvPr/>
        </p:nvSpPr>
        <p:spPr>
          <a:xfrm>
            <a:off x="6967728" y="4892040"/>
            <a:ext cx="1216152" cy="411480"/>
          </a:xfrm>
          <a:prstGeom prst="line">
            <a:avLst/>
          </a:prstGeom>
          <a:noFill/>
          <a:ln w="19050">
            <a:solidFill>
              <a:srgbClr val="FCC30A"/>
            </a:solidFill>
            <a:prstDash val="dash"/>
          </a:ln>
        </p:spPr>
      </p:sp>
      <p:sp>
        <p:nvSpPr>
          <p:cNvPr id="31" name="Text 25"/>
          <p:cNvSpPr txBox="1"/>
          <p:nvPr/>
        </p:nvSpPr>
        <p:spPr>
          <a:xfrm>
            <a:off x="548640" y="6035040"/>
            <a:ext cx="11064240" cy="320040"/>
          </a:xfrm>
          <a:prstGeom prst="rect">
            <a:avLst/>
          </a:prstGeom>
          <a:noFill/>
          <a:ln/>
        </p:spPr>
        <p:txBody>
          <a:bodyPr wrap="square" lIns="0" tIns="0" rIns="0" bIns="0" rtlCol="0" anchor="ctr"/>
          <a:lstStyle/>
          <a:p>
            <a:pPr algn="ctr" indent="0" marL="0">
              <a:buNone/>
            </a:pPr>
            <a:r>
              <a:rPr lang="en-US" sz="1200" i="1" dirty="0">
                <a:solidFill>
                  <a:srgbClr val="FCC30A"/>
                </a:solidFill>
                <a:latin typeface="Arial" pitchFamily="34" charset="0"/>
                <a:ea typeface="Arial" pitchFamily="34" charset="-122"/>
                <a:cs typeface="Arial" pitchFamily="34" charset="-120"/>
              </a:rPr>
              <a:t>Proven in the field: successful sign-offs from all of our clients, and highly effective for first-attempt smart pig data.</a:t>
            </a:r>
            <a:endParaRPr lang="en-US" sz="1200" dirty="0"/>
          </a:p>
        </p:txBody>
      </p:sp>
      <p:sp>
        <p:nvSpPr>
          <p:cNvPr id="33" name="Text 26"/>
          <p:cNvSpPr txBox="1"/>
          <p:nvPr/>
        </p:nvSpPr>
        <p:spPr>
          <a:xfrm>
            <a:off x="548640" y="6419088"/>
            <a:ext cx="7315200" cy="228600"/>
          </a:xfrm>
          <a:prstGeom prst="rect">
            <a:avLst/>
          </a:prstGeom>
          <a:noFill/>
          <a:ln/>
        </p:spPr>
        <p:txBody>
          <a:bodyPr wrap="square" lIns="0" tIns="0" rIns="0" bIns="0" rtlCol="0" anchor="ctr"/>
          <a:lstStyle/>
          <a:p>
            <a:pPr indent="0" marL="0">
              <a:buNone/>
            </a:pPr>
            <a:r>
              <a:rPr lang="en-US" sz="900" dirty="0">
                <a:solidFill>
                  <a:srgbClr val="BDBDBD"/>
                </a:solidFill>
                <a:latin typeface="Arial" pitchFamily="34" charset="0"/>
                <a:ea typeface="Arial" pitchFamily="34" charset="-122"/>
                <a:cs typeface="Arial" pitchFamily="34" charset="-120"/>
              </a:rPr>
              <a:t>USA DeBusk  |  LAR Heater Pigging &amp; Decoking Services  |  DSP#26098</a:t>
            </a:r>
            <a:endParaRPr lang="en-US" sz="900" dirty="0"/>
          </a:p>
        </p:txBody>
      </p:sp>
      <p:sp>
        <p:nvSpPr>
          <p:cNvPr id="34" name="Text 27"/>
          <p:cNvSpPr txBox="1"/>
          <p:nvPr/>
        </p:nvSpPr>
        <p:spPr>
          <a:xfrm>
            <a:off x="11155680" y="6419088"/>
            <a:ext cx="484632" cy="228600"/>
          </a:xfrm>
          <a:prstGeom prst="rect">
            <a:avLst/>
          </a:prstGeom>
          <a:noFill/>
          <a:ln/>
        </p:spPr>
        <p:txBody>
          <a:bodyPr wrap="square" lIns="0" tIns="0" rIns="0" bIns="0" rtlCol="0" anchor="ctr"/>
          <a:lstStyle/>
          <a:p>
            <a:pPr algn="r" indent="0" marL="0">
              <a:buNone/>
            </a:pPr>
            <a:r>
              <a:rPr lang="en-US" sz="900" dirty="0">
                <a:solidFill>
                  <a:srgbClr val="BDBDBD"/>
                </a:solidFill>
                <a:latin typeface="Arial" pitchFamily="34" charset="0"/>
                <a:ea typeface="Arial" pitchFamily="34" charset="-122"/>
                <a:cs typeface="Arial" pitchFamily="34" charset="-120"/>
              </a:rPr>
              <a:t>15</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4F4F4"/>
        </a:solidFill>
      </p:bgPr>
    </p:bg>
    <p:spTree>
      <p:nvGrpSpPr>
        <p:cNvPr id="1" name=""/>
        <p:cNvGrpSpPr/>
        <p:nvPr/>
      </p:nvGrpSpPr>
      <p:grpSpPr>
        <a:xfrm>
          <a:off x="0" y="0"/>
          <a:ext cx="0" cy="0"/>
          <a:chOff x="0" y="0"/>
          <a:chExt cx="0" cy="0"/>
        </a:xfrm>
      </p:grpSpPr>
      <p:sp>
        <p:nvSpPr>
          <p:cNvPr id="2" name="Shape 0"/>
          <p:cNvSpPr/>
          <p:nvPr/>
        </p:nvSpPr>
        <p:spPr>
          <a:xfrm>
            <a:off x="548640" y="411480"/>
            <a:ext cx="3856558" cy="310896"/>
          </a:xfrm>
          <a:prstGeom prst="roundRect">
            <a:avLst>
              <a:gd name="adj" fmla="val 23529"/>
            </a:avLst>
          </a:prstGeom>
          <a:solidFill>
            <a:srgbClr val="FCC30A"/>
          </a:solidFill>
          <a:ln w="12700">
            <a:solidFill>
              <a:srgbClr val="FCC30A"/>
            </a:solidFill>
            <a:prstDash val="solid"/>
          </a:ln>
        </p:spPr>
      </p:sp>
      <p:sp>
        <p:nvSpPr>
          <p:cNvPr id="3" name="Text 1"/>
          <p:cNvSpPr txBox="1"/>
          <p:nvPr/>
        </p:nvSpPr>
        <p:spPr>
          <a:xfrm>
            <a:off x="548640" y="411480"/>
            <a:ext cx="3856558" cy="310896"/>
          </a:xfrm>
          <a:prstGeom prst="rect">
            <a:avLst/>
          </a:prstGeom>
          <a:noFill/>
          <a:ln/>
        </p:spPr>
        <p:txBody>
          <a:bodyPr wrap="square" lIns="0" tIns="0" rIns="0" bIns="0" rtlCol="0" anchor="ctr"/>
          <a:lstStyle/>
          <a:p>
            <a:pPr algn="ctr" indent="0" marL="0">
              <a:buNone/>
            </a:pPr>
            <a:r>
              <a:rPr lang="en-US" sz="1050" b="1" spc="150" kern="0" dirty="0">
                <a:solidFill>
                  <a:srgbClr val="1E1E1E"/>
                </a:solidFill>
                <a:latin typeface="Arial" pitchFamily="34" charset="0"/>
                <a:ea typeface="Arial" pitchFamily="34" charset="-122"/>
                <a:cs typeface="Arial" pitchFamily="34" charset="-120"/>
              </a:rPr>
              <a:t>05   CLEANLINESS VERIFICATION &amp; QA/QC</a:t>
            </a:r>
            <a:endParaRPr lang="en-US" sz="1050" dirty="0"/>
          </a:p>
        </p:txBody>
      </p:sp>
      <p:sp>
        <p:nvSpPr>
          <p:cNvPr id="4" name="Text 2"/>
          <p:cNvSpPr txBox="1"/>
          <p:nvPr/>
        </p:nvSpPr>
        <p:spPr>
          <a:xfrm>
            <a:off x="548640" y="841248"/>
            <a:ext cx="11064240" cy="731520"/>
          </a:xfrm>
          <a:prstGeom prst="rect">
            <a:avLst/>
          </a:prstGeom>
          <a:noFill/>
          <a:ln/>
        </p:spPr>
        <p:txBody>
          <a:bodyPr wrap="square" lIns="0" tIns="0" rIns="0" bIns="0" rtlCol="0" anchor="t"/>
          <a:lstStyle/>
          <a:p>
            <a:pPr indent="0" marL="0">
              <a:buNone/>
            </a:pPr>
            <a:r>
              <a:rPr lang="en-US" sz="3200" b="1" dirty="0">
                <a:solidFill>
                  <a:srgbClr val="222222"/>
                </a:solidFill>
                <a:latin typeface="Arial" pitchFamily="34" charset="0"/>
                <a:ea typeface="Arial" pitchFamily="34" charset="-122"/>
                <a:cs typeface="Arial" pitchFamily="34" charset="-120"/>
              </a:rPr>
              <a:t>QA/QC from walkdown to job book</a:t>
            </a:r>
            <a:endParaRPr lang="en-US" sz="3200" dirty="0"/>
          </a:p>
        </p:txBody>
      </p:sp>
      <p:sp>
        <p:nvSpPr>
          <p:cNvPr id="5" name="Text 3"/>
          <p:cNvSpPr txBox="1"/>
          <p:nvPr/>
        </p:nvSpPr>
        <p:spPr>
          <a:xfrm>
            <a:off x="548640" y="1481328"/>
            <a:ext cx="11064240" cy="365760"/>
          </a:xfrm>
          <a:prstGeom prst="rect">
            <a:avLst/>
          </a:prstGeom>
          <a:noFill/>
          <a:ln/>
        </p:spPr>
        <p:txBody>
          <a:bodyPr wrap="square" lIns="0" tIns="0" rIns="0" bIns="0" rtlCol="0" anchor="t"/>
          <a:lstStyle/>
          <a:p>
            <a:pPr indent="0" marL="0">
              <a:buNone/>
            </a:pPr>
            <a:r>
              <a:rPr lang="en-US" sz="1500" dirty="0">
                <a:solidFill>
                  <a:srgbClr val="5E5E5E"/>
                </a:solidFill>
                <a:latin typeface="Arial" pitchFamily="34" charset="0"/>
                <a:ea typeface="Arial" pitchFamily="34" charset="-122"/>
                <a:cs typeface="Arial" pitchFamily="34" charset="-120"/>
              </a:rPr>
              <a:t>Governed by the USA DeBusk QA/QC manual, submitted with the RFI response</a:t>
            </a:r>
            <a:endParaRPr lang="en-US" sz="1500" dirty="0"/>
          </a:p>
        </p:txBody>
      </p:sp>
      <p:sp>
        <p:nvSpPr>
          <p:cNvPr id="6" name="Shape 4"/>
          <p:cNvSpPr/>
          <p:nvPr/>
        </p:nvSpPr>
        <p:spPr>
          <a:xfrm>
            <a:off x="548640" y="2103120"/>
            <a:ext cx="3566160" cy="3429000"/>
          </a:xfrm>
          <a:prstGeom prst="rect">
            <a:avLst/>
          </a:prstGeom>
          <a:solidFill>
            <a:srgbClr val="FFFFFF"/>
          </a:solidFill>
          <a:ln w="12700">
            <a:solidFill>
              <a:srgbClr val="FFFFFF"/>
            </a:solidFill>
            <a:prstDash val="solid"/>
          </a:ln>
          <a:effectLst>
            <a:outerShdw sx="100000" sy="100000" kx="0" ky="0" algn="bl" rotWithShape="0" blurRad="101600" dist="25400" dir="5400000">
              <a:srgbClr val="000000">
                <a:alpha val="12000"/>
              </a:srgbClr>
            </a:outerShdw>
          </a:effectLst>
        </p:spPr>
      </p:sp>
      <p:sp>
        <p:nvSpPr>
          <p:cNvPr id="7" name="Shape 5"/>
          <p:cNvSpPr/>
          <p:nvPr/>
        </p:nvSpPr>
        <p:spPr>
          <a:xfrm>
            <a:off x="822960" y="2331720"/>
            <a:ext cx="685800" cy="685800"/>
          </a:xfrm>
          <a:prstGeom prst="ellipse">
            <a:avLst/>
          </a:prstGeom>
          <a:solidFill>
            <a:srgbClr val="1E1E1E"/>
          </a:solidFill>
          <a:ln w="12700">
            <a:solidFill>
              <a:srgbClr val="1E1E1E"/>
            </a:solidFill>
            <a:prstDash val="solid"/>
          </a:ln>
        </p:spPr>
      </p:sp>
      <p:pic>
        <p:nvPicPr>
          <p:cNvPr id="8" name="Image 0" descr="preencoded.png">    </p:cNvPr>
          <p:cNvPicPr>
            <a:picLocks noChangeAspect="1"/>
          </p:cNvPicPr>
          <p:nvPr/>
        </p:nvPicPr>
        <p:blipFill>
          <a:blip r:embed="rId1"/>
          <a:stretch>
            <a:fillRect/>
          </a:stretch>
        </p:blipFill>
        <p:spPr>
          <a:xfrm>
            <a:off x="994410" y="2503170"/>
            <a:ext cx="342900" cy="342900"/>
          </a:xfrm>
          <a:prstGeom prst="rect">
            <a:avLst/>
          </a:prstGeom>
        </p:spPr>
      </p:pic>
      <p:sp>
        <p:nvSpPr>
          <p:cNvPr id="9" name="Text 6"/>
          <p:cNvSpPr txBox="1"/>
          <p:nvPr/>
        </p:nvSpPr>
        <p:spPr>
          <a:xfrm>
            <a:off x="1645920" y="2395728"/>
            <a:ext cx="2286000" cy="548640"/>
          </a:xfrm>
          <a:prstGeom prst="rect">
            <a:avLst/>
          </a:prstGeom>
          <a:noFill/>
          <a:ln/>
        </p:spPr>
        <p:txBody>
          <a:bodyPr wrap="square" lIns="0" tIns="0" rIns="0" bIns="0" rtlCol="0" anchor="ctr"/>
          <a:lstStyle/>
          <a:p>
            <a:pPr indent="0" marL="0">
              <a:buNone/>
            </a:pPr>
            <a:r>
              <a:rPr lang="en-US" sz="2200" b="1" dirty="0">
                <a:solidFill>
                  <a:srgbClr val="222222"/>
                </a:solidFill>
                <a:latin typeface="Arial" pitchFamily="34" charset="0"/>
                <a:ea typeface="Arial" pitchFamily="34" charset="-122"/>
                <a:cs typeface="Arial" pitchFamily="34" charset="-120"/>
              </a:rPr>
              <a:t>Before</a:t>
            </a:r>
            <a:endParaRPr lang="en-US" sz="2200" dirty="0"/>
          </a:p>
        </p:txBody>
      </p:sp>
      <p:sp>
        <p:nvSpPr>
          <p:cNvPr id="10" name="Text 7"/>
          <p:cNvSpPr txBox="1"/>
          <p:nvPr/>
        </p:nvSpPr>
        <p:spPr>
          <a:xfrm>
            <a:off x="822960" y="3291840"/>
            <a:ext cx="3063240" cy="2651760"/>
          </a:xfrm>
          <a:prstGeom prst="rect">
            <a:avLst/>
          </a:prstGeom>
          <a:noFill/>
          <a:ln/>
        </p:spPr>
        <p:txBody>
          <a:bodyPr wrap="square" lIns="0" tIns="0" rIns="0" bIns="0" rtlCol="0" anchor="t"/>
          <a:lstStyle/>
          <a:p>
            <a:pPr marL="177800" indent="-177800">
              <a:spcAft>
                <a:spcPts val="1200"/>
              </a:spcAft>
              <a:buSzPct val="100000"/>
              <a:buChar char="•"/>
            </a:pPr>
            <a:r>
              <a:rPr lang="en-US" sz="1300" dirty="0">
                <a:solidFill>
                  <a:srgbClr val="222222"/>
                </a:solidFill>
                <a:latin typeface="Arial" pitchFamily="34" charset="0"/>
                <a:ea typeface="Arial" pitchFamily="34" charset="-122"/>
                <a:cs typeface="Arial" pitchFamily="34" charset="-120"/>
              </a:rPr>
              <a:t>Pre-job walkdown with operations</a:t>
            </a:r>
            <a:endParaRPr lang="en-US" sz="1300" dirty="0"/>
          </a:p>
          <a:p>
            <a:pPr marL="177800" indent="-177800">
              <a:spcAft>
                <a:spcPts val="1200"/>
              </a:spcAft>
              <a:buSzPct val="100000"/>
              <a:buChar char="•"/>
            </a:pPr>
            <a:r>
              <a:rPr lang="en-US" sz="1300" dirty="0">
                <a:solidFill>
                  <a:srgbClr val="222222"/>
                </a:solidFill>
                <a:latin typeface="Arial" pitchFamily="34" charset="0"/>
                <a:ea typeface="Arial" pitchFamily="34" charset="-122"/>
                <a:cs typeface="Arial" pitchFamily="34" charset="-120"/>
              </a:rPr>
              <a:t>Coil data checked against Marathon records</a:t>
            </a:r>
            <a:endParaRPr lang="en-US" sz="1300" dirty="0"/>
          </a:p>
          <a:p>
            <a:pPr marL="177800" indent="-177800">
              <a:spcAft>
                <a:spcPts val="1200"/>
              </a:spcAft>
              <a:buSzPct val="100000"/>
              <a:buChar char="•"/>
            </a:pPr>
            <a:r>
              <a:rPr lang="en-US" sz="1300" dirty="0">
                <a:solidFill>
                  <a:srgbClr val="222222"/>
                </a:solidFill>
                <a:latin typeface="Arial" pitchFamily="34" charset="0"/>
                <a:ea typeface="Arial" pitchFamily="34" charset="-122"/>
                <a:cs typeface="Arial" pitchFamily="34" charset="-120"/>
              </a:rPr>
              <a:t>JSA, permits and isolation confirmed</a:t>
            </a:r>
            <a:endParaRPr lang="en-US" sz="1300" dirty="0"/>
          </a:p>
          <a:p>
            <a:pPr marL="177800" indent="-177800">
              <a:spcAft>
                <a:spcPts val="1200"/>
              </a:spcAft>
              <a:buSzPct val="100000"/>
              <a:buChar char="•"/>
            </a:pPr>
            <a:r>
              <a:rPr lang="en-US" sz="1300" dirty="0">
                <a:solidFill>
                  <a:srgbClr val="222222"/>
                </a:solidFill>
                <a:latin typeface="Arial" pitchFamily="34" charset="0"/>
                <a:ea typeface="Arial" pitchFamily="34" charset="-122"/>
                <a:cs typeface="Arial" pitchFamily="34" charset="-120"/>
              </a:rPr>
              <a:t>Pig progression staged by heater</a:t>
            </a:r>
            <a:endParaRPr lang="en-US" sz="1300" dirty="0"/>
          </a:p>
        </p:txBody>
      </p:sp>
      <p:sp>
        <p:nvSpPr>
          <p:cNvPr id="11" name="Shape 8"/>
          <p:cNvSpPr/>
          <p:nvPr/>
        </p:nvSpPr>
        <p:spPr>
          <a:xfrm>
            <a:off x="4297680" y="2103120"/>
            <a:ext cx="3566160" cy="3429000"/>
          </a:xfrm>
          <a:prstGeom prst="rect">
            <a:avLst/>
          </a:prstGeom>
          <a:solidFill>
            <a:srgbClr val="FFFFFF"/>
          </a:solidFill>
          <a:ln w="12700">
            <a:solidFill>
              <a:srgbClr val="FFFFFF"/>
            </a:solidFill>
            <a:prstDash val="solid"/>
          </a:ln>
          <a:effectLst>
            <a:outerShdw sx="100000" sy="100000" kx="0" ky="0" algn="bl" rotWithShape="0" blurRad="101600" dist="25400" dir="5400000">
              <a:srgbClr val="000000">
                <a:alpha val="12000"/>
              </a:srgbClr>
            </a:outerShdw>
          </a:effectLst>
        </p:spPr>
      </p:sp>
      <p:sp>
        <p:nvSpPr>
          <p:cNvPr id="12" name="Shape 9"/>
          <p:cNvSpPr/>
          <p:nvPr/>
        </p:nvSpPr>
        <p:spPr>
          <a:xfrm>
            <a:off x="4572000" y="2331720"/>
            <a:ext cx="685800" cy="685800"/>
          </a:xfrm>
          <a:prstGeom prst="ellipse">
            <a:avLst/>
          </a:prstGeom>
          <a:solidFill>
            <a:srgbClr val="1E1E1E"/>
          </a:solidFill>
          <a:ln w="12700">
            <a:solidFill>
              <a:srgbClr val="1E1E1E"/>
            </a:solidFill>
            <a:prstDash val="solid"/>
          </a:ln>
        </p:spPr>
      </p:sp>
      <p:pic>
        <p:nvPicPr>
          <p:cNvPr id="13" name="Image 1" descr="preencoded.png">    </p:cNvPr>
          <p:cNvPicPr>
            <a:picLocks noChangeAspect="1"/>
          </p:cNvPicPr>
          <p:nvPr/>
        </p:nvPicPr>
        <p:blipFill>
          <a:blip r:embed="rId2"/>
          <a:stretch>
            <a:fillRect/>
          </a:stretch>
        </p:blipFill>
        <p:spPr>
          <a:xfrm>
            <a:off x="4743450" y="2503170"/>
            <a:ext cx="342900" cy="342900"/>
          </a:xfrm>
          <a:prstGeom prst="rect">
            <a:avLst/>
          </a:prstGeom>
        </p:spPr>
      </p:pic>
      <p:sp>
        <p:nvSpPr>
          <p:cNvPr id="14" name="Text 10"/>
          <p:cNvSpPr txBox="1"/>
          <p:nvPr/>
        </p:nvSpPr>
        <p:spPr>
          <a:xfrm>
            <a:off x="5394960" y="2395728"/>
            <a:ext cx="2286000" cy="548640"/>
          </a:xfrm>
          <a:prstGeom prst="rect">
            <a:avLst/>
          </a:prstGeom>
          <a:noFill/>
          <a:ln/>
        </p:spPr>
        <p:txBody>
          <a:bodyPr wrap="square" lIns="0" tIns="0" rIns="0" bIns="0" rtlCol="0" anchor="ctr"/>
          <a:lstStyle/>
          <a:p>
            <a:pPr indent="0" marL="0">
              <a:buNone/>
            </a:pPr>
            <a:r>
              <a:rPr lang="en-US" sz="2200" b="1" dirty="0">
                <a:solidFill>
                  <a:srgbClr val="222222"/>
                </a:solidFill>
                <a:latin typeface="Arial" pitchFamily="34" charset="0"/>
                <a:ea typeface="Arial" pitchFamily="34" charset="-122"/>
                <a:cs typeface="Arial" pitchFamily="34" charset="-120"/>
              </a:rPr>
              <a:t>During</a:t>
            </a:r>
            <a:endParaRPr lang="en-US" sz="2200" dirty="0"/>
          </a:p>
        </p:txBody>
      </p:sp>
      <p:sp>
        <p:nvSpPr>
          <p:cNvPr id="15" name="Text 11"/>
          <p:cNvSpPr txBox="1"/>
          <p:nvPr/>
        </p:nvSpPr>
        <p:spPr>
          <a:xfrm>
            <a:off x="4572000" y="3291840"/>
            <a:ext cx="3063240" cy="2651760"/>
          </a:xfrm>
          <a:prstGeom prst="rect">
            <a:avLst/>
          </a:prstGeom>
          <a:noFill/>
          <a:ln/>
        </p:spPr>
        <p:txBody>
          <a:bodyPr wrap="square" lIns="0" tIns="0" rIns="0" bIns="0" rtlCol="0" anchor="t"/>
          <a:lstStyle/>
          <a:p>
            <a:pPr marL="177800" indent="-177800">
              <a:spcAft>
                <a:spcPts val="1200"/>
              </a:spcAft>
              <a:buSzPct val="100000"/>
              <a:buChar char="•"/>
            </a:pPr>
            <a:r>
              <a:rPr lang="en-US" sz="1300" dirty="0">
                <a:solidFill>
                  <a:srgbClr val="222222"/>
                </a:solidFill>
                <a:latin typeface="Arial" pitchFamily="34" charset="0"/>
                <a:ea typeface="Arial" pitchFamily="34" charset="-122"/>
                <a:cs typeface="Arial" pitchFamily="34" charset="-120"/>
              </a:rPr>
              <a:t>Daily report to one point of contact</a:t>
            </a:r>
            <a:endParaRPr lang="en-US" sz="1300" dirty="0"/>
          </a:p>
          <a:p>
            <a:pPr marL="177800" indent="-177800">
              <a:spcAft>
                <a:spcPts val="1200"/>
              </a:spcAft>
              <a:buSzPct val="100000"/>
              <a:buChar char="•"/>
            </a:pPr>
            <a:r>
              <a:rPr lang="en-US" sz="1300" dirty="0">
                <a:solidFill>
                  <a:srgbClr val="222222"/>
                </a:solidFill>
                <a:latin typeface="Arial" pitchFamily="34" charset="0"/>
                <a:ea typeface="Arial" pitchFamily="34" charset="-122"/>
                <a:cs typeface="Arial" pitchFamily="34" charset="-120"/>
              </a:rPr>
              <a:t>Automated digital pig log per pass</a:t>
            </a:r>
            <a:endParaRPr lang="en-US" sz="1300" dirty="0"/>
          </a:p>
          <a:p>
            <a:pPr marL="177800" indent="-177800">
              <a:spcAft>
                <a:spcPts val="1200"/>
              </a:spcAft>
              <a:buSzPct val="100000"/>
              <a:buChar char="•"/>
            </a:pPr>
            <a:r>
              <a:rPr lang="en-US" sz="1300" dirty="0">
                <a:solidFill>
                  <a:srgbClr val="222222"/>
                </a:solidFill>
                <a:latin typeface="Arial" pitchFamily="34" charset="0"/>
                <a:ea typeface="Arial" pitchFamily="34" charset="-122"/>
                <a:cs typeface="Arial" pitchFamily="34" charset="-120"/>
              </a:rPr>
              <a:t>Flow tests before and after at the same rate</a:t>
            </a:r>
            <a:endParaRPr lang="en-US" sz="1300" dirty="0"/>
          </a:p>
          <a:p>
            <a:pPr marL="177800" indent="-177800">
              <a:spcAft>
                <a:spcPts val="1200"/>
              </a:spcAft>
              <a:buSzPct val="100000"/>
              <a:buChar char="•"/>
            </a:pPr>
            <a:r>
              <a:rPr lang="en-US" sz="1300" dirty="0">
                <a:solidFill>
                  <a:srgbClr val="222222"/>
                </a:solidFill>
                <a:latin typeface="Arial" pitchFamily="34" charset="0"/>
                <a:ea typeface="Arial" pitchFamily="34" charset="-122"/>
                <a:cs typeface="Arial" pitchFamily="34" charset="-120"/>
              </a:rPr>
              <a:t>JSA reviewed at every shift change</a:t>
            </a:r>
            <a:endParaRPr lang="en-US" sz="1300" dirty="0"/>
          </a:p>
        </p:txBody>
      </p:sp>
      <p:sp>
        <p:nvSpPr>
          <p:cNvPr id="16" name="Shape 12"/>
          <p:cNvSpPr/>
          <p:nvPr/>
        </p:nvSpPr>
        <p:spPr>
          <a:xfrm>
            <a:off x="8046720" y="2103120"/>
            <a:ext cx="3566160" cy="3429000"/>
          </a:xfrm>
          <a:prstGeom prst="rect">
            <a:avLst/>
          </a:prstGeom>
          <a:solidFill>
            <a:srgbClr val="FFFFFF"/>
          </a:solidFill>
          <a:ln w="12700">
            <a:solidFill>
              <a:srgbClr val="FFFFFF"/>
            </a:solidFill>
            <a:prstDash val="solid"/>
          </a:ln>
          <a:effectLst>
            <a:outerShdw sx="100000" sy="100000" kx="0" ky="0" algn="bl" rotWithShape="0" blurRad="101600" dist="25400" dir="5400000">
              <a:srgbClr val="000000">
                <a:alpha val="12000"/>
              </a:srgbClr>
            </a:outerShdw>
          </a:effectLst>
        </p:spPr>
      </p:sp>
      <p:sp>
        <p:nvSpPr>
          <p:cNvPr id="17" name="Shape 13"/>
          <p:cNvSpPr/>
          <p:nvPr/>
        </p:nvSpPr>
        <p:spPr>
          <a:xfrm>
            <a:off x="8321040" y="2331720"/>
            <a:ext cx="685800" cy="685800"/>
          </a:xfrm>
          <a:prstGeom prst="ellipse">
            <a:avLst/>
          </a:prstGeom>
          <a:solidFill>
            <a:srgbClr val="1E1E1E"/>
          </a:solidFill>
          <a:ln w="12700">
            <a:solidFill>
              <a:srgbClr val="1E1E1E"/>
            </a:solidFill>
            <a:prstDash val="solid"/>
          </a:ln>
        </p:spPr>
      </p:sp>
      <p:pic>
        <p:nvPicPr>
          <p:cNvPr id="18" name="Image 2" descr="preencoded.png">    </p:cNvPr>
          <p:cNvPicPr>
            <a:picLocks noChangeAspect="1"/>
          </p:cNvPicPr>
          <p:nvPr/>
        </p:nvPicPr>
        <p:blipFill>
          <a:blip r:embed="rId3"/>
          <a:stretch>
            <a:fillRect/>
          </a:stretch>
        </p:blipFill>
        <p:spPr>
          <a:xfrm>
            <a:off x="8492490" y="2503170"/>
            <a:ext cx="342900" cy="342900"/>
          </a:xfrm>
          <a:prstGeom prst="rect">
            <a:avLst/>
          </a:prstGeom>
        </p:spPr>
      </p:pic>
      <p:sp>
        <p:nvSpPr>
          <p:cNvPr id="19" name="Text 14"/>
          <p:cNvSpPr txBox="1"/>
          <p:nvPr/>
        </p:nvSpPr>
        <p:spPr>
          <a:xfrm>
            <a:off x="9144000" y="2395728"/>
            <a:ext cx="2286000" cy="548640"/>
          </a:xfrm>
          <a:prstGeom prst="rect">
            <a:avLst/>
          </a:prstGeom>
          <a:noFill/>
          <a:ln/>
        </p:spPr>
        <p:txBody>
          <a:bodyPr wrap="square" lIns="0" tIns="0" rIns="0" bIns="0" rtlCol="0" anchor="ctr"/>
          <a:lstStyle/>
          <a:p>
            <a:pPr indent="0" marL="0">
              <a:buNone/>
            </a:pPr>
            <a:r>
              <a:rPr lang="en-US" sz="2200" b="1" dirty="0">
                <a:solidFill>
                  <a:srgbClr val="222222"/>
                </a:solidFill>
                <a:latin typeface="Arial" pitchFamily="34" charset="0"/>
                <a:ea typeface="Arial" pitchFamily="34" charset="-122"/>
                <a:cs typeface="Arial" pitchFamily="34" charset="-120"/>
              </a:rPr>
              <a:t>Close-out</a:t>
            </a:r>
            <a:endParaRPr lang="en-US" sz="2200" dirty="0"/>
          </a:p>
        </p:txBody>
      </p:sp>
      <p:sp>
        <p:nvSpPr>
          <p:cNvPr id="20" name="Text 15"/>
          <p:cNvSpPr txBox="1"/>
          <p:nvPr/>
        </p:nvSpPr>
        <p:spPr>
          <a:xfrm>
            <a:off x="8321040" y="3291840"/>
            <a:ext cx="3063240" cy="2651760"/>
          </a:xfrm>
          <a:prstGeom prst="rect">
            <a:avLst/>
          </a:prstGeom>
          <a:noFill/>
          <a:ln/>
        </p:spPr>
        <p:txBody>
          <a:bodyPr wrap="square" lIns="0" tIns="0" rIns="0" bIns="0" rtlCol="0" anchor="t"/>
          <a:lstStyle/>
          <a:p>
            <a:pPr marL="177800" indent="-177800">
              <a:spcAft>
                <a:spcPts val="1200"/>
              </a:spcAft>
              <a:buSzPct val="100000"/>
              <a:buChar char="•"/>
            </a:pPr>
            <a:r>
              <a:rPr lang="en-US" sz="1300" dirty="0">
                <a:solidFill>
                  <a:srgbClr val="222222"/>
                </a:solidFill>
                <a:latin typeface="Arial" pitchFamily="34" charset="0"/>
                <a:ea typeface="Arial" pitchFamily="34" charset="-122"/>
                <a:cs typeface="Arial" pitchFamily="34" charset="-120"/>
              </a:rPr>
              <a:t>Per-pass cleanliness sign-off</a:t>
            </a:r>
            <a:endParaRPr lang="en-US" sz="1300" dirty="0"/>
          </a:p>
          <a:p>
            <a:pPr marL="177800" indent="-177800">
              <a:spcAft>
                <a:spcPts val="1200"/>
              </a:spcAft>
              <a:buSzPct val="100000"/>
              <a:buChar char="•"/>
            </a:pPr>
            <a:r>
              <a:rPr lang="en-US" sz="1300" dirty="0">
                <a:solidFill>
                  <a:srgbClr val="222222"/>
                </a:solidFill>
                <a:latin typeface="Arial" pitchFamily="34" charset="0"/>
                <a:ea typeface="Arial" pitchFamily="34" charset="-122"/>
                <a:cs typeface="Arial" pitchFamily="34" charset="-120"/>
              </a:rPr>
              <a:t>Final pig size recorded per pass</a:t>
            </a:r>
            <a:endParaRPr lang="en-US" sz="1300" dirty="0"/>
          </a:p>
          <a:p>
            <a:pPr marL="177800" indent="-177800">
              <a:spcAft>
                <a:spcPts val="1200"/>
              </a:spcAft>
              <a:buSzPct val="100000"/>
              <a:buChar char="•"/>
            </a:pPr>
            <a:r>
              <a:rPr lang="en-US" sz="1300" dirty="0">
                <a:solidFill>
                  <a:srgbClr val="222222"/>
                </a:solidFill>
                <a:latin typeface="Arial" pitchFamily="34" charset="0"/>
                <a:ea typeface="Arial" pitchFamily="34" charset="-122"/>
                <a:cs typeface="Arial" pitchFamily="34" charset="-120"/>
              </a:rPr>
              <a:t>Job book delivered to Marathon</a:t>
            </a:r>
            <a:endParaRPr lang="en-US" sz="1300" dirty="0"/>
          </a:p>
          <a:p>
            <a:pPr marL="177800" indent="-177800">
              <a:spcAft>
                <a:spcPts val="1200"/>
              </a:spcAft>
              <a:buSzPct val="100000"/>
              <a:buChar char="•"/>
            </a:pPr>
            <a:r>
              <a:rPr lang="en-US" sz="1300" dirty="0">
                <a:solidFill>
                  <a:srgbClr val="222222"/>
                </a:solidFill>
                <a:latin typeface="Arial" pitchFamily="34" charset="0"/>
                <a:ea typeface="Arial" pitchFamily="34" charset="-122"/>
                <a:cs typeface="Arial" pitchFamily="34" charset="-120"/>
              </a:rPr>
              <a:t>Post-job review and lessons learned</a:t>
            </a:r>
            <a:endParaRPr lang="en-US" sz="1300" dirty="0"/>
          </a:p>
        </p:txBody>
      </p:sp>
      <p:sp>
        <p:nvSpPr>
          <p:cNvPr id="21" name="Text 16"/>
          <p:cNvSpPr txBox="1"/>
          <p:nvPr/>
        </p:nvSpPr>
        <p:spPr>
          <a:xfrm>
            <a:off x="548640" y="6419088"/>
            <a:ext cx="7315200" cy="228600"/>
          </a:xfrm>
          <a:prstGeom prst="rect">
            <a:avLst/>
          </a:prstGeom>
          <a:noFill/>
          <a:ln/>
        </p:spPr>
        <p:txBody>
          <a:bodyPr wrap="square" lIns="0" tIns="0" rIns="0" bIns="0" rtlCol="0" anchor="ctr"/>
          <a:lstStyle/>
          <a:p>
            <a:pPr indent="0" marL="0">
              <a:buNone/>
            </a:pPr>
            <a:r>
              <a:rPr lang="en-US" sz="900" dirty="0">
                <a:solidFill>
                  <a:srgbClr val="9A9A9A"/>
                </a:solidFill>
                <a:latin typeface="Arial" pitchFamily="34" charset="0"/>
                <a:ea typeface="Arial" pitchFamily="34" charset="-122"/>
                <a:cs typeface="Arial" pitchFamily="34" charset="-120"/>
              </a:rPr>
              <a:t>USA DeBusk  |  LAR Heater Pigging &amp; Decoking Services  |  DSP#26098</a:t>
            </a:r>
            <a:endParaRPr lang="en-US" sz="900" dirty="0"/>
          </a:p>
        </p:txBody>
      </p:sp>
      <p:sp>
        <p:nvSpPr>
          <p:cNvPr id="22" name="Text 17"/>
          <p:cNvSpPr txBox="1"/>
          <p:nvPr/>
        </p:nvSpPr>
        <p:spPr>
          <a:xfrm>
            <a:off x="11155680" y="6419088"/>
            <a:ext cx="484632" cy="228600"/>
          </a:xfrm>
          <a:prstGeom prst="rect">
            <a:avLst/>
          </a:prstGeom>
          <a:noFill/>
          <a:ln/>
        </p:spPr>
        <p:txBody>
          <a:bodyPr wrap="square" lIns="0" tIns="0" rIns="0" bIns="0" rtlCol="0" anchor="ctr"/>
          <a:lstStyle/>
          <a:p>
            <a:pPr algn="r" indent="0" marL="0">
              <a:buNone/>
            </a:pPr>
            <a:r>
              <a:rPr lang="en-US" sz="900" dirty="0">
                <a:solidFill>
                  <a:srgbClr val="9A9A9A"/>
                </a:solidFill>
                <a:latin typeface="Arial" pitchFamily="34" charset="0"/>
                <a:ea typeface="Arial" pitchFamily="34" charset="-122"/>
                <a:cs typeface="Arial" pitchFamily="34" charset="-120"/>
              </a:rPr>
              <a:t>16</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1E1E1E"/>
        </a:solidFill>
      </p:bgPr>
    </p:bg>
    <p:spTree>
      <p:nvGrpSpPr>
        <p:cNvPr id="1" name=""/>
        <p:cNvGrpSpPr/>
        <p:nvPr/>
      </p:nvGrpSpPr>
      <p:grpSpPr>
        <a:xfrm>
          <a:off x="0" y="0"/>
          <a:ext cx="0" cy="0"/>
          <a:chOff x="0" y="0"/>
          <a:chExt cx="0" cy="0"/>
        </a:xfrm>
      </p:grpSpPr>
      <p:pic>
        <p:nvPicPr>
          <p:cNvPr id="2" name="Image 0" descr="/tmp/claude-0/-home-user-obsidian-work/c8998718-f22f-57a3-84c2-766db1d92b4c/scratchpad/deck/img/slot_shop.jpg">    </p:cNvPr>
          <p:cNvPicPr>
            <a:picLocks noChangeAspect="1"/>
          </p:cNvPicPr>
          <p:nvPr/>
        </p:nvPicPr>
        <p:blipFill>
          <a:blip r:embed="rId1"/>
          <a:stretch>
            <a:fillRect/>
          </a:stretch>
        </p:blipFill>
        <p:spPr>
          <a:xfrm>
            <a:off x="0" y="0"/>
            <a:ext cx="12191695" cy="6858000"/>
          </a:xfrm>
          <a:prstGeom prst="rect">
            <a:avLst/>
          </a:prstGeom>
        </p:spPr>
      </p:pic>
      <p:sp>
        <p:nvSpPr>
          <p:cNvPr id="3" name="Shape 0"/>
          <p:cNvSpPr/>
          <p:nvPr/>
        </p:nvSpPr>
        <p:spPr>
          <a:xfrm>
            <a:off x="0" y="0"/>
            <a:ext cx="12191695" cy="1920240"/>
          </a:xfrm>
          <a:prstGeom prst="rect">
            <a:avLst/>
          </a:prstGeom>
          <a:solidFill>
            <a:srgbClr val="111111">
              <a:alpha val="75000"/>
            </a:srgbClr>
          </a:solidFill>
          <a:ln w="12700">
            <a:solidFill>
              <a:srgbClr val="111111">
                <a:alpha val="0"/>
              </a:srgbClr>
            </a:solidFill>
            <a:prstDash val="solid"/>
          </a:ln>
        </p:spPr>
      </p:sp>
      <p:pic>
        <p:nvPicPr>
          <p:cNvPr id="4" name="Image 1" descr="/tmp/claude-0/-home-user-obsidian-work/c8998718-f22f-57a3-84c2-766db1d92b4c/scratchpad/deck/img/fade_bottom_light.png">    </p:cNvPr>
          <p:cNvPicPr>
            <a:picLocks noChangeAspect="1"/>
          </p:cNvPicPr>
          <p:nvPr/>
        </p:nvPicPr>
        <p:blipFill>
          <a:blip r:embed="rId2"/>
          <a:stretch>
            <a:fillRect/>
          </a:stretch>
        </p:blipFill>
        <p:spPr>
          <a:xfrm>
            <a:off x="0" y="0"/>
            <a:ext cx="12191695" cy="6858000"/>
          </a:xfrm>
          <a:prstGeom prst="rect">
            <a:avLst/>
          </a:prstGeom>
        </p:spPr>
      </p:pic>
      <p:sp>
        <p:nvSpPr>
          <p:cNvPr id="5" name="Shape 1"/>
          <p:cNvSpPr/>
          <p:nvPr/>
        </p:nvSpPr>
        <p:spPr>
          <a:xfrm>
            <a:off x="548640" y="411480"/>
            <a:ext cx="4555236" cy="310896"/>
          </a:xfrm>
          <a:prstGeom prst="roundRect">
            <a:avLst>
              <a:gd name="adj" fmla="val 23529"/>
            </a:avLst>
          </a:prstGeom>
          <a:solidFill>
            <a:srgbClr val="FCC30A"/>
          </a:solidFill>
          <a:ln w="12700">
            <a:solidFill>
              <a:srgbClr val="FCC30A"/>
            </a:solidFill>
            <a:prstDash val="solid"/>
          </a:ln>
        </p:spPr>
      </p:sp>
      <p:sp>
        <p:nvSpPr>
          <p:cNvPr id="6" name="Text 2"/>
          <p:cNvSpPr txBox="1"/>
          <p:nvPr/>
        </p:nvSpPr>
        <p:spPr>
          <a:xfrm>
            <a:off x="548640" y="411480"/>
            <a:ext cx="4555236" cy="310896"/>
          </a:xfrm>
          <a:prstGeom prst="rect">
            <a:avLst/>
          </a:prstGeom>
          <a:noFill/>
          <a:ln/>
        </p:spPr>
        <p:txBody>
          <a:bodyPr wrap="square" lIns="0" tIns="0" rIns="0" bIns="0" rtlCol="0" anchor="ctr"/>
          <a:lstStyle/>
          <a:p>
            <a:pPr algn="ctr" indent="0" marL="0">
              <a:buNone/>
            </a:pPr>
            <a:r>
              <a:rPr lang="en-US" sz="1050" b="1" spc="150" kern="0" dirty="0">
                <a:solidFill>
                  <a:srgbClr val="1E1E1E"/>
                </a:solidFill>
                <a:latin typeface="Arial" pitchFamily="34" charset="0"/>
                <a:ea typeface="Arial" pitchFamily="34" charset="-122"/>
                <a:cs typeface="Arial" pitchFamily="34" charset="-120"/>
              </a:rPr>
              <a:t>06   EMERGENCY RESPONSE &amp; LOCAL RESOURCES</a:t>
            </a:r>
            <a:endParaRPr lang="en-US" sz="1050" dirty="0"/>
          </a:p>
        </p:txBody>
      </p:sp>
      <p:sp>
        <p:nvSpPr>
          <p:cNvPr id="7" name="Text 3"/>
          <p:cNvSpPr txBox="1"/>
          <p:nvPr/>
        </p:nvSpPr>
        <p:spPr>
          <a:xfrm>
            <a:off x="548640" y="841248"/>
            <a:ext cx="11064240" cy="731520"/>
          </a:xfrm>
          <a:prstGeom prst="rect">
            <a:avLst/>
          </a:prstGeom>
          <a:noFill/>
          <a:ln/>
        </p:spPr>
        <p:txBody>
          <a:bodyPr wrap="square" lIns="0" tIns="0" rIns="0" bIns="0" rtlCol="0" anchor="t"/>
          <a:lstStyle/>
          <a:p>
            <a:pPr indent="0" marL="0">
              <a:buNone/>
            </a:pPr>
            <a:r>
              <a:rPr lang="en-US" sz="3200" b="1" dirty="0">
                <a:solidFill>
                  <a:srgbClr val="FFFFFF"/>
                </a:solidFill>
                <a:latin typeface="Arial" pitchFamily="34" charset="0"/>
                <a:ea typeface="Arial" pitchFamily="34" charset="-122"/>
                <a:cs typeface="Arial" pitchFamily="34" charset="-120"/>
              </a:rPr>
              <a:t>Ready when LAR needs us</a:t>
            </a:r>
            <a:endParaRPr lang="en-US" sz="3200" dirty="0"/>
          </a:p>
        </p:txBody>
      </p:sp>
      <p:sp>
        <p:nvSpPr>
          <p:cNvPr id="8" name="Text 4"/>
          <p:cNvSpPr txBox="1"/>
          <p:nvPr/>
        </p:nvSpPr>
        <p:spPr>
          <a:xfrm>
            <a:off x="548640" y="1481328"/>
            <a:ext cx="11064240" cy="365760"/>
          </a:xfrm>
          <a:prstGeom prst="rect">
            <a:avLst/>
          </a:prstGeom>
          <a:noFill/>
          <a:ln/>
        </p:spPr>
        <p:txBody>
          <a:bodyPr wrap="square" lIns="0" tIns="0" rIns="0" bIns="0" rtlCol="0" anchor="t"/>
          <a:lstStyle/>
          <a:p>
            <a:pPr indent="0" marL="0">
              <a:buNone/>
            </a:pPr>
            <a:r>
              <a:rPr lang="en-US" sz="1500" dirty="0">
                <a:solidFill>
                  <a:srgbClr val="BDBDBD"/>
                </a:solidFill>
                <a:latin typeface="Arial" pitchFamily="34" charset="0"/>
                <a:ea typeface="Arial" pitchFamily="34" charset="-122"/>
                <a:cs typeface="Arial" pitchFamily="34" charset="-120"/>
              </a:rPr>
              <a:t>Shops, equipment and crews in Southern California / LA Basin, with regional support</a:t>
            </a:r>
            <a:endParaRPr lang="en-US" sz="1500" dirty="0"/>
          </a:p>
        </p:txBody>
      </p:sp>
      <p:sp>
        <p:nvSpPr>
          <p:cNvPr id="9" name="Shape 5"/>
          <p:cNvSpPr/>
          <p:nvPr/>
        </p:nvSpPr>
        <p:spPr>
          <a:xfrm>
            <a:off x="548640" y="5074920"/>
            <a:ext cx="3566160" cy="1097280"/>
          </a:xfrm>
          <a:prstGeom prst="rect">
            <a:avLst/>
          </a:prstGeom>
          <a:solidFill>
            <a:srgbClr val="151515">
              <a:alpha val="85000"/>
            </a:srgbClr>
          </a:solidFill>
          <a:ln w="19050">
            <a:solidFill>
              <a:srgbClr val="FCC30A"/>
            </a:solidFill>
            <a:prstDash val="solid"/>
          </a:ln>
        </p:spPr>
      </p:sp>
      <p:sp>
        <p:nvSpPr>
          <p:cNvPr id="10" name="Text 6"/>
          <p:cNvSpPr txBox="1"/>
          <p:nvPr/>
        </p:nvSpPr>
        <p:spPr>
          <a:xfrm>
            <a:off x="731520" y="5074920"/>
            <a:ext cx="1600200" cy="1097280"/>
          </a:xfrm>
          <a:prstGeom prst="rect">
            <a:avLst/>
          </a:prstGeom>
          <a:noFill/>
          <a:ln/>
        </p:spPr>
        <p:txBody>
          <a:bodyPr wrap="square" lIns="0" tIns="0" rIns="0" bIns="0" rtlCol="0" anchor="ctr"/>
          <a:lstStyle/>
          <a:p>
            <a:pPr indent="0" marL="0">
              <a:buNone/>
            </a:pPr>
            <a:r>
              <a:rPr lang="en-US" sz="2800" b="1" dirty="0">
                <a:solidFill>
                  <a:srgbClr val="FCC30A"/>
                </a:solidFill>
                <a:latin typeface="Arial" pitchFamily="34" charset="0"/>
                <a:ea typeface="Arial" pitchFamily="34" charset="-122"/>
                <a:cs typeface="Arial" pitchFamily="34" charset="-120"/>
              </a:rPr>
              <a:t>24/7</a:t>
            </a:r>
            <a:endParaRPr lang="en-US" sz="2800" dirty="0"/>
          </a:p>
        </p:txBody>
      </p:sp>
      <p:sp>
        <p:nvSpPr>
          <p:cNvPr id="11" name="Text 7"/>
          <p:cNvSpPr txBox="1"/>
          <p:nvPr/>
        </p:nvSpPr>
        <p:spPr>
          <a:xfrm>
            <a:off x="2331720" y="5074920"/>
            <a:ext cx="1691640" cy="1097280"/>
          </a:xfrm>
          <a:prstGeom prst="rect">
            <a:avLst/>
          </a:prstGeom>
          <a:noFill/>
          <a:ln/>
        </p:spPr>
        <p:txBody>
          <a:bodyPr wrap="square" lIns="0" tIns="0" rIns="0" bIns="0" rtlCol="0" anchor="ctr"/>
          <a:lstStyle/>
          <a:p>
            <a:pPr indent="0" marL="0">
              <a:buNone/>
            </a:pPr>
            <a:r>
              <a:rPr lang="en-US" sz="1150" dirty="0">
                <a:solidFill>
                  <a:srgbClr val="FFFFFF"/>
                </a:solidFill>
                <a:latin typeface="Arial" pitchFamily="34" charset="0"/>
                <a:ea typeface="Arial" pitchFamily="34" charset="-122"/>
                <a:cs typeface="Arial" pitchFamily="34" charset="-120"/>
              </a:rPr>
              <a:t>Dispatch and account manager, any hour</a:t>
            </a:r>
            <a:endParaRPr lang="en-US" sz="1150" dirty="0"/>
          </a:p>
        </p:txBody>
      </p:sp>
      <p:sp>
        <p:nvSpPr>
          <p:cNvPr id="12" name="Shape 8"/>
          <p:cNvSpPr/>
          <p:nvPr/>
        </p:nvSpPr>
        <p:spPr>
          <a:xfrm>
            <a:off x="4297680" y="5074920"/>
            <a:ext cx="3566160" cy="1097280"/>
          </a:xfrm>
          <a:prstGeom prst="rect">
            <a:avLst/>
          </a:prstGeom>
          <a:solidFill>
            <a:srgbClr val="151515">
              <a:alpha val="85000"/>
            </a:srgbClr>
          </a:solidFill>
          <a:ln w="19050">
            <a:solidFill>
              <a:srgbClr val="FCC30A"/>
            </a:solidFill>
            <a:prstDash val="solid"/>
          </a:ln>
        </p:spPr>
      </p:sp>
      <p:sp>
        <p:nvSpPr>
          <p:cNvPr id="13" name="Text 9"/>
          <p:cNvSpPr txBox="1"/>
          <p:nvPr/>
        </p:nvSpPr>
        <p:spPr>
          <a:xfrm>
            <a:off x="4480560" y="5074920"/>
            <a:ext cx="1600200" cy="1097280"/>
          </a:xfrm>
          <a:prstGeom prst="rect">
            <a:avLst/>
          </a:prstGeom>
          <a:noFill/>
          <a:ln/>
        </p:spPr>
        <p:txBody>
          <a:bodyPr wrap="square" lIns="0" tIns="0" rIns="0" bIns="0" rtlCol="0" anchor="ctr"/>
          <a:lstStyle/>
          <a:p>
            <a:pPr indent="0" marL="0">
              <a:buNone/>
            </a:pPr>
            <a:r>
              <a:rPr lang="en-US" sz="2200" b="1" dirty="0">
                <a:solidFill>
                  <a:srgbClr val="FCC30A"/>
                </a:solidFill>
                <a:latin typeface="Arial" pitchFamily="34" charset="0"/>
                <a:ea typeface="Arial" pitchFamily="34" charset="-122"/>
                <a:cs typeface="Arial" pitchFamily="34" charset="-120"/>
              </a:rPr>
              <a:t>Same day</a:t>
            </a:r>
            <a:endParaRPr lang="en-US" sz="2200" dirty="0"/>
          </a:p>
        </p:txBody>
      </p:sp>
      <p:sp>
        <p:nvSpPr>
          <p:cNvPr id="14" name="Text 10"/>
          <p:cNvSpPr txBox="1"/>
          <p:nvPr/>
        </p:nvSpPr>
        <p:spPr>
          <a:xfrm>
            <a:off x="6080760" y="5074920"/>
            <a:ext cx="1691640" cy="1097280"/>
          </a:xfrm>
          <a:prstGeom prst="rect">
            <a:avLst/>
          </a:prstGeom>
          <a:noFill/>
          <a:ln/>
        </p:spPr>
        <p:txBody>
          <a:bodyPr wrap="square" lIns="0" tIns="0" rIns="0" bIns="0" rtlCol="0" anchor="ctr"/>
          <a:lstStyle/>
          <a:p>
            <a:pPr indent="0" marL="0">
              <a:buNone/>
            </a:pPr>
            <a:r>
              <a:rPr lang="en-US" sz="1150" dirty="0">
                <a:solidFill>
                  <a:srgbClr val="FFFFFF"/>
                </a:solidFill>
                <a:latin typeface="Arial" pitchFamily="34" charset="0"/>
                <a:ea typeface="Arial" pitchFamily="34" charset="-122"/>
                <a:cs typeface="Arial" pitchFamily="34" charset="-120"/>
              </a:rPr>
              <a:t>Response for local needs</a:t>
            </a:r>
            <a:endParaRPr lang="en-US" sz="1150" dirty="0"/>
          </a:p>
        </p:txBody>
      </p:sp>
      <p:sp>
        <p:nvSpPr>
          <p:cNvPr id="15" name="Shape 11"/>
          <p:cNvSpPr/>
          <p:nvPr/>
        </p:nvSpPr>
        <p:spPr>
          <a:xfrm>
            <a:off x="8046720" y="5074920"/>
            <a:ext cx="3566160" cy="1097280"/>
          </a:xfrm>
          <a:prstGeom prst="rect">
            <a:avLst/>
          </a:prstGeom>
          <a:solidFill>
            <a:srgbClr val="151515">
              <a:alpha val="85000"/>
            </a:srgbClr>
          </a:solidFill>
          <a:ln w="19050">
            <a:solidFill>
              <a:srgbClr val="FCC30A"/>
            </a:solidFill>
            <a:prstDash val="solid"/>
          </a:ln>
        </p:spPr>
      </p:sp>
      <p:sp>
        <p:nvSpPr>
          <p:cNvPr id="16" name="Text 12"/>
          <p:cNvSpPr txBox="1"/>
          <p:nvPr/>
        </p:nvSpPr>
        <p:spPr>
          <a:xfrm>
            <a:off x="8229600" y="5074920"/>
            <a:ext cx="1600200" cy="1097280"/>
          </a:xfrm>
          <a:prstGeom prst="rect">
            <a:avLst/>
          </a:prstGeom>
          <a:noFill/>
          <a:ln/>
        </p:spPr>
        <p:txBody>
          <a:bodyPr wrap="square" lIns="0" tIns="0" rIns="0" bIns="0" rtlCol="0" anchor="ctr"/>
          <a:lstStyle/>
          <a:p>
            <a:pPr indent="0" marL="0">
              <a:buNone/>
            </a:pPr>
            <a:r>
              <a:rPr lang="en-US" sz="2200" b="1" dirty="0">
                <a:solidFill>
                  <a:srgbClr val="FCC30A"/>
                </a:solidFill>
                <a:latin typeface="Arial" pitchFamily="34" charset="0"/>
                <a:ea typeface="Arial" pitchFamily="34" charset="-122"/>
                <a:cs typeface="Arial" pitchFamily="34" charset="-120"/>
              </a:rPr>
              <a:t>&lt; 24 hrs</a:t>
            </a:r>
            <a:endParaRPr lang="en-US" sz="2200" dirty="0"/>
          </a:p>
        </p:txBody>
      </p:sp>
      <p:sp>
        <p:nvSpPr>
          <p:cNvPr id="17" name="Text 13"/>
          <p:cNvSpPr txBox="1"/>
          <p:nvPr/>
        </p:nvSpPr>
        <p:spPr>
          <a:xfrm>
            <a:off x="9829800" y="5074920"/>
            <a:ext cx="1691640" cy="1097280"/>
          </a:xfrm>
          <a:prstGeom prst="rect">
            <a:avLst/>
          </a:prstGeom>
          <a:noFill/>
          <a:ln/>
        </p:spPr>
        <p:txBody>
          <a:bodyPr wrap="square" lIns="0" tIns="0" rIns="0" bIns="0" rtlCol="0" anchor="ctr"/>
          <a:lstStyle/>
          <a:p>
            <a:pPr indent="0" marL="0">
              <a:buNone/>
            </a:pPr>
            <a:r>
              <a:rPr lang="en-US" sz="1150" dirty="0">
                <a:solidFill>
                  <a:srgbClr val="FFFFFF"/>
                </a:solidFill>
                <a:latin typeface="Arial" pitchFamily="34" charset="0"/>
                <a:ea typeface="Arial" pitchFamily="34" charset="-122"/>
                <a:cs typeface="Arial" pitchFamily="34" charset="-120"/>
              </a:rPr>
              <a:t>Manpower &amp; equipment anywhere else, from regional shops</a:t>
            </a:r>
            <a:endParaRPr lang="en-US" sz="1150" dirty="0"/>
          </a:p>
        </p:txBody>
      </p:sp>
      <p:sp>
        <p:nvSpPr>
          <p:cNvPr id="18" name="Text 14"/>
          <p:cNvSpPr txBox="1"/>
          <p:nvPr/>
        </p:nvSpPr>
        <p:spPr>
          <a:xfrm>
            <a:off x="548640" y="6419088"/>
            <a:ext cx="7315200" cy="228600"/>
          </a:xfrm>
          <a:prstGeom prst="rect">
            <a:avLst/>
          </a:prstGeom>
          <a:noFill/>
          <a:ln/>
        </p:spPr>
        <p:txBody>
          <a:bodyPr wrap="square" lIns="0" tIns="0" rIns="0" bIns="0" rtlCol="0" anchor="ctr"/>
          <a:lstStyle/>
          <a:p>
            <a:pPr indent="0" marL="0">
              <a:buNone/>
            </a:pPr>
            <a:r>
              <a:rPr lang="en-US" sz="900" dirty="0">
                <a:solidFill>
                  <a:srgbClr val="BDBDBD"/>
                </a:solidFill>
                <a:latin typeface="Arial" pitchFamily="34" charset="0"/>
                <a:ea typeface="Arial" pitchFamily="34" charset="-122"/>
                <a:cs typeface="Arial" pitchFamily="34" charset="-120"/>
              </a:rPr>
              <a:t>USA DeBusk  |  LAR Heater Pigging &amp; Decoking Services  |  DSP#26098</a:t>
            </a:r>
            <a:endParaRPr lang="en-US" sz="900" dirty="0"/>
          </a:p>
        </p:txBody>
      </p:sp>
      <p:sp>
        <p:nvSpPr>
          <p:cNvPr id="19" name="Text 15"/>
          <p:cNvSpPr txBox="1"/>
          <p:nvPr/>
        </p:nvSpPr>
        <p:spPr>
          <a:xfrm>
            <a:off x="11155680" y="6419088"/>
            <a:ext cx="484632" cy="228600"/>
          </a:xfrm>
          <a:prstGeom prst="rect">
            <a:avLst/>
          </a:prstGeom>
          <a:noFill/>
          <a:ln/>
        </p:spPr>
        <p:txBody>
          <a:bodyPr wrap="square" lIns="0" tIns="0" rIns="0" bIns="0" rtlCol="0" anchor="ctr"/>
          <a:lstStyle/>
          <a:p>
            <a:pPr algn="r" indent="0" marL="0">
              <a:buNone/>
            </a:pPr>
            <a:r>
              <a:rPr lang="en-US" sz="900" dirty="0">
                <a:solidFill>
                  <a:srgbClr val="BDBDBD"/>
                </a:solidFill>
                <a:latin typeface="Arial" pitchFamily="34" charset="0"/>
                <a:ea typeface="Arial" pitchFamily="34" charset="-122"/>
                <a:cs typeface="Arial" pitchFamily="34" charset="-120"/>
              </a:rPr>
              <a:t>17</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1E1E1E"/>
        </a:solidFill>
      </p:bgPr>
    </p:bg>
    <p:spTree>
      <p:nvGrpSpPr>
        <p:cNvPr id="1" name=""/>
        <p:cNvGrpSpPr/>
        <p:nvPr/>
      </p:nvGrpSpPr>
      <p:grpSpPr>
        <a:xfrm>
          <a:off x="0" y="0"/>
          <a:ext cx="0" cy="0"/>
          <a:chOff x="0" y="0"/>
          <a:chExt cx="0" cy="0"/>
        </a:xfrm>
      </p:grpSpPr>
      <p:sp>
        <p:nvSpPr>
          <p:cNvPr id="2" name="Shape 0"/>
          <p:cNvSpPr/>
          <p:nvPr/>
        </p:nvSpPr>
        <p:spPr>
          <a:xfrm>
            <a:off x="548640" y="411480"/>
            <a:ext cx="3015139" cy="310896"/>
          </a:xfrm>
          <a:prstGeom prst="roundRect">
            <a:avLst>
              <a:gd name="adj" fmla="val 23529"/>
            </a:avLst>
          </a:prstGeom>
          <a:solidFill>
            <a:srgbClr val="FCC30A"/>
          </a:solidFill>
          <a:ln w="12700">
            <a:solidFill>
              <a:srgbClr val="FCC30A"/>
            </a:solidFill>
            <a:prstDash val="solid"/>
          </a:ln>
        </p:spPr>
      </p:sp>
      <p:sp>
        <p:nvSpPr>
          <p:cNvPr id="3" name="Text 1"/>
          <p:cNvSpPr txBox="1"/>
          <p:nvPr/>
        </p:nvSpPr>
        <p:spPr>
          <a:xfrm>
            <a:off x="548640" y="411480"/>
            <a:ext cx="3015139" cy="310896"/>
          </a:xfrm>
          <a:prstGeom prst="rect">
            <a:avLst/>
          </a:prstGeom>
          <a:noFill/>
          <a:ln/>
        </p:spPr>
        <p:txBody>
          <a:bodyPr wrap="square" lIns="0" tIns="0" rIns="0" bIns="0" rtlCol="0" anchor="ctr"/>
          <a:lstStyle/>
          <a:p>
            <a:pPr algn="ctr" indent="0" marL="0">
              <a:buNone/>
            </a:pPr>
            <a:r>
              <a:rPr lang="en-US" sz="1050" b="1" spc="150" kern="0" dirty="0">
                <a:solidFill>
                  <a:srgbClr val="1E1E1E"/>
                </a:solidFill>
                <a:latin typeface="Arial" pitchFamily="34" charset="0"/>
                <a:ea typeface="Arial" pitchFamily="34" charset="-122"/>
                <a:cs typeface="Arial" pitchFamily="34" charset="-120"/>
              </a:rPr>
              <a:t>07   SAFETY &amp; RISK MITIGATION</a:t>
            </a:r>
            <a:endParaRPr lang="en-US" sz="1050" dirty="0"/>
          </a:p>
        </p:txBody>
      </p:sp>
      <p:sp>
        <p:nvSpPr>
          <p:cNvPr id="4" name="Text 2"/>
          <p:cNvSpPr txBox="1"/>
          <p:nvPr/>
        </p:nvSpPr>
        <p:spPr>
          <a:xfrm>
            <a:off x="548640" y="841248"/>
            <a:ext cx="11064240" cy="731520"/>
          </a:xfrm>
          <a:prstGeom prst="rect">
            <a:avLst/>
          </a:prstGeom>
          <a:noFill/>
          <a:ln/>
        </p:spPr>
        <p:txBody>
          <a:bodyPr wrap="square" lIns="0" tIns="0" rIns="0" bIns="0" rtlCol="0" anchor="t"/>
          <a:lstStyle/>
          <a:p>
            <a:pPr indent="0" marL="0">
              <a:buNone/>
            </a:pPr>
            <a:r>
              <a:rPr lang="en-US" sz="3200" b="1" dirty="0">
                <a:solidFill>
                  <a:srgbClr val="FFFFFF"/>
                </a:solidFill>
                <a:latin typeface="Arial" pitchFamily="34" charset="0"/>
                <a:ea typeface="Arial" pitchFamily="34" charset="-122"/>
                <a:cs typeface="Arial" pitchFamily="34" charset="-120"/>
              </a:rPr>
              <a:t>Safety performance</a:t>
            </a:r>
            <a:endParaRPr lang="en-US" sz="3200" dirty="0"/>
          </a:p>
        </p:txBody>
      </p:sp>
      <p:sp>
        <p:nvSpPr>
          <p:cNvPr id="5" name="Text 3"/>
          <p:cNvSpPr txBox="1"/>
          <p:nvPr/>
        </p:nvSpPr>
        <p:spPr>
          <a:xfrm>
            <a:off x="548640" y="1481328"/>
            <a:ext cx="11064240" cy="365760"/>
          </a:xfrm>
          <a:prstGeom prst="rect">
            <a:avLst/>
          </a:prstGeom>
          <a:noFill/>
          <a:ln/>
        </p:spPr>
        <p:txBody>
          <a:bodyPr wrap="square" lIns="0" tIns="0" rIns="0" bIns="0" rtlCol="0" anchor="t"/>
          <a:lstStyle/>
          <a:p>
            <a:pPr indent="0" marL="0">
              <a:buNone/>
            </a:pPr>
            <a:r>
              <a:rPr lang="en-US" sz="1500" dirty="0">
                <a:solidFill>
                  <a:srgbClr val="BDBDBD"/>
                </a:solidFill>
                <a:latin typeface="Arial" pitchFamily="34" charset="0"/>
                <a:ea typeface="Arial" pitchFamily="34" charset="-122"/>
                <a:cs typeface="Arial" pitchFamily="34" charset="-120"/>
              </a:rPr>
              <a:t>Experience Modification Rate: 1.0 is the industry baseline; lower is better</a:t>
            </a:r>
            <a:endParaRPr lang="en-US" sz="1500" dirty="0"/>
          </a:p>
        </p:txBody>
      </p:sp>
      <p:graphicFrame>
        <p:nvGraphicFramePr>
          <p:cNvPr id="6" name="Chart 0" descr=""/>
          <p:cNvGraphicFramePr/>
          <p:nvPr/>
        </p:nvGraphicFramePr>
        <p:xfrm>
          <a:off x="548640" y="2011680"/>
          <a:ext cx="6217920" cy="4114800"/>
        </p:xfrm>
        <a:graphic xmlns:a="http://schemas.openxmlformats.org/drawingml/2006/main">
          <a:graphicData uri="http://schemas.openxmlformats.org/drawingml/2006/chart">
            <c:chart xmlns:c="http://schemas.openxmlformats.org/drawingml/2006/chart" r:id="rId1"/>
          </a:graphicData>
        </a:graphic>
      </p:graphicFrame>
      <p:sp>
        <p:nvSpPr>
          <p:cNvPr id="7" name="Shape 4"/>
          <p:cNvSpPr/>
          <p:nvPr/>
        </p:nvSpPr>
        <p:spPr>
          <a:xfrm>
            <a:off x="7223760" y="2103120"/>
            <a:ext cx="2057400" cy="1828800"/>
          </a:xfrm>
          <a:prstGeom prst="rect">
            <a:avLst/>
          </a:prstGeom>
          <a:solidFill>
            <a:srgbClr val="2B2B2B"/>
          </a:solidFill>
          <a:ln w="12700">
            <a:solidFill>
              <a:srgbClr val="2B2B2B"/>
            </a:solidFill>
            <a:prstDash val="solid"/>
          </a:ln>
        </p:spPr>
      </p:sp>
      <p:sp>
        <p:nvSpPr>
          <p:cNvPr id="8" name="Text 5"/>
          <p:cNvSpPr txBox="1"/>
          <p:nvPr/>
        </p:nvSpPr>
        <p:spPr>
          <a:xfrm>
            <a:off x="7406640" y="2331720"/>
            <a:ext cx="1737360" cy="822960"/>
          </a:xfrm>
          <a:prstGeom prst="rect">
            <a:avLst/>
          </a:prstGeom>
          <a:noFill/>
          <a:ln/>
        </p:spPr>
        <p:txBody>
          <a:bodyPr wrap="square" lIns="0" tIns="0" rIns="0" bIns="0" rtlCol="0" anchor="ctr"/>
          <a:lstStyle/>
          <a:p>
            <a:pPr indent="0" marL="0">
              <a:buNone/>
            </a:pPr>
            <a:r>
              <a:rPr lang="en-US" sz="4000" b="1" dirty="0">
                <a:solidFill>
                  <a:srgbClr val="FCC30A"/>
                </a:solidFill>
                <a:latin typeface="Arial" pitchFamily="34" charset="0"/>
                <a:ea typeface="Arial" pitchFamily="34" charset="-122"/>
                <a:cs typeface="Arial" pitchFamily="34" charset="-120"/>
              </a:rPr>
              <a:t>A</a:t>
            </a:r>
            <a:endParaRPr lang="en-US" sz="4000" dirty="0"/>
          </a:p>
        </p:txBody>
      </p:sp>
      <p:sp>
        <p:nvSpPr>
          <p:cNvPr id="9" name="Text 6"/>
          <p:cNvSpPr txBox="1"/>
          <p:nvPr/>
        </p:nvSpPr>
        <p:spPr>
          <a:xfrm>
            <a:off x="7406640" y="3200400"/>
            <a:ext cx="1737360" cy="594360"/>
          </a:xfrm>
          <a:prstGeom prst="rect">
            <a:avLst/>
          </a:prstGeom>
          <a:noFill/>
          <a:ln/>
        </p:spPr>
        <p:txBody>
          <a:bodyPr wrap="square" lIns="0" tIns="0" rIns="0" bIns="0" rtlCol="0" anchor="t"/>
          <a:lstStyle/>
          <a:p>
            <a:pPr indent="0" marL="0">
              <a:buNone/>
            </a:pPr>
            <a:r>
              <a:rPr lang="en-US" sz="1250" dirty="0">
                <a:solidFill>
                  <a:srgbClr val="FFFFFF"/>
                </a:solidFill>
                <a:latin typeface="Arial" pitchFamily="34" charset="0"/>
                <a:ea typeface="Arial" pitchFamily="34" charset="-122"/>
                <a:cs typeface="Arial" pitchFamily="34" charset="-120"/>
              </a:rPr>
              <a:t>ISNetworld safety grade</a:t>
            </a:r>
            <a:endParaRPr lang="en-US" sz="1250" dirty="0"/>
          </a:p>
        </p:txBody>
      </p:sp>
      <p:sp>
        <p:nvSpPr>
          <p:cNvPr id="10" name="Shape 7"/>
          <p:cNvSpPr/>
          <p:nvPr/>
        </p:nvSpPr>
        <p:spPr>
          <a:xfrm>
            <a:off x="9464040" y="2103120"/>
            <a:ext cx="2057400" cy="1828800"/>
          </a:xfrm>
          <a:prstGeom prst="rect">
            <a:avLst/>
          </a:prstGeom>
          <a:solidFill>
            <a:srgbClr val="2B2B2B"/>
          </a:solidFill>
          <a:ln w="12700">
            <a:solidFill>
              <a:srgbClr val="2B2B2B"/>
            </a:solidFill>
            <a:prstDash val="solid"/>
          </a:ln>
        </p:spPr>
      </p:sp>
      <p:sp>
        <p:nvSpPr>
          <p:cNvPr id="11" name="Text 8"/>
          <p:cNvSpPr txBox="1"/>
          <p:nvPr/>
        </p:nvSpPr>
        <p:spPr>
          <a:xfrm>
            <a:off x="9646920" y="2331720"/>
            <a:ext cx="1737360" cy="822960"/>
          </a:xfrm>
          <a:prstGeom prst="rect">
            <a:avLst/>
          </a:prstGeom>
          <a:noFill/>
          <a:ln/>
        </p:spPr>
        <p:txBody>
          <a:bodyPr wrap="square" lIns="0" tIns="0" rIns="0" bIns="0" rtlCol="0" anchor="ctr"/>
          <a:lstStyle/>
          <a:p>
            <a:pPr indent="0" marL="0">
              <a:buNone/>
            </a:pPr>
            <a:r>
              <a:rPr lang="en-US" sz="4000" b="1" dirty="0">
                <a:solidFill>
                  <a:srgbClr val="FCC30A"/>
                </a:solidFill>
                <a:latin typeface="Arial" pitchFamily="34" charset="0"/>
                <a:ea typeface="Arial" pitchFamily="34" charset="-122"/>
                <a:cs typeface="Arial" pitchFamily="34" charset="-120"/>
              </a:rPr>
              <a:t>0.48</a:t>
            </a:r>
            <a:endParaRPr lang="en-US" sz="4000" dirty="0"/>
          </a:p>
        </p:txBody>
      </p:sp>
      <p:sp>
        <p:nvSpPr>
          <p:cNvPr id="12" name="Text 9"/>
          <p:cNvSpPr txBox="1"/>
          <p:nvPr/>
        </p:nvSpPr>
        <p:spPr>
          <a:xfrm>
            <a:off x="9646920" y="3200400"/>
            <a:ext cx="1737360" cy="594360"/>
          </a:xfrm>
          <a:prstGeom prst="rect">
            <a:avLst/>
          </a:prstGeom>
          <a:noFill/>
          <a:ln/>
        </p:spPr>
        <p:txBody>
          <a:bodyPr wrap="square" lIns="0" tIns="0" rIns="0" bIns="0" rtlCol="0" anchor="t"/>
          <a:lstStyle/>
          <a:p>
            <a:pPr indent="0" marL="0">
              <a:buNone/>
            </a:pPr>
            <a:r>
              <a:rPr lang="en-US" sz="1250" dirty="0">
                <a:solidFill>
                  <a:srgbClr val="FFFFFF"/>
                </a:solidFill>
                <a:latin typeface="Arial" pitchFamily="34" charset="0"/>
                <a:ea typeface="Arial" pitchFamily="34" charset="-122"/>
                <a:cs typeface="Arial" pitchFamily="34" charset="-120"/>
              </a:rPr>
              <a:t>EMR, 2026</a:t>
            </a:r>
            <a:endParaRPr lang="en-US" sz="1250" dirty="0"/>
          </a:p>
        </p:txBody>
      </p:sp>
      <p:sp>
        <p:nvSpPr>
          <p:cNvPr id="13" name="Shape 10"/>
          <p:cNvSpPr/>
          <p:nvPr/>
        </p:nvSpPr>
        <p:spPr>
          <a:xfrm>
            <a:off x="7223760" y="4114800"/>
            <a:ext cx="2057400" cy="1828800"/>
          </a:xfrm>
          <a:prstGeom prst="rect">
            <a:avLst/>
          </a:prstGeom>
          <a:solidFill>
            <a:srgbClr val="2B2B2B"/>
          </a:solidFill>
          <a:ln w="12700">
            <a:solidFill>
              <a:srgbClr val="2B2B2B"/>
            </a:solidFill>
            <a:prstDash val="solid"/>
          </a:ln>
        </p:spPr>
      </p:sp>
      <p:sp>
        <p:nvSpPr>
          <p:cNvPr id="14" name="Text 11"/>
          <p:cNvSpPr txBox="1"/>
          <p:nvPr/>
        </p:nvSpPr>
        <p:spPr>
          <a:xfrm>
            <a:off x="7406640" y="4343400"/>
            <a:ext cx="1737360" cy="822960"/>
          </a:xfrm>
          <a:prstGeom prst="rect">
            <a:avLst/>
          </a:prstGeom>
          <a:noFill/>
          <a:ln/>
        </p:spPr>
        <p:txBody>
          <a:bodyPr wrap="square" lIns="0" tIns="0" rIns="0" bIns="0" rtlCol="0" anchor="ctr"/>
          <a:lstStyle/>
          <a:p>
            <a:pPr indent="0" marL="0">
              <a:buNone/>
            </a:pPr>
            <a:r>
              <a:rPr lang="en-US" sz="4000" b="1" dirty="0">
                <a:solidFill>
                  <a:srgbClr val="FCC30A"/>
                </a:solidFill>
                <a:latin typeface="Arial" pitchFamily="34" charset="0"/>
                <a:ea typeface="Arial" pitchFamily="34" charset="-122"/>
                <a:cs typeface="Arial" pitchFamily="34" charset="-120"/>
              </a:rPr>
              <a:t>−49%</a:t>
            </a:r>
            <a:endParaRPr lang="en-US" sz="4000" dirty="0"/>
          </a:p>
        </p:txBody>
      </p:sp>
      <p:sp>
        <p:nvSpPr>
          <p:cNvPr id="15" name="Text 12"/>
          <p:cNvSpPr txBox="1"/>
          <p:nvPr/>
        </p:nvSpPr>
        <p:spPr>
          <a:xfrm>
            <a:off x="7406640" y="5212080"/>
            <a:ext cx="1737360" cy="594360"/>
          </a:xfrm>
          <a:prstGeom prst="rect">
            <a:avLst/>
          </a:prstGeom>
          <a:noFill/>
          <a:ln/>
        </p:spPr>
        <p:txBody>
          <a:bodyPr wrap="square" lIns="0" tIns="0" rIns="0" bIns="0" rtlCol="0" anchor="t"/>
          <a:lstStyle/>
          <a:p>
            <a:pPr indent="0" marL="0">
              <a:buNone/>
            </a:pPr>
            <a:r>
              <a:rPr lang="en-US" sz="1250" dirty="0">
                <a:solidFill>
                  <a:srgbClr val="FFFFFF"/>
                </a:solidFill>
                <a:latin typeface="Arial" pitchFamily="34" charset="0"/>
                <a:ea typeface="Arial" pitchFamily="34" charset="-122"/>
                <a:cs typeface="Arial" pitchFamily="34" charset="-120"/>
              </a:rPr>
              <a:t>EMR since 2024</a:t>
            </a:r>
            <a:endParaRPr lang="en-US" sz="1250" dirty="0"/>
          </a:p>
        </p:txBody>
      </p:sp>
      <p:sp>
        <p:nvSpPr>
          <p:cNvPr id="16" name="Shape 13"/>
          <p:cNvSpPr/>
          <p:nvPr/>
        </p:nvSpPr>
        <p:spPr>
          <a:xfrm>
            <a:off x="9464040" y="4114800"/>
            <a:ext cx="2057400" cy="1828800"/>
          </a:xfrm>
          <a:prstGeom prst="rect">
            <a:avLst/>
          </a:prstGeom>
          <a:solidFill>
            <a:srgbClr val="2B2B2B"/>
          </a:solidFill>
          <a:ln w="12700">
            <a:solidFill>
              <a:srgbClr val="2B2B2B"/>
            </a:solidFill>
            <a:prstDash val="solid"/>
          </a:ln>
        </p:spPr>
      </p:sp>
      <p:sp>
        <p:nvSpPr>
          <p:cNvPr id="17" name="Text 14"/>
          <p:cNvSpPr txBox="1"/>
          <p:nvPr/>
        </p:nvSpPr>
        <p:spPr>
          <a:xfrm>
            <a:off x="9646920" y="4343400"/>
            <a:ext cx="1737360" cy="822960"/>
          </a:xfrm>
          <a:prstGeom prst="rect">
            <a:avLst/>
          </a:prstGeom>
          <a:noFill/>
          <a:ln/>
        </p:spPr>
        <p:txBody>
          <a:bodyPr wrap="square" lIns="0" tIns="0" rIns="0" bIns="0" rtlCol="0" anchor="ctr"/>
          <a:lstStyle/>
          <a:p>
            <a:pPr indent="0" marL="0">
              <a:buNone/>
            </a:pPr>
            <a:r>
              <a:rPr lang="en-US" sz="4000" b="1" dirty="0">
                <a:solidFill>
                  <a:srgbClr val="FCC30A"/>
                </a:solidFill>
                <a:latin typeface="Arial" pitchFamily="34" charset="0"/>
                <a:ea typeface="Arial" pitchFamily="34" charset="-122"/>
                <a:cs typeface="Arial" pitchFamily="34" charset="-120"/>
              </a:rPr>
              <a:t>0</a:t>
            </a:r>
            <a:endParaRPr lang="en-US" sz="4000" dirty="0"/>
          </a:p>
        </p:txBody>
      </p:sp>
      <p:sp>
        <p:nvSpPr>
          <p:cNvPr id="18" name="Text 15"/>
          <p:cNvSpPr txBox="1"/>
          <p:nvPr/>
        </p:nvSpPr>
        <p:spPr>
          <a:xfrm>
            <a:off x="9646920" y="5212080"/>
            <a:ext cx="1737360" cy="594360"/>
          </a:xfrm>
          <a:prstGeom prst="rect">
            <a:avLst/>
          </a:prstGeom>
          <a:noFill/>
          <a:ln/>
        </p:spPr>
        <p:txBody>
          <a:bodyPr wrap="square" lIns="0" tIns="0" rIns="0" bIns="0" rtlCol="0" anchor="t"/>
          <a:lstStyle/>
          <a:p>
            <a:pPr indent="0" marL="0">
              <a:buNone/>
            </a:pPr>
            <a:r>
              <a:rPr lang="en-US" sz="1250" dirty="0">
                <a:solidFill>
                  <a:srgbClr val="FFFFFF"/>
                </a:solidFill>
                <a:latin typeface="Arial" pitchFamily="34" charset="0"/>
                <a:ea typeface="Arial" pitchFamily="34" charset="-122"/>
                <a:cs typeface="Arial" pitchFamily="34" charset="-120"/>
              </a:rPr>
              <a:t>fatalities in 3 years</a:t>
            </a:r>
            <a:endParaRPr lang="en-US" sz="1250" dirty="0"/>
          </a:p>
        </p:txBody>
      </p:sp>
      <p:sp>
        <p:nvSpPr>
          <p:cNvPr id="19" name="Text 16"/>
          <p:cNvSpPr txBox="1"/>
          <p:nvPr/>
        </p:nvSpPr>
        <p:spPr>
          <a:xfrm>
            <a:off x="548640" y="6419088"/>
            <a:ext cx="7315200" cy="228600"/>
          </a:xfrm>
          <a:prstGeom prst="rect">
            <a:avLst/>
          </a:prstGeom>
          <a:noFill/>
          <a:ln/>
        </p:spPr>
        <p:txBody>
          <a:bodyPr wrap="square" lIns="0" tIns="0" rIns="0" bIns="0" rtlCol="0" anchor="ctr"/>
          <a:lstStyle/>
          <a:p>
            <a:pPr indent="0" marL="0">
              <a:buNone/>
            </a:pPr>
            <a:r>
              <a:rPr lang="en-US" sz="900" dirty="0">
                <a:solidFill>
                  <a:srgbClr val="BDBDBD"/>
                </a:solidFill>
                <a:latin typeface="Arial" pitchFamily="34" charset="0"/>
                <a:ea typeface="Arial" pitchFamily="34" charset="-122"/>
                <a:cs typeface="Arial" pitchFamily="34" charset="-120"/>
              </a:rPr>
              <a:t>USA DeBusk  |  LAR Heater Pigging &amp; Decoking Services  |  DSP#26098</a:t>
            </a:r>
            <a:endParaRPr lang="en-US" sz="900" dirty="0"/>
          </a:p>
        </p:txBody>
      </p:sp>
      <p:sp>
        <p:nvSpPr>
          <p:cNvPr id="20" name="Text 17"/>
          <p:cNvSpPr txBox="1"/>
          <p:nvPr/>
        </p:nvSpPr>
        <p:spPr>
          <a:xfrm>
            <a:off x="11155680" y="6419088"/>
            <a:ext cx="484632" cy="228600"/>
          </a:xfrm>
          <a:prstGeom prst="rect">
            <a:avLst/>
          </a:prstGeom>
          <a:noFill/>
          <a:ln/>
        </p:spPr>
        <p:txBody>
          <a:bodyPr wrap="square" lIns="0" tIns="0" rIns="0" bIns="0" rtlCol="0" anchor="ctr"/>
          <a:lstStyle/>
          <a:p>
            <a:pPr algn="r" indent="0" marL="0">
              <a:buNone/>
            </a:pPr>
            <a:r>
              <a:rPr lang="en-US" sz="900" dirty="0">
                <a:solidFill>
                  <a:srgbClr val="BDBDBD"/>
                </a:solidFill>
                <a:latin typeface="Arial" pitchFamily="34" charset="0"/>
                <a:ea typeface="Arial" pitchFamily="34" charset="-122"/>
                <a:cs typeface="Arial" pitchFamily="34" charset="-120"/>
              </a:rPr>
              <a:t>18</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pic>
        <p:nvPicPr>
          <p:cNvPr id="2" name="Image 0" descr="/tmp/claude-0/-home-user-obsidian-work/c8998718-f22f-57a3-84c2-766db1d92b4c/scratchpad/deck/img/slot_danger.jpg">    </p:cNvPr>
          <p:cNvPicPr>
            <a:picLocks noChangeAspect="1"/>
          </p:cNvPicPr>
          <p:nvPr/>
        </p:nvPicPr>
        <p:blipFill>
          <a:blip r:embed="rId1"/>
          <a:stretch>
            <a:fillRect/>
          </a:stretch>
        </p:blipFill>
        <p:spPr>
          <a:xfrm>
            <a:off x="0" y="0"/>
            <a:ext cx="3566160" cy="6858000"/>
          </a:xfrm>
          <a:prstGeom prst="rect">
            <a:avLst/>
          </a:prstGeom>
        </p:spPr>
      </p:pic>
      <p:sp>
        <p:nvSpPr>
          <p:cNvPr id="3" name="Shape 0"/>
          <p:cNvSpPr/>
          <p:nvPr/>
        </p:nvSpPr>
        <p:spPr>
          <a:xfrm>
            <a:off x="4023360" y="411480"/>
            <a:ext cx="3015139" cy="310896"/>
          </a:xfrm>
          <a:prstGeom prst="roundRect">
            <a:avLst>
              <a:gd name="adj" fmla="val 23529"/>
            </a:avLst>
          </a:prstGeom>
          <a:solidFill>
            <a:srgbClr val="FCC30A"/>
          </a:solidFill>
          <a:ln w="12700">
            <a:solidFill>
              <a:srgbClr val="FCC30A"/>
            </a:solidFill>
            <a:prstDash val="solid"/>
          </a:ln>
        </p:spPr>
      </p:sp>
      <p:sp>
        <p:nvSpPr>
          <p:cNvPr id="4" name="Text 1"/>
          <p:cNvSpPr txBox="1"/>
          <p:nvPr/>
        </p:nvSpPr>
        <p:spPr>
          <a:xfrm>
            <a:off x="4023360" y="411480"/>
            <a:ext cx="3015139" cy="310896"/>
          </a:xfrm>
          <a:prstGeom prst="rect">
            <a:avLst/>
          </a:prstGeom>
          <a:noFill/>
          <a:ln/>
        </p:spPr>
        <p:txBody>
          <a:bodyPr wrap="square" lIns="0" tIns="0" rIns="0" bIns="0" rtlCol="0" anchor="ctr"/>
          <a:lstStyle/>
          <a:p>
            <a:pPr algn="ctr" indent="0" marL="0">
              <a:buNone/>
            </a:pPr>
            <a:r>
              <a:rPr lang="en-US" sz="1050" b="1" spc="150" kern="0" dirty="0">
                <a:solidFill>
                  <a:srgbClr val="1E1E1E"/>
                </a:solidFill>
                <a:latin typeface="Arial" pitchFamily="34" charset="0"/>
                <a:ea typeface="Arial" pitchFamily="34" charset="-122"/>
                <a:cs typeface="Arial" pitchFamily="34" charset="-120"/>
              </a:rPr>
              <a:t>07   SAFETY &amp; RISK MITIGATION</a:t>
            </a:r>
            <a:endParaRPr lang="en-US" sz="1050" dirty="0"/>
          </a:p>
        </p:txBody>
      </p:sp>
      <p:sp>
        <p:nvSpPr>
          <p:cNvPr id="5" name="Text 2"/>
          <p:cNvSpPr txBox="1"/>
          <p:nvPr/>
        </p:nvSpPr>
        <p:spPr>
          <a:xfrm>
            <a:off x="4023360" y="841248"/>
            <a:ext cx="7589520" cy="731520"/>
          </a:xfrm>
          <a:prstGeom prst="rect">
            <a:avLst/>
          </a:prstGeom>
          <a:noFill/>
          <a:ln/>
        </p:spPr>
        <p:txBody>
          <a:bodyPr wrap="square" lIns="0" tIns="0" rIns="0" bIns="0" rtlCol="0" anchor="t"/>
          <a:lstStyle/>
          <a:p>
            <a:pPr indent="0" marL="0">
              <a:buNone/>
            </a:pPr>
            <a:r>
              <a:rPr lang="en-US" sz="3200" b="1" dirty="0">
                <a:solidFill>
                  <a:srgbClr val="222222"/>
                </a:solidFill>
                <a:latin typeface="Arial" pitchFamily="34" charset="0"/>
                <a:ea typeface="Arial" pitchFamily="34" charset="-122"/>
                <a:cs typeface="Arial" pitchFamily="34" charset="-120"/>
              </a:rPr>
              <a:t>Risk mitigation in the field</a:t>
            </a:r>
            <a:endParaRPr lang="en-US" sz="3200" dirty="0"/>
          </a:p>
        </p:txBody>
      </p:sp>
      <p:sp>
        <p:nvSpPr>
          <p:cNvPr id="6" name="Shape 3"/>
          <p:cNvSpPr/>
          <p:nvPr/>
        </p:nvSpPr>
        <p:spPr>
          <a:xfrm>
            <a:off x="4023360" y="1645920"/>
            <a:ext cx="3685032" cy="1298448"/>
          </a:xfrm>
          <a:prstGeom prst="rect">
            <a:avLst/>
          </a:prstGeom>
          <a:solidFill>
            <a:srgbClr val="F4F4F4"/>
          </a:solidFill>
          <a:ln w="12700">
            <a:solidFill>
              <a:srgbClr val="F4F4F4"/>
            </a:solidFill>
            <a:prstDash val="solid"/>
          </a:ln>
        </p:spPr>
      </p:sp>
      <p:sp>
        <p:nvSpPr>
          <p:cNvPr id="7" name="Shape 4"/>
          <p:cNvSpPr/>
          <p:nvPr/>
        </p:nvSpPr>
        <p:spPr>
          <a:xfrm>
            <a:off x="4251960" y="1874520"/>
            <a:ext cx="566928" cy="566928"/>
          </a:xfrm>
          <a:prstGeom prst="ellipse">
            <a:avLst/>
          </a:prstGeom>
          <a:solidFill>
            <a:srgbClr val="1E1E1E"/>
          </a:solidFill>
          <a:ln w="12700">
            <a:solidFill>
              <a:srgbClr val="1E1E1E"/>
            </a:solidFill>
            <a:prstDash val="solid"/>
          </a:ln>
        </p:spPr>
      </p:sp>
      <p:pic>
        <p:nvPicPr>
          <p:cNvPr id="8" name="Image 1" descr="preencoded.png">    </p:cNvPr>
          <p:cNvPicPr>
            <a:picLocks noChangeAspect="1"/>
          </p:cNvPicPr>
          <p:nvPr/>
        </p:nvPicPr>
        <p:blipFill>
          <a:blip r:embed="rId2"/>
          <a:stretch>
            <a:fillRect/>
          </a:stretch>
        </p:blipFill>
        <p:spPr>
          <a:xfrm>
            <a:off x="4393692" y="2016252"/>
            <a:ext cx="283464" cy="283464"/>
          </a:xfrm>
          <a:prstGeom prst="rect">
            <a:avLst/>
          </a:prstGeom>
        </p:spPr>
      </p:pic>
      <p:sp>
        <p:nvSpPr>
          <p:cNvPr id="9" name="Text 5"/>
          <p:cNvSpPr txBox="1"/>
          <p:nvPr/>
        </p:nvSpPr>
        <p:spPr>
          <a:xfrm>
            <a:off x="4983480" y="1847088"/>
            <a:ext cx="2606040" cy="365760"/>
          </a:xfrm>
          <a:prstGeom prst="rect">
            <a:avLst/>
          </a:prstGeom>
          <a:noFill/>
          <a:ln/>
        </p:spPr>
        <p:txBody>
          <a:bodyPr wrap="square" lIns="0" tIns="0" rIns="0" bIns="0" rtlCol="0" anchor="ctr"/>
          <a:lstStyle/>
          <a:p>
            <a:pPr indent="0" marL="0">
              <a:buNone/>
            </a:pPr>
            <a:r>
              <a:rPr lang="en-US" sz="1550" b="1" dirty="0">
                <a:solidFill>
                  <a:srgbClr val="222222"/>
                </a:solidFill>
                <a:latin typeface="Arial" pitchFamily="34" charset="0"/>
                <a:ea typeface="Arial" pitchFamily="34" charset="-122"/>
                <a:cs typeface="Arial" pitchFamily="34" charset="-120"/>
              </a:rPr>
              <a:t>JSA &amp; permits</a:t>
            </a:r>
            <a:endParaRPr lang="en-US" sz="1550" dirty="0"/>
          </a:p>
        </p:txBody>
      </p:sp>
      <p:sp>
        <p:nvSpPr>
          <p:cNvPr id="10" name="Text 6"/>
          <p:cNvSpPr txBox="1"/>
          <p:nvPr/>
        </p:nvSpPr>
        <p:spPr>
          <a:xfrm>
            <a:off x="4983480" y="2249424"/>
            <a:ext cx="2606040" cy="685800"/>
          </a:xfrm>
          <a:prstGeom prst="rect">
            <a:avLst/>
          </a:prstGeom>
          <a:noFill/>
          <a:ln/>
        </p:spPr>
        <p:txBody>
          <a:bodyPr wrap="square" lIns="0" tIns="0" rIns="0" bIns="0" rtlCol="0" anchor="t"/>
          <a:lstStyle/>
          <a:p>
            <a:pPr indent="0" marL="0">
              <a:buNone/>
            </a:pPr>
            <a:r>
              <a:rPr lang="en-US" sz="1150" dirty="0">
                <a:solidFill>
                  <a:srgbClr val="5E5E5E"/>
                </a:solidFill>
                <a:latin typeface="Arial" pitchFamily="34" charset="0"/>
                <a:ea typeface="Arial" pitchFamily="34" charset="-122"/>
                <a:cs typeface="Arial" pitchFamily="34" charset="-120"/>
              </a:rPr>
              <a:t>Job-specific JSA reviewed at every shift change; daily toolbox talks</a:t>
            </a:r>
            <a:endParaRPr lang="en-US" sz="1150" dirty="0"/>
          </a:p>
        </p:txBody>
      </p:sp>
      <p:sp>
        <p:nvSpPr>
          <p:cNvPr id="11" name="Shape 7"/>
          <p:cNvSpPr/>
          <p:nvPr/>
        </p:nvSpPr>
        <p:spPr>
          <a:xfrm>
            <a:off x="7863840" y="1645920"/>
            <a:ext cx="3685032" cy="1298448"/>
          </a:xfrm>
          <a:prstGeom prst="rect">
            <a:avLst/>
          </a:prstGeom>
          <a:solidFill>
            <a:srgbClr val="F4F4F4"/>
          </a:solidFill>
          <a:ln w="12700">
            <a:solidFill>
              <a:srgbClr val="F4F4F4"/>
            </a:solidFill>
            <a:prstDash val="solid"/>
          </a:ln>
        </p:spPr>
      </p:sp>
      <p:sp>
        <p:nvSpPr>
          <p:cNvPr id="12" name="Shape 8"/>
          <p:cNvSpPr/>
          <p:nvPr/>
        </p:nvSpPr>
        <p:spPr>
          <a:xfrm>
            <a:off x="8092440" y="1874520"/>
            <a:ext cx="566928" cy="566928"/>
          </a:xfrm>
          <a:prstGeom prst="ellipse">
            <a:avLst/>
          </a:prstGeom>
          <a:solidFill>
            <a:srgbClr val="1E1E1E"/>
          </a:solidFill>
          <a:ln w="12700">
            <a:solidFill>
              <a:srgbClr val="1E1E1E"/>
            </a:solidFill>
            <a:prstDash val="solid"/>
          </a:ln>
        </p:spPr>
      </p:sp>
      <p:pic>
        <p:nvPicPr>
          <p:cNvPr id="13" name="Image 2" descr="preencoded.png">    </p:cNvPr>
          <p:cNvPicPr>
            <a:picLocks noChangeAspect="1"/>
          </p:cNvPicPr>
          <p:nvPr/>
        </p:nvPicPr>
        <p:blipFill>
          <a:blip r:embed="rId3"/>
          <a:stretch>
            <a:fillRect/>
          </a:stretch>
        </p:blipFill>
        <p:spPr>
          <a:xfrm>
            <a:off x="8234172" y="2016252"/>
            <a:ext cx="283464" cy="283464"/>
          </a:xfrm>
          <a:prstGeom prst="rect">
            <a:avLst/>
          </a:prstGeom>
        </p:spPr>
      </p:pic>
      <p:sp>
        <p:nvSpPr>
          <p:cNvPr id="14" name="Text 9"/>
          <p:cNvSpPr txBox="1"/>
          <p:nvPr/>
        </p:nvSpPr>
        <p:spPr>
          <a:xfrm>
            <a:off x="8823960" y="1847088"/>
            <a:ext cx="2606040" cy="365760"/>
          </a:xfrm>
          <a:prstGeom prst="rect">
            <a:avLst/>
          </a:prstGeom>
          <a:noFill/>
          <a:ln/>
        </p:spPr>
        <p:txBody>
          <a:bodyPr wrap="square" lIns="0" tIns="0" rIns="0" bIns="0" rtlCol="0" anchor="ctr"/>
          <a:lstStyle/>
          <a:p>
            <a:pPr indent="0" marL="0">
              <a:buNone/>
            </a:pPr>
            <a:r>
              <a:rPr lang="en-US" sz="1550" b="1" dirty="0">
                <a:solidFill>
                  <a:srgbClr val="222222"/>
                </a:solidFill>
                <a:latin typeface="Arial" pitchFamily="34" charset="0"/>
                <a:ea typeface="Arial" pitchFamily="34" charset="-122"/>
                <a:cs typeface="Arial" pitchFamily="34" charset="-120"/>
              </a:rPr>
              <a:t>Isolation first</a:t>
            </a:r>
            <a:endParaRPr lang="en-US" sz="1550" dirty="0"/>
          </a:p>
        </p:txBody>
      </p:sp>
      <p:sp>
        <p:nvSpPr>
          <p:cNvPr id="15" name="Text 10"/>
          <p:cNvSpPr txBox="1"/>
          <p:nvPr/>
        </p:nvSpPr>
        <p:spPr>
          <a:xfrm>
            <a:off x="8823960" y="2249424"/>
            <a:ext cx="2606040" cy="685800"/>
          </a:xfrm>
          <a:prstGeom prst="rect">
            <a:avLst/>
          </a:prstGeom>
          <a:noFill/>
          <a:ln/>
        </p:spPr>
        <p:txBody>
          <a:bodyPr wrap="square" lIns="0" tIns="0" rIns="0" bIns="0" rtlCol="0" anchor="t"/>
          <a:lstStyle/>
          <a:p>
            <a:pPr indent="0" marL="0">
              <a:buNone/>
            </a:pPr>
            <a:r>
              <a:rPr lang="en-US" sz="1150" dirty="0">
                <a:solidFill>
                  <a:srgbClr val="5E5E5E"/>
                </a:solidFill>
                <a:latin typeface="Arial" pitchFamily="34" charset="0"/>
                <a:ea typeface="Arial" pitchFamily="34" charset="-122"/>
                <a:cs typeface="Arial" pitchFamily="34" charset="-120"/>
              </a:rPr>
              <a:t>Marathon's isolation and LOTO verified before any connection is made</a:t>
            </a:r>
            <a:endParaRPr lang="en-US" sz="1150" dirty="0"/>
          </a:p>
        </p:txBody>
      </p:sp>
      <p:sp>
        <p:nvSpPr>
          <p:cNvPr id="16" name="Shape 11"/>
          <p:cNvSpPr/>
          <p:nvPr/>
        </p:nvSpPr>
        <p:spPr>
          <a:xfrm>
            <a:off x="4023360" y="3063240"/>
            <a:ext cx="3685032" cy="1298448"/>
          </a:xfrm>
          <a:prstGeom prst="rect">
            <a:avLst/>
          </a:prstGeom>
          <a:solidFill>
            <a:srgbClr val="F4F4F4"/>
          </a:solidFill>
          <a:ln w="12700">
            <a:solidFill>
              <a:srgbClr val="F4F4F4"/>
            </a:solidFill>
            <a:prstDash val="solid"/>
          </a:ln>
        </p:spPr>
      </p:sp>
      <p:sp>
        <p:nvSpPr>
          <p:cNvPr id="17" name="Shape 12"/>
          <p:cNvSpPr/>
          <p:nvPr/>
        </p:nvSpPr>
        <p:spPr>
          <a:xfrm>
            <a:off x="4251960" y="3291840"/>
            <a:ext cx="566928" cy="566928"/>
          </a:xfrm>
          <a:prstGeom prst="ellipse">
            <a:avLst/>
          </a:prstGeom>
          <a:solidFill>
            <a:srgbClr val="1E1E1E"/>
          </a:solidFill>
          <a:ln w="12700">
            <a:solidFill>
              <a:srgbClr val="1E1E1E"/>
            </a:solidFill>
            <a:prstDash val="solid"/>
          </a:ln>
        </p:spPr>
      </p:sp>
      <p:pic>
        <p:nvPicPr>
          <p:cNvPr id="18" name="Image 3" descr="preencoded.png">    </p:cNvPr>
          <p:cNvPicPr>
            <a:picLocks noChangeAspect="1"/>
          </p:cNvPicPr>
          <p:nvPr/>
        </p:nvPicPr>
        <p:blipFill>
          <a:blip r:embed="rId4"/>
          <a:stretch>
            <a:fillRect/>
          </a:stretch>
        </p:blipFill>
        <p:spPr>
          <a:xfrm>
            <a:off x="4393692" y="3433572"/>
            <a:ext cx="283464" cy="283464"/>
          </a:xfrm>
          <a:prstGeom prst="rect">
            <a:avLst/>
          </a:prstGeom>
        </p:spPr>
      </p:pic>
      <p:sp>
        <p:nvSpPr>
          <p:cNvPr id="19" name="Text 13"/>
          <p:cNvSpPr txBox="1"/>
          <p:nvPr/>
        </p:nvSpPr>
        <p:spPr>
          <a:xfrm>
            <a:off x="4983480" y="3264408"/>
            <a:ext cx="2606040" cy="365760"/>
          </a:xfrm>
          <a:prstGeom prst="rect">
            <a:avLst/>
          </a:prstGeom>
          <a:noFill/>
          <a:ln/>
        </p:spPr>
        <p:txBody>
          <a:bodyPr wrap="square" lIns="0" tIns="0" rIns="0" bIns="0" rtlCol="0" anchor="ctr"/>
          <a:lstStyle/>
          <a:p>
            <a:pPr indent="0" marL="0">
              <a:buNone/>
            </a:pPr>
            <a:r>
              <a:rPr lang="en-US" sz="1550" b="1" dirty="0">
                <a:solidFill>
                  <a:srgbClr val="222222"/>
                </a:solidFill>
                <a:latin typeface="Arial" pitchFamily="34" charset="0"/>
                <a:ea typeface="Arial" pitchFamily="34" charset="-122"/>
                <a:cs typeface="Arial" pitchFamily="34" charset="-120"/>
              </a:rPr>
              <a:t>Pressure control</a:t>
            </a:r>
            <a:endParaRPr lang="en-US" sz="1550" dirty="0"/>
          </a:p>
        </p:txBody>
      </p:sp>
      <p:sp>
        <p:nvSpPr>
          <p:cNvPr id="20" name="Text 14"/>
          <p:cNvSpPr txBox="1"/>
          <p:nvPr/>
        </p:nvSpPr>
        <p:spPr>
          <a:xfrm>
            <a:off x="4983480" y="3666744"/>
            <a:ext cx="2606040" cy="685800"/>
          </a:xfrm>
          <a:prstGeom prst="rect">
            <a:avLst/>
          </a:prstGeom>
          <a:noFill/>
          <a:ln/>
        </p:spPr>
        <p:txBody>
          <a:bodyPr wrap="square" lIns="0" tIns="0" rIns="0" bIns="0" rtlCol="0" anchor="t"/>
          <a:lstStyle/>
          <a:p>
            <a:pPr indent="0" marL="0">
              <a:buNone/>
            </a:pPr>
            <a:r>
              <a:rPr lang="en-US" sz="1150" dirty="0">
                <a:solidFill>
                  <a:srgbClr val="5E5E5E"/>
                </a:solidFill>
                <a:latin typeface="Arial" pitchFamily="34" charset="0"/>
                <a:ea typeface="Arial" pitchFamily="34" charset="-122"/>
                <a:cs typeface="Arial" pitchFamily="34" charset="-120"/>
              </a:rPr>
              <a:t>Normal 150–300 psi; over-pressure checklist above 500 psi</a:t>
            </a:r>
            <a:endParaRPr lang="en-US" sz="1150" dirty="0"/>
          </a:p>
        </p:txBody>
      </p:sp>
      <p:sp>
        <p:nvSpPr>
          <p:cNvPr id="21" name="Shape 15"/>
          <p:cNvSpPr/>
          <p:nvPr/>
        </p:nvSpPr>
        <p:spPr>
          <a:xfrm>
            <a:off x="7863840" y="3063240"/>
            <a:ext cx="3685032" cy="1298448"/>
          </a:xfrm>
          <a:prstGeom prst="rect">
            <a:avLst/>
          </a:prstGeom>
          <a:solidFill>
            <a:srgbClr val="F4F4F4"/>
          </a:solidFill>
          <a:ln w="12700">
            <a:solidFill>
              <a:srgbClr val="F4F4F4"/>
            </a:solidFill>
            <a:prstDash val="solid"/>
          </a:ln>
        </p:spPr>
      </p:sp>
      <p:sp>
        <p:nvSpPr>
          <p:cNvPr id="22" name="Shape 16"/>
          <p:cNvSpPr/>
          <p:nvPr/>
        </p:nvSpPr>
        <p:spPr>
          <a:xfrm>
            <a:off x="8092440" y="3291840"/>
            <a:ext cx="566928" cy="566928"/>
          </a:xfrm>
          <a:prstGeom prst="ellipse">
            <a:avLst/>
          </a:prstGeom>
          <a:solidFill>
            <a:srgbClr val="1E1E1E"/>
          </a:solidFill>
          <a:ln w="12700">
            <a:solidFill>
              <a:srgbClr val="1E1E1E"/>
            </a:solidFill>
            <a:prstDash val="solid"/>
          </a:ln>
        </p:spPr>
      </p:sp>
      <p:pic>
        <p:nvPicPr>
          <p:cNvPr id="23" name="Image 4" descr="preencoded.png">    </p:cNvPr>
          <p:cNvPicPr>
            <a:picLocks noChangeAspect="1"/>
          </p:cNvPicPr>
          <p:nvPr/>
        </p:nvPicPr>
        <p:blipFill>
          <a:blip r:embed="rId5"/>
          <a:stretch>
            <a:fillRect/>
          </a:stretch>
        </p:blipFill>
        <p:spPr>
          <a:xfrm>
            <a:off x="8234172" y="3433572"/>
            <a:ext cx="283464" cy="283464"/>
          </a:xfrm>
          <a:prstGeom prst="rect">
            <a:avLst/>
          </a:prstGeom>
        </p:spPr>
      </p:pic>
      <p:sp>
        <p:nvSpPr>
          <p:cNvPr id="24" name="Text 17"/>
          <p:cNvSpPr txBox="1"/>
          <p:nvPr/>
        </p:nvSpPr>
        <p:spPr>
          <a:xfrm>
            <a:off x="8823960" y="3264408"/>
            <a:ext cx="2606040" cy="365760"/>
          </a:xfrm>
          <a:prstGeom prst="rect">
            <a:avLst/>
          </a:prstGeom>
          <a:noFill/>
          <a:ln/>
        </p:spPr>
        <p:txBody>
          <a:bodyPr wrap="square" lIns="0" tIns="0" rIns="0" bIns="0" rtlCol="0" anchor="ctr"/>
          <a:lstStyle/>
          <a:p>
            <a:pPr indent="0" marL="0">
              <a:buNone/>
            </a:pPr>
            <a:r>
              <a:rPr lang="en-US" sz="1550" b="1" dirty="0">
                <a:solidFill>
                  <a:srgbClr val="222222"/>
                </a:solidFill>
                <a:latin typeface="Arial" pitchFamily="34" charset="0"/>
                <a:ea typeface="Arial" pitchFamily="34" charset="-122"/>
                <a:cs typeface="Arial" pitchFamily="34" charset="-120"/>
              </a:rPr>
              <a:t>Line of fire</a:t>
            </a:r>
            <a:endParaRPr lang="en-US" sz="1550" dirty="0"/>
          </a:p>
        </p:txBody>
      </p:sp>
      <p:sp>
        <p:nvSpPr>
          <p:cNvPr id="25" name="Text 18"/>
          <p:cNvSpPr txBox="1"/>
          <p:nvPr/>
        </p:nvSpPr>
        <p:spPr>
          <a:xfrm>
            <a:off x="8823960" y="3666744"/>
            <a:ext cx="2606040" cy="685800"/>
          </a:xfrm>
          <a:prstGeom prst="rect">
            <a:avLst/>
          </a:prstGeom>
          <a:noFill/>
          <a:ln/>
        </p:spPr>
        <p:txBody>
          <a:bodyPr wrap="square" lIns="0" tIns="0" rIns="0" bIns="0" rtlCol="0" anchor="t"/>
          <a:lstStyle/>
          <a:p>
            <a:pPr indent="0" marL="0">
              <a:buNone/>
            </a:pPr>
            <a:r>
              <a:rPr lang="en-US" sz="1150" dirty="0">
                <a:solidFill>
                  <a:srgbClr val="5E5E5E"/>
                </a:solidFill>
                <a:latin typeface="Arial" pitchFamily="34" charset="0"/>
                <a:ea typeface="Arial" pitchFamily="34" charset="-122"/>
                <a:cs typeface="Arial" pitchFamily="34" charset="-120"/>
              </a:rPr>
              <a:t>Bleed to zero at every pig change; nobody in line with lids or hoses</a:t>
            </a:r>
            <a:endParaRPr lang="en-US" sz="1150" dirty="0"/>
          </a:p>
        </p:txBody>
      </p:sp>
      <p:sp>
        <p:nvSpPr>
          <p:cNvPr id="26" name="Shape 19"/>
          <p:cNvSpPr/>
          <p:nvPr/>
        </p:nvSpPr>
        <p:spPr>
          <a:xfrm>
            <a:off x="4023360" y="4480560"/>
            <a:ext cx="3685032" cy="1298448"/>
          </a:xfrm>
          <a:prstGeom prst="rect">
            <a:avLst/>
          </a:prstGeom>
          <a:solidFill>
            <a:srgbClr val="F4F4F4"/>
          </a:solidFill>
          <a:ln w="12700">
            <a:solidFill>
              <a:srgbClr val="F4F4F4"/>
            </a:solidFill>
            <a:prstDash val="solid"/>
          </a:ln>
        </p:spPr>
      </p:sp>
      <p:sp>
        <p:nvSpPr>
          <p:cNvPr id="27" name="Shape 20"/>
          <p:cNvSpPr/>
          <p:nvPr/>
        </p:nvSpPr>
        <p:spPr>
          <a:xfrm>
            <a:off x="4251960" y="4709160"/>
            <a:ext cx="566928" cy="566928"/>
          </a:xfrm>
          <a:prstGeom prst="ellipse">
            <a:avLst/>
          </a:prstGeom>
          <a:solidFill>
            <a:srgbClr val="1E1E1E"/>
          </a:solidFill>
          <a:ln w="12700">
            <a:solidFill>
              <a:srgbClr val="1E1E1E"/>
            </a:solidFill>
            <a:prstDash val="solid"/>
          </a:ln>
        </p:spPr>
      </p:sp>
      <p:pic>
        <p:nvPicPr>
          <p:cNvPr id="28" name="Image 5" descr="preencoded.png">    </p:cNvPr>
          <p:cNvPicPr>
            <a:picLocks noChangeAspect="1"/>
          </p:cNvPicPr>
          <p:nvPr/>
        </p:nvPicPr>
        <p:blipFill>
          <a:blip r:embed="rId6"/>
          <a:stretch>
            <a:fillRect/>
          </a:stretch>
        </p:blipFill>
        <p:spPr>
          <a:xfrm>
            <a:off x="4393692" y="4850892"/>
            <a:ext cx="283464" cy="283464"/>
          </a:xfrm>
          <a:prstGeom prst="rect">
            <a:avLst/>
          </a:prstGeom>
        </p:spPr>
      </p:pic>
      <p:sp>
        <p:nvSpPr>
          <p:cNvPr id="29" name="Text 21"/>
          <p:cNvSpPr txBox="1"/>
          <p:nvPr/>
        </p:nvSpPr>
        <p:spPr>
          <a:xfrm>
            <a:off x="4983480" y="4681728"/>
            <a:ext cx="2606040" cy="365760"/>
          </a:xfrm>
          <a:prstGeom prst="rect">
            <a:avLst/>
          </a:prstGeom>
          <a:noFill/>
          <a:ln/>
        </p:spPr>
        <p:txBody>
          <a:bodyPr wrap="square" lIns="0" tIns="0" rIns="0" bIns="0" rtlCol="0" anchor="ctr"/>
          <a:lstStyle/>
          <a:p>
            <a:pPr indent="0" marL="0">
              <a:buNone/>
            </a:pPr>
            <a:r>
              <a:rPr lang="en-US" sz="1550" b="1" dirty="0">
                <a:solidFill>
                  <a:srgbClr val="222222"/>
                </a:solidFill>
                <a:latin typeface="Arial" pitchFamily="34" charset="0"/>
                <a:ea typeface="Arial" pitchFamily="34" charset="-122"/>
                <a:cs typeface="Arial" pitchFamily="34" charset="-120"/>
              </a:rPr>
              <a:t>Hose integrity</a:t>
            </a:r>
            <a:endParaRPr lang="en-US" sz="1550" dirty="0"/>
          </a:p>
        </p:txBody>
      </p:sp>
      <p:sp>
        <p:nvSpPr>
          <p:cNvPr id="30" name="Text 22"/>
          <p:cNvSpPr txBox="1"/>
          <p:nvPr/>
        </p:nvSpPr>
        <p:spPr>
          <a:xfrm>
            <a:off x="4983480" y="5084064"/>
            <a:ext cx="2606040" cy="685800"/>
          </a:xfrm>
          <a:prstGeom prst="rect">
            <a:avLst/>
          </a:prstGeom>
          <a:noFill/>
          <a:ln/>
        </p:spPr>
        <p:txBody>
          <a:bodyPr wrap="square" lIns="0" tIns="0" rIns="0" bIns="0" rtlCol="0" anchor="t"/>
          <a:lstStyle/>
          <a:p>
            <a:pPr indent="0" marL="0">
              <a:buNone/>
            </a:pPr>
            <a:r>
              <a:rPr lang="en-US" sz="1150" dirty="0">
                <a:solidFill>
                  <a:srgbClr val="5E5E5E"/>
                </a:solidFill>
                <a:latin typeface="Arial" pitchFamily="34" charset="0"/>
                <a:ea typeface="Arial" pitchFamily="34" charset="-122"/>
                <a:cs typeface="Arial" pitchFamily="34" charset="-120"/>
              </a:rPr>
              <a:t>Tested &amp; certified hard and flex pipe; whip checks on every connection</a:t>
            </a:r>
            <a:endParaRPr lang="en-US" sz="1150" dirty="0"/>
          </a:p>
        </p:txBody>
      </p:sp>
      <p:sp>
        <p:nvSpPr>
          <p:cNvPr id="31" name="Shape 23"/>
          <p:cNvSpPr/>
          <p:nvPr/>
        </p:nvSpPr>
        <p:spPr>
          <a:xfrm>
            <a:off x="7863840" y="4480560"/>
            <a:ext cx="3685032" cy="1298448"/>
          </a:xfrm>
          <a:prstGeom prst="rect">
            <a:avLst/>
          </a:prstGeom>
          <a:solidFill>
            <a:srgbClr val="F4F4F4"/>
          </a:solidFill>
          <a:ln w="12700">
            <a:solidFill>
              <a:srgbClr val="F4F4F4"/>
            </a:solidFill>
            <a:prstDash val="solid"/>
          </a:ln>
        </p:spPr>
      </p:sp>
      <p:sp>
        <p:nvSpPr>
          <p:cNvPr id="32" name="Shape 24"/>
          <p:cNvSpPr/>
          <p:nvPr/>
        </p:nvSpPr>
        <p:spPr>
          <a:xfrm>
            <a:off x="8092440" y="4709160"/>
            <a:ext cx="566928" cy="566928"/>
          </a:xfrm>
          <a:prstGeom prst="ellipse">
            <a:avLst/>
          </a:prstGeom>
          <a:solidFill>
            <a:srgbClr val="1E1E1E"/>
          </a:solidFill>
          <a:ln w="12700">
            <a:solidFill>
              <a:srgbClr val="1E1E1E"/>
            </a:solidFill>
            <a:prstDash val="solid"/>
          </a:ln>
        </p:spPr>
      </p:sp>
      <p:pic>
        <p:nvPicPr>
          <p:cNvPr id="33" name="Image 6" descr="preencoded.png">    </p:cNvPr>
          <p:cNvPicPr>
            <a:picLocks noChangeAspect="1"/>
          </p:cNvPicPr>
          <p:nvPr/>
        </p:nvPicPr>
        <p:blipFill>
          <a:blip r:embed="rId7"/>
          <a:stretch>
            <a:fillRect/>
          </a:stretch>
        </p:blipFill>
        <p:spPr>
          <a:xfrm>
            <a:off x="8234172" y="4850892"/>
            <a:ext cx="283464" cy="283464"/>
          </a:xfrm>
          <a:prstGeom prst="rect">
            <a:avLst/>
          </a:prstGeom>
        </p:spPr>
      </p:pic>
      <p:sp>
        <p:nvSpPr>
          <p:cNvPr id="34" name="Text 25"/>
          <p:cNvSpPr txBox="1"/>
          <p:nvPr/>
        </p:nvSpPr>
        <p:spPr>
          <a:xfrm>
            <a:off x="8823960" y="4681728"/>
            <a:ext cx="2606040" cy="365760"/>
          </a:xfrm>
          <a:prstGeom prst="rect">
            <a:avLst/>
          </a:prstGeom>
          <a:noFill/>
          <a:ln/>
        </p:spPr>
        <p:txBody>
          <a:bodyPr wrap="square" lIns="0" tIns="0" rIns="0" bIns="0" rtlCol="0" anchor="ctr"/>
          <a:lstStyle/>
          <a:p>
            <a:pPr indent="0" marL="0">
              <a:buNone/>
            </a:pPr>
            <a:r>
              <a:rPr lang="en-US" sz="1550" b="1" dirty="0">
                <a:solidFill>
                  <a:srgbClr val="222222"/>
                </a:solidFill>
                <a:latin typeface="Arial" pitchFamily="34" charset="0"/>
                <a:ea typeface="Arial" pitchFamily="34" charset="-122"/>
                <a:cs typeface="Arial" pitchFamily="34" charset="-120"/>
              </a:rPr>
              <a:t>PPE &amp; coil care</a:t>
            </a:r>
            <a:endParaRPr lang="en-US" sz="1550" dirty="0"/>
          </a:p>
        </p:txBody>
      </p:sp>
      <p:sp>
        <p:nvSpPr>
          <p:cNvPr id="35" name="Text 26"/>
          <p:cNvSpPr txBox="1"/>
          <p:nvPr/>
        </p:nvSpPr>
        <p:spPr>
          <a:xfrm>
            <a:off x="8823960" y="5084064"/>
            <a:ext cx="2606040" cy="685800"/>
          </a:xfrm>
          <a:prstGeom prst="rect">
            <a:avLst/>
          </a:prstGeom>
          <a:noFill/>
          <a:ln/>
        </p:spPr>
        <p:txBody>
          <a:bodyPr wrap="square" lIns="0" tIns="0" rIns="0" bIns="0" rtlCol="0" anchor="t"/>
          <a:lstStyle/>
          <a:p>
            <a:pPr indent="0" marL="0">
              <a:buNone/>
            </a:pPr>
            <a:r>
              <a:rPr lang="en-US" sz="1150" dirty="0">
                <a:solidFill>
                  <a:srgbClr val="5E5E5E"/>
                </a:solidFill>
                <a:latin typeface="Arial" pitchFamily="34" charset="0"/>
                <a:ea typeface="Arial" pitchFamily="34" charset="-122"/>
                <a:cs typeface="Arial" pitchFamily="34" charset="-120"/>
              </a:rPr>
              <a:t>FRC and face shields; no galvanized metal on stainless</a:t>
            </a:r>
            <a:endParaRPr lang="en-US" sz="1150" dirty="0"/>
          </a:p>
        </p:txBody>
      </p:sp>
      <p:sp>
        <p:nvSpPr>
          <p:cNvPr id="36" name="Text 27"/>
          <p:cNvSpPr txBox="1"/>
          <p:nvPr/>
        </p:nvSpPr>
        <p:spPr>
          <a:xfrm>
            <a:off x="4023360" y="5943600"/>
            <a:ext cx="7589520" cy="274320"/>
          </a:xfrm>
          <a:prstGeom prst="rect">
            <a:avLst/>
          </a:prstGeom>
          <a:noFill/>
          <a:ln/>
        </p:spPr>
        <p:txBody>
          <a:bodyPr wrap="square" lIns="0" tIns="0" rIns="0" bIns="0" rtlCol="0" anchor="ctr"/>
          <a:lstStyle/>
          <a:p>
            <a:pPr indent="0" marL="0">
              <a:buNone/>
            </a:pPr>
            <a:r>
              <a:rPr lang="en-US" sz="1100" b="1" dirty="0">
                <a:solidFill>
                  <a:srgbClr val="222222"/>
                </a:solidFill>
                <a:latin typeface="Arial" pitchFamily="34" charset="0"/>
                <a:ea typeface="Arial" pitchFamily="34" charset="-122"/>
                <a:cs typeface="Arial" pitchFamily="34" charset="-120"/>
              </a:rPr>
              <a:t>Engineered for safety  </a:t>
            </a:r>
            <a:pPr indent="0" marL="0">
              <a:buNone/>
            </a:pPr>
            <a:r>
              <a:rPr lang="en-US" sz="1100" dirty="0">
                <a:solidFill>
                  <a:srgbClr val="5E5E5E"/>
                </a:solidFill>
                <a:latin typeface="Arial" pitchFamily="34" charset="0"/>
                <a:ea typeface="Arial" pitchFamily="34" charset="-122"/>
                <a:cs typeface="Arial" pitchFamily="34" charset="-120"/>
              </a:rPr>
              <a:t>Retractable cam-actuated stairs, composite work platform, LED lighting</a:t>
            </a:r>
            <a:endParaRPr lang="en-US" sz="1100" dirty="0"/>
          </a:p>
        </p:txBody>
      </p:sp>
      <p:sp>
        <p:nvSpPr>
          <p:cNvPr id="37" name="Text 28"/>
          <p:cNvSpPr txBox="1"/>
          <p:nvPr/>
        </p:nvSpPr>
        <p:spPr>
          <a:xfrm>
            <a:off x="4023360" y="6419088"/>
            <a:ext cx="7315200" cy="228600"/>
          </a:xfrm>
          <a:prstGeom prst="rect">
            <a:avLst/>
          </a:prstGeom>
          <a:noFill/>
          <a:ln/>
        </p:spPr>
        <p:txBody>
          <a:bodyPr wrap="square" lIns="0" tIns="0" rIns="0" bIns="0" rtlCol="0" anchor="ctr"/>
          <a:lstStyle/>
          <a:p>
            <a:pPr indent="0" marL="0">
              <a:buNone/>
            </a:pPr>
            <a:r>
              <a:rPr lang="en-US" sz="900" dirty="0">
                <a:solidFill>
                  <a:srgbClr val="9A9A9A"/>
                </a:solidFill>
                <a:latin typeface="Arial" pitchFamily="34" charset="0"/>
                <a:ea typeface="Arial" pitchFamily="34" charset="-122"/>
                <a:cs typeface="Arial" pitchFamily="34" charset="-120"/>
              </a:rPr>
              <a:t>USA DeBusk  |  LAR Heater Pigging &amp; Decoking Services  |  DSP#26098</a:t>
            </a:r>
            <a:endParaRPr lang="en-US" sz="900" dirty="0"/>
          </a:p>
        </p:txBody>
      </p:sp>
      <p:sp>
        <p:nvSpPr>
          <p:cNvPr id="38" name="Text 29"/>
          <p:cNvSpPr txBox="1"/>
          <p:nvPr/>
        </p:nvSpPr>
        <p:spPr>
          <a:xfrm>
            <a:off x="11155680" y="6419088"/>
            <a:ext cx="484632" cy="228600"/>
          </a:xfrm>
          <a:prstGeom prst="rect">
            <a:avLst/>
          </a:prstGeom>
          <a:noFill/>
          <a:ln/>
        </p:spPr>
        <p:txBody>
          <a:bodyPr wrap="square" lIns="0" tIns="0" rIns="0" bIns="0" rtlCol="0" anchor="ctr"/>
          <a:lstStyle/>
          <a:p>
            <a:pPr algn="r" indent="0" marL="0">
              <a:buNone/>
            </a:pPr>
            <a:r>
              <a:rPr lang="en-US" sz="900" dirty="0">
                <a:solidFill>
                  <a:srgbClr val="9A9A9A"/>
                </a:solidFill>
                <a:latin typeface="Arial" pitchFamily="34" charset="0"/>
                <a:ea typeface="Arial" pitchFamily="34" charset="-122"/>
                <a:cs typeface="Arial" pitchFamily="34" charset="-120"/>
              </a:rPr>
              <a:t>19</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1E1E1E"/>
        </a:solidFill>
      </p:bgPr>
    </p:bg>
    <p:spTree>
      <p:nvGrpSpPr>
        <p:cNvPr id="1" name=""/>
        <p:cNvGrpSpPr/>
        <p:nvPr/>
      </p:nvGrpSpPr>
      <p:grpSpPr>
        <a:xfrm>
          <a:off x="0" y="0"/>
          <a:ext cx="0" cy="0"/>
          <a:chOff x="0" y="0"/>
          <a:chExt cx="0" cy="0"/>
        </a:xfrm>
      </p:grpSpPr>
      <p:pic>
        <p:nvPicPr>
          <p:cNvPr id="2" name="Image 0" descr="/tmp/claude-0/-home-user-obsidian-work/c8998718-f22f-57a3-84c2-766db1d92b4c/scratchpad/deck/img/slot_diff.jpg">    </p:cNvPr>
          <p:cNvPicPr>
            <a:picLocks noChangeAspect="1"/>
          </p:cNvPicPr>
          <p:nvPr/>
        </p:nvPicPr>
        <p:blipFill>
          <a:blip r:embed="rId1"/>
          <a:stretch>
            <a:fillRect/>
          </a:stretch>
        </p:blipFill>
        <p:spPr>
          <a:xfrm>
            <a:off x="8531352" y="0"/>
            <a:ext cx="3657600" cy="6858000"/>
          </a:xfrm>
          <a:prstGeom prst="rect">
            <a:avLst/>
          </a:prstGeom>
        </p:spPr>
      </p:pic>
      <p:sp>
        <p:nvSpPr>
          <p:cNvPr id="3" name="Shape 0"/>
          <p:cNvSpPr/>
          <p:nvPr/>
        </p:nvSpPr>
        <p:spPr>
          <a:xfrm>
            <a:off x="548640" y="411480"/>
            <a:ext cx="4672622" cy="310896"/>
          </a:xfrm>
          <a:prstGeom prst="roundRect">
            <a:avLst>
              <a:gd name="adj" fmla="val 23529"/>
            </a:avLst>
          </a:prstGeom>
          <a:solidFill>
            <a:srgbClr val="FCC30A"/>
          </a:solidFill>
          <a:ln w="12700">
            <a:solidFill>
              <a:srgbClr val="FCC30A"/>
            </a:solidFill>
            <a:prstDash val="solid"/>
          </a:ln>
        </p:spPr>
      </p:sp>
      <p:sp>
        <p:nvSpPr>
          <p:cNvPr id="4" name="Text 1"/>
          <p:cNvSpPr txBox="1"/>
          <p:nvPr/>
        </p:nvSpPr>
        <p:spPr>
          <a:xfrm>
            <a:off x="548640" y="411480"/>
            <a:ext cx="4672622" cy="310896"/>
          </a:xfrm>
          <a:prstGeom prst="rect">
            <a:avLst/>
          </a:prstGeom>
          <a:noFill/>
          <a:ln/>
        </p:spPr>
        <p:txBody>
          <a:bodyPr wrap="square" lIns="0" tIns="0" rIns="0" bIns="0" rtlCol="0" anchor="ctr"/>
          <a:lstStyle/>
          <a:p>
            <a:pPr algn="ctr" indent="0" marL="0">
              <a:buNone/>
            </a:pPr>
            <a:r>
              <a:rPr lang="en-US" sz="1050" b="1" spc="150" kern="0" dirty="0">
                <a:solidFill>
                  <a:srgbClr val="1E1E1E"/>
                </a:solidFill>
                <a:latin typeface="Arial" pitchFamily="34" charset="0"/>
                <a:ea typeface="Arial" pitchFamily="34" charset="-122"/>
                <a:cs typeface="Arial" pitchFamily="34" charset="-120"/>
              </a:rPr>
              <a:t>08   BEST PRACTICES, CAPABILITIES &amp; INNOVATION</a:t>
            </a:r>
            <a:endParaRPr lang="en-US" sz="1050" dirty="0"/>
          </a:p>
        </p:txBody>
      </p:sp>
      <p:sp>
        <p:nvSpPr>
          <p:cNvPr id="5" name="Text 2"/>
          <p:cNvSpPr txBox="1"/>
          <p:nvPr/>
        </p:nvSpPr>
        <p:spPr>
          <a:xfrm>
            <a:off x="548640" y="841248"/>
            <a:ext cx="7680960" cy="731520"/>
          </a:xfrm>
          <a:prstGeom prst="rect">
            <a:avLst/>
          </a:prstGeom>
          <a:noFill/>
          <a:ln/>
        </p:spPr>
        <p:txBody>
          <a:bodyPr wrap="square" lIns="0" tIns="0" rIns="0" bIns="0" rtlCol="0" anchor="t"/>
          <a:lstStyle/>
          <a:p>
            <a:pPr indent="0" marL="0">
              <a:buNone/>
            </a:pPr>
            <a:r>
              <a:rPr lang="en-US" sz="3200" b="1" dirty="0">
                <a:solidFill>
                  <a:srgbClr val="FFFFFF"/>
                </a:solidFill>
                <a:latin typeface="Arial" pitchFamily="34" charset="0"/>
                <a:ea typeface="Arial" pitchFamily="34" charset="-122"/>
                <a:cs typeface="Arial" pitchFamily="34" charset="-120"/>
              </a:rPr>
              <a:t>What sets USA DeBusk apart</a:t>
            </a:r>
            <a:endParaRPr lang="en-US" sz="3200" dirty="0"/>
          </a:p>
        </p:txBody>
      </p:sp>
      <p:sp>
        <p:nvSpPr>
          <p:cNvPr id="6" name="Shape 3"/>
          <p:cNvSpPr/>
          <p:nvPr/>
        </p:nvSpPr>
        <p:spPr>
          <a:xfrm>
            <a:off x="548640" y="1874520"/>
            <a:ext cx="3749040" cy="1965960"/>
          </a:xfrm>
          <a:prstGeom prst="rect">
            <a:avLst/>
          </a:prstGeom>
          <a:solidFill>
            <a:srgbClr val="2B2B2B"/>
          </a:solidFill>
          <a:ln w="12700">
            <a:solidFill>
              <a:srgbClr val="2B2B2B"/>
            </a:solidFill>
            <a:prstDash val="solid"/>
          </a:ln>
        </p:spPr>
      </p:sp>
      <p:sp>
        <p:nvSpPr>
          <p:cNvPr id="7" name="Shape 4"/>
          <p:cNvSpPr/>
          <p:nvPr/>
        </p:nvSpPr>
        <p:spPr>
          <a:xfrm>
            <a:off x="822960" y="2148840"/>
            <a:ext cx="658368" cy="658368"/>
          </a:xfrm>
          <a:prstGeom prst="ellipse">
            <a:avLst/>
          </a:prstGeom>
          <a:solidFill>
            <a:srgbClr val="FCC30A"/>
          </a:solidFill>
          <a:ln w="12700">
            <a:solidFill>
              <a:srgbClr val="FCC30A"/>
            </a:solidFill>
            <a:prstDash val="solid"/>
          </a:ln>
        </p:spPr>
      </p:sp>
      <p:pic>
        <p:nvPicPr>
          <p:cNvPr id="8" name="Image 1" descr="preencoded.png">    </p:cNvPr>
          <p:cNvPicPr>
            <a:picLocks noChangeAspect="1"/>
          </p:cNvPicPr>
          <p:nvPr/>
        </p:nvPicPr>
        <p:blipFill>
          <a:blip r:embed="rId2"/>
          <a:stretch>
            <a:fillRect/>
          </a:stretch>
        </p:blipFill>
        <p:spPr>
          <a:xfrm>
            <a:off x="987552" y="2313432"/>
            <a:ext cx="329184" cy="329184"/>
          </a:xfrm>
          <a:prstGeom prst="rect">
            <a:avLst/>
          </a:prstGeom>
        </p:spPr>
      </p:pic>
      <p:sp>
        <p:nvSpPr>
          <p:cNvPr id="9" name="Text 5"/>
          <p:cNvSpPr txBox="1"/>
          <p:nvPr/>
        </p:nvSpPr>
        <p:spPr>
          <a:xfrm>
            <a:off x="1645920" y="2194560"/>
            <a:ext cx="2514600" cy="548640"/>
          </a:xfrm>
          <a:prstGeom prst="rect">
            <a:avLst/>
          </a:prstGeom>
          <a:noFill/>
          <a:ln/>
        </p:spPr>
        <p:txBody>
          <a:bodyPr wrap="square" lIns="0" tIns="0" rIns="0" bIns="0" rtlCol="0" anchor="ctr"/>
          <a:lstStyle/>
          <a:p>
            <a:pPr indent="0" marL="0">
              <a:buNone/>
            </a:pPr>
            <a:r>
              <a:rPr lang="en-US" sz="1700" b="1" dirty="0">
                <a:solidFill>
                  <a:srgbClr val="FFFFFF"/>
                </a:solidFill>
                <a:latin typeface="Arial" pitchFamily="34" charset="0"/>
                <a:ea typeface="Arial" pitchFamily="34" charset="-122"/>
                <a:cs typeface="Arial" pitchFamily="34" charset="-120"/>
              </a:rPr>
              <a:t>Self-performed scope</a:t>
            </a:r>
            <a:endParaRPr lang="en-US" sz="1700" dirty="0"/>
          </a:p>
        </p:txBody>
      </p:sp>
      <p:sp>
        <p:nvSpPr>
          <p:cNvPr id="10" name="Text 6"/>
          <p:cNvSpPr txBox="1"/>
          <p:nvPr/>
        </p:nvSpPr>
        <p:spPr>
          <a:xfrm>
            <a:off x="822960" y="2953512"/>
            <a:ext cx="3291840" cy="822960"/>
          </a:xfrm>
          <a:prstGeom prst="rect">
            <a:avLst/>
          </a:prstGeom>
          <a:noFill/>
          <a:ln/>
        </p:spPr>
        <p:txBody>
          <a:bodyPr wrap="square" lIns="0" tIns="0" rIns="0" bIns="0" rtlCol="0" anchor="t"/>
          <a:lstStyle/>
          <a:p>
            <a:pPr indent="0" marL="0">
              <a:buNone/>
            </a:pPr>
            <a:r>
              <a:rPr lang="en-US" sz="1250" dirty="0">
                <a:solidFill>
                  <a:srgbClr val="BDBDBD"/>
                </a:solidFill>
                <a:latin typeface="Arial" pitchFamily="34" charset="0"/>
                <a:ea typeface="Arial" pitchFamily="34" charset="-122"/>
                <a:cs typeface="Arial" pitchFamily="34" charset="-120"/>
              </a:rPr>
              <a:t>Pigging, decoking and hydroblasting with our own equipment and SCAQMD rigs: one contractor, no subs</a:t>
            </a:r>
            <a:endParaRPr lang="en-US" sz="1250" dirty="0"/>
          </a:p>
        </p:txBody>
      </p:sp>
      <p:sp>
        <p:nvSpPr>
          <p:cNvPr id="11" name="Shape 7"/>
          <p:cNvSpPr/>
          <p:nvPr/>
        </p:nvSpPr>
        <p:spPr>
          <a:xfrm>
            <a:off x="4480560" y="1874520"/>
            <a:ext cx="3749040" cy="1965960"/>
          </a:xfrm>
          <a:prstGeom prst="rect">
            <a:avLst/>
          </a:prstGeom>
          <a:solidFill>
            <a:srgbClr val="2B2B2B"/>
          </a:solidFill>
          <a:ln w="12700">
            <a:solidFill>
              <a:srgbClr val="2B2B2B"/>
            </a:solidFill>
            <a:prstDash val="solid"/>
          </a:ln>
        </p:spPr>
      </p:sp>
      <p:sp>
        <p:nvSpPr>
          <p:cNvPr id="12" name="Shape 8"/>
          <p:cNvSpPr/>
          <p:nvPr/>
        </p:nvSpPr>
        <p:spPr>
          <a:xfrm>
            <a:off x="4754880" y="2148840"/>
            <a:ext cx="658368" cy="658368"/>
          </a:xfrm>
          <a:prstGeom prst="ellipse">
            <a:avLst/>
          </a:prstGeom>
          <a:solidFill>
            <a:srgbClr val="FCC30A"/>
          </a:solidFill>
          <a:ln w="12700">
            <a:solidFill>
              <a:srgbClr val="FCC30A"/>
            </a:solidFill>
            <a:prstDash val="solid"/>
          </a:ln>
        </p:spPr>
      </p:sp>
      <p:pic>
        <p:nvPicPr>
          <p:cNvPr id="13" name="Image 2" descr="preencoded.png">    </p:cNvPr>
          <p:cNvPicPr>
            <a:picLocks noChangeAspect="1"/>
          </p:cNvPicPr>
          <p:nvPr/>
        </p:nvPicPr>
        <p:blipFill>
          <a:blip r:embed="rId3"/>
          <a:stretch>
            <a:fillRect/>
          </a:stretch>
        </p:blipFill>
        <p:spPr>
          <a:xfrm>
            <a:off x="4919472" y="2313432"/>
            <a:ext cx="329184" cy="329184"/>
          </a:xfrm>
          <a:prstGeom prst="rect">
            <a:avLst/>
          </a:prstGeom>
        </p:spPr>
      </p:pic>
      <p:sp>
        <p:nvSpPr>
          <p:cNvPr id="14" name="Text 9"/>
          <p:cNvSpPr txBox="1"/>
          <p:nvPr/>
        </p:nvSpPr>
        <p:spPr>
          <a:xfrm>
            <a:off x="5577840" y="2194560"/>
            <a:ext cx="2514600" cy="548640"/>
          </a:xfrm>
          <a:prstGeom prst="rect">
            <a:avLst/>
          </a:prstGeom>
          <a:noFill/>
          <a:ln/>
        </p:spPr>
        <p:txBody>
          <a:bodyPr wrap="square" lIns="0" tIns="0" rIns="0" bIns="0" rtlCol="0" anchor="ctr"/>
          <a:lstStyle/>
          <a:p>
            <a:pPr indent="0" marL="0">
              <a:buNone/>
            </a:pPr>
            <a:r>
              <a:rPr lang="en-US" sz="1700" b="1" dirty="0">
                <a:solidFill>
                  <a:srgbClr val="FFFFFF"/>
                </a:solidFill>
                <a:latin typeface="Arial" pitchFamily="34" charset="0"/>
                <a:ea typeface="Arial" pitchFamily="34" charset="-122"/>
                <a:cs typeface="Arial" pitchFamily="34" charset="-120"/>
              </a:rPr>
              <a:t>Largest standardized fleet</a:t>
            </a:r>
            <a:endParaRPr lang="en-US" sz="1700" dirty="0"/>
          </a:p>
        </p:txBody>
      </p:sp>
      <p:sp>
        <p:nvSpPr>
          <p:cNvPr id="15" name="Text 10"/>
          <p:cNvSpPr txBox="1"/>
          <p:nvPr/>
        </p:nvSpPr>
        <p:spPr>
          <a:xfrm>
            <a:off x="4754880" y="2953512"/>
            <a:ext cx="3291840" cy="822960"/>
          </a:xfrm>
          <a:prstGeom prst="rect">
            <a:avLst/>
          </a:prstGeom>
          <a:noFill/>
          <a:ln/>
        </p:spPr>
        <p:txBody>
          <a:bodyPr wrap="square" lIns="0" tIns="0" rIns="0" bIns="0" rtlCol="0" anchor="t"/>
          <a:lstStyle/>
          <a:p>
            <a:pPr indent="0" marL="0">
              <a:buNone/>
            </a:pPr>
            <a:r>
              <a:rPr lang="en-US" sz="1250" dirty="0">
                <a:solidFill>
                  <a:srgbClr val="BDBDBD"/>
                </a:solidFill>
                <a:latin typeface="Arial" pitchFamily="34" charset="0"/>
                <a:ea typeface="Arial" pitchFamily="34" charset="-122"/>
                <a:cs typeface="Arial" pitchFamily="34" charset="-120"/>
              </a:rPr>
              <a:t>6 identical TriMax units, 18 engines, with a spare pump on board even on a 2-pass heater</a:t>
            </a:r>
            <a:endParaRPr lang="en-US" sz="1250" dirty="0"/>
          </a:p>
        </p:txBody>
      </p:sp>
      <p:sp>
        <p:nvSpPr>
          <p:cNvPr id="16" name="Shape 11"/>
          <p:cNvSpPr/>
          <p:nvPr/>
        </p:nvSpPr>
        <p:spPr>
          <a:xfrm>
            <a:off x="548640" y="4023360"/>
            <a:ext cx="3749040" cy="1965960"/>
          </a:xfrm>
          <a:prstGeom prst="rect">
            <a:avLst/>
          </a:prstGeom>
          <a:solidFill>
            <a:srgbClr val="2B2B2B"/>
          </a:solidFill>
          <a:ln w="12700">
            <a:solidFill>
              <a:srgbClr val="2B2B2B"/>
            </a:solidFill>
            <a:prstDash val="solid"/>
          </a:ln>
        </p:spPr>
      </p:sp>
      <p:sp>
        <p:nvSpPr>
          <p:cNvPr id="17" name="Shape 12"/>
          <p:cNvSpPr/>
          <p:nvPr/>
        </p:nvSpPr>
        <p:spPr>
          <a:xfrm>
            <a:off x="822960" y="4297680"/>
            <a:ext cx="658368" cy="658368"/>
          </a:xfrm>
          <a:prstGeom prst="ellipse">
            <a:avLst/>
          </a:prstGeom>
          <a:solidFill>
            <a:srgbClr val="FCC30A"/>
          </a:solidFill>
          <a:ln w="12700">
            <a:solidFill>
              <a:srgbClr val="FCC30A"/>
            </a:solidFill>
            <a:prstDash val="solid"/>
          </a:ln>
        </p:spPr>
      </p:sp>
      <p:pic>
        <p:nvPicPr>
          <p:cNvPr id="18" name="Image 3" descr="preencoded.png">    </p:cNvPr>
          <p:cNvPicPr>
            <a:picLocks noChangeAspect="1"/>
          </p:cNvPicPr>
          <p:nvPr/>
        </p:nvPicPr>
        <p:blipFill>
          <a:blip r:embed="rId4"/>
          <a:stretch>
            <a:fillRect/>
          </a:stretch>
        </p:blipFill>
        <p:spPr>
          <a:xfrm>
            <a:off x="987552" y="4462272"/>
            <a:ext cx="329184" cy="329184"/>
          </a:xfrm>
          <a:prstGeom prst="rect">
            <a:avLst/>
          </a:prstGeom>
        </p:spPr>
      </p:pic>
      <p:sp>
        <p:nvSpPr>
          <p:cNvPr id="19" name="Text 13"/>
          <p:cNvSpPr txBox="1"/>
          <p:nvPr/>
        </p:nvSpPr>
        <p:spPr>
          <a:xfrm>
            <a:off x="1645920" y="4343400"/>
            <a:ext cx="2514600" cy="548640"/>
          </a:xfrm>
          <a:prstGeom prst="rect">
            <a:avLst/>
          </a:prstGeom>
          <a:noFill/>
          <a:ln/>
        </p:spPr>
        <p:txBody>
          <a:bodyPr wrap="square" lIns="0" tIns="0" rIns="0" bIns="0" rtlCol="0" anchor="ctr"/>
          <a:lstStyle/>
          <a:p>
            <a:pPr indent="0" marL="0">
              <a:buNone/>
            </a:pPr>
            <a:r>
              <a:rPr lang="en-US" sz="1700" b="1" dirty="0">
                <a:solidFill>
                  <a:srgbClr val="FFFFFF"/>
                </a:solidFill>
                <a:latin typeface="Arial" pitchFamily="34" charset="0"/>
                <a:ea typeface="Arial" pitchFamily="34" charset="-122"/>
                <a:cs typeface="Arial" pitchFamily="34" charset="-120"/>
              </a:rPr>
              <a:t>Widest pig selection</a:t>
            </a:r>
            <a:endParaRPr lang="en-US" sz="1700" dirty="0"/>
          </a:p>
        </p:txBody>
      </p:sp>
      <p:sp>
        <p:nvSpPr>
          <p:cNvPr id="20" name="Text 14"/>
          <p:cNvSpPr txBox="1"/>
          <p:nvPr/>
        </p:nvSpPr>
        <p:spPr>
          <a:xfrm>
            <a:off x="822960" y="5102352"/>
            <a:ext cx="3291840" cy="822960"/>
          </a:xfrm>
          <a:prstGeom prst="rect">
            <a:avLst/>
          </a:prstGeom>
          <a:noFill/>
          <a:ln/>
        </p:spPr>
        <p:txBody>
          <a:bodyPr wrap="square" lIns="0" tIns="0" rIns="0" bIns="0" rtlCol="0" anchor="t"/>
          <a:lstStyle/>
          <a:p>
            <a:pPr indent="0" marL="0">
              <a:buNone/>
            </a:pPr>
            <a:r>
              <a:rPr lang="en-US" sz="1250" dirty="0">
                <a:solidFill>
                  <a:srgbClr val="BDBDBD"/>
                </a:solidFill>
                <a:latin typeface="Arial" pitchFamily="34" charset="0"/>
                <a:ea typeface="Arial" pitchFamily="34" charset="-122"/>
                <a:cs typeface="Arial" pitchFamily="34" charset="-120"/>
              </a:rPr>
              <a:t>Engineered decoking pigs matched to each coil and each coke condition</a:t>
            </a:r>
            <a:endParaRPr lang="en-US" sz="1250" dirty="0"/>
          </a:p>
        </p:txBody>
      </p:sp>
      <p:sp>
        <p:nvSpPr>
          <p:cNvPr id="21" name="Shape 15"/>
          <p:cNvSpPr/>
          <p:nvPr/>
        </p:nvSpPr>
        <p:spPr>
          <a:xfrm>
            <a:off x="4480560" y="4023360"/>
            <a:ext cx="3749040" cy="1965960"/>
          </a:xfrm>
          <a:prstGeom prst="rect">
            <a:avLst/>
          </a:prstGeom>
          <a:solidFill>
            <a:srgbClr val="2B2B2B"/>
          </a:solidFill>
          <a:ln w="12700">
            <a:solidFill>
              <a:srgbClr val="2B2B2B"/>
            </a:solidFill>
            <a:prstDash val="solid"/>
          </a:ln>
        </p:spPr>
      </p:sp>
      <p:sp>
        <p:nvSpPr>
          <p:cNvPr id="22" name="Shape 16"/>
          <p:cNvSpPr/>
          <p:nvPr/>
        </p:nvSpPr>
        <p:spPr>
          <a:xfrm>
            <a:off x="4754880" y="4297680"/>
            <a:ext cx="658368" cy="658368"/>
          </a:xfrm>
          <a:prstGeom prst="ellipse">
            <a:avLst/>
          </a:prstGeom>
          <a:solidFill>
            <a:srgbClr val="FCC30A"/>
          </a:solidFill>
          <a:ln w="12700">
            <a:solidFill>
              <a:srgbClr val="FCC30A"/>
            </a:solidFill>
            <a:prstDash val="solid"/>
          </a:ln>
        </p:spPr>
      </p:sp>
      <p:pic>
        <p:nvPicPr>
          <p:cNvPr id="23" name="Image 4" descr="preencoded.png">    </p:cNvPr>
          <p:cNvPicPr>
            <a:picLocks noChangeAspect="1"/>
          </p:cNvPicPr>
          <p:nvPr/>
        </p:nvPicPr>
        <p:blipFill>
          <a:blip r:embed="rId5"/>
          <a:stretch>
            <a:fillRect/>
          </a:stretch>
        </p:blipFill>
        <p:spPr>
          <a:xfrm>
            <a:off x="4919472" y="4462272"/>
            <a:ext cx="329184" cy="329184"/>
          </a:xfrm>
          <a:prstGeom prst="rect">
            <a:avLst/>
          </a:prstGeom>
        </p:spPr>
      </p:pic>
      <p:sp>
        <p:nvSpPr>
          <p:cNvPr id="24" name="Text 17"/>
          <p:cNvSpPr txBox="1"/>
          <p:nvPr/>
        </p:nvSpPr>
        <p:spPr>
          <a:xfrm>
            <a:off x="5577840" y="4343400"/>
            <a:ext cx="2514600" cy="548640"/>
          </a:xfrm>
          <a:prstGeom prst="rect">
            <a:avLst/>
          </a:prstGeom>
          <a:noFill/>
          <a:ln/>
        </p:spPr>
        <p:txBody>
          <a:bodyPr wrap="square" lIns="0" tIns="0" rIns="0" bIns="0" rtlCol="0" anchor="ctr"/>
          <a:lstStyle/>
          <a:p>
            <a:pPr indent="0" marL="0">
              <a:buNone/>
            </a:pPr>
            <a:r>
              <a:rPr lang="en-US" sz="1700" b="1" dirty="0">
                <a:solidFill>
                  <a:srgbClr val="FFFFFF"/>
                </a:solidFill>
                <a:latin typeface="Arial" pitchFamily="34" charset="0"/>
                <a:ea typeface="Arial" pitchFamily="34" charset="-122"/>
                <a:cs typeface="Arial" pitchFamily="34" charset="-120"/>
              </a:rPr>
              <a:t>Data-driven, shared</a:t>
            </a:r>
            <a:endParaRPr lang="en-US" sz="1700" dirty="0"/>
          </a:p>
        </p:txBody>
      </p:sp>
      <p:sp>
        <p:nvSpPr>
          <p:cNvPr id="25" name="Text 18"/>
          <p:cNvSpPr txBox="1"/>
          <p:nvPr/>
        </p:nvSpPr>
        <p:spPr>
          <a:xfrm>
            <a:off x="4754880" y="5102352"/>
            <a:ext cx="3291840" cy="822960"/>
          </a:xfrm>
          <a:prstGeom prst="rect">
            <a:avLst/>
          </a:prstGeom>
          <a:noFill/>
          <a:ln/>
        </p:spPr>
        <p:txBody>
          <a:bodyPr wrap="square" lIns="0" tIns="0" rIns="0" bIns="0" rtlCol="0" anchor="t"/>
          <a:lstStyle/>
          <a:p>
            <a:pPr indent="0" marL="0">
              <a:buNone/>
            </a:pPr>
            <a:r>
              <a:rPr lang="en-US" sz="1250" dirty="0">
                <a:solidFill>
                  <a:srgbClr val="BDBDBD"/>
                </a:solidFill>
                <a:latin typeface="Arial" pitchFamily="34" charset="0"/>
                <a:ea typeface="Arial" pitchFamily="34" charset="-122"/>
                <a:cs typeface="Arial" pitchFamily="34" charset="-120"/>
              </a:rPr>
              <a:t>Durations built from recorded actuals; lessons learned reviewed with Marathon after every job</a:t>
            </a:r>
            <a:endParaRPr lang="en-US" sz="1250" dirty="0"/>
          </a:p>
        </p:txBody>
      </p:sp>
      <p:sp>
        <p:nvSpPr>
          <p:cNvPr id="26" name="Text 19"/>
          <p:cNvSpPr txBox="1"/>
          <p:nvPr/>
        </p:nvSpPr>
        <p:spPr>
          <a:xfrm>
            <a:off x="548640" y="6419088"/>
            <a:ext cx="7315200" cy="228600"/>
          </a:xfrm>
          <a:prstGeom prst="rect">
            <a:avLst/>
          </a:prstGeom>
          <a:noFill/>
          <a:ln/>
        </p:spPr>
        <p:txBody>
          <a:bodyPr wrap="square" lIns="0" tIns="0" rIns="0" bIns="0" rtlCol="0" anchor="ctr"/>
          <a:lstStyle/>
          <a:p>
            <a:pPr indent="0" marL="0">
              <a:buNone/>
            </a:pPr>
            <a:r>
              <a:rPr lang="en-US" sz="900" dirty="0">
                <a:solidFill>
                  <a:srgbClr val="BDBDBD"/>
                </a:solidFill>
                <a:latin typeface="Arial" pitchFamily="34" charset="0"/>
                <a:ea typeface="Arial" pitchFamily="34" charset="-122"/>
                <a:cs typeface="Arial" pitchFamily="34" charset="-120"/>
              </a:rPr>
              <a:t>USA DeBusk  |  LAR Heater Pigging &amp; Decoking Services  |  DSP#26098</a:t>
            </a:r>
            <a:endParaRPr lang="en-US" sz="900" dirty="0"/>
          </a:p>
        </p:txBody>
      </p:sp>
      <p:sp>
        <p:nvSpPr>
          <p:cNvPr id="27" name="Text 20"/>
          <p:cNvSpPr txBox="1"/>
          <p:nvPr/>
        </p:nvSpPr>
        <p:spPr>
          <a:xfrm>
            <a:off x="11155680" y="6419088"/>
            <a:ext cx="484632" cy="228600"/>
          </a:xfrm>
          <a:prstGeom prst="rect">
            <a:avLst/>
          </a:prstGeom>
          <a:noFill/>
          <a:ln/>
        </p:spPr>
        <p:txBody>
          <a:bodyPr wrap="square" lIns="0" tIns="0" rIns="0" bIns="0" rtlCol="0" anchor="ctr"/>
          <a:lstStyle/>
          <a:p>
            <a:pPr algn="r" indent="0" marL="0">
              <a:buNone/>
            </a:pPr>
            <a:r>
              <a:rPr lang="en-US" sz="900" dirty="0">
                <a:solidFill>
                  <a:srgbClr val="BDBDBD"/>
                </a:solidFill>
                <a:latin typeface="Arial" pitchFamily="34" charset="0"/>
                <a:ea typeface="Arial" pitchFamily="34" charset="-122"/>
                <a:cs typeface="Arial" pitchFamily="34" charset="-120"/>
              </a:rPr>
              <a:t>20</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1E1E1E"/>
        </a:solidFill>
      </p:bgPr>
    </p:bg>
    <p:spTree>
      <p:nvGrpSpPr>
        <p:cNvPr id="1" name=""/>
        <p:cNvGrpSpPr/>
        <p:nvPr/>
      </p:nvGrpSpPr>
      <p:grpSpPr>
        <a:xfrm>
          <a:off x="0" y="0"/>
          <a:ext cx="0" cy="0"/>
          <a:chOff x="0" y="0"/>
          <a:chExt cx="0" cy="0"/>
        </a:xfrm>
      </p:grpSpPr>
      <p:sp>
        <p:nvSpPr>
          <p:cNvPr id="2" name="Shape 0"/>
          <p:cNvSpPr/>
          <p:nvPr/>
        </p:nvSpPr>
        <p:spPr>
          <a:xfrm>
            <a:off x="548640" y="411480"/>
            <a:ext cx="3263951" cy="310896"/>
          </a:xfrm>
          <a:prstGeom prst="roundRect">
            <a:avLst>
              <a:gd name="adj" fmla="val 23529"/>
            </a:avLst>
          </a:prstGeom>
          <a:solidFill>
            <a:srgbClr val="FCC30A"/>
          </a:solidFill>
          <a:ln w="12700">
            <a:solidFill>
              <a:srgbClr val="FCC30A"/>
            </a:solidFill>
            <a:prstDash val="solid"/>
          </a:ln>
        </p:spPr>
      </p:sp>
      <p:sp>
        <p:nvSpPr>
          <p:cNvPr id="3" name="Text 1"/>
          <p:cNvSpPr txBox="1"/>
          <p:nvPr/>
        </p:nvSpPr>
        <p:spPr>
          <a:xfrm>
            <a:off x="548640" y="411480"/>
            <a:ext cx="3263951" cy="310896"/>
          </a:xfrm>
          <a:prstGeom prst="rect">
            <a:avLst/>
          </a:prstGeom>
          <a:noFill/>
          <a:ln/>
        </p:spPr>
        <p:txBody>
          <a:bodyPr wrap="square" lIns="0" tIns="0" rIns="0" bIns="0" rtlCol="0" anchor="ctr"/>
          <a:lstStyle/>
          <a:p>
            <a:pPr algn="ctr" indent="0" marL="0">
              <a:buNone/>
            </a:pPr>
            <a:r>
              <a:rPr lang="en-US" sz="1050" b="1" spc="150" kern="0" dirty="0">
                <a:solidFill>
                  <a:srgbClr val="1E1E1E"/>
                </a:solidFill>
                <a:latin typeface="Arial" pitchFamily="34" charset="0"/>
                <a:ea typeface="Arial" pitchFamily="34" charset="-122"/>
                <a:cs typeface="Arial" pitchFamily="34" charset="-120"/>
              </a:rPr>
              <a:t>09   REFERENCES &amp; CASE STUDIES</a:t>
            </a:r>
            <a:endParaRPr lang="en-US" sz="1050" dirty="0"/>
          </a:p>
        </p:txBody>
      </p:sp>
      <p:sp>
        <p:nvSpPr>
          <p:cNvPr id="4" name="Text 2"/>
          <p:cNvSpPr txBox="1"/>
          <p:nvPr/>
        </p:nvSpPr>
        <p:spPr>
          <a:xfrm>
            <a:off x="548640" y="841248"/>
            <a:ext cx="11064240" cy="731520"/>
          </a:xfrm>
          <a:prstGeom prst="rect">
            <a:avLst/>
          </a:prstGeom>
          <a:noFill/>
          <a:ln/>
        </p:spPr>
        <p:txBody>
          <a:bodyPr wrap="square" lIns="0" tIns="0" rIns="0" bIns="0" rtlCol="0" anchor="t"/>
          <a:lstStyle/>
          <a:p>
            <a:pPr indent="0" marL="0">
              <a:buNone/>
            </a:pPr>
            <a:r>
              <a:rPr lang="en-US" sz="3200" b="1" dirty="0">
                <a:solidFill>
                  <a:srgbClr val="FFFFFF"/>
                </a:solidFill>
                <a:latin typeface="Arial" pitchFamily="34" charset="0"/>
                <a:ea typeface="Arial" pitchFamily="34" charset="-122"/>
                <a:cs typeface="Arial" pitchFamily="34" charset="-120"/>
              </a:rPr>
              <a:t>Trusted across the MPC system</a:t>
            </a:r>
            <a:endParaRPr lang="en-US" sz="3200" dirty="0"/>
          </a:p>
        </p:txBody>
      </p:sp>
      <p:pic>
        <p:nvPicPr>
          <p:cNvPr id="5" name="Image 0" descr="/tmp/claude-0/-home-user-obsidian-work/c8998718-f22f-57a3-84c2-766db1d92b4c/scratchpad/deck/img/mpc_map.png">    </p:cNvPr>
          <p:cNvPicPr>
            <a:picLocks noChangeAspect="1"/>
          </p:cNvPicPr>
          <p:nvPr/>
        </p:nvPicPr>
        <p:blipFill>
          <a:blip r:embed="rId1"/>
          <a:stretch>
            <a:fillRect/>
          </a:stretch>
        </p:blipFill>
        <p:spPr>
          <a:xfrm>
            <a:off x="457200" y="1554480"/>
            <a:ext cx="7680960" cy="4790276"/>
          </a:xfrm>
          <a:prstGeom prst="rect">
            <a:avLst/>
          </a:prstGeom>
        </p:spPr>
      </p:pic>
      <p:sp>
        <p:nvSpPr>
          <p:cNvPr id="6" name="Text 3"/>
          <p:cNvSpPr txBox="1"/>
          <p:nvPr/>
        </p:nvSpPr>
        <p:spPr>
          <a:xfrm>
            <a:off x="8869680" y="1828800"/>
            <a:ext cx="2743200" cy="1188720"/>
          </a:xfrm>
          <a:prstGeom prst="rect">
            <a:avLst/>
          </a:prstGeom>
          <a:noFill/>
          <a:ln/>
        </p:spPr>
        <p:txBody>
          <a:bodyPr wrap="square" lIns="0" tIns="0" rIns="0" bIns="0" rtlCol="0" anchor="ctr"/>
          <a:lstStyle/>
          <a:p>
            <a:pPr indent="0" marL="0">
              <a:buNone/>
            </a:pPr>
            <a:r>
              <a:rPr lang="en-US" sz="8800" b="1" dirty="0">
                <a:solidFill>
                  <a:srgbClr val="FCC30A"/>
                </a:solidFill>
                <a:latin typeface="Arial" pitchFamily="34" charset="0"/>
                <a:ea typeface="Arial" pitchFamily="34" charset="-122"/>
                <a:cs typeface="Arial" pitchFamily="34" charset="-120"/>
              </a:rPr>
              <a:t>9</a:t>
            </a:r>
            <a:endParaRPr lang="en-US" sz="8800" dirty="0"/>
          </a:p>
        </p:txBody>
      </p:sp>
      <p:sp>
        <p:nvSpPr>
          <p:cNvPr id="7" name="Text 4"/>
          <p:cNvSpPr txBox="1"/>
          <p:nvPr/>
        </p:nvSpPr>
        <p:spPr>
          <a:xfrm>
            <a:off x="8869680" y="3017520"/>
            <a:ext cx="2743200" cy="685800"/>
          </a:xfrm>
          <a:prstGeom prst="rect">
            <a:avLst/>
          </a:prstGeom>
          <a:noFill/>
          <a:ln/>
        </p:spPr>
        <p:txBody>
          <a:bodyPr wrap="square" lIns="0" tIns="0" rIns="0" bIns="0" rtlCol="0" anchor="t"/>
          <a:lstStyle/>
          <a:p>
            <a:pPr indent="0" marL="0">
              <a:buNone/>
            </a:pPr>
            <a:r>
              <a:rPr lang="en-US" sz="1600" b="1" dirty="0">
                <a:solidFill>
                  <a:srgbClr val="FFFFFF"/>
                </a:solidFill>
                <a:latin typeface="Arial" pitchFamily="34" charset="0"/>
                <a:ea typeface="Arial" pitchFamily="34" charset="-122"/>
                <a:cs typeface="Arial" pitchFamily="34" charset="-120"/>
              </a:rPr>
              <a:t>Marathon refineries with USA DeBusk references</a:t>
            </a:r>
            <a:endParaRPr lang="en-US" sz="1600" dirty="0"/>
          </a:p>
        </p:txBody>
      </p:sp>
      <p:sp>
        <p:nvSpPr>
          <p:cNvPr id="8" name="Text 5"/>
          <p:cNvSpPr txBox="1"/>
          <p:nvPr/>
        </p:nvSpPr>
        <p:spPr>
          <a:xfrm>
            <a:off x="8869680" y="3886200"/>
            <a:ext cx="2788920" cy="2194560"/>
          </a:xfrm>
          <a:prstGeom prst="rect">
            <a:avLst/>
          </a:prstGeom>
          <a:noFill/>
          <a:ln/>
        </p:spPr>
        <p:txBody>
          <a:bodyPr wrap="square" lIns="0" tIns="0" rIns="0" bIns="0" rtlCol="0" anchor="t"/>
          <a:lstStyle/>
          <a:p>
            <a:pPr marL="342900" indent="-342900">
              <a:spcAft>
                <a:spcPts val="1000"/>
              </a:spcAft>
              <a:buSzPct val="100000"/>
              <a:buChar char="•"/>
            </a:pPr>
            <a:r>
              <a:rPr lang="en-US" sz="1250" dirty="0">
                <a:solidFill>
                  <a:srgbClr val="BDBDBD"/>
                </a:solidFill>
                <a:latin typeface="Arial" pitchFamily="34" charset="0"/>
                <a:ea typeface="Arial" pitchFamily="34" charset="-122"/>
                <a:cs typeface="Arial" pitchFamily="34" charset="-120"/>
              </a:rPr>
              <a:t>Named contacts at 8 sites (Galveston Bay on request), listed in the appendix</a:t>
            </a:r>
            <a:endParaRPr lang="en-US" sz="1250" dirty="0"/>
          </a:p>
          <a:p>
            <a:pPr marL="342900" indent="-342900">
              <a:spcAft>
                <a:spcPts val="1000"/>
              </a:spcAft>
              <a:buSzPct val="100000"/>
              <a:buChar char="•"/>
            </a:pPr>
            <a:r>
              <a:rPr lang="en-US" sz="1250" dirty="0">
                <a:solidFill>
                  <a:srgbClr val="BDBDBD"/>
                </a:solidFill>
                <a:latin typeface="Arial" pitchFamily="34" charset="0"/>
                <a:ea typeface="Arial" pitchFamily="34" charset="-122"/>
                <a:cs typeface="Arial" pitchFamily="34" charset="-120"/>
              </a:rPr>
              <a:t>Includes Martinez, CA, our West Coast MPC reference</a:t>
            </a:r>
            <a:endParaRPr lang="en-US" sz="1250" dirty="0"/>
          </a:p>
          <a:p>
            <a:pPr marL="342900" indent="-342900">
              <a:spcAft>
                <a:spcPts val="1000"/>
              </a:spcAft>
              <a:buSzPct val="100000"/>
              <a:buChar char="•"/>
            </a:pPr>
            <a:r>
              <a:rPr lang="en-US" sz="1250" dirty="0">
                <a:solidFill>
                  <a:srgbClr val="BDBDBD"/>
                </a:solidFill>
                <a:latin typeface="Arial" pitchFamily="34" charset="0"/>
                <a:ea typeface="Arial" pitchFamily="34" charset="-122"/>
                <a:cs typeface="Arial" pitchFamily="34" charset="-120"/>
              </a:rPr>
              <a:t>Crude, coker and vacuum heater experience</a:t>
            </a:r>
            <a:endParaRPr lang="en-US" sz="1250" dirty="0"/>
          </a:p>
        </p:txBody>
      </p:sp>
      <p:sp>
        <p:nvSpPr>
          <p:cNvPr id="9" name="Text 6"/>
          <p:cNvSpPr txBox="1"/>
          <p:nvPr/>
        </p:nvSpPr>
        <p:spPr>
          <a:xfrm>
            <a:off x="548640" y="6419088"/>
            <a:ext cx="7315200" cy="228600"/>
          </a:xfrm>
          <a:prstGeom prst="rect">
            <a:avLst/>
          </a:prstGeom>
          <a:noFill/>
          <a:ln/>
        </p:spPr>
        <p:txBody>
          <a:bodyPr wrap="square" lIns="0" tIns="0" rIns="0" bIns="0" rtlCol="0" anchor="ctr"/>
          <a:lstStyle/>
          <a:p>
            <a:pPr indent="0" marL="0">
              <a:buNone/>
            </a:pPr>
            <a:r>
              <a:rPr lang="en-US" sz="900" dirty="0">
                <a:solidFill>
                  <a:srgbClr val="BDBDBD"/>
                </a:solidFill>
                <a:latin typeface="Arial" pitchFamily="34" charset="0"/>
                <a:ea typeface="Arial" pitchFamily="34" charset="-122"/>
                <a:cs typeface="Arial" pitchFamily="34" charset="-120"/>
              </a:rPr>
              <a:t>USA DeBusk  |  LAR Heater Pigging &amp; Decoking Services  |  DSP#26098</a:t>
            </a:r>
            <a:endParaRPr lang="en-US" sz="900" dirty="0"/>
          </a:p>
        </p:txBody>
      </p:sp>
      <p:sp>
        <p:nvSpPr>
          <p:cNvPr id="10" name="Text 7"/>
          <p:cNvSpPr txBox="1"/>
          <p:nvPr/>
        </p:nvSpPr>
        <p:spPr>
          <a:xfrm>
            <a:off x="11155680" y="6419088"/>
            <a:ext cx="484632" cy="228600"/>
          </a:xfrm>
          <a:prstGeom prst="rect">
            <a:avLst/>
          </a:prstGeom>
          <a:noFill/>
          <a:ln/>
        </p:spPr>
        <p:txBody>
          <a:bodyPr wrap="square" lIns="0" tIns="0" rIns="0" bIns="0" rtlCol="0" anchor="ctr"/>
          <a:lstStyle/>
          <a:p>
            <a:pPr algn="r" indent="0" marL="0">
              <a:buNone/>
            </a:pPr>
            <a:r>
              <a:rPr lang="en-US" sz="900" dirty="0">
                <a:solidFill>
                  <a:srgbClr val="BDBDBD"/>
                </a:solidFill>
                <a:latin typeface="Arial" pitchFamily="34" charset="0"/>
                <a:ea typeface="Arial" pitchFamily="34" charset="-122"/>
                <a:cs typeface="Arial" pitchFamily="34" charset="-120"/>
              </a:rPr>
              <a:t>21</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11480"/>
            <a:ext cx="3263951" cy="310896"/>
          </a:xfrm>
          <a:prstGeom prst="roundRect">
            <a:avLst>
              <a:gd name="adj" fmla="val 23529"/>
            </a:avLst>
          </a:prstGeom>
          <a:solidFill>
            <a:srgbClr val="FCC30A"/>
          </a:solidFill>
          <a:ln w="12700">
            <a:solidFill>
              <a:srgbClr val="FCC30A"/>
            </a:solidFill>
            <a:prstDash val="solid"/>
          </a:ln>
        </p:spPr>
      </p:sp>
      <p:sp>
        <p:nvSpPr>
          <p:cNvPr id="3" name="Text 1"/>
          <p:cNvSpPr txBox="1"/>
          <p:nvPr/>
        </p:nvSpPr>
        <p:spPr>
          <a:xfrm>
            <a:off x="548640" y="411480"/>
            <a:ext cx="3263951" cy="310896"/>
          </a:xfrm>
          <a:prstGeom prst="rect">
            <a:avLst/>
          </a:prstGeom>
          <a:noFill/>
          <a:ln/>
        </p:spPr>
        <p:txBody>
          <a:bodyPr wrap="square" lIns="0" tIns="0" rIns="0" bIns="0" rtlCol="0" anchor="ctr"/>
          <a:lstStyle/>
          <a:p>
            <a:pPr algn="ctr" indent="0" marL="0">
              <a:buNone/>
            </a:pPr>
            <a:r>
              <a:rPr lang="en-US" sz="1050" b="1" spc="150" kern="0" dirty="0">
                <a:solidFill>
                  <a:srgbClr val="1E1E1E"/>
                </a:solidFill>
                <a:latin typeface="Arial" pitchFamily="34" charset="0"/>
                <a:ea typeface="Arial" pitchFamily="34" charset="-122"/>
                <a:cs typeface="Arial" pitchFamily="34" charset="-120"/>
              </a:rPr>
              <a:t>09   REFERENCES &amp; CASE STUDIES</a:t>
            </a:r>
            <a:endParaRPr lang="en-US" sz="1050" dirty="0"/>
          </a:p>
        </p:txBody>
      </p:sp>
      <p:sp>
        <p:nvSpPr>
          <p:cNvPr id="4" name="Text 2"/>
          <p:cNvSpPr txBox="1"/>
          <p:nvPr/>
        </p:nvSpPr>
        <p:spPr>
          <a:xfrm>
            <a:off x="548640" y="841248"/>
            <a:ext cx="11064240" cy="731520"/>
          </a:xfrm>
          <a:prstGeom prst="rect">
            <a:avLst/>
          </a:prstGeom>
          <a:noFill/>
          <a:ln/>
        </p:spPr>
        <p:txBody>
          <a:bodyPr wrap="square" lIns="0" tIns="0" rIns="0" bIns="0" rtlCol="0" anchor="t"/>
          <a:lstStyle/>
          <a:p>
            <a:pPr indent="0" marL="0">
              <a:buNone/>
            </a:pPr>
            <a:r>
              <a:rPr lang="en-US" sz="3200" b="1" dirty="0">
                <a:solidFill>
                  <a:srgbClr val="222222"/>
                </a:solidFill>
                <a:latin typeface="Arial" pitchFamily="34" charset="0"/>
                <a:ea typeface="Arial" pitchFamily="34" charset="-122"/>
                <a:cs typeface="Arial" pitchFamily="34" charset="-120"/>
              </a:rPr>
              <a:t>Coker heater case studies &amp; lessons learned</a:t>
            </a:r>
            <a:endParaRPr lang="en-US" sz="3200" dirty="0"/>
          </a:p>
        </p:txBody>
      </p:sp>
      <p:sp>
        <p:nvSpPr>
          <p:cNvPr id="5" name="Shape 3"/>
          <p:cNvSpPr/>
          <p:nvPr/>
        </p:nvSpPr>
        <p:spPr>
          <a:xfrm>
            <a:off x="548640" y="1783080"/>
            <a:ext cx="5449824" cy="4389120"/>
          </a:xfrm>
          <a:prstGeom prst="rect">
            <a:avLst/>
          </a:prstGeom>
          <a:solidFill>
            <a:srgbClr val="F4F4F4"/>
          </a:solidFill>
          <a:ln w="12700">
            <a:solidFill>
              <a:srgbClr val="F4F4F4"/>
            </a:solidFill>
            <a:prstDash val="solid"/>
          </a:ln>
        </p:spPr>
      </p:sp>
      <p:sp>
        <p:nvSpPr>
          <p:cNvPr id="6" name="Text 4"/>
          <p:cNvSpPr txBox="1"/>
          <p:nvPr/>
        </p:nvSpPr>
        <p:spPr>
          <a:xfrm>
            <a:off x="868680" y="2057400"/>
            <a:ext cx="4809744" cy="365760"/>
          </a:xfrm>
          <a:prstGeom prst="rect">
            <a:avLst/>
          </a:prstGeom>
          <a:noFill/>
          <a:ln/>
        </p:spPr>
        <p:txBody>
          <a:bodyPr wrap="square" lIns="0" tIns="0" rIns="0" bIns="0" rtlCol="0" anchor="ctr"/>
          <a:lstStyle/>
          <a:p>
            <a:pPr indent="0" marL="0">
              <a:buNone/>
            </a:pPr>
            <a:r>
              <a:rPr lang="en-US" sz="1700" b="1" dirty="0">
                <a:solidFill>
                  <a:srgbClr val="222222"/>
                </a:solidFill>
                <a:latin typeface="Arial" pitchFamily="34" charset="0"/>
                <a:ea typeface="Arial" pitchFamily="34" charset="-122"/>
                <a:cs typeface="Arial" pitchFamily="34" charset="-120"/>
              </a:rPr>
              <a:t>Marathon Detroit, MI: 70H1 Coker</a:t>
            </a:r>
            <a:endParaRPr lang="en-US" sz="1700" dirty="0"/>
          </a:p>
        </p:txBody>
      </p:sp>
      <p:sp>
        <p:nvSpPr>
          <p:cNvPr id="7" name="Text 5"/>
          <p:cNvSpPr txBox="1"/>
          <p:nvPr/>
        </p:nvSpPr>
        <p:spPr>
          <a:xfrm>
            <a:off x="868680" y="2423160"/>
            <a:ext cx="4809744" cy="274320"/>
          </a:xfrm>
          <a:prstGeom prst="rect">
            <a:avLst/>
          </a:prstGeom>
          <a:noFill/>
          <a:ln/>
        </p:spPr>
        <p:txBody>
          <a:bodyPr wrap="square" lIns="0" tIns="0" rIns="0" bIns="0" rtlCol="0" anchor="ctr"/>
          <a:lstStyle/>
          <a:p>
            <a:pPr indent="0" marL="0">
              <a:buNone/>
            </a:pPr>
            <a:r>
              <a:rPr lang="en-US" sz="1200" dirty="0">
                <a:solidFill>
                  <a:srgbClr val="5E5E5E"/>
                </a:solidFill>
                <a:latin typeface="Arial" pitchFamily="34" charset="0"/>
                <a:ea typeface="Arial" pitchFamily="34" charset="-122"/>
                <a:cs typeface="Arial" pitchFamily="34" charset="-120"/>
              </a:rPr>
              <a:t>Decoked September 2024 and September 2026</a:t>
            </a:r>
            <a:endParaRPr lang="en-US" sz="1200" dirty="0"/>
          </a:p>
        </p:txBody>
      </p:sp>
      <p:sp>
        <p:nvSpPr>
          <p:cNvPr id="8" name="Text 6"/>
          <p:cNvSpPr txBox="1"/>
          <p:nvPr/>
        </p:nvSpPr>
        <p:spPr>
          <a:xfrm>
            <a:off x="868680" y="2880360"/>
            <a:ext cx="1600200" cy="594360"/>
          </a:xfrm>
          <a:prstGeom prst="rect">
            <a:avLst/>
          </a:prstGeom>
          <a:noFill/>
          <a:ln/>
        </p:spPr>
        <p:txBody>
          <a:bodyPr wrap="square" lIns="0" tIns="0" rIns="0" bIns="0" rtlCol="0" anchor="ctr"/>
          <a:lstStyle/>
          <a:p>
            <a:pPr indent="0" marL="0">
              <a:buNone/>
            </a:pPr>
            <a:r>
              <a:rPr lang="en-US" sz="2800" b="1" dirty="0">
                <a:solidFill>
                  <a:srgbClr val="222222"/>
                </a:solidFill>
                <a:latin typeface="Arial" pitchFamily="34" charset="0"/>
                <a:ea typeface="Arial" pitchFamily="34" charset="-122"/>
                <a:cs typeface="Arial" pitchFamily="34" charset="-120"/>
              </a:rPr>
              <a:t>6</a:t>
            </a:r>
            <a:endParaRPr lang="en-US" sz="2800" dirty="0"/>
          </a:p>
        </p:txBody>
      </p:sp>
      <p:sp>
        <p:nvSpPr>
          <p:cNvPr id="9" name="Text 7"/>
          <p:cNvSpPr txBox="1"/>
          <p:nvPr/>
        </p:nvSpPr>
        <p:spPr>
          <a:xfrm>
            <a:off x="868680" y="3474720"/>
            <a:ext cx="1600200" cy="274320"/>
          </a:xfrm>
          <a:prstGeom prst="rect">
            <a:avLst/>
          </a:prstGeom>
          <a:noFill/>
          <a:ln/>
        </p:spPr>
        <p:txBody>
          <a:bodyPr wrap="square" lIns="0" tIns="0" rIns="0" bIns="0" rtlCol="0" anchor="ctr"/>
          <a:lstStyle/>
          <a:p>
            <a:pPr indent="0" marL="0">
              <a:buNone/>
            </a:pPr>
            <a:r>
              <a:rPr lang="en-US" sz="1100" dirty="0">
                <a:solidFill>
                  <a:srgbClr val="5E5E5E"/>
                </a:solidFill>
                <a:latin typeface="Arial" pitchFamily="34" charset="0"/>
                <a:ea typeface="Arial" pitchFamily="34" charset="-122"/>
                <a:cs typeface="Arial" pitchFamily="34" charset="-120"/>
              </a:rPr>
              <a:t>passes, 3 cells</a:t>
            </a:r>
            <a:endParaRPr lang="en-US" sz="1100" dirty="0"/>
          </a:p>
        </p:txBody>
      </p:sp>
      <p:sp>
        <p:nvSpPr>
          <p:cNvPr id="10" name="Text 8"/>
          <p:cNvSpPr txBox="1"/>
          <p:nvPr/>
        </p:nvSpPr>
        <p:spPr>
          <a:xfrm>
            <a:off x="2514600" y="2880360"/>
            <a:ext cx="1600200" cy="594360"/>
          </a:xfrm>
          <a:prstGeom prst="rect">
            <a:avLst/>
          </a:prstGeom>
          <a:noFill/>
          <a:ln/>
        </p:spPr>
        <p:txBody>
          <a:bodyPr wrap="square" lIns="0" tIns="0" rIns="0" bIns="0" rtlCol="0" anchor="ctr"/>
          <a:lstStyle/>
          <a:p>
            <a:pPr indent="0" marL="0">
              <a:buNone/>
            </a:pPr>
            <a:r>
              <a:rPr lang="en-US" sz="2800" b="1" dirty="0">
                <a:solidFill>
                  <a:srgbClr val="222222"/>
                </a:solidFill>
                <a:latin typeface="Arial" pitchFamily="34" charset="0"/>
                <a:ea typeface="Arial" pitchFamily="34" charset="-122"/>
                <a:cs typeface="Arial" pitchFamily="34" charset="-120"/>
              </a:rPr>
              <a:t>15,156'</a:t>
            </a:r>
            <a:endParaRPr lang="en-US" sz="2800" dirty="0"/>
          </a:p>
        </p:txBody>
      </p:sp>
      <p:sp>
        <p:nvSpPr>
          <p:cNvPr id="11" name="Text 9"/>
          <p:cNvSpPr txBox="1"/>
          <p:nvPr/>
        </p:nvSpPr>
        <p:spPr>
          <a:xfrm>
            <a:off x="2514600" y="3474720"/>
            <a:ext cx="1600200" cy="274320"/>
          </a:xfrm>
          <a:prstGeom prst="rect">
            <a:avLst/>
          </a:prstGeom>
          <a:noFill/>
          <a:ln/>
        </p:spPr>
        <p:txBody>
          <a:bodyPr wrap="square" lIns="0" tIns="0" rIns="0" bIns="0" rtlCol="0" anchor="ctr"/>
          <a:lstStyle/>
          <a:p>
            <a:pPr indent="0" marL="0">
              <a:buNone/>
            </a:pPr>
            <a:r>
              <a:rPr lang="en-US" sz="1100" dirty="0">
                <a:solidFill>
                  <a:srgbClr val="5E5E5E"/>
                </a:solidFill>
                <a:latin typeface="Arial" pitchFamily="34" charset="0"/>
                <a:ea typeface="Arial" pitchFamily="34" charset="-122"/>
                <a:cs typeface="Arial" pitchFamily="34" charset="-120"/>
              </a:rPr>
              <a:t>coil footage</a:t>
            </a:r>
            <a:endParaRPr lang="en-US" sz="1100" dirty="0"/>
          </a:p>
        </p:txBody>
      </p:sp>
      <p:sp>
        <p:nvSpPr>
          <p:cNvPr id="12" name="Text 10"/>
          <p:cNvSpPr txBox="1"/>
          <p:nvPr/>
        </p:nvSpPr>
        <p:spPr>
          <a:xfrm>
            <a:off x="4160520" y="2880360"/>
            <a:ext cx="1600200" cy="594360"/>
          </a:xfrm>
          <a:prstGeom prst="rect">
            <a:avLst/>
          </a:prstGeom>
          <a:noFill/>
          <a:ln/>
        </p:spPr>
        <p:txBody>
          <a:bodyPr wrap="square" lIns="0" tIns="0" rIns="0" bIns="0" rtlCol="0" anchor="ctr"/>
          <a:lstStyle/>
          <a:p>
            <a:pPr indent="0" marL="0">
              <a:buNone/>
            </a:pPr>
            <a:r>
              <a:rPr lang="en-US" sz="2800" b="1" dirty="0">
                <a:solidFill>
                  <a:srgbClr val="222222"/>
                </a:solidFill>
                <a:latin typeface="Arial" pitchFamily="34" charset="0"/>
                <a:ea typeface="Arial" pitchFamily="34" charset="-122"/>
                <a:cs typeface="Arial" pitchFamily="34" charset="-120"/>
              </a:rPr>
              <a:t>2</a:t>
            </a:r>
            <a:endParaRPr lang="en-US" sz="2800" dirty="0"/>
          </a:p>
        </p:txBody>
      </p:sp>
      <p:sp>
        <p:nvSpPr>
          <p:cNvPr id="13" name="Text 11"/>
          <p:cNvSpPr txBox="1"/>
          <p:nvPr/>
        </p:nvSpPr>
        <p:spPr>
          <a:xfrm>
            <a:off x="4160520" y="3474720"/>
            <a:ext cx="1600200" cy="274320"/>
          </a:xfrm>
          <a:prstGeom prst="rect">
            <a:avLst/>
          </a:prstGeom>
          <a:noFill/>
          <a:ln/>
        </p:spPr>
        <p:txBody>
          <a:bodyPr wrap="square" lIns="0" tIns="0" rIns="0" bIns="0" rtlCol="0" anchor="ctr"/>
          <a:lstStyle/>
          <a:p>
            <a:pPr indent="0" marL="0">
              <a:buNone/>
            </a:pPr>
            <a:r>
              <a:rPr lang="en-US" sz="1100" dirty="0">
                <a:solidFill>
                  <a:srgbClr val="5E5E5E"/>
                </a:solidFill>
                <a:latin typeface="Arial" pitchFamily="34" charset="0"/>
                <a:ea typeface="Arial" pitchFamily="34" charset="-122"/>
                <a:cs typeface="Arial" pitchFamily="34" charset="-120"/>
              </a:rPr>
              <a:t>TriMax units</a:t>
            </a:r>
            <a:endParaRPr lang="en-US" sz="1100" dirty="0"/>
          </a:p>
        </p:txBody>
      </p:sp>
      <p:sp>
        <p:nvSpPr>
          <p:cNvPr id="14" name="Text 12"/>
          <p:cNvSpPr txBox="1"/>
          <p:nvPr/>
        </p:nvSpPr>
        <p:spPr>
          <a:xfrm>
            <a:off x="868680" y="4023360"/>
            <a:ext cx="4809744" cy="731520"/>
          </a:xfrm>
          <a:prstGeom prst="rect">
            <a:avLst/>
          </a:prstGeom>
          <a:noFill/>
          <a:ln/>
        </p:spPr>
        <p:txBody>
          <a:bodyPr wrap="square" lIns="0" tIns="0" rIns="0" bIns="0" rtlCol="0" anchor="t"/>
          <a:lstStyle/>
          <a:p>
            <a:pPr indent="0" marL="0">
              <a:buNone/>
            </a:pPr>
            <a:r>
              <a:rPr lang="en-US" sz="1300" b="1" dirty="0">
                <a:solidFill>
                  <a:srgbClr val="222222"/>
                </a:solidFill>
                <a:latin typeface="Arial" pitchFamily="34" charset="0"/>
                <a:ea typeface="Arial" pitchFamily="34" charset="-122"/>
                <a:cs typeface="Arial" pitchFamily="34" charset="-120"/>
              </a:rPr>
              <a:t>Scope  </a:t>
            </a:r>
            <a:pPr indent="0" marL="0">
              <a:buNone/>
            </a:pPr>
            <a:r>
              <a:rPr lang="en-US" sz="1300" dirty="0">
                <a:solidFill>
                  <a:srgbClr val="5E5E5E"/>
                </a:solidFill>
                <a:latin typeface="Arial" pitchFamily="34" charset="0"/>
                <a:ea typeface="Arial" pitchFamily="34" charset="-122"/>
                <a:cs typeface="Arial" pitchFamily="34" charset="-120"/>
              </a:rPr>
              <a:t>All six passes, convection and radiant, pigged simultaneously on two TriMax units.</a:t>
            </a:r>
            <a:endParaRPr lang="en-US" sz="1300" dirty="0"/>
          </a:p>
        </p:txBody>
      </p:sp>
      <p:sp>
        <p:nvSpPr>
          <p:cNvPr id="15" name="Shape 13"/>
          <p:cNvSpPr/>
          <p:nvPr/>
        </p:nvSpPr>
        <p:spPr>
          <a:xfrm>
            <a:off x="868680" y="4846320"/>
            <a:ext cx="4809744" cy="1097280"/>
          </a:xfrm>
          <a:prstGeom prst="rect">
            <a:avLst/>
          </a:prstGeom>
          <a:solidFill>
            <a:srgbClr val="1E1E1E"/>
          </a:solidFill>
          <a:ln w="12700">
            <a:solidFill>
              <a:srgbClr val="1E1E1E"/>
            </a:solidFill>
            <a:prstDash val="solid"/>
          </a:ln>
        </p:spPr>
      </p:sp>
      <p:sp>
        <p:nvSpPr>
          <p:cNvPr id="16" name="Text 14"/>
          <p:cNvSpPr txBox="1"/>
          <p:nvPr/>
        </p:nvSpPr>
        <p:spPr>
          <a:xfrm>
            <a:off x="1051560" y="4937760"/>
            <a:ext cx="4443984" cy="914400"/>
          </a:xfrm>
          <a:prstGeom prst="rect">
            <a:avLst/>
          </a:prstGeom>
          <a:noFill/>
          <a:ln/>
        </p:spPr>
        <p:txBody>
          <a:bodyPr wrap="square" lIns="0" tIns="0" rIns="0" bIns="0" rtlCol="0" anchor="ctr"/>
          <a:lstStyle/>
          <a:p>
            <a:pPr indent="0" marL="0">
              <a:buNone/>
            </a:pPr>
            <a:r>
              <a:rPr lang="en-US" sz="1300" b="1" dirty="0">
                <a:solidFill>
                  <a:srgbClr val="FCC30A"/>
                </a:solidFill>
                <a:latin typeface="Arial" pitchFamily="34" charset="0"/>
                <a:ea typeface="Arial" pitchFamily="34" charset="-122"/>
                <a:cs typeface="Arial" pitchFamily="34" charset="-120"/>
              </a:rPr>
              <a:t>Result  </a:t>
            </a:r>
            <a:pPr indent="0" marL="0">
              <a:buNone/>
            </a:pPr>
            <a:r>
              <a:rPr lang="en-US" sz="1300" dirty="0">
                <a:solidFill>
                  <a:srgbClr val="FFFFFF"/>
                </a:solidFill>
                <a:latin typeface="Arial" pitchFamily="34" charset="0"/>
                <a:ea typeface="Arial" pitchFamily="34" charset="-122"/>
                <a:cs typeface="Arial" pitchFamily="34" charset="-120"/>
              </a:rPr>
              <a:t>Two decokes on the same coker, two years apart: MPC brought us back.</a:t>
            </a:r>
            <a:endParaRPr lang="en-US" sz="1300" dirty="0"/>
          </a:p>
        </p:txBody>
      </p:sp>
      <p:sp>
        <p:nvSpPr>
          <p:cNvPr id="17" name="Shape 15"/>
          <p:cNvSpPr/>
          <p:nvPr/>
        </p:nvSpPr>
        <p:spPr>
          <a:xfrm>
            <a:off x="6190488" y="1783080"/>
            <a:ext cx="5449824" cy="4389120"/>
          </a:xfrm>
          <a:prstGeom prst="rect">
            <a:avLst/>
          </a:prstGeom>
          <a:solidFill>
            <a:srgbClr val="F4F4F4"/>
          </a:solidFill>
          <a:ln w="12700">
            <a:solidFill>
              <a:srgbClr val="F4F4F4"/>
            </a:solidFill>
            <a:prstDash val="solid"/>
          </a:ln>
        </p:spPr>
      </p:sp>
      <p:sp>
        <p:nvSpPr>
          <p:cNvPr id="18" name="Text 16"/>
          <p:cNvSpPr txBox="1"/>
          <p:nvPr/>
        </p:nvSpPr>
        <p:spPr>
          <a:xfrm>
            <a:off x="6510528" y="2057400"/>
            <a:ext cx="4809744" cy="365760"/>
          </a:xfrm>
          <a:prstGeom prst="rect">
            <a:avLst/>
          </a:prstGeom>
          <a:noFill/>
          <a:ln/>
        </p:spPr>
        <p:txBody>
          <a:bodyPr wrap="square" lIns="0" tIns="0" rIns="0" bIns="0" rtlCol="0" anchor="ctr"/>
          <a:lstStyle/>
          <a:p>
            <a:pPr indent="0" marL="0">
              <a:buNone/>
            </a:pPr>
            <a:r>
              <a:rPr lang="en-US" sz="1700" b="1" dirty="0">
                <a:solidFill>
                  <a:srgbClr val="222222"/>
                </a:solidFill>
                <a:latin typeface="Arial" pitchFamily="34" charset="0"/>
                <a:ea typeface="Arial" pitchFamily="34" charset="-122"/>
                <a:cs typeface="Arial" pitchFamily="34" charset="-120"/>
              </a:rPr>
              <a:t>CHS McPherson, KS: Coker HF-0012</a:t>
            </a:r>
            <a:endParaRPr lang="en-US" sz="1700" dirty="0"/>
          </a:p>
        </p:txBody>
      </p:sp>
      <p:sp>
        <p:nvSpPr>
          <p:cNvPr id="19" name="Text 17"/>
          <p:cNvSpPr txBox="1"/>
          <p:nvPr/>
        </p:nvSpPr>
        <p:spPr>
          <a:xfrm>
            <a:off x="6510528" y="2423160"/>
            <a:ext cx="4809744" cy="274320"/>
          </a:xfrm>
          <a:prstGeom prst="rect">
            <a:avLst/>
          </a:prstGeom>
          <a:noFill/>
          <a:ln/>
        </p:spPr>
        <p:txBody>
          <a:bodyPr wrap="square" lIns="0" tIns="0" rIns="0" bIns="0" rtlCol="0" anchor="ctr"/>
          <a:lstStyle/>
          <a:p>
            <a:pPr indent="0" marL="0">
              <a:buNone/>
            </a:pPr>
            <a:r>
              <a:rPr lang="en-US" sz="1200" dirty="0">
                <a:solidFill>
                  <a:srgbClr val="5E5E5E"/>
                </a:solidFill>
                <a:latin typeface="Arial" pitchFamily="34" charset="0"/>
                <a:ea typeface="Arial" pitchFamily="34" charset="-122"/>
                <a:cs typeface="Arial" pitchFamily="34" charset="-120"/>
              </a:rPr>
              <a:t>6-pass coker heater, planned decoke, 2025</a:t>
            </a:r>
            <a:endParaRPr lang="en-US" sz="1200" dirty="0"/>
          </a:p>
        </p:txBody>
      </p:sp>
      <p:sp>
        <p:nvSpPr>
          <p:cNvPr id="20" name="Text 18"/>
          <p:cNvSpPr txBox="1"/>
          <p:nvPr/>
        </p:nvSpPr>
        <p:spPr>
          <a:xfrm>
            <a:off x="6510528" y="2880360"/>
            <a:ext cx="1600200" cy="594360"/>
          </a:xfrm>
          <a:prstGeom prst="rect">
            <a:avLst/>
          </a:prstGeom>
          <a:noFill/>
          <a:ln/>
        </p:spPr>
        <p:txBody>
          <a:bodyPr wrap="square" lIns="0" tIns="0" rIns="0" bIns="0" rtlCol="0" anchor="ctr"/>
          <a:lstStyle/>
          <a:p>
            <a:pPr indent="0" marL="0">
              <a:buNone/>
            </a:pPr>
            <a:r>
              <a:rPr lang="en-US" sz="2800" b="1" dirty="0">
                <a:solidFill>
                  <a:srgbClr val="222222"/>
                </a:solidFill>
                <a:latin typeface="Arial" pitchFamily="34" charset="0"/>
                <a:ea typeface="Arial" pitchFamily="34" charset="-122"/>
                <a:cs typeface="Arial" pitchFamily="34" charset="-120"/>
              </a:rPr>
              <a:t>12,036'</a:t>
            </a:r>
            <a:endParaRPr lang="en-US" sz="2800" dirty="0"/>
          </a:p>
        </p:txBody>
      </p:sp>
      <p:sp>
        <p:nvSpPr>
          <p:cNvPr id="21" name="Text 19"/>
          <p:cNvSpPr txBox="1"/>
          <p:nvPr/>
        </p:nvSpPr>
        <p:spPr>
          <a:xfrm>
            <a:off x="6510528" y="3474720"/>
            <a:ext cx="1600200" cy="274320"/>
          </a:xfrm>
          <a:prstGeom prst="rect">
            <a:avLst/>
          </a:prstGeom>
          <a:noFill/>
          <a:ln/>
        </p:spPr>
        <p:txBody>
          <a:bodyPr wrap="square" lIns="0" tIns="0" rIns="0" bIns="0" rtlCol="0" anchor="ctr"/>
          <a:lstStyle/>
          <a:p>
            <a:pPr indent="0" marL="0">
              <a:buNone/>
            </a:pPr>
            <a:r>
              <a:rPr lang="en-US" sz="1100" dirty="0">
                <a:solidFill>
                  <a:srgbClr val="5E5E5E"/>
                </a:solidFill>
                <a:latin typeface="Arial" pitchFamily="34" charset="0"/>
                <a:ea typeface="Arial" pitchFamily="34" charset="-122"/>
                <a:cs typeface="Arial" pitchFamily="34" charset="-120"/>
              </a:rPr>
              <a:t>coil footage</a:t>
            </a:r>
            <a:endParaRPr lang="en-US" sz="1100" dirty="0"/>
          </a:p>
        </p:txBody>
      </p:sp>
      <p:sp>
        <p:nvSpPr>
          <p:cNvPr id="22" name="Text 20"/>
          <p:cNvSpPr txBox="1"/>
          <p:nvPr/>
        </p:nvSpPr>
        <p:spPr>
          <a:xfrm>
            <a:off x="8156448" y="2880360"/>
            <a:ext cx="1600200" cy="594360"/>
          </a:xfrm>
          <a:prstGeom prst="rect">
            <a:avLst/>
          </a:prstGeom>
          <a:noFill/>
          <a:ln/>
        </p:spPr>
        <p:txBody>
          <a:bodyPr wrap="square" lIns="0" tIns="0" rIns="0" bIns="0" rtlCol="0" anchor="ctr"/>
          <a:lstStyle/>
          <a:p>
            <a:pPr indent="0" marL="0">
              <a:buNone/>
            </a:pPr>
            <a:r>
              <a:rPr lang="en-US" sz="2800" b="1" dirty="0">
                <a:solidFill>
                  <a:srgbClr val="222222"/>
                </a:solidFill>
                <a:latin typeface="Arial" pitchFamily="34" charset="0"/>
                <a:ea typeface="Arial" pitchFamily="34" charset="-122"/>
                <a:cs typeface="Arial" pitchFamily="34" charset="-120"/>
              </a:rPr>
              <a:t>6</a:t>
            </a:r>
            <a:endParaRPr lang="en-US" sz="2800" dirty="0"/>
          </a:p>
        </p:txBody>
      </p:sp>
      <p:sp>
        <p:nvSpPr>
          <p:cNvPr id="23" name="Text 21"/>
          <p:cNvSpPr txBox="1"/>
          <p:nvPr/>
        </p:nvSpPr>
        <p:spPr>
          <a:xfrm>
            <a:off x="8156448" y="3474720"/>
            <a:ext cx="1600200" cy="274320"/>
          </a:xfrm>
          <a:prstGeom prst="rect">
            <a:avLst/>
          </a:prstGeom>
          <a:noFill/>
          <a:ln/>
        </p:spPr>
        <p:txBody>
          <a:bodyPr wrap="square" lIns="0" tIns="0" rIns="0" bIns="0" rtlCol="0" anchor="ctr"/>
          <a:lstStyle/>
          <a:p>
            <a:pPr indent="0" marL="0">
              <a:buNone/>
            </a:pPr>
            <a:r>
              <a:rPr lang="en-US" sz="1100" dirty="0">
                <a:solidFill>
                  <a:srgbClr val="5E5E5E"/>
                </a:solidFill>
                <a:latin typeface="Arial" pitchFamily="34" charset="0"/>
                <a:ea typeface="Arial" pitchFamily="34" charset="-122"/>
                <a:cs typeface="Arial" pitchFamily="34" charset="-120"/>
              </a:rPr>
              <a:t>passes</a:t>
            </a:r>
            <a:endParaRPr lang="en-US" sz="1100" dirty="0"/>
          </a:p>
        </p:txBody>
      </p:sp>
      <p:sp>
        <p:nvSpPr>
          <p:cNvPr id="24" name="Text 22"/>
          <p:cNvSpPr txBox="1"/>
          <p:nvPr/>
        </p:nvSpPr>
        <p:spPr>
          <a:xfrm>
            <a:off x="9802368" y="2880360"/>
            <a:ext cx="1600200" cy="594360"/>
          </a:xfrm>
          <a:prstGeom prst="rect">
            <a:avLst/>
          </a:prstGeom>
          <a:noFill/>
          <a:ln/>
        </p:spPr>
        <p:txBody>
          <a:bodyPr wrap="square" lIns="0" tIns="0" rIns="0" bIns="0" rtlCol="0" anchor="ctr"/>
          <a:lstStyle/>
          <a:p>
            <a:pPr indent="0" marL="0">
              <a:buNone/>
            </a:pPr>
            <a:r>
              <a:rPr lang="en-US" sz="2800" b="1" dirty="0">
                <a:solidFill>
                  <a:srgbClr val="222222"/>
                </a:solidFill>
                <a:latin typeface="Arial" pitchFamily="34" charset="0"/>
                <a:ea typeface="Arial" pitchFamily="34" charset="-122"/>
                <a:cs typeface="Arial" pitchFamily="34" charset="-120"/>
              </a:rPr>
              <a:t>85 h</a:t>
            </a:r>
            <a:endParaRPr lang="en-US" sz="2800" dirty="0"/>
          </a:p>
        </p:txBody>
      </p:sp>
      <p:sp>
        <p:nvSpPr>
          <p:cNvPr id="25" name="Text 23"/>
          <p:cNvSpPr txBox="1"/>
          <p:nvPr/>
        </p:nvSpPr>
        <p:spPr>
          <a:xfrm>
            <a:off x="9802368" y="3474720"/>
            <a:ext cx="1600200" cy="274320"/>
          </a:xfrm>
          <a:prstGeom prst="rect">
            <a:avLst/>
          </a:prstGeom>
          <a:noFill/>
          <a:ln/>
        </p:spPr>
        <p:txBody>
          <a:bodyPr wrap="square" lIns="0" tIns="0" rIns="0" bIns="0" rtlCol="0" anchor="ctr"/>
          <a:lstStyle/>
          <a:p>
            <a:pPr indent="0" marL="0">
              <a:buNone/>
            </a:pPr>
            <a:r>
              <a:rPr lang="en-US" sz="1100" dirty="0">
                <a:solidFill>
                  <a:srgbClr val="5E5E5E"/>
                </a:solidFill>
                <a:latin typeface="Arial" pitchFamily="34" charset="0"/>
                <a:ea typeface="Arial" pitchFamily="34" charset="-122"/>
                <a:cs typeface="Arial" pitchFamily="34" charset="-120"/>
              </a:rPr>
              <a:t>pigging</a:t>
            </a:r>
            <a:endParaRPr lang="en-US" sz="1100" dirty="0"/>
          </a:p>
        </p:txBody>
      </p:sp>
      <p:sp>
        <p:nvSpPr>
          <p:cNvPr id="26" name="Text 24"/>
          <p:cNvSpPr txBox="1"/>
          <p:nvPr/>
        </p:nvSpPr>
        <p:spPr>
          <a:xfrm>
            <a:off x="6510528" y="4023360"/>
            <a:ext cx="4809744" cy="731520"/>
          </a:xfrm>
          <a:prstGeom prst="rect">
            <a:avLst/>
          </a:prstGeom>
          <a:noFill/>
          <a:ln/>
        </p:spPr>
        <p:txBody>
          <a:bodyPr wrap="square" lIns="0" tIns="0" rIns="0" bIns="0" rtlCol="0" anchor="t"/>
          <a:lstStyle/>
          <a:p>
            <a:pPr indent="0" marL="0">
              <a:buNone/>
            </a:pPr>
            <a:r>
              <a:rPr lang="en-US" sz="1300" b="1" dirty="0">
                <a:solidFill>
                  <a:srgbClr val="222222"/>
                </a:solidFill>
                <a:latin typeface="Arial" pitchFamily="34" charset="0"/>
                <a:ea typeface="Arial" pitchFamily="34" charset="-122"/>
                <a:cs typeface="Arial" pitchFamily="34" charset="-120"/>
              </a:rPr>
              <a:t>Challenge  </a:t>
            </a:r>
            <a:pPr indent="0" marL="0">
              <a:buNone/>
            </a:pPr>
            <a:r>
              <a:rPr lang="en-US" sz="1300" dirty="0">
                <a:solidFill>
                  <a:srgbClr val="5E5E5E"/>
                </a:solidFill>
                <a:latin typeface="Arial" pitchFamily="34" charset="0"/>
                <a:ea typeface="Arial" pitchFamily="34" charset="-122"/>
                <a:cs typeface="Arial" pitchFamily="34" charset="-120"/>
              </a:rPr>
              <a:t>Hard coke held pigs in the radiant section.</a:t>
            </a:r>
            <a:endParaRPr lang="en-US" sz="1300" dirty="0"/>
          </a:p>
        </p:txBody>
      </p:sp>
      <p:sp>
        <p:nvSpPr>
          <p:cNvPr id="27" name="Shape 25"/>
          <p:cNvSpPr/>
          <p:nvPr/>
        </p:nvSpPr>
        <p:spPr>
          <a:xfrm>
            <a:off x="6510528" y="4846320"/>
            <a:ext cx="4809744" cy="1097280"/>
          </a:xfrm>
          <a:prstGeom prst="rect">
            <a:avLst/>
          </a:prstGeom>
          <a:solidFill>
            <a:srgbClr val="1E1E1E"/>
          </a:solidFill>
          <a:ln w="12700">
            <a:solidFill>
              <a:srgbClr val="1E1E1E"/>
            </a:solidFill>
            <a:prstDash val="solid"/>
          </a:ln>
        </p:spPr>
      </p:sp>
      <p:sp>
        <p:nvSpPr>
          <p:cNvPr id="28" name="Text 26"/>
          <p:cNvSpPr txBox="1"/>
          <p:nvPr/>
        </p:nvSpPr>
        <p:spPr>
          <a:xfrm>
            <a:off x="6693408" y="4937760"/>
            <a:ext cx="4443984" cy="914400"/>
          </a:xfrm>
          <a:prstGeom prst="rect">
            <a:avLst/>
          </a:prstGeom>
          <a:noFill/>
          <a:ln/>
        </p:spPr>
        <p:txBody>
          <a:bodyPr wrap="square" lIns="0" tIns="0" rIns="0" bIns="0" rtlCol="0" anchor="ctr"/>
          <a:lstStyle/>
          <a:p>
            <a:pPr indent="0" marL="0">
              <a:buNone/>
            </a:pPr>
            <a:r>
              <a:rPr lang="en-US" sz="1300" b="1" dirty="0">
                <a:solidFill>
                  <a:srgbClr val="FCC30A"/>
                </a:solidFill>
                <a:latin typeface="Arial" pitchFamily="34" charset="0"/>
                <a:ea typeface="Arial" pitchFamily="34" charset="-122"/>
                <a:cs typeface="Arial" pitchFamily="34" charset="-120"/>
              </a:rPr>
              <a:t>Lesson learned  </a:t>
            </a:r>
            <a:pPr indent="0" marL="0">
              <a:buNone/>
            </a:pPr>
            <a:r>
              <a:rPr lang="en-US" sz="1300" dirty="0">
                <a:solidFill>
                  <a:srgbClr val="FFFFFF"/>
                </a:solidFill>
                <a:latin typeface="Arial" pitchFamily="34" charset="0"/>
                <a:ea typeface="Arial" pitchFamily="34" charset="-122"/>
                <a:cs typeface="Arial" pitchFamily="34" charset="-120"/>
              </a:rPr>
              <a:t>Stage heavy-duty scraper pigs for the radiant from day one, not as a mid-job change.</a:t>
            </a:r>
            <a:endParaRPr lang="en-US" sz="1300" dirty="0"/>
          </a:p>
        </p:txBody>
      </p:sp>
      <p:sp>
        <p:nvSpPr>
          <p:cNvPr id="29" name="Text 27"/>
          <p:cNvSpPr txBox="1"/>
          <p:nvPr/>
        </p:nvSpPr>
        <p:spPr>
          <a:xfrm>
            <a:off x="548640" y="6419088"/>
            <a:ext cx="7315200" cy="228600"/>
          </a:xfrm>
          <a:prstGeom prst="rect">
            <a:avLst/>
          </a:prstGeom>
          <a:noFill/>
          <a:ln/>
        </p:spPr>
        <p:txBody>
          <a:bodyPr wrap="square" lIns="0" tIns="0" rIns="0" bIns="0" rtlCol="0" anchor="ctr"/>
          <a:lstStyle/>
          <a:p>
            <a:pPr indent="0" marL="0">
              <a:buNone/>
            </a:pPr>
            <a:r>
              <a:rPr lang="en-US" sz="900" dirty="0">
                <a:solidFill>
                  <a:srgbClr val="9A9A9A"/>
                </a:solidFill>
                <a:latin typeface="Arial" pitchFamily="34" charset="0"/>
                <a:ea typeface="Arial" pitchFamily="34" charset="-122"/>
                <a:cs typeface="Arial" pitchFamily="34" charset="-120"/>
              </a:rPr>
              <a:t>USA DeBusk  |  LAR Heater Pigging &amp; Decoking Services  |  DSP#26098</a:t>
            </a:r>
            <a:endParaRPr lang="en-US" sz="900" dirty="0"/>
          </a:p>
        </p:txBody>
      </p:sp>
      <p:sp>
        <p:nvSpPr>
          <p:cNvPr id="30" name="Text 28"/>
          <p:cNvSpPr txBox="1"/>
          <p:nvPr/>
        </p:nvSpPr>
        <p:spPr>
          <a:xfrm>
            <a:off x="11155680" y="6419088"/>
            <a:ext cx="484632" cy="228600"/>
          </a:xfrm>
          <a:prstGeom prst="rect">
            <a:avLst/>
          </a:prstGeom>
          <a:noFill/>
          <a:ln/>
        </p:spPr>
        <p:txBody>
          <a:bodyPr wrap="square" lIns="0" tIns="0" rIns="0" bIns="0" rtlCol="0" anchor="ctr"/>
          <a:lstStyle/>
          <a:p>
            <a:pPr algn="r" indent="0" marL="0">
              <a:buNone/>
            </a:pPr>
            <a:r>
              <a:rPr lang="en-US" sz="900" dirty="0">
                <a:solidFill>
                  <a:srgbClr val="9A9A9A"/>
                </a:solidFill>
                <a:latin typeface="Arial" pitchFamily="34" charset="0"/>
                <a:ea typeface="Arial" pitchFamily="34" charset="-122"/>
                <a:cs typeface="Arial" pitchFamily="34" charset="-120"/>
              </a:rPr>
              <a:t>22</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1E1E1E"/>
        </a:solidFill>
      </p:bgPr>
    </p:bg>
    <p:spTree>
      <p:nvGrpSpPr>
        <p:cNvPr id="1" name=""/>
        <p:cNvGrpSpPr/>
        <p:nvPr/>
      </p:nvGrpSpPr>
      <p:grpSpPr>
        <a:xfrm>
          <a:off x="0" y="0"/>
          <a:ext cx="0" cy="0"/>
          <a:chOff x="0" y="0"/>
          <a:chExt cx="0" cy="0"/>
        </a:xfrm>
      </p:grpSpPr>
      <p:pic>
        <p:nvPicPr>
          <p:cNvPr id="2" name="Image 0" descr="/tmp/claude-0/-home-user-obsidian-work/c8998718-f22f-57a3-84c2-766db1d92b4c/scratchpad/deck/img/slot_why.jpg">    </p:cNvPr>
          <p:cNvPicPr>
            <a:picLocks noChangeAspect="1"/>
          </p:cNvPicPr>
          <p:nvPr/>
        </p:nvPicPr>
        <p:blipFill>
          <a:blip r:embed="rId1"/>
          <a:stretch>
            <a:fillRect/>
          </a:stretch>
        </p:blipFill>
        <p:spPr>
          <a:xfrm>
            <a:off x="0" y="0"/>
            <a:ext cx="12191695" cy="6858000"/>
          </a:xfrm>
          <a:prstGeom prst="rect">
            <a:avLst/>
          </a:prstGeom>
        </p:spPr>
      </p:pic>
      <p:pic>
        <p:nvPicPr>
          <p:cNvPr id="3" name="Image 1" descr="/tmp/claude-0/-home-user-obsidian-work/c8998718-f22f-57a3-84c2-766db1d92b4c/scratchpad/deck/img/fade_left.png">    </p:cNvPr>
          <p:cNvPicPr>
            <a:picLocks noChangeAspect="1"/>
          </p:cNvPicPr>
          <p:nvPr/>
        </p:nvPicPr>
        <p:blipFill>
          <a:blip r:embed="rId2"/>
          <a:stretch>
            <a:fillRect/>
          </a:stretch>
        </p:blipFill>
        <p:spPr>
          <a:xfrm>
            <a:off x="0" y="0"/>
            <a:ext cx="12191695" cy="6858000"/>
          </a:xfrm>
          <a:prstGeom prst="rect">
            <a:avLst/>
          </a:prstGeom>
        </p:spPr>
      </p:pic>
      <p:sp>
        <p:nvSpPr>
          <p:cNvPr id="4" name="Shape 0"/>
          <p:cNvSpPr/>
          <p:nvPr/>
        </p:nvSpPr>
        <p:spPr>
          <a:xfrm>
            <a:off x="548640" y="411480"/>
            <a:ext cx="2216963" cy="310896"/>
          </a:xfrm>
          <a:prstGeom prst="roundRect">
            <a:avLst>
              <a:gd name="adj" fmla="val 23529"/>
            </a:avLst>
          </a:prstGeom>
          <a:solidFill>
            <a:srgbClr val="FCC30A"/>
          </a:solidFill>
          <a:ln w="12700">
            <a:solidFill>
              <a:srgbClr val="FCC30A"/>
            </a:solidFill>
            <a:prstDash val="solid"/>
          </a:ln>
        </p:spPr>
      </p:sp>
      <p:sp>
        <p:nvSpPr>
          <p:cNvPr id="5" name="Text 1"/>
          <p:cNvSpPr txBox="1"/>
          <p:nvPr/>
        </p:nvSpPr>
        <p:spPr>
          <a:xfrm>
            <a:off x="548640" y="411480"/>
            <a:ext cx="2216963" cy="310896"/>
          </a:xfrm>
          <a:prstGeom prst="rect">
            <a:avLst/>
          </a:prstGeom>
          <a:noFill/>
          <a:ln/>
        </p:spPr>
        <p:txBody>
          <a:bodyPr wrap="square" lIns="0" tIns="0" rIns="0" bIns="0" rtlCol="0" anchor="ctr"/>
          <a:lstStyle/>
          <a:p>
            <a:pPr algn="ctr" indent="0" marL="0">
              <a:buNone/>
            </a:pPr>
            <a:r>
              <a:rPr lang="en-US" sz="1050" b="1" spc="150" kern="0" dirty="0">
                <a:solidFill>
                  <a:srgbClr val="1E1E1E"/>
                </a:solidFill>
                <a:latin typeface="Arial" pitchFamily="34" charset="0"/>
                <a:ea typeface="Arial" pitchFamily="34" charset="-122"/>
                <a:cs typeface="Arial" pitchFamily="34" charset="-120"/>
              </a:rPr>
              <a:t>10   WHY USA DEBUSK</a:t>
            </a:r>
            <a:endParaRPr lang="en-US" sz="1050" dirty="0"/>
          </a:p>
        </p:txBody>
      </p:sp>
      <p:sp>
        <p:nvSpPr>
          <p:cNvPr id="6" name="Text 2"/>
          <p:cNvSpPr txBox="1"/>
          <p:nvPr/>
        </p:nvSpPr>
        <p:spPr>
          <a:xfrm>
            <a:off x="548640" y="841248"/>
            <a:ext cx="6858000" cy="731520"/>
          </a:xfrm>
          <a:prstGeom prst="rect">
            <a:avLst/>
          </a:prstGeom>
          <a:noFill/>
          <a:ln/>
        </p:spPr>
        <p:txBody>
          <a:bodyPr wrap="square" lIns="0" tIns="0" rIns="0" bIns="0" rtlCol="0" anchor="t"/>
          <a:lstStyle/>
          <a:p>
            <a:pPr indent="0" marL="0">
              <a:buNone/>
            </a:pPr>
            <a:r>
              <a:rPr lang="en-US" sz="3600" b="1" dirty="0">
                <a:solidFill>
                  <a:srgbClr val="FFFFFF"/>
                </a:solidFill>
                <a:latin typeface="Arial" pitchFamily="34" charset="0"/>
                <a:ea typeface="Arial" pitchFamily="34" charset="-122"/>
                <a:cs typeface="Arial" pitchFamily="34" charset="-120"/>
              </a:rPr>
              <a:t>Why USA DeBusk for LAR</a:t>
            </a:r>
            <a:endParaRPr lang="en-US" sz="3600" dirty="0"/>
          </a:p>
        </p:txBody>
      </p:sp>
      <p:sp>
        <p:nvSpPr>
          <p:cNvPr id="7" name="Shape 3"/>
          <p:cNvSpPr/>
          <p:nvPr/>
        </p:nvSpPr>
        <p:spPr>
          <a:xfrm>
            <a:off x="548640" y="1920240"/>
            <a:ext cx="502920" cy="502920"/>
          </a:xfrm>
          <a:prstGeom prst="ellipse">
            <a:avLst/>
          </a:prstGeom>
          <a:solidFill>
            <a:srgbClr val="FCC30A"/>
          </a:solidFill>
          <a:ln w="12700">
            <a:solidFill>
              <a:srgbClr val="FCC30A"/>
            </a:solidFill>
            <a:prstDash val="solid"/>
          </a:ln>
        </p:spPr>
      </p:sp>
      <p:pic>
        <p:nvPicPr>
          <p:cNvPr id="8" name="Image 2" descr="preencoded.png">    </p:cNvPr>
          <p:cNvPicPr>
            <a:picLocks noChangeAspect="1"/>
          </p:cNvPicPr>
          <p:nvPr/>
        </p:nvPicPr>
        <p:blipFill>
          <a:blip r:embed="rId3"/>
          <a:stretch>
            <a:fillRect/>
          </a:stretch>
        </p:blipFill>
        <p:spPr>
          <a:xfrm>
            <a:off x="674370" y="2045970"/>
            <a:ext cx="251460" cy="251460"/>
          </a:xfrm>
          <a:prstGeom prst="rect">
            <a:avLst/>
          </a:prstGeom>
        </p:spPr>
      </p:pic>
      <p:sp>
        <p:nvSpPr>
          <p:cNvPr id="9" name="Text 4"/>
          <p:cNvSpPr txBox="1"/>
          <p:nvPr/>
        </p:nvSpPr>
        <p:spPr>
          <a:xfrm>
            <a:off x="1234440" y="1874520"/>
            <a:ext cx="5486400" cy="3200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Proven experience</a:t>
            </a:r>
            <a:endParaRPr lang="en-US" sz="1800" dirty="0"/>
          </a:p>
        </p:txBody>
      </p:sp>
      <p:sp>
        <p:nvSpPr>
          <p:cNvPr id="10" name="Text 5"/>
          <p:cNvSpPr txBox="1"/>
          <p:nvPr/>
        </p:nvSpPr>
        <p:spPr>
          <a:xfrm>
            <a:off x="1234440" y="2203704"/>
            <a:ext cx="5486400" cy="274320"/>
          </a:xfrm>
          <a:prstGeom prst="rect">
            <a:avLst/>
          </a:prstGeom>
          <a:noFill/>
          <a:ln/>
        </p:spPr>
        <p:txBody>
          <a:bodyPr wrap="square" lIns="0" tIns="0" rIns="0" bIns="0" rtlCol="0" anchor="ctr"/>
          <a:lstStyle/>
          <a:p>
            <a:pPr indent="0" marL="0">
              <a:buNone/>
            </a:pPr>
            <a:r>
              <a:rPr lang="en-US" sz="1300" dirty="0">
                <a:solidFill>
                  <a:srgbClr val="BDBDBD"/>
                </a:solidFill>
                <a:latin typeface="Arial" pitchFamily="34" charset="0"/>
                <a:ea typeface="Arial" pitchFamily="34" charset="-122"/>
                <a:cs typeface="Arial" pitchFamily="34" charset="-120"/>
              </a:rPr>
              <a:t>200+ years combined; 9 MPC references, including Detroit's coker</a:t>
            </a:r>
            <a:endParaRPr lang="en-US" sz="1300" dirty="0"/>
          </a:p>
        </p:txBody>
      </p:sp>
      <p:sp>
        <p:nvSpPr>
          <p:cNvPr id="11" name="Shape 6"/>
          <p:cNvSpPr/>
          <p:nvPr/>
        </p:nvSpPr>
        <p:spPr>
          <a:xfrm>
            <a:off x="548640" y="2761488"/>
            <a:ext cx="502920" cy="502920"/>
          </a:xfrm>
          <a:prstGeom prst="ellipse">
            <a:avLst/>
          </a:prstGeom>
          <a:solidFill>
            <a:srgbClr val="FCC30A"/>
          </a:solidFill>
          <a:ln w="12700">
            <a:solidFill>
              <a:srgbClr val="FCC30A"/>
            </a:solidFill>
            <a:prstDash val="solid"/>
          </a:ln>
        </p:spPr>
      </p:sp>
      <p:pic>
        <p:nvPicPr>
          <p:cNvPr id="12" name="Image 3" descr="preencoded.png">    </p:cNvPr>
          <p:cNvPicPr>
            <a:picLocks noChangeAspect="1"/>
          </p:cNvPicPr>
          <p:nvPr/>
        </p:nvPicPr>
        <p:blipFill>
          <a:blip r:embed="rId4"/>
          <a:stretch>
            <a:fillRect/>
          </a:stretch>
        </p:blipFill>
        <p:spPr>
          <a:xfrm>
            <a:off x="674370" y="2887218"/>
            <a:ext cx="251460" cy="251460"/>
          </a:xfrm>
          <a:prstGeom prst="rect">
            <a:avLst/>
          </a:prstGeom>
        </p:spPr>
      </p:pic>
      <p:sp>
        <p:nvSpPr>
          <p:cNvPr id="13" name="Text 7"/>
          <p:cNvSpPr txBox="1"/>
          <p:nvPr/>
        </p:nvSpPr>
        <p:spPr>
          <a:xfrm>
            <a:off x="1234440" y="2715768"/>
            <a:ext cx="5486400" cy="3200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California-ready</a:t>
            </a:r>
            <a:endParaRPr lang="en-US" sz="1800" dirty="0"/>
          </a:p>
        </p:txBody>
      </p:sp>
      <p:sp>
        <p:nvSpPr>
          <p:cNvPr id="14" name="Text 8"/>
          <p:cNvSpPr txBox="1"/>
          <p:nvPr/>
        </p:nvSpPr>
        <p:spPr>
          <a:xfrm>
            <a:off x="1234440" y="3044952"/>
            <a:ext cx="5486400" cy="274320"/>
          </a:xfrm>
          <a:prstGeom prst="rect">
            <a:avLst/>
          </a:prstGeom>
          <a:noFill/>
          <a:ln/>
        </p:spPr>
        <p:txBody>
          <a:bodyPr wrap="square" lIns="0" tIns="0" rIns="0" bIns="0" rtlCol="0" anchor="ctr"/>
          <a:lstStyle/>
          <a:p>
            <a:pPr indent="0" marL="0">
              <a:buNone/>
            </a:pPr>
            <a:r>
              <a:rPr lang="en-US" sz="1300" dirty="0">
                <a:solidFill>
                  <a:srgbClr val="BDBDBD"/>
                </a:solidFill>
                <a:latin typeface="Arial" pitchFamily="34" charset="0"/>
                <a:ea typeface="Arial" pitchFamily="34" charset="-122"/>
                <a:cs typeface="Arial" pitchFamily="34" charset="-120"/>
              </a:rPr>
              <a:t>CARB-registered Tier 4 fleet, Southern California footprint</a:t>
            </a:r>
            <a:endParaRPr lang="en-US" sz="1300" dirty="0"/>
          </a:p>
        </p:txBody>
      </p:sp>
      <p:sp>
        <p:nvSpPr>
          <p:cNvPr id="15" name="Shape 9"/>
          <p:cNvSpPr/>
          <p:nvPr/>
        </p:nvSpPr>
        <p:spPr>
          <a:xfrm>
            <a:off x="548640" y="3602736"/>
            <a:ext cx="502920" cy="502920"/>
          </a:xfrm>
          <a:prstGeom prst="ellipse">
            <a:avLst/>
          </a:prstGeom>
          <a:solidFill>
            <a:srgbClr val="FCC30A"/>
          </a:solidFill>
          <a:ln w="12700">
            <a:solidFill>
              <a:srgbClr val="FCC30A"/>
            </a:solidFill>
            <a:prstDash val="solid"/>
          </a:ln>
        </p:spPr>
      </p:sp>
      <p:pic>
        <p:nvPicPr>
          <p:cNvPr id="16" name="Image 4" descr="preencoded.png">    </p:cNvPr>
          <p:cNvPicPr>
            <a:picLocks noChangeAspect="1"/>
          </p:cNvPicPr>
          <p:nvPr/>
        </p:nvPicPr>
        <p:blipFill>
          <a:blip r:embed="rId5"/>
          <a:stretch>
            <a:fillRect/>
          </a:stretch>
        </p:blipFill>
        <p:spPr>
          <a:xfrm>
            <a:off x="674370" y="3728466"/>
            <a:ext cx="251460" cy="251460"/>
          </a:xfrm>
          <a:prstGeom prst="rect">
            <a:avLst/>
          </a:prstGeom>
        </p:spPr>
      </p:pic>
      <p:sp>
        <p:nvSpPr>
          <p:cNvPr id="17" name="Text 10"/>
          <p:cNvSpPr txBox="1"/>
          <p:nvPr/>
        </p:nvSpPr>
        <p:spPr>
          <a:xfrm>
            <a:off x="1234440" y="3557016"/>
            <a:ext cx="5486400" cy="3200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Resilient execution</a:t>
            </a:r>
            <a:endParaRPr lang="en-US" sz="1800" dirty="0"/>
          </a:p>
        </p:txBody>
      </p:sp>
      <p:sp>
        <p:nvSpPr>
          <p:cNvPr id="18" name="Text 11"/>
          <p:cNvSpPr txBox="1"/>
          <p:nvPr/>
        </p:nvSpPr>
        <p:spPr>
          <a:xfrm>
            <a:off x="1234440" y="3886200"/>
            <a:ext cx="5486400" cy="274320"/>
          </a:xfrm>
          <a:prstGeom prst="rect">
            <a:avLst/>
          </a:prstGeom>
          <a:noFill/>
          <a:ln/>
        </p:spPr>
        <p:txBody>
          <a:bodyPr wrap="square" lIns="0" tIns="0" rIns="0" bIns="0" rtlCol="0" anchor="ctr"/>
          <a:lstStyle/>
          <a:p>
            <a:pPr indent="0" marL="0">
              <a:buNone/>
            </a:pPr>
            <a:r>
              <a:rPr lang="en-US" sz="1300" dirty="0">
                <a:solidFill>
                  <a:srgbClr val="BDBDBD"/>
                </a:solidFill>
                <a:latin typeface="Arial" pitchFamily="34" charset="0"/>
                <a:ea typeface="Arial" pitchFamily="34" charset="-122"/>
                <a:cs typeface="Arial" pitchFamily="34" charset="-120"/>
              </a:rPr>
              <a:t>Triple-pass TriMax: a spare pump on every 2-pass heater</a:t>
            </a:r>
            <a:endParaRPr lang="en-US" sz="1300" dirty="0"/>
          </a:p>
        </p:txBody>
      </p:sp>
      <p:sp>
        <p:nvSpPr>
          <p:cNvPr id="19" name="Shape 12"/>
          <p:cNvSpPr/>
          <p:nvPr/>
        </p:nvSpPr>
        <p:spPr>
          <a:xfrm>
            <a:off x="548640" y="4443984"/>
            <a:ext cx="502920" cy="502920"/>
          </a:xfrm>
          <a:prstGeom prst="ellipse">
            <a:avLst/>
          </a:prstGeom>
          <a:solidFill>
            <a:srgbClr val="FCC30A"/>
          </a:solidFill>
          <a:ln w="12700">
            <a:solidFill>
              <a:srgbClr val="FCC30A"/>
            </a:solidFill>
            <a:prstDash val="solid"/>
          </a:ln>
        </p:spPr>
      </p:sp>
      <p:pic>
        <p:nvPicPr>
          <p:cNvPr id="20" name="Image 5" descr="preencoded.png">    </p:cNvPr>
          <p:cNvPicPr>
            <a:picLocks noChangeAspect="1"/>
          </p:cNvPicPr>
          <p:nvPr/>
        </p:nvPicPr>
        <p:blipFill>
          <a:blip r:embed="rId6"/>
          <a:stretch>
            <a:fillRect/>
          </a:stretch>
        </p:blipFill>
        <p:spPr>
          <a:xfrm>
            <a:off x="674370" y="4569714"/>
            <a:ext cx="251460" cy="251460"/>
          </a:xfrm>
          <a:prstGeom prst="rect">
            <a:avLst/>
          </a:prstGeom>
        </p:spPr>
      </p:pic>
      <p:sp>
        <p:nvSpPr>
          <p:cNvPr id="21" name="Text 13"/>
          <p:cNvSpPr txBox="1"/>
          <p:nvPr/>
        </p:nvSpPr>
        <p:spPr>
          <a:xfrm>
            <a:off x="1234440" y="4398264"/>
            <a:ext cx="5486400" cy="3200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Verified clean</a:t>
            </a:r>
            <a:endParaRPr lang="en-US" sz="1800" dirty="0"/>
          </a:p>
        </p:txBody>
      </p:sp>
      <p:sp>
        <p:nvSpPr>
          <p:cNvPr id="22" name="Text 14"/>
          <p:cNvSpPr txBox="1"/>
          <p:nvPr/>
        </p:nvSpPr>
        <p:spPr>
          <a:xfrm>
            <a:off x="1234440" y="4727448"/>
            <a:ext cx="5486400" cy="274320"/>
          </a:xfrm>
          <a:prstGeom prst="rect">
            <a:avLst/>
          </a:prstGeom>
          <a:noFill/>
          <a:ln/>
        </p:spPr>
        <p:txBody>
          <a:bodyPr wrap="square" lIns="0" tIns="0" rIns="0" bIns="0" rtlCol="0" anchor="ctr"/>
          <a:lstStyle/>
          <a:p>
            <a:pPr indent="0" marL="0">
              <a:buNone/>
            </a:pPr>
            <a:r>
              <a:rPr lang="en-US" sz="1300" dirty="0">
                <a:solidFill>
                  <a:srgbClr val="BDBDBD"/>
                </a:solidFill>
                <a:latin typeface="Arial" pitchFamily="34" charset="0"/>
                <a:ea typeface="Arial" pitchFamily="34" charset="-122"/>
                <a:cs typeface="Arial" pitchFamily="34" charset="-120"/>
              </a:rPr>
              <a:t>4-point verification and joint sign-off on every pass</a:t>
            </a:r>
            <a:endParaRPr lang="en-US" sz="1300" dirty="0"/>
          </a:p>
        </p:txBody>
      </p:sp>
      <p:sp>
        <p:nvSpPr>
          <p:cNvPr id="23" name="Shape 15"/>
          <p:cNvSpPr/>
          <p:nvPr/>
        </p:nvSpPr>
        <p:spPr>
          <a:xfrm>
            <a:off x="548640" y="5285232"/>
            <a:ext cx="502920" cy="502920"/>
          </a:xfrm>
          <a:prstGeom prst="ellipse">
            <a:avLst/>
          </a:prstGeom>
          <a:solidFill>
            <a:srgbClr val="FCC30A"/>
          </a:solidFill>
          <a:ln w="12700">
            <a:solidFill>
              <a:srgbClr val="FCC30A"/>
            </a:solidFill>
            <a:prstDash val="solid"/>
          </a:ln>
        </p:spPr>
      </p:sp>
      <p:pic>
        <p:nvPicPr>
          <p:cNvPr id="24" name="Image 6" descr="preencoded.png">    </p:cNvPr>
          <p:cNvPicPr>
            <a:picLocks noChangeAspect="1"/>
          </p:cNvPicPr>
          <p:nvPr/>
        </p:nvPicPr>
        <p:blipFill>
          <a:blip r:embed="rId7"/>
          <a:stretch>
            <a:fillRect/>
          </a:stretch>
        </p:blipFill>
        <p:spPr>
          <a:xfrm>
            <a:off x="674370" y="5410962"/>
            <a:ext cx="251460" cy="251460"/>
          </a:xfrm>
          <a:prstGeom prst="rect">
            <a:avLst/>
          </a:prstGeom>
        </p:spPr>
      </p:pic>
      <p:sp>
        <p:nvSpPr>
          <p:cNvPr id="25" name="Text 16"/>
          <p:cNvSpPr txBox="1"/>
          <p:nvPr/>
        </p:nvSpPr>
        <p:spPr>
          <a:xfrm>
            <a:off x="1234440" y="5239512"/>
            <a:ext cx="5486400" cy="3200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Safe by the numbers</a:t>
            </a:r>
            <a:endParaRPr lang="en-US" sz="1800" dirty="0"/>
          </a:p>
        </p:txBody>
      </p:sp>
      <p:sp>
        <p:nvSpPr>
          <p:cNvPr id="26" name="Text 17"/>
          <p:cNvSpPr txBox="1"/>
          <p:nvPr/>
        </p:nvSpPr>
        <p:spPr>
          <a:xfrm>
            <a:off x="1234440" y="5568696"/>
            <a:ext cx="5486400" cy="274320"/>
          </a:xfrm>
          <a:prstGeom prst="rect">
            <a:avLst/>
          </a:prstGeom>
          <a:noFill/>
          <a:ln/>
        </p:spPr>
        <p:txBody>
          <a:bodyPr wrap="square" lIns="0" tIns="0" rIns="0" bIns="0" rtlCol="0" anchor="ctr"/>
          <a:lstStyle/>
          <a:p>
            <a:pPr indent="0" marL="0">
              <a:buNone/>
            </a:pPr>
            <a:r>
              <a:rPr lang="en-US" sz="1300" dirty="0">
                <a:solidFill>
                  <a:srgbClr val="BDBDBD"/>
                </a:solidFill>
                <a:latin typeface="Arial" pitchFamily="34" charset="0"/>
                <a:ea typeface="Arial" pitchFamily="34" charset="-122"/>
                <a:cs typeface="Arial" pitchFamily="34" charset="-120"/>
              </a:rPr>
              <a:t>EMR 0.48, ISNetworld A, zero fatalities in 3 years</a:t>
            </a:r>
            <a:endParaRPr lang="en-US" sz="1300" dirty="0"/>
          </a:p>
        </p:txBody>
      </p:sp>
      <p:sp>
        <p:nvSpPr>
          <p:cNvPr id="27" name="Text 18"/>
          <p:cNvSpPr txBox="1"/>
          <p:nvPr/>
        </p:nvSpPr>
        <p:spPr>
          <a:xfrm>
            <a:off x="548640" y="6419088"/>
            <a:ext cx="7315200" cy="228600"/>
          </a:xfrm>
          <a:prstGeom prst="rect">
            <a:avLst/>
          </a:prstGeom>
          <a:noFill/>
          <a:ln/>
        </p:spPr>
        <p:txBody>
          <a:bodyPr wrap="square" lIns="0" tIns="0" rIns="0" bIns="0" rtlCol="0" anchor="ctr"/>
          <a:lstStyle/>
          <a:p>
            <a:pPr indent="0" marL="0">
              <a:buNone/>
            </a:pPr>
            <a:r>
              <a:rPr lang="en-US" sz="900" dirty="0">
                <a:solidFill>
                  <a:srgbClr val="BDBDBD"/>
                </a:solidFill>
                <a:latin typeface="Arial" pitchFamily="34" charset="0"/>
                <a:ea typeface="Arial" pitchFamily="34" charset="-122"/>
                <a:cs typeface="Arial" pitchFamily="34" charset="-120"/>
              </a:rPr>
              <a:t>USA DeBusk  |  LAR Heater Pigging &amp; Decoking Services  |  DSP#26098</a:t>
            </a:r>
            <a:endParaRPr lang="en-US" sz="900" dirty="0"/>
          </a:p>
        </p:txBody>
      </p:sp>
      <p:sp>
        <p:nvSpPr>
          <p:cNvPr id="28" name="Text 19"/>
          <p:cNvSpPr txBox="1"/>
          <p:nvPr/>
        </p:nvSpPr>
        <p:spPr>
          <a:xfrm>
            <a:off x="11155680" y="6419088"/>
            <a:ext cx="484632" cy="228600"/>
          </a:xfrm>
          <a:prstGeom prst="rect">
            <a:avLst/>
          </a:prstGeom>
          <a:noFill/>
          <a:ln/>
        </p:spPr>
        <p:txBody>
          <a:bodyPr wrap="square" lIns="0" tIns="0" rIns="0" bIns="0" rtlCol="0" anchor="ctr"/>
          <a:lstStyle/>
          <a:p>
            <a:pPr algn="r" indent="0" marL="0">
              <a:buNone/>
            </a:pPr>
            <a:r>
              <a:rPr lang="en-US" sz="900" dirty="0">
                <a:solidFill>
                  <a:srgbClr val="BDBDBD"/>
                </a:solidFill>
                <a:latin typeface="Arial" pitchFamily="34" charset="0"/>
                <a:ea typeface="Arial" pitchFamily="34" charset="-122"/>
                <a:cs typeface="Arial" pitchFamily="34" charset="-120"/>
              </a:rPr>
              <a:t>23</a:t>
            </a: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1E1E1E"/>
        </a:solidFill>
      </p:bgPr>
    </p:bg>
    <p:spTree>
      <p:nvGrpSpPr>
        <p:cNvPr id="1" name=""/>
        <p:cNvGrpSpPr/>
        <p:nvPr/>
      </p:nvGrpSpPr>
      <p:grpSpPr>
        <a:xfrm>
          <a:off x="0" y="0"/>
          <a:ext cx="0" cy="0"/>
          <a:chOff x="0" y="0"/>
          <a:chExt cx="0" cy="0"/>
        </a:xfrm>
      </p:grpSpPr>
      <p:pic>
        <p:nvPicPr>
          <p:cNvPr id="2" name="Image 0" descr="/tmp/claude-0/-home-user-obsidian-work/c8998718-f22f-57a3-84c2-766db1d92b4c/scratchpad/deck/img/slot_qa.jpg">    </p:cNvPr>
          <p:cNvPicPr>
            <a:picLocks noChangeAspect="1"/>
          </p:cNvPicPr>
          <p:nvPr/>
        </p:nvPicPr>
        <p:blipFill>
          <a:blip r:embed="rId1">
            <a:alphaModFix amt="28000"/>
          </a:blip>
          <a:stretch>
            <a:fillRect/>
          </a:stretch>
        </p:blipFill>
        <p:spPr>
          <a:xfrm>
            <a:off x="0" y="0"/>
            <a:ext cx="12191695" cy="6858000"/>
          </a:xfrm>
          <a:prstGeom prst="rect">
            <a:avLst/>
          </a:prstGeom>
        </p:spPr>
      </p:pic>
      <p:pic>
        <p:nvPicPr>
          <p:cNvPr id="3" name="Image 1" descr="/tmp/claude-0/-home-user-obsidian-work/c8998718-f22f-57a3-84c2-766db1d92b4c/scratchpad/deck/img/logo_white.png">    </p:cNvPr>
          <p:cNvPicPr>
            <a:picLocks noChangeAspect="1"/>
          </p:cNvPicPr>
          <p:nvPr/>
        </p:nvPicPr>
        <p:blipFill>
          <a:blip r:embed="rId2"/>
          <a:stretch>
            <a:fillRect/>
          </a:stretch>
        </p:blipFill>
        <p:spPr>
          <a:xfrm>
            <a:off x="4267048" y="1463040"/>
            <a:ext cx="3657600" cy="548097"/>
          </a:xfrm>
          <a:prstGeom prst="rect">
            <a:avLst/>
          </a:prstGeom>
        </p:spPr>
      </p:pic>
      <p:sp>
        <p:nvSpPr>
          <p:cNvPr id="4" name="Text 0"/>
          <p:cNvSpPr txBox="1"/>
          <p:nvPr/>
        </p:nvSpPr>
        <p:spPr>
          <a:xfrm>
            <a:off x="548640" y="2377440"/>
            <a:ext cx="11091672" cy="914400"/>
          </a:xfrm>
          <a:prstGeom prst="rect">
            <a:avLst/>
          </a:prstGeom>
          <a:noFill/>
          <a:ln/>
        </p:spPr>
        <p:txBody>
          <a:bodyPr wrap="square" lIns="0" tIns="0" rIns="0" bIns="0" rtlCol="0" anchor="ctr"/>
          <a:lstStyle/>
          <a:p>
            <a:pPr algn="ctr" indent="0" marL="0">
              <a:buNone/>
            </a:pPr>
            <a:r>
              <a:rPr lang="en-US" sz="4800" b="1" dirty="0">
                <a:solidFill>
                  <a:srgbClr val="FFFFFF"/>
                </a:solidFill>
                <a:latin typeface="Arial" pitchFamily="34" charset="0"/>
                <a:ea typeface="Arial" pitchFamily="34" charset="-122"/>
                <a:cs typeface="Arial" pitchFamily="34" charset="-120"/>
              </a:rPr>
              <a:t>Thank you</a:t>
            </a:r>
            <a:endParaRPr lang="en-US" sz="4800" dirty="0"/>
          </a:p>
        </p:txBody>
      </p:sp>
      <p:sp>
        <p:nvSpPr>
          <p:cNvPr id="5" name="Text 1"/>
          <p:cNvSpPr txBox="1"/>
          <p:nvPr/>
        </p:nvSpPr>
        <p:spPr>
          <a:xfrm>
            <a:off x="548640" y="3246120"/>
            <a:ext cx="11091672" cy="457200"/>
          </a:xfrm>
          <a:prstGeom prst="rect">
            <a:avLst/>
          </a:prstGeom>
          <a:noFill/>
          <a:ln/>
        </p:spPr>
        <p:txBody>
          <a:bodyPr wrap="square" lIns="0" tIns="0" rIns="0" bIns="0" rtlCol="0" anchor="ctr"/>
          <a:lstStyle/>
          <a:p>
            <a:pPr algn="ctr" indent="0" marL="0">
              <a:buNone/>
            </a:pPr>
            <a:r>
              <a:rPr lang="en-US" sz="2200" dirty="0">
                <a:solidFill>
                  <a:srgbClr val="FCC30A"/>
                </a:solidFill>
                <a:latin typeface="Arial" pitchFamily="34" charset="0"/>
                <a:ea typeface="Arial" pitchFamily="34" charset="-122"/>
                <a:cs typeface="Arial" pitchFamily="34" charset="-120"/>
              </a:rPr>
              <a:t>Questions &amp; discussion</a:t>
            </a:r>
            <a:endParaRPr lang="en-US" sz="2200" dirty="0"/>
          </a:p>
        </p:txBody>
      </p:sp>
      <p:sp>
        <p:nvSpPr>
          <p:cNvPr id="6" name="Text 2"/>
          <p:cNvSpPr txBox="1"/>
          <p:nvPr/>
        </p:nvSpPr>
        <p:spPr>
          <a:xfrm>
            <a:off x="548640" y="4846320"/>
            <a:ext cx="11091672" cy="731520"/>
          </a:xfrm>
          <a:prstGeom prst="rect">
            <a:avLst/>
          </a:prstGeom>
          <a:noFill/>
          <a:ln/>
        </p:spPr>
        <p:txBody>
          <a:bodyPr wrap="square" lIns="0" tIns="0" rIns="0" bIns="0" rtlCol="0" anchor="ctr"/>
          <a:lstStyle/>
          <a:p>
            <a:pPr algn="ctr" indent="0" marL="0">
              <a:spcAft>
                <a:spcPts val="600"/>
              </a:spcAft>
              <a:buNone/>
            </a:pPr>
            <a:r>
              <a:rPr lang="en-US" sz="1400" dirty="0">
                <a:solidFill>
                  <a:srgbClr val="FFFFFF"/>
                </a:solidFill>
                <a:latin typeface="Arial" pitchFamily="34" charset="0"/>
                <a:ea typeface="Arial" pitchFamily="34" charset="-122"/>
                <a:cs typeface="Arial" pitchFamily="34" charset="-120"/>
              </a:rPr>
              <a:t>Marshall Douglas  |  Director of Pigging Operations</a:t>
            </a:r>
            <a:endParaRPr lang="en-US" sz="1400" dirty="0"/>
          </a:p>
          <a:p>
            <a:pPr algn="ctr" indent="0" marL="0">
              <a:spcAft>
                <a:spcPts val="600"/>
              </a:spcAft>
              <a:buNone/>
            </a:pPr>
            <a:r>
              <a:rPr lang="en-US" sz="1400" dirty="0">
                <a:solidFill>
                  <a:srgbClr val="FFFFFF"/>
                </a:solidFill>
                <a:latin typeface="Arial" pitchFamily="34" charset="0"/>
                <a:ea typeface="Arial" pitchFamily="34" charset="-122"/>
                <a:cs typeface="Arial" pitchFamily="34" charset="-120"/>
              </a:rPr>
              <a:t>Jason Harman  |  Commercial Manager  |  jharman@usadebusk.com  |  (713) 839-5961</a:t>
            </a:r>
            <a:endParaRPr lang="en-US" sz="14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11480"/>
            <a:ext cx="1199845" cy="310896"/>
          </a:xfrm>
          <a:prstGeom prst="roundRect">
            <a:avLst>
              <a:gd name="adj" fmla="val 23529"/>
            </a:avLst>
          </a:prstGeom>
          <a:solidFill>
            <a:srgbClr val="FCC30A"/>
          </a:solidFill>
          <a:ln w="12700">
            <a:solidFill>
              <a:srgbClr val="FCC30A"/>
            </a:solidFill>
            <a:prstDash val="solid"/>
          </a:ln>
        </p:spPr>
      </p:sp>
      <p:sp>
        <p:nvSpPr>
          <p:cNvPr id="3" name="Text 1"/>
          <p:cNvSpPr txBox="1"/>
          <p:nvPr/>
        </p:nvSpPr>
        <p:spPr>
          <a:xfrm>
            <a:off x="548640" y="411480"/>
            <a:ext cx="1199845" cy="310896"/>
          </a:xfrm>
          <a:prstGeom prst="rect">
            <a:avLst/>
          </a:prstGeom>
          <a:noFill/>
          <a:ln/>
        </p:spPr>
        <p:txBody>
          <a:bodyPr wrap="square" lIns="0" tIns="0" rIns="0" bIns="0" rtlCol="0" anchor="ctr"/>
          <a:lstStyle/>
          <a:p>
            <a:pPr algn="ctr" indent="0" marL="0">
              <a:buNone/>
            </a:pPr>
            <a:r>
              <a:rPr lang="en-US" sz="1050" b="1" spc="150" kern="0" dirty="0">
                <a:solidFill>
                  <a:srgbClr val="1E1E1E"/>
                </a:solidFill>
                <a:latin typeface="Arial" pitchFamily="34" charset="0"/>
                <a:ea typeface="Arial" pitchFamily="34" charset="-122"/>
                <a:cs typeface="Arial" pitchFamily="34" charset="-120"/>
              </a:rPr>
              <a:t>APPENDIX</a:t>
            </a:r>
            <a:endParaRPr lang="en-US" sz="1050" dirty="0"/>
          </a:p>
        </p:txBody>
      </p:sp>
      <p:sp>
        <p:nvSpPr>
          <p:cNvPr id="4" name="Text 2"/>
          <p:cNvSpPr txBox="1"/>
          <p:nvPr/>
        </p:nvSpPr>
        <p:spPr>
          <a:xfrm>
            <a:off x="548640" y="841248"/>
            <a:ext cx="11064240" cy="731520"/>
          </a:xfrm>
          <a:prstGeom prst="rect">
            <a:avLst/>
          </a:prstGeom>
          <a:noFill/>
          <a:ln/>
        </p:spPr>
        <p:txBody>
          <a:bodyPr wrap="square" lIns="0" tIns="0" rIns="0" bIns="0" rtlCol="0" anchor="t"/>
          <a:lstStyle/>
          <a:p>
            <a:pPr indent="0" marL="0">
              <a:buNone/>
            </a:pPr>
            <a:r>
              <a:rPr lang="en-US" sz="2800" b="1" dirty="0">
                <a:solidFill>
                  <a:srgbClr val="222222"/>
                </a:solidFill>
                <a:latin typeface="Arial" pitchFamily="34" charset="0"/>
                <a:ea typeface="Arial" pitchFamily="34" charset="-122"/>
                <a:cs typeface="Arial" pitchFamily="34" charset="-120"/>
              </a:rPr>
              <a:t>MPC references</a:t>
            </a:r>
            <a:endParaRPr lang="en-US" sz="2800" dirty="0"/>
          </a:p>
        </p:txBody>
      </p:sp>
      <p:graphicFrame>
        <p:nvGraphicFramePr>
          <p:cNvPr id="26" name="Table 0"/>
          <p:cNvGraphicFramePr>
            <a:graphicFrameLocks noGrp="1"/>
          </p:cNvGraphicFramePr>
          <p:nvPr>
            <p:extLst>
              <p:ext uri="{D42A27DB-BD31-4B8C-83A1-F6EECF244321}">
                <p14:modId xmlns:p14="http://schemas.microsoft.com/office/powerpoint/2010/main" val="1579011935"/>
              </p:ext>
            </p:extLst>
          </p:nvPr>
        </p:nvGraphicFramePr>
        <p:xfrm>
          <a:off x="548640" y="1600200"/>
          <a:ext cx="11091672" cy="914400"/>
        </p:xfrm>
        <a:graphic>
          <a:graphicData uri="http://schemas.openxmlformats.org/drawingml/2006/table">
            <a:tbl>
              <a:tblPr/>
              <a:tblGrid>
                <a:gridCol w="1828800"/>
                <a:gridCol w="2011680"/>
                <a:gridCol w="2834640"/>
                <a:gridCol w="1417320"/>
                <a:gridCol w="2999232"/>
              </a:tblGrid>
              <a:tr h="301752">
                <a:tc>
                  <a:txBody>
                    <a:bodyPr/>
                    <a:lstStyle/>
                    <a:p>
                      <a:pPr indent="0" marL="0">
                        <a:buNone/>
                      </a:pPr>
                      <a:r>
                        <a:rPr lang="en-US" sz="1050" b="1" dirty="0">
                          <a:solidFill>
                            <a:srgbClr val="FFFFFF"/>
                          </a:solidFill>
                          <a:latin typeface="Arial" pitchFamily="34" charset="0"/>
                          <a:ea typeface="Arial" pitchFamily="34" charset="-122"/>
                          <a:cs typeface="Arial" pitchFamily="34" charset="-120"/>
                        </a:rPr>
                        <a:t>Refinery</a:t>
                      </a:r>
                      <a:endParaRPr lang="en-US" sz="1050" dirty="0">
                        <a:latin typeface="Arial" charset="0"/>
                        <a:ea typeface="Arial" charset="0"/>
                        <a:cs typeface="Arial" charset="0"/>
                      </a:endParaRPr>
                    </a:p>
                  </a:txBody>
                  <a:tcPr marL="73152" marR="73152" marT="0" marB="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E1E1E"/>
                    </a:solidFill>
                  </a:tcPr>
                </a:tc>
                <a:tc>
                  <a:txBody>
                    <a:bodyPr/>
                    <a:lstStyle/>
                    <a:p>
                      <a:pPr indent="0" marL="0">
                        <a:buNone/>
                      </a:pPr>
                      <a:r>
                        <a:rPr lang="en-US" sz="1050" b="1" dirty="0">
                          <a:solidFill>
                            <a:srgbClr val="FFFFFF"/>
                          </a:solidFill>
                          <a:latin typeface="Arial" pitchFamily="34" charset="0"/>
                          <a:ea typeface="Arial" pitchFamily="34" charset="-122"/>
                          <a:cs typeface="Arial" pitchFamily="34" charset="-120"/>
                        </a:rPr>
                        <a:t>Contact</a:t>
                      </a:r>
                      <a:endParaRPr lang="en-US" sz="1050" dirty="0">
                        <a:latin typeface="Arial" charset="0"/>
                        <a:ea typeface="Arial" charset="0"/>
                        <a:cs typeface="Arial" charset="0"/>
                      </a:endParaRPr>
                    </a:p>
                  </a:txBody>
                  <a:tcPr marL="73152" marR="73152" marT="0" marB="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E1E1E"/>
                    </a:solidFill>
                  </a:tcPr>
                </a:tc>
                <a:tc>
                  <a:txBody>
                    <a:bodyPr/>
                    <a:lstStyle/>
                    <a:p>
                      <a:pPr indent="0" marL="0">
                        <a:buNone/>
                      </a:pPr>
                      <a:r>
                        <a:rPr lang="en-US" sz="1050" b="1" dirty="0">
                          <a:solidFill>
                            <a:srgbClr val="FFFFFF"/>
                          </a:solidFill>
                          <a:latin typeface="Arial" pitchFamily="34" charset="0"/>
                          <a:ea typeface="Arial" pitchFamily="34" charset="-122"/>
                          <a:cs typeface="Arial" pitchFamily="34" charset="-120"/>
                        </a:rPr>
                        <a:t>Role</a:t>
                      </a:r>
                      <a:endParaRPr lang="en-US" sz="1050" dirty="0">
                        <a:latin typeface="Arial" charset="0"/>
                        <a:ea typeface="Arial" charset="0"/>
                        <a:cs typeface="Arial" charset="0"/>
                      </a:endParaRPr>
                    </a:p>
                  </a:txBody>
                  <a:tcPr marL="73152" marR="73152" marT="0" marB="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E1E1E"/>
                    </a:solidFill>
                  </a:tcPr>
                </a:tc>
                <a:tc>
                  <a:txBody>
                    <a:bodyPr/>
                    <a:lstStyle/>
                    <a:p>
                      <a:pPr indent="0" marL="0">
                        <a:buNone/>
                      </a:pPr>
                      <a:r>
                        <a:rPr lang="en-US" sz="1050" b="1" dirty="0">
                          <a:solidFill>
                            <a:srgbClr val="FFFFFF"/>
                          </a:solidFill>
                          <a:latin typeface="Arial" pitchFamily="34" charset="0"/>
                          <a:ea typeface="Arial" pitchFamily="34" charset="-122"/>
                          <a:cs typeface="Arial" pitchFamily="34" charset="-120"/>
                        </a:rPr>
                        <a:t>Phone</a:t>
                      </a:r>
                      <a:endParaRPr lang="en-US" sz="1050" dirty="0">
                        <a:latin typeface="Arial" charset="0"/>
                        <a:ea typeface="Arial" charset="0"/>
                        <a:cs typeface="Arial" charset="0"/>
                      </a:endParaRPr>
                    </a:p>
                  </a:txBody>
                  <a:tcPr marL="73152" marR="73152" marT="0" marB="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E1E1E"/>
                    </a:solidFill>
                  </a:tcPr>
                </a:tc>
                <a:tc>
                  <a:txBody>
                    <a:bodyPr/>
                    <a:lstStyle/>
                    <a:p>
                      <a:pPr indent="0" marL="0">
                        <a:buNone/>
                      </a:pPr>
                      <a:r>
                        <a:rPr lang="en-US" sz="1050" b="1" dirty="0">
                          <a:solidFill>
                            <a:srgbClr val="FFFFFF"/>
                          </a:solidFill>
                          <a:latin typeface="Arial" pitchFamily="34" charset="0"/>
                          <a:ea typeface="Arial" pitchFamily="34" charset="-122"/>
                          <a:cs typeface="Arial" pitchFamily="34" charset="-120"/>
                        </a:rPr>
                        <a:t>Email</a:t>
                      </a:r>
                      <a:endParaRPr lang="en-US" sz="1050" dirty="0">
                        <a:latin typeface="Arial" charset="0"/>
                        <a:ea typeface="Arial" charset="0"/>
                        <a:cs typeface="Arial" charset="0"/>
                      </a:endParaRPr>
                    </a:p>
                  </a:txBody>
                  <a:tcPr marL="73152" marR="73152" marT="0" marB="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E1E1E"/>
                    </a:solidFill>
                  </a:tcPr>
                </a:tc>
              </a:tr>
              <a:tr h="301752">
                <a:tc>
                  <a:txBody>
                    <a:bodyPr/>
                    <a:lstStyle/>
                    <a:p>
                      <a:pPr indent="0" marL="0">
                        <a:buNone/>
                      </a:pPr>
                      <a:r>
                        <a:rPr lang="en-US" sz="1000" b="1" dirty="0">
                          <a:solidFill>
                            <a:srgbClr val="222222"/>
                          </a:solidFill>
                          <a:latin typeface="Arial" pitchFamily="34" charset="0"/>
                          <a:ea typeface="Arial" pitchFamily="34" charset="-122"/>
                          <a:cs typeface="Arial" pitchFamily="34" charset="-120"/>
                        </a:rPr>
                        <a:t>Catlettsburg, KY</a:t>
                      </a:r>
                      <a:endParaRPr lang="en-US" sz="1000" dirty="0">
                        <a:latin typeface="Arial" charset="0"/>
                        <a:ea typeface="Arial" charset="0"/>
                        <a:cs typeface="Arial" charset="0"/>
                      </a:endParaRPr>
                    </a:p>
                  </a:txBody>
                  <a:tcPr marL="73152" marR="73152" marT="0" marB="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indent="0" marL="0">
                        <a:buNone/>
                      </a:pPr>
                      <a:r>
                        <a:rPr lang="en-US" sz="1000" dirty="0">
                          <a:solidFill>
                            <a:srgbClr val="222222"/>
                          </a:solidFill>
                          <a:latin typeface="Arial" pitchFamily="34" charset="0"/>
                          <a:ea typeface="Arial" pitchFamily="34" charset="-122"/>
                          <a:cs typeface="Arial" pitchFamily="34" charset="-120"/>
                        </a:rPr>
                        <a:t>Eddie Slone</a:t>
                      </a:r>
                      <a:endParaRPr lang="en-US" sz="1000" dirty="0">
                        <a:latin typeface="Arial" charset="0"/>
                        <a:ea typeface="Arial" charset="0"/>
                        <a:cs typeface="Arial" charset="0"/>
                      </a:endParaRPr>
                    </a:p>
                  </a:txBody>
                  <a:tcPr marL="73152" marR="73152" marT="0" marB="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indent="0" marL="0">
                        <a:buNone/>
                      </a:pPr>
                      <a:r>
                        <a:rPr lang="en-US" sz="1000" dirty="0">
                          <a:solidFill>
                            <a:srgbClr val="222222"/>
                          </a:solidFill>
                          <a:latin typeface="Arial" pitchFamily="34" charset="0"/>
                          <a:ea typeface="Arial" pitchFamily="34" charset="-122"/>
                          <a:cs typeface="Arial" pitchFamily="34" charset="-120"/>
                        </a:rPr>
                        <a:t>T/A Planner</a:t>
                      </a:r>
                      <a:endParaRPr lang="en-US" sz="1000" dirty="0">
                        <a:latin typeface="Arial" charset="0"/>
                        <a:ea typeface="Arial" charset="0"/>
                        <a:cs typeface="Arial" charset="0"/>
                      </a:endParaRPr>
                    </a:p>
                  </a:txBody>
                  <a:tcPr marL="73152" marR="73152" marT="0" marB="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indent="0" marL="0">
                        <a:buNone/>
                      </a:pPr>
                      <a:r>
                        <a:rPr lang="en-US" sz="1000" dirty="0">
                          <a:solidFill>
                            <a:srgbClr val="222222"/>
                          </a:solidFill>
                          <a:latin typeface="Arial" pitchFamily="34" charset="0"/>
                          <a:ea typeface="Arial" pitchFamily="34" charset="-122"/>
                          <a:cs typeface="Arial" pitchFamily="34" charset="-120"/>
                        </a:rPr>
                        <a:t>606-331-2585</a:t>
                      </a:r>
                      <a:endParaRPr lang="en-US" sz="1000" dirty="0">
                        <a:latin typeface="Arial" charset="0"/>
                        <a:ea typeface="Arial" charset="0"/>
                        <a:cs typeface="Arial" charset="0"/>
                      </a:endParaRPr>
                    </a:p>
                  </a:txBody>
                  <a:tcPr marL="73152" marR="73152" marT="0" marB="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indent="0" marL="0">
                        <a:buNone/>
                      </a:pPr>
                      <a:r>
                        <a:rPr lang="en-US" sz="1000" dirty="0">
                          <a:solidFill>
                            <a:srgbClr val="222222"/>
                          </a:solidFill>
                          <a:latin typeface="Arial" pitchFamily="34" charset="0"/>
                          <a:ea typeface="Arial" pitchFamily="34" charset="-122"/>
                          <a:cs typeface="Arial" pitchFamily="34" charset="-120"/>
                        </a:rPr>
                        <a:t>slone@marathonpetroleum.com</a:t>
                      </a:r>
                      <a:endParaRPr lang="en-US" sz="1000" dirty="0">
                        <a:latin typeface="Arial" charset="0"/>
                        <a:ea typeface="Arial" charset="0"/>
                        <a:cs typeface="Arial" charset="0"/>
                      </a:endParaRPr>
                    </a:p>
                  </a:txBody>
                  <a:tcPr marL="73152" marR="73152" marT="0" marB="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r>
              <a:tr h="301752">
                <a:tc>
                  <a:txBody>
                    <a:bodyPr/>
                    <a:lstStyle/>
                    <a:p>
                      <a:pPr indent="0" marL="0">
                        <a:buNone/>
                      </a:pPr>
                      <a:endParaRPr lang="en-US" sz="1000" dirty="0">
                        <a:latin typeface="Arial" charset="0"/>
                        <a:ea typeface="Arial" charset="0"/>
                        <a:cs typeface="Arial" charset="0"/>
                      </a:endParaRPr>
                    </a:p>
                  </a:txBody>
                  <a:tcPr marL="73152" marR="73152" marT="0" marB="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7F7F7"/>
                    </a:solidFill>
                  </a:tcPr>
                </a:tc>
                <a:tc>
                  <a:txBody>
                    <a:bodyPr/>
                    <a:lstStyle/>
                    <a:p>
                      <a:pPr indent="0" marL="0">
                        <a:buNone/>
                      </a:pPr>
                      <a:r>
                        <a:rPr lang="en-US" sz="1000" dirty="0">
                          <a:solidFill>
                            <a:srgbClr val="222222"/>
                          </a:solidFill>
                          <a:latin typeface="Arial" pitchFamily="34" charset="0"/>
                          <a:ea typeface="Arial" pitchFamily="34" charset="-122"/>
                          <a:cs typeface="Arial" pitchFamily="34" charset="-120"/>
                        </a:rPr>
                        <a:t>Ryan Rayburn</a:t>
                      </a:r>
                      <a:endParaRPr lang="en-US" sz="1000" dirty="0">
                        <a:latin typeface="Arial" charset="0"/>
                        <a:ea typeface="Arial" charset="0"/>
                        <a:cs typeface="Arial" charset="0"/>
                      </a:endParaRPr>
                    </a:p>
                  </a:txBody>
                  <a:tcPr marL="73152" marR="73152" marT="0" marB="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7F7F7"/>
                    </a:solidFill>
                  </a:tcPr>
                </a:tc>
                <a:tc>
                  <a:txBody>
                    <a:bodyPr/>
                    <a:lstStyle/>
                    <a:p>
                      <a:pPr indent="0" marL="0">
                        <a:buNone/>
                      </a:pPr>
                      <a:r>
                        <a:rPr lang="en-US" sz="1000" dirty="0">
                          <a:solidFill>
                            <a:srgbClr val="222222"/>
                          </a:solidFill>
                          <a:latin typeface="Arial" pitchFamily="34" charset="0"/>
                          <a:ea typeface="Arial" pitchFamily="34" charset="-122"/>
                          <a:cs typeface="Arial" pitchFamily="34" charset="-120"/>
                        </a:rPr>
                        <a:t>TAR / Construction Supervisor</a:t>
                      </a:r>
                      <a:endParaRPr lang="en-US" sz="1000" dirty="0">
                        <a:latin typeface="Arial" charset="0"/>
                        <a:ea typeface="Arial" charset="0"/>
                        <a:cs typeface="Arial" charset="0"/>
                      </a:endParaRPr>
                    </a:p>
                  </a:txBody>
                  <a:tcPr marL="73152" marR="73152" marT="0" marB="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7F7F7"/>
                    </a:solidFill>
                  </a:tcPr>
                </a:tc>
                <a:tc>
                  <a:txBody>
                    <a:bodyPr/>
                    <a:lstStyle/>
                    <a:p>
                      <a:pPr indent="0" marL="0">
                        <a:buNone/>
                      </a:pPr>
                      <a:r>
                        <a:rPr lang="en-US" sz="1000" dirty="0">
                          <a:solidFill>
                            <a:srgbClr val="222222"/>
                          </a:solidFill>
                          <a:latin typeface="Arial" pitchFamily="34" charset="0"/>
                          <a:ea typeface="Arial" pitchFamily="34" charset="-122"/>
                          <a:cs typeface="Arial" pitchFamily="34" charset="-120"/>
                        </a:rPr>
                        <a:t>606-331-0180</a:t>
                      </a:r>
                      <a:endParaRPr lang="en-US" sz="1000" dirty="0">
                        <a:latin typeface="Arial" charset="0"/>
                        <a:ea typeface="Arial" charset="0"/>
                        <a:cs typeface="Arial" charset="0"/>
                      </a:endParaRPr>
                    </a:p>
                  </a:txBody>
                  <a:tcPr marL="73152" marR="73152" marT="0" marB="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7F7F7"/>
                    </a:solidFill>
                  </a:tcPr>
                </a:tc>
                <a:tc>
                  <a:txBody>
                    <a:bodyPr/>
                    <a:lstStyle/>
                    <a:p>
                      <a:pPr indent="0" marL="0">
                        <a:buNone/>
                      </a:pPr>
                      <a:r>
                        <a:rPr lang="en-US" sz="1000" dirty="0">
                          <a:solidFill>
                            <a:srgbClr val="222222"/>
                          </a:solidFill>
                          <a:latin typeface="Arial" pitchFamily="34" charset="0"/>
                          <a:ea typeface="Arial" pitchFamily="34" charset="-122"/>
                          <a:cs typeface="Arial" pitchFamily="34" charset="-120"/>
                        </a:rPr>
                        <a:t>rdrayburn@marathonpetroleum.com</a:t>
                      </a:r>
                      <a:endParaRPr lang="en-US" sz="1000" dirty="0">
                        <a:latin typeface="Arial" charset="0"/>
                        <a:ea typeface="Arial" charset="0"/>
                        <a:cs typeface="Arial" charset="0"/>
                      </a:endParaRPr>
                    </a:p>
                  </a:txBody>
                  <a:tcPr marL="73152" marR="73152" marT="0" marB="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7F7F7"/>
                    </a:solidFill>
                  </a:tcPr>
                </a:tc>
              </a:tr>
              <a:tr h="301752">
                <a:tc>
                  <a:txBody>
                    <a:bodyPr/>
                    <a:lstStyle/>
                    <a:p>
                      <a:pPr indent="0" marL="0">
                        <a:buNone/>
                      </a:pPr>
                      <a:endParaRPr lang="en-US" sz="1000" dirty="0">
                        <a:latin typeface="Arial" charset="0"/>
                        <a:ea typeface="Arial" charset="0"/>
                        <a:cs typeface="Arial" charset="0"/>
                      </a:endParaRPr>
                    </a:p>
                  </a:txBody>
                  <a:tcPr marL="73152" marR="73152" marT="0" marB="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indent="0" marL="0">
                        <a:buNone/>
                      </a:pPr>
                      <a:r>
                        <a:rPr lang="en-US" sz="1000" dirty="0">
                          <a:solidFill>
                            <a:srgbClr val="222222"/>
                          </a:solidFill>
                          <a:latin typeface="Arial" pitchFamily="34" charset="0"/>
                          <a:ea typeface="Arial" pitchFamily="34" charset="-122"/>
                          <a:cs typeface="Arial" pitchFamily="34" charset="-120"/>
                        </a:rPr>
                        <a:t>Ben Holbrook</a:t>
                      </a:r>
                      <a:endParaRPr lang="en-US" sz="1000" dirty="0">
                        <a:latin typeface="Arial" charset="0"/>
                        <a:ea typeface="Arial" charset="0"/>
                        <a:cs typeface="Arial" charset="0"/>
                      </a:endParaRPr>
                    </a:p>
                  </a:txBody>
                  <a:tcPr marL="73152" marR="73152" marT="0" marB="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indent="0" marL="0">
                        <a:buNone/>
                      </a:pPr>
                      <a:r>
                        <a:rPr lang="en-US" sz="1000" dirty="0">
                          <a:solidFill>
                            <a:srgbClr val="222222"/>
                          </a:solidFill>
                          <a:latin typeface="Arial" pitchFamily="34" charset="0"/>
                          <a:ea typeface="Arial" pitchFamily="34" charset="-122"/>
                          <a:cs typeface="Arial" pitchFamily="34" charset="-120"/>
                        </a:rPr>
                        <a:t>Turnaround Planning</a:t>
                      </a:r>
                      <a:endParaRPr lang="en-US" sz="1000" dirty="0">
                        <a:latin typeface="Arial" charset="0"/>
                        <a:ea typeface="Arial" charset="0"/>
                        <a:cs typeface="Arial" charset="0"/>
                      </a:endParaRPr>
                    </a:p>
                  </a:txBody>
                  <a:tcPr marL="73152" marR="73152" marT="0" marB="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indent="0" marL="0">
                        <a:buNone/>
                      </a:pPr>
                      <a:r>
                        <a:rPr lang="en-US" sz="1000" dirty="0">
                          <a:solidFill>
                            <a:srgbClr val="222222"/>
                          </a:solidFill>
                          <a:latin typeface="Arial" pitchFamily="34" charset="0"/>
                          <a:ea typeface="Arial" pitchFamily="34" charset="-122"/>
                          <a:cs typeface="Arial" pitchFamily="34" charset="-120"/>
                        </a:rPr>
                        <a:t>606-369-6467</a:t>
                      </a:r>
                      <a:endParaRPr lang="en-US" sz="1000" dirty="0">
                        <a:latin typeface="Arial" charset="0"/>
                        <a:ea typeface="Arial" charset="0"/>
                        <a:cs typeface="Arial" charset="0"/>
                      </a:endParaRPr>
                    </a:p>
                  </a:txBody>
                  <a:tcPr marL="73152" marR="73152" marT="0" marB="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indent="0" marL="0">
                        <a:buNone/>
                      </a:pPr>
                      <a:r>
                        <a:rPr lang="en-US" sz="1000" dirty="0">
                          <a:solidFill>
                            <a:srgbClr val="222222"/>
                          </a:solidFill>
                          <a:latin typeface="Arial" pitchFamily="34" charset="0"/>
                          <a:ea typeface="Arial" pitchFamily="34" charset="-122"/>
                          <a:cs typeface="Arial" pitchFamily="34" charset="-120"/>
                        </a:rPr>
                        <a:t>benlholbrook@marathonpetroleum.com</a:t>
                      </a:r>
                      <a:endParaRPr lang="en-US" sz="1000" dirty="0">
                        <a:latin typeface="Arial" charset="0"/>
                        <a:ea typeface="Arial" charset="0"/>
                        <a:cs typeface="Arial" charset="0"/>
                      </a:endParaRPr>
                    </a:p>
                  </a:txBody>
                  <a:tcPr marL="73152" marR="73152" marT="0" marB="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r>
              <a:tr h="301752">
                <a:tc>
                  <a:txBody>
                    <a:bodyPr/>
                    <a:lstStyle/>
                    <a:p>
                      <a:pPr indent="0" marL="0">
                        <a:buNone/>
                      </a:pPr>
                      <a:r>
                        <a:rPr lang="en-US" sz="1000" b="1" dirty="0">
                          <a:solidFill>
                            <a:srgbClr val="222222"/>
                          </a:solidFill>
                          <a:latin typeface="Arial" pitchFamily="34" charset="0"/>
                          <a:ea typeface="Arial" pitchFamily="34" charset="-122"/>
                          <a:cs typeface="Arial" pitchFamily="34" charset="-120"/>
                        </a:rPr>
                        <a:t>Salt Lake City, UT</a:t>
                      </a:r>
                      <a:endParaRPr lang="en-US" sz="1000" dirty="0">
                        <a:latin typeface="Arial" charset="0"/>
                        <a:ea typeface="Arial" charset="0"/>
                        <a:cs typeface="Arial" charset="0"/>
                      </a:endParaRPr>
                    </a:p>
                  </a:txBody>
                  <a:tcPr marL="73152" marR="73152" marT="0" marB="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7F7F7"/>
                    </a:solidFill>
                  </a:tcPr>
                </a:tc>
                <a:tc>
                  <a:txBody>
                    <a:bodyPr/>
                    <a:lstStyle/>
                    <a:p>
                      <a:pPr indent="0" marL="0">
                        <a:buNone/>
                      </a:pPr>
                      <a:r>
                        <a:rPr lang="en-US" sz="1000" dirty="0">
                          <a:solidFill>
                            <a:srgbClr val="222222"/>
                          </a:solidFill>
                          <a:latin typeface="Arial" pitchFamily="34" charset="0"/>
                          <a:ea typeface="Arial" pitchFamily="34" charset="-122"/>
                          <a:cs typeface="Arial" pitchFamily="34" charset="-120"/>
                        </a:rPr>
                        <a:t>Aaron Wiggins</a:t>
                      </a:r>
                      <a:endParaRPr lang="en-US" sz="1000" dirty="0">
                        <a:latin typeface="Arial" charset="0"/>
                        <a:ea typeface="Arial" charset="0"/>
                        <a:cs typeface="Arial" charset="0"/>
                      </a:endParaRPr>
                    </a:p>
                  </a:txBody>
                  <a:tcPr marL="73152" marR="73152" marT="0" marB="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7F7F7"/>
                    </a:solidFill>
                  </a:tcPr>
                </a:tc>
                <a:tc>
                  <a:txBody>
                    <a:bodyPr/>
                    <a:lstStyle/>
                    <a:p>
                      <a:pPr indent="0" marL="0">
                        <a:buNone/>
                      </a:pPr>
                      <a:r>
                        <a:rPr lang="en-US" sz="1000" dirty="0">
                          <a:solidFill>
                            <a:srgbClr val="222222"/>
                          </a:solidFill>
                          <a:latin typeface="Arial" pitchFamily="34" charset="0"/>
                          <a:ea typeface="Arial" pitchFamily="34" charset="-122"/>
                          <a:cs typeface="Arial" pitchFamily="34" charset="-120"/>
                        </a:rPr>
                        <a:t>Maintenance Supervisor / Turnarounds</a:t>
                      </a:r>
                      <a:endParaRPr lang="en-US" sz="1000" dirty="0">
                        <a:latin typeface="Arial" charset="0"/>
                        <a:ea typeface="Arial" charset="0"/>
                        <a:cs typeface="Arial" charset="0"/>
                      </a:endParaRPr>
                    </a:p>
                  </a:txBody>
                  <a:tcPr marL="73152" marR="73152" marT="0" marB="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7F7F7"/>
                    </a:solidFill>
                  </a:tcPr>
                </a:tc>
                <a:tc>
                  <a:txBody>
                    <a:bodyPr/>
                    <a:lstStyle/>
                    <a:p>
                      <a:pPr indent="0" marL="0">
                        <a:buNone/>
                      </a:pPr>
                      <a:r>
                        <a:rPr lang="en-US" sz="1000" dirty="0">
                          <a:solidFill>
                            <a:srgbClr val="222222"/>
                          </a:solidFill>
                          <a:latin typeface="Arial" pitchFamily="34" charset="0"/>
                          <a:ea typeface="Arial" pitchFamily="34" charset="-122"/>
                          <a:cs typeface="Arial" pitchFamily="34" charset="-120"/>
                        </a:rPr>
                        <a:t>801-703-6722</a:t>
                      </a:r>
                      <a:endParaRPr lang="en-US" sz="1000" dirty="0">
                        <a:latin typeface="Arial" charset="0"/>
                        <a:ea typeface="Arial" charset="0"/>
                        <a:cs typeface="Arial" charset="0"/>
                      </a:endParaRPr>
                    </a:p>
                  </a:txBody>
                  <a:tcPr marL="73152" marR="73152" marT="0" marB="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7F7F7"/>
                    </a:solidFill>
                  </a:tcPr>
                </a:tc>
                <a:tc>
                  <a:txBody>
                    <a:bodyPr/>
                    <a:lstStyle/>
                    <a:p>
                      <a:pPr indent="0" marL="0">
                        <a:buNone/>
                      </a:pPr>
                      <a:r>
                        <a:rPr lang="en-US" sz="1000" dirty="0">
                          <a:solidFill>
                            <a:srgbClr val="222222"/>
                          </a:solidFill>
                          <a:latin typeface="Arial" pitchFamily="34" charset="0"/>
                          <a:ea typeface="Arial" pitchFamily="34" charset="-122"/>
                          <a:cs typeface="Arial" pitchFamily="34" charset="-120"/>
                        </a:rPr>
                        <a:t>ATWiggins@marathonpetroleum.com</a:t>
                      </a:r>
                      <a:endParaRPr lang="en-US" sz="1000" dirty="0">
                        <a:latin typeface="Arial" charset="0"/>
                        <a:ea typeface="Arial" charset="0"/>
                        <a:cs typeface="Arial" charset="0"/>
                      </a:endParaRPr>
                    </a:p>
                  </a:txBody>
                  <a:tcPr marL="73152" marR="73152" marT="0" marB="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7F7F7"/>
                    </a:solidFill>
                  </a:tcPr>
                </a:tc>
              </a:tr>
              <a:tr h="301752">
                <a:tc>
                  <a:txBody>
                    <a:bodyPr/>
                    <a:lstStyle/>
                    <a:p>
                      <a:pPr indent="0" marL="0">
                        <a:buNone/>
                      </a:pPr>
                      <a:r>
                        <a:rPr lang="en-US" sz="1000" b="1" dirty="0">
                          <a:solidFill>
                            <a:srgbClr val="222222"/>
                          </a:solidFill>
                          <a:latin typeface="Arial" pitchFamily="34" charset="0"/>
                          <a:ea typeface="Arial" pitchFamily="34" charset="-122"/>
                          <a:cs typeface="Arial" pitchFamily="34" charset="-120"/>
                        </a:rPr>
                        <a:t>Martinez, CA</a:t>
                      </a:r>
                      <a:endParaRPr lang="en-US" sz="1000" dirty="0">
                        <a:latin typeface="Arial" charset="0"/>
                        <a:ea typeface="Arial" charset="0"/>
                        <a:cs typeface="Arial" charset="0"/>
                      </a:endParaRPr>
                    </a:p>
                  </a:txBody>
                  <a:tcPr marL="73152" marR="73152" marT="0" marB="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indent="0" marL="0">
                        <a:buNone/>
                      </a:pPr>
                      <a:r>
                        <a:rPr lang="en-US" sz="1000" dirty="0">
                          <a:solidFill>
                            <a:srgbClr val="222222"/>
                          </a:solidFill>
                          <a:latin typeface="Arial" pitchFamily="34" charset="0"/>
                          <a:ea typeface="Arial" pitchFamily="34" charset="-122"/>
                          <a:cs typeface="Arial" pitchFamily="34" charset="-120"/>
                        </a:rPr>
                        <a:t>Kyle Yates</a:t>
                      </a:r>
                      <a:endParaRPr lang="en-US" sz="1000" dirty="0">
                        <a:latin typeface="Arial" charset="0"/>
                        <a:ea typeface="Arial" charset="0"/>
                        <a:cs typeface="Arial" charset="0"/>
                      </a:endParaRPr>
                    </a:p>
                  </a:txBody>
                  <a:tcPr marL="73152" marR="73152" marT="0" marB="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indent="0" marL="0">
                        <a:buNone/>
                      </a:pPr>
                      <a:r>
                        <a:rPr lang="en-US" sz="1000" dirty="0">
                          <a:solidFill>
                            <a:srgbClr val="222222"/>
                          </a:solidFill>
                          <a:latin typeface="Arial" pitchFamily="34" charset="0"/>
                          <a:ea typeface="Arial" pitchFamily="34" charset="-122"/>
                          <a:cs typeface="Arial" pitchFamily="34" charset="-120"/>
                        </a:rPr>
                        <a:t>Project Engineer</a:t>
                      </a:r>
                      <a:endParaRPr lang="en-US" sz="1000" dirty="0">
                        <a:latin typeface="Arial" charset="0"/>
                        <a:ea typeface="Arial" charset="0"/>
                        <a:cs typeface="Arial" charset="0"/>
                      </a:endParaRPr>
                    </a:p>
                  </a:txBody>
                  <a:tcPr marL="73152" marR="73152" marT="0" marB="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indent="0" marL="0">
                        <a:buNone/>
                      </a:pPr>
                      <a:r>
                        <a:rPr lang="en-US" sz="1000" dirty="0">
                          <a:solidFill>
                            <a:srgbClr val="222222"/>
                          </a:solidFill>
                          <a:latin typeface="Arial" pitchFamily="34" charset="0"/>
                          <a:ea typeface="Arial" pitchFamily="34" charset="-122"/>
                          <a:cs typeface="Arial" pitchFamily="34" charset="-120"/>
                        </a:rPr>
                        <a:t>925-316-9726</a:t>
                      </a:r>
                      <a:endParaRPr lang="en-US" sz="1000" dirty="0">
                        <a:latin typeface="Arial" charset="0"/>
                        <a:ea typeface="Arial" charset="0"/>
                        <a:cs typeface="Arial" charset="0"/>
                      </a:endParaRPr>
                    </a:p>
                  </a:txBody>
                  <a:tcPr marL="73152" marR="73152" marT="0" marB="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indent="0" marL="0">
                        <a:buNone/>
                      </a:pPr>
                      <a:r>
                        <a:rPr lang="en-US" sz="1000" dirty="0">
                          <a:solidFill>
                            <a:srgbClr val="222222"/>
                          </a:solidFill>
                          <a:latin typeface="Arial" pitchFamily="34" charset="0"/>
                          <a:ea typeface="Arial" pitchFamily="34" charset="-122"/>
                          <a:cs typeface="Arial" pitchFamily="34" charset="-120"/>
                        </a:rPr>
                        <a:t>SYates2@marathonpetroleum.com</a:t>
                      </a:r>
                      <a:endParaRPr lang="en-US" sz="1000" dirty="0">
                        <a:latin typeface="Arial" charset="0"/>
                        <a:ea typeface="Arial" charset="0"/>
                        <a:cs typeface="Arial" charset="0"/>
                      </a:endParaRPr>
                    </a:p>
                  </a:txBody>
                  <a:tcPr marL="73152" marR="73152" marT="0" marB="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r>
              <a:tr h="301752">
                <a:tc>
                  <a:txBody>
                    <a:bodyPr/>
                    <a:lstStyle/>
                    <a:p>
                      <a:pPr indent="0" marL="0">
                        <a:buNone/>
                      </a:pPr>
                      <a:endParaRPr lang="en-US" sz="1000" dirty="0">
                        <a:latin typeface="Arial" charset="0"/>
                        <a:ea typeface="Arial" charset="0"/>
                        <a:cs typeface="Arial" charset="0"/>
                      </a:endParaRPr>
                    </a:p>
                  </a:txBody>
                  <a:tcPr marL="73152" marR="73152" marT="0" marB="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7F7F7"/>
                    </a:solidFill>
                  </a:tcPr>
                </a:tc>
                <a:tc>
                  <a:txBody>
                    <a:bodyPr/>
                    <a:lstStyle/>
                    <a:p>
                      <a:pPr indent="0" marL="0">
                        <a:buNone/>
                      </a:pPr>
                      <a:r>
                        <a:rPr lang="en-US" sz="1000" dirty="0">
                          <a:solidFill>
                            <a:srgbClr val="222222"/>
                          </a:solidFill>
                          <a:latin typeface="Arial" pitchFamily="34" charset="0"/>
                          <a:ea typeface="Arial" pitchFamily="34" charset="-122"/>
                          <a:cs typeface="Arial" pitchFamily="34" charset="-120"/>
                        </a:rPr>
                        <a:t>Ryan Gorman</a:t>
                      </a:r>
                      <a:endParaRPr lang="en-US" sz="1000" dirty="0">
                        <a:latin typeface="Arial" charset="0"/>
                        <a:ea typeface="Arial" charset="0"/>
                        <a:cs typeface="Arial" charset="0"/>
                      </a:endParaRPr>
                    </a:p>
                  </a:txBody>
                  <a:tcPr marL="73152" marR="73152" marT="0" marB="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7F7F7"/>
                    </a:solidFill>
                  </a:tcPr>
                </a:tc>
                <a:tc>
                  <a:txBody>
                    <a:bodyPr/>
                    <a:lstStyle/>
                    <a:p>
                      <a:pPr indent="0" marL="0">
                        <a:buNone/>
                      </a:pPr>
                      <a:endParaRPr lang="en-US" sz="1000" dirty="0">
                        <a:latin typeface="Arial" charset="0"/>
                        <a:ea typeface="Arial" charset="0"/>
                        <a:cs typeface="Arial" charset="0"/>
                      </a:endParaRPr>
                    </a:p>
                  </a:txBody>
                  <a:tcPr marL="73152" marR="73152" marT="0" marB="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7F7F7"/>
                    </a:solidFill>
                  </a:tcPr>
                </a:tc>
                <a:tc>
                  <a:txBody>
                    <a:bodyPr/>
                    <a:lstStyle/>
                    <a:p>
                      <a:pPr indent="0" marL="0">
                        <a:buNone/>
                      </a:pPr>
                      <a:r>
                        <a:rPr lang="en-US" sz="1000" dirty="0">
                          <a:solidFill>
                            <a:srgbClr val="222222"/>
                          </a:solidFill>
                          <a:latin typeface="Arial" pitchFamily="34" charset="0"/>
                          <a:ea typeface="Arial" pitchFamily="34" charset="-122"/>
                          <a:cs typeface="Arial" pitchFamily="34" charset="-120"/>
                        </a:rPr>
                        <a:t>952-607-6853</a:t>
                      </a:r>
                      <a:endParaRPr lang="en-US" sz="1000" dirty="0">
                        <a:latin typeface="Arial" charset="0"/>
                        <a:ea typeface="Arial" charset="0"/>
                        <a:cs typeface="Arial" charset="0"/>
                      </a:endParaRPr>
                    </a:p>
                  </a:txBody>
                  <a:tcPr marL="73152" marR="73152" marT="0" marB="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7F7F7"/>
                    </a:solidFill>
                  </a:tcPr>
                </a:tc>
                <a:tc>
                  <a:txBody>
                    <a:bodyPr/>
                    <a:lstStyle/>
                    <a:p>
                      <a:pPr indent="0" marL="0">
                        <a:buNone/>
                      </a:pPr>
                      <a:r>
                        <a:rPr lang="en-US" sz="1000" dirty="0">
                          <a:solidFill>
                            <a:srgbClr val="222222"/>
                          </a:solidFill>
                          <a:latin typeface="Arial" pitchFamily="34" charset="0"/>
                          <a:ea typeface="Arial" pitchFamily="34" charset="-122"/>
                          <a:cs typeface="Arial" pitchFamily="34" charset="-120"/>
                        </a:rPr>
                        <a:t>RMGorman@marathonpetroleum.com</a:t>
                      </a:r>
                      <a:endParaRPr lang="en-US" sz="1000" dirty="0">
                        <a:latin typeface="Arial" charset="0"/>
                        <a:ea typeface="Arial" charset="0"/>
                        <a:cs typeface="Arial" charset="0"/>
                      </a:endParaRPr>
                    </a:p>
                  </a:txBody>
                  <a:tcPr marL="73152" marR="73152" marT="0" marB="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7F7F7"/>
                    </a:solidFill>
                  </a:tcPr>
                </a:tc>
              </a:tr>
              <a:tr h="301752">
                <a:tc>
                  <a:txBody>
                    <a:bodyPr/>
                    <a:lstStyle/>
                    <a:p>
                      <a:pPr indent="0" marL="0">
                        <a:buNone/>
                      </a:pPr>
                      <a:r>
                        <a:rPr lang="en-US" sz="1000" b="1" dirty="0">
                          <a:solidFill>
                            <a:srgbClr val="222222"/>
                          </a:solidFill>
                          <a:latin typeface="Arial" pitchFamily="34" charset="0"/>
                          <a:ea typeface="Arial" pitchFamily="34" charset="-122"/>
                          <a:cs typeface="Arial" pitchFamily="34" charset="-120"/>
                        </a:rPr>
                        <a:t>Dickinson, ND</a:t>
                      </a:r>
                      <a:endParaRPr lang="en-US" sz="1000" dirty="0">
                        <a:latin typeface="Arial" charset="0"/>
                        <a:ea typeface="Arial" charset="0"/>
                        <a:cs typeface="Arial" charset="0"/>
                      </a:endParaRPr>
                    </a:p>
                  </a:txBody>
                  <a:tcPr marL="73152" marR="73152" marT="0" marB="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indent="0" marL="0">
                        <a:buNone/>
                      </a:pPr>
                      <a:r>
                        <a:rPr lang="en-US" sz="1000" dirty="0">
                          <a:solidFill>
                            <a:srgbClr val="222222"/>
                          </a:solidFill>
                          <a:latin typeface="Arial" pitchFamily="34" charset="0"/>
                          <a:ea typeface="Arial" pitchFamily="34" charset="-122"/>
                          <a:cs typeface="Arial" pitchFamily="34" charset="-120"/>
                        </a:rPr>
                        <a:t>Tyler Bauer</a:t>
                      </a:r>
                      <a:endParaRPr lang="en-US" sz="1000" dirty="0">
                        <a:latin typeface="Arial" charset="0"/>
                        <a:ea typeface="Arial" charset="0"/>
                        <a:cs typeface="Arial" charset="0"/>
                      </a:endParaRPr>
                    </a:p>
                  </a:txBody>
                  <a:tcPr marL="73152" marR="73152" marT="0" marB="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indent="0" marL="0">
                        <a:buNone/>
                      </a:pPr>
                      <a:r>
                        <a:rPr lang="en-US" sz="1000" dirty="0">
                          <a:solidFill>
                            <a:srgbClr val="222222"/>
                          </a:solidFill>
                          <a:latin typeface="Arial" pitchFamily="34" charset="0"/>
                          <a:ea typeface="Arial" pitchFamily="34" charset="-122"/>
                          <a:cs typeface="Arial" pitchFamily="34" charset="-120"/>
                        </a:rPr>
                        <a:t>TA</a:t>
                      </a:r>
                      <a:endParaRPr lang="en-US" sz="1000" dirty="0">
                        <a:latin typeface="Arial" charset="0"/>
                        <a:ea typeface="Arial" charset="0"/>
                        <a:cs typeface="Arial" charset="0"/>
                      </a:endParaRPr>
                    </a:p>
                  </a:txBody>
                  <a:tcPr marL="73152" marR="73152" marT="0" marB="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indent="0" marL="0">
                        <a:buNone/>
                      </a:pPr>
                      <a:r>
                        <a:rPr lang="en-US" sz="1000" dirty="0">
                          <a:solidFill>
                            <a:srgbClr val="222222"/>
                          </a:solidFill>
                          <a:latin typeface="Arial" pitchFamily="34" charset="0"/>
                          <a:ea typeface="Arial" pitchFamily="34" charset="-122"/>
                          <a:cs typeface="Arial" pitchFamily="34" charset="-120"/>
                        </a:rPr>
                        <a:t>701-516-3456</a:t>
                      </a:r>
                      <a:endParaRPr lang="en-US" sz="1000" dirty="0">
                        <a:latin typeface="Arial" charset="0"/>
                        <a:ea typeface="Arial" charset="0"/>
                        <a:cs typeface="Arial" charset="0"/>
                      </a:endParaRPr>
                    </a:p>
                  </a:txBody>
                  <a:tcPr marL="73152" marR="73152" marT="0" marB="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indent="0" marL="0">
                        <a:buNone/>
                      </a:pPr>
                      <a:r>
                        <a:rPr lang="en-US" sz="1000" dirty="0">
                          <a:solidFill>
                            <a:srgbClr val="222222"/>
                          </a:solidFill>
                          <a:latin typeface="Arial" pitchFamily="34" charset="0"/>
                          <a:ea typeface="Arial" pitchFamily="34" charset="-122"/>
                          <a:cs typeface="Arial" pitchFamily="34" charset="-120"/>
                        </a:rPr>
                        <a:t>tbauer@marathonpetroleum.com</a:t>
                      </a:r>
                      <a:endParaRPr lang="en-US" sz="1000" dirty="0">
                        <a:latin typeface="Arial" charset="0"/>
                        <a:ea typeface="Arial" charset="0"/>
                        <a:cs typeface="Arial" charset="0"/>
                      </a:endParaRPr>
                    </a:p>
                  </a:txBody>
                  <a:tcPr marL="73152" marR="73152" marT="0" marB="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r>
              <a:tr h="301752">
                <a:tc>
                  <a:txBody>
                    <a:bodyPr/>
                    <a:lstStyle/>
                    <a:p>
                      <a:pPr indent="0" marL="0">
                        <a:buNone/>
                      </a:pPr>
                      <a:r>
                        <a:rPr lang="en-US" sz="1000" b="1" dirty="0">
                          <a:solidFill>
                            <a:srgbClr val="222222"/>
                          </a:solidFill>
                          <a:latin typeface="Arial" pitchFamily="34" charset="0"/>
                          <a:ea typeface="Arial" pitchFamily="34" charset="-122"/>
                          <a:cs typeface="Arial" pitchFamily="34" charset="-120"/>
                        </a:rPr>
                        <a:t>St. Paul Park, MN</a:t>
                      </a:r>
                      <a:endParaRPr lang="en-US" sz="1000" dirty="0">
                        <a:latin typeface="Arial" charset="0"/>
                        <a:ea typeface="Arial" charset="0"/>
                        <a:cs typeface="Arial" charset="0"/>
                      </a:endParaRPr>
                    </a:p>
                  </a:txBody>
                  <a:tcPr marL="73152" marR="73152" marT="0" marB="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7F7F7"/>
                    </a:solidFill>
                  </a:tcPr>
                </a:tc>
                <a:tc>
                  <a:txBody>
                    <a:bodyPr/>
                    <a:lstStyle/>
                    <a:p>
                      <a:pPr indent="0" marL="0">
                        <a:buNone/>
                      </a:pPr>
                      <a:r>
                        <a:rPr lang="en-US" sz="1000" dirty="0">
                          <a:solidFill>
                            <a:srgbClr val="222222"/>
                          </a:solidFill>
                          <a:latin typeface="Arial" pitchFamily="34" charset="0"/>
                          <a:ea typeface="Arial" pitchFamily="34" charset="-122"/>
                          <a:cs typeface="Arial" pitchFamily="34" charset="-120"/>
                        </a:rPr>
                        <a:t>Keith James</a:t>
                      </a:r>
                      <a:endParaRPr lang="en-US" sz="1000" dirty="0">
                        <a:latin typeface="Arial" charset="0"/>
                        <a:ea typeface="Arial" charset="0"/>
                        <a:cs typeface="Arial" charset="0"/>
                      </a:endParaRPr>
                    </a:p>
                  </a:txBody>
                  <a:tcPr marL="73152" marR="73152" marT="0" marB="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7F7F7"/>
                    </a:solidFill>
                  </a:tcPr>
                </a:tc>
                <a:tc>
                  <a:txBody>
                    <a:bodyPr/>
                    <a:lstStyle/>
                    <a:p>
                      <a:pPr indent="0" marL="0">
                        <a:buNone/>
                      </a:pPr>
                      <a:r>
                        <a:rPr lang="en-US" sz="1000" dirty="0">
                          <a:solidFill>
                            <a:srgbClr val="222222"/>
                          </a:solidFill>
                          <a:latin typeface="Arial" pitchFamily="34" charset="0"/>
                          <a:ea typeface="Arial" pitchFamily="34" charset="-122"/>
                          <a:cs typeface="Arial" pitchFamily="34" charset="-120"/>
                        </a:rPr>
                        <a:t>TA Planner</a:t>
                      </a:r>
                      <a:endParaRPr lang="en-US" sz="1000" dirty="0">
                        <a:latin typeface="Arial" charset="0"/>
                        <a:ea typeface="Arial" charset="0"/>
                        <a:cs typeface="Arial" charset="0"/>
                      </a:endParaRPr>
                    </a:p>
                  </a:txBody>
                  <a:tcPr marL="73152" marR="73152" marT="0" marB="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7F7F7"/>
                    </a:solidFill>
                  </a:tcPr>
                </a:tc>
                <a:tc>
                  <a:txBody>
                    <a:bodyPr/>
                    <a:lstStyle/>
                    <a:p>
                      <a:pPr indent="0" marL="0">
                        <a:buNone/>
                      </a:pPr>
                      <a:r>
                        <a:rPr lang="en-US" sz="1000" dirty="0">
                          <a:solidFill>
                            <a:srgbClr val="222222"/>
                          </a:solidFill>
                          <a:latin typeface="Arial" pitchFamily="34" charset="0"/>
                          <a:ea typeface="Arial" pitchFamily="34" charset="-122"/>
                          <a:cs typeface="Arial" pitchFamily="34" charset="-120"/>
                        </a:rPr>
                        <a:t>715-441-7986</a:t>
                      </a:r>
                      <a:endParaRPr lang="en-US" sz="1000" dirty="0">
                        <a:latin typeface="Arial" charset="0"/>
                        <a:ea typeface="Arial" charset="0"/>
                        <a:cs typeface="Arial" charset="0"/>
                      </a:endParaRPr>
                    </a:p>
                  </a:txBody>
                  <a:tcPr marL="73152" marR="73152" marT="0" marB="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7F7F7"/>
                    </a:solidFill>
                  </a:tcPr>
                </a:tc>
                <a:tc>
                  <a:txBody>
                    <a:bodyPr/>
                    <a:lstStyle/>
                    <a:p>
                      <a:pPr indent="0" marL="0">
                        <a:buNone/>
                      </a:pPr>
                      <a:r>
                        <a:rPr lang="en-US" sz="1000" dirty="0">
                          <a:solidFill>
                            <a:srgbClr val="222222"/>
                          </a:solidFill>
                          <a:latin typeface="Arial" pitchFamily="34" charset="0"/>
                          <a:ea typeface="Arial" pitchFamily="34" charset="-122"/>
                          <a:cs typeface="Arial" pitchFamily="34" charset="-120"/>
                        </a:rPr>
                        <a:t>TKJames@marathonpetroleum.com</a:t>
                      </a:r>
                      <a:endParaRPr lang="en-US" sz="1000" dirty="0">
                        <a:latin typeface="Arial" charset="0"/>
                        <a:ea typeface="Arial" charset="0"/>
                        <a:cs typeface="Arial" charset="0"/>
                      </a:endParaRPr>
                    </a:p>
                  </a:txBody>
                  <a:tcPr marL="73152" marR="73152" marT="0" marB="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7F7F7"/>
                    </a:solidFill>
                  </a:tcPr>
                </a:tc>
              </a:tr>
              <a:tr h="301752">
                <a:tc>
                  <a:txBody>
                    <a:bodyPr/>
                    <a:lstStyle/>
                    <a:p>
                      <a:pPr indent="0" marL="0">
                        <a:buNone/>
                      </a:pPr>
                      <a:r>
                        <a:rPr lang="en-US" sz="1000" b="1" dirty="0">
                          <a:solidFill>
                            <a:srgbClr val="222222"/>
                          </a:solidFill>
                          <a:latin typeface="Arial" pitchFamily="34" charset="0"/>
                          <a:ea typeface="Arial" pitchFamily="34" charset="-122"/>
                          <a:cs typeface="Arial" pitchFamily="34" charset="-120"/>
                        </a:rPr>
                        <a:t>Robinson, IL</a:t>
                      </a:r>
                      <a:endParaRPr lang="en-US" sz="1000" dirty="0">
                        <a:latin typeface="Arial" charset="0"/>
                        <a:ea typeface="Arial" charset="0"/>
                        <a:cs typeface="Arial" charset="0"/>
                      </a:endParaRPr>
                    </a:p>
                  </a:txBody>
                  <a:tcPr marL="73152" marR="73152" marT="0" marB="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indent="0" marL="0">
                        <a:buNone/>
                      </a:pPr>
                      <a:r>
                        <a:rPr lang="en-US" sz="1000" dirty="0">
                          <a:solidFill>
                            <a:srgbClr val="222222"/>
                          </a:solidFill>
                          <a:latin typeface="Arial" pitchFamily="34" charset="0"/>
                          <a:ea typeface="Arial" pitchFamily="34" charset="-122"/>
                          <a:cs typeface="Arial" pitchFamily="34" charset="-120"/>
                        </a:rPr>
                        <a:t>Brian Maus</a:t>
                      </a:r>
                      <a:endParaRPr lang="en-US" sz="1000" dirty="0">
                        <a:latin typeface="Arial" charset="0"/>
                        <a:ea typeface="Arial" charset="0"/>
                        <a:cs typeface="Arial" charset="0"/>
                      </a:endParaRPr>
                    </a:p>
                  </a:txBody>
                  <a:tcPr marL="73152" marR="73152" marT="0" marB="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indent="0" marL="0">
                        <a:buNone/>
                      </a:pPr>
                      <a:r>
                        <a:rPr lang="en-US" sz="1000" dirty="0">
                          <a:solidFill>
                            <a:srgbClr val="222222"/>
                          </a:solidFill>
                          <a:latin typeface="Arial" pitchFamily="34" charset="0"/>
                          <a:ea typeface="Arial" pitchFamily="34" charset="-122"/>
                          <a:cs typeface="Arial" pitchFamily="34" charset="-120"/>
                        </a:rPr>
                        <a:t>TA</a:t>
                      </a:r>
                      <a:endParaRPr lang="en-US" sz="1000" dirty="0">
                        <a:latin typeface="Arial" charset="0"/>
                        <a:ea typeface="Arial" charset="0"/>
                        <a:cs typeface="Arial" charset="0"/>
                      </a:endParaRPr>
                    </a:p>
                  </a:txBody>
                  <a:tcPr marL="73152" marR="73152" marT="0" marB="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indent="0" marL="0">
                        <a:buNone/>
                      </a:pPr>
                      <a:r>
                        <a:rPr lang="en-US" sz="1000" dirty="0">
                          <a:solidFill>
                            <a:srgbClr val="222222"/>
                          </a:solidFill>
                          <a:latin typeface="Arial" pitchFamily="34" charset="0"/>
                          <a:ea typeface="Arial" pitchFamily="34" charset="-122"/>
                          <a:cs typeface="Arial" pitchFamily="34" charset="-120"/>
                        </a:rPr>
                        <a:t>618-544-2121</a:t>
                      </a:r>
                      <a:endParaRPr lang="en-US" sz="1000" dirty="0">
                        <a:latin typeface="Arial" charset="0"/>
                        <a:ea typeface="Arial" charset="0"/>
                        <a:cs typeface="Arial" charset="0"/>
                      </a:endParaRPr>
                    </a:p>
                  </a:txBody>
                  <a:tcPr marL="73152" marR="73152" marT="0" marB="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indent="0" marL="0">
                        <a:buNone/>
                      </a:pPr>
                      <a:r>
                        <a:rPr lang="en-US" sz="1000" dirty="0">
                          <a:solidFill>
                            <a:srgbClr val="222222"/>
                          </a:solidFill>
                          <a:latin typeface="Arial" pitchFamily="34" charset="0"/>
                          <a:ea typeface="Arial" pitchFamily="34" charset="-122"/>
                          <a:cs typeface="Arial" pitchFamily="34" charset="-120"/>
                        </a:rPr>
                        <a:t>bkmaus@marathonpetroleum.com</a:t>
                      </a:r>
                      <a:endParaRPr lang="en-US" sz="1000" dirty="0">
                        <a:latin typeface="Arial" charset="0"/>
                        <a:ea typeface="Arial" charset="0"/>
                        <a:cs typeface="Arial" charset="0"/>
                      </a:endParaRPr>
                    </a:p>
                  </a:txBody>
                  <a:tcPr marL="73152" marR="73152" marT="0" marB="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r>
              <a:tr h="301752">
                <a:tc>
                  <a:txBody>
                    <a:bodyPr/>
                    <a:lstStyle/>
                    <a:p>
                      <a:pPr indent="0" marL="0">
                        <a:buNone/>
                      </a:pPr>
                      <a:r>
                        <a:rPr lang="en-US" sz="1000" b="1" dirty="0">
                          <a:solidFill>
                            <a:srgbClr val="222222"/>
                          </a:solidFill>
                          <a:latin typeface="Arial" pitchFamily="34" charset="0"/>
                          <a:ea typeface="Arial" pitchFamily="34" charset="-122"/>
                          <a:cs typeface="Arial" pitchFamily="34" charset="-120"/>
                        </a:rPr>
                        <a:t>Galveston Bay, TX</a:t>
                      </a:r>
                      <a:endParaRPr lang="en-US" sz="1000" dirty="0">
                        <a:latin typeface="Arial" charset="0"/>
                        <a:ea typeface="Arial" charset="0"/>
                        <a:cs typeface="Arial" charset="0"/>
                      </a:endParaRPr>
                    </a:p>
                  </a:txBody>
                  <a:tcPr marL="73152" marR="73152" marT="0" marB="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7F7F7"/>
                    </a:solidFill>
                  </a:tcPr>
                </a:tc>
                <a:tc>
                  <a:txBody>
                    <a:bodyPr/>
                    <a:lstStyle/>
                    <a:p>
                      <a:pPr indent="0" marL="0">
                        <a:buNone/>
                      </a:pPr>
                      <a:r>
                        <a:rPr lang="en-US" sz="1000" dirty="0">
                          <a:solidFill>
                            <a:srgbClr val="222222"/>
                          </a:solidFill>
                          <a:latin typeface="Arial" pitchFamily="34" charset="0"/>
                          <a:ea typeface="Arial" pitchFamily="34" charset="-122"/>
                          <a:cs typeface="Arial" pitchFamily="34" charset="-120"/>
                        </a:rPr>
                        <a:t>Available upon request</a:t>
                      </a:r>
                      <a:endParaRPr lang="en-US" sz="1000" dirty="0">
                        <a:latin typeface="Arial" charset="0"/>
                        <a:ea typeface="Arial" charset="0"/>
                        <a:cs typeface="Arial" charset="0"/>
                      </a:endParaRPr>
                    </a:p>
                  </a:txBody>
                  <a:tcPr marL="73152" marR="73152" marT="0" marB="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7F7F7"/>
                    </a:solidFill>
                  </a:tcPr>
                </a:tc>
                <a:tc>
                  <a:txBody>
                    <a:bodyPr/>
                    <a:lstStyle/>
                    <a:p>
                      <a:pPr indent="0" marL="0">
                        <a:buNone/>
                      </a:pPr>
                      <a:endParaRPr lang="en-US" sz="1000" dirty="0">
                        <a:latin typeface="Arial" charset="0"/>
                        <a:ea typeface="Arial" charset="0"/>
                        <a:cs typeface="Arial" charset="0"/>
                      </a:endParaRPr>
                    </a:p>
                  </a:txBody>
                  <a:tcPr marL="73152" marR="73152" marT="0" marB="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7F7F7"/>
                    </a:solidFill>
                  </a:tcPr>
                </a:tc>
                <a:tc>
                  <a:txBody>
                    <a:bodyPr/>
                    <a:lstStyle/>
                    <a:p>
                      <a:pPr indent="0" marL="0">
                        <a:buNone/>
                      </a:pPr>
                      <a:endParaRPr lang="en-US" sz="1000" dirty="0">
                        <a:latin typeface="Arial" charset="0"/>
                        <a:ea typeface="Arial" charset="0"/>
                        <a:cs typeface="Arial" charset="0"/>
                      </a:endParaRPr>
                    </a:p>
                  </a:txBody>
                  <a:tcPr marL="73152" marR="73152" marT="0" marB="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7F7F7"/>
                    </a:solidFill>
                  </a:tcPr>
                </a:tc>
                <a:tc>
                  <a:txBody>
                    <a:bodyPr/>
                    <a:lstStyle/>
                    <a:p>
                      <a:pPr indent="0" marL="0">
                        <a:buNone/>
                      </a:pPr>
                      <a:endParaRPr lang="en-US" sz="1000" dirty="0">
                        <a:latin typeface="Arial" charset="0"/>
                        <a:ea typeface="Arial" charset="0"/>
                        <a:cs typeface="Arial" charset="0"/>
                      </a:endParaRPr>
                    </a:p>
                  </a:txBody>
                  <a:tcPr marL="73152" marR="73152" marT="0" marB="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7F7F7"/>
                    </a:solidFill>
                  </a:tcPr>
                </a:tc>
              </a:tr>
              <a:tr h="301752">
                <a:tc>
                  <a:txBody>
                    <a:bodyPr/>
                    <a:lstStyle/>
                    <a:p>
                      <a:pPr indent="0" marL="0">
                        <a:buNone/>
                      </a:pPr>
                      <a:r>
                        <a:rPr lang="en-US" sz="1000" b="1" dirty="0">
                          <a:solidFill>
                            <a:srgbClr val="222222"/>
                          </a:solidFill>
                          <a:latin typeface="Arial" pitchFamily="34" charset="0"/>
                          <a:ea typeface="Arial" pitchFamily="34" charset="-122"/>
                          <a:cs typeface="Arial" pitchFamily="34" charset="-120"/>
                        </a:rPr>
                        <a:t>Garyville, LA</a:t>
                      </a:r>
                      <a:endParaRPr lang="en-US" sz="1000" dirty="0">
                        <a:latin typeface="Arial" charset="0"/>
                        <a:ea typeface="Arial" charset="0"/>
                        <a:cs typeface="Arial" charset="0"/>
                      </a:endParaRPr>
                    </a:p>
                  </a:txBody>
                  <a:tcPr marL="73152" marR="73152" marT="0" marB="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indent="0" marL="0">
                        <a:buNone/>
                      </a:pPr>
                      <a:r>
                        <a:rPr lang="en-US" sz="1000" dirty="0">
                          <a:solidFill>
                            <a:srgbClr val="222222"/>
                          </a:solidFill>
                          <a:latin typeface="Arial" pitchFamily="34" charset="0"/>
                          <a:ea typeface="Arial" pitchFamily="34" charset="-122"/>
                          <a:cs typeface="Arial" pitchFamily="34" charset="-120"/>
                        </a:rPr>
                        <a:t>Shawn Kramer</a:t>
                      </a:r>
                      <a:endParaRPr lang="en-US" sz="1000" dirty="0">
                        <a:latin typeface="Arial" charset="0"/>
                        <a:ea typeface="Arial" charset="0"/>
                        <a:cs typeface="Arial" charset="0"/>
                      </a:endParaRPr>
                    </a:p>
                  </a:txBody>
                  <a:tcPr marL="73152" marR="73152" marT="0" marB="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indent="0" marL="0">
                        <a:buNone/>
                      </a:pPr>
                      <a:r>
                        <a:rPr lang="en-US" sz="1000" dirty="0">
                          <a:solidFill>
                            <a:srgbClr val="222222"/>
                          </a:solidFill>
                          <a:latin typeface="Arial" pitchFamily="34" charset="0"/>
                          <a:ea typeface="Arial" pitchFamily="34" charset="-122"/>
                          <a:cs typeface="Arial" pitchFamily="34" charset="-120"/>
                        </a:rPr>
                        <a:t>TA Planner</a:t>
                      </a:r>
                      <a:endParaRPr lang="en-US" sz="1000" dirty="0">
                        <a:latin typeface="Arial" charset="0"/>
                        <a:ea typeface="Arial" charset="0"/>
                        <a:cs typeface="Arial" charset="0"/>
                      </a:endParaRPr>
                    </a:p>
                  </a:txBody>
                  <a:tcPr marL="73152" marR="73152" marT="0" marB="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indent="0" marL="0">
                        <a:buNone/>
                      </a:pPr>
                      <a:r>
                        <a:rPr lang="en-US" sz="1000" dirty="0">
                          <a:solidFill>
                            <a:srgbClr val="222222"/>
                          </a:solidFill>
                          <a:latin typeface="Arial" pitchFamily="34" charset="0"/>
                          <a:ea typeface="Arial" pitchFamily="34" charset="-122"/>
                          <a:cs typeface="Arial" pitchFamily="34" charset="-120"/>
                        </a:rPr>
                        <a:t>225-571-2689</a:t>
                      </a:r>
                      <a:endParaRPr lang="en-US" sz="1000" dirty="0">
                        <a:latin typeface="Arial" charset="0"/>
                        <a:ea typeface="Arial" charset="0"/>
                        <a:cs typeface="Arial" charset="0"/>
                      </a:endParaRPr>
                    </a:p>
                  </a:txBody>
                  <a:tcPr marL="73152" marR="73152" marT="0" marB="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indent="0" marL="0">
                        <a:buNone/>
                      </a:pPr>
                      <a:r>
                        <a:rPr lang="en-US" sz="1000" dirty="0">
                          <a:solidFill>
                            <a:srgbClr val="222222"/>
                          </a:solidFill>
                          <a:latin typeface="Arial" pitchFamily="34" charset="0"/>
                          <a:ea typeface="Arial" pitchFamily="34" charset="-122"/>
                          <a:cs typeface="Arial" pitchFamily="34" charset="-120"/>
                        </a:rPr>
                        <a:t>skramer@marathonpetroleum.com</a:t>
                      </a:r>
                      <a:endParaRPr lang="en-US" sz="1000" dirty="0">
                        <a:latin typeface="Arial" charset="0"/>
                        <a:ea typeface="Arial" charset="0"/>
                        <a:cs typeface="Arial" charset="0"/>
                      </a:endParaRPr>
                    </a:p>
                  </a:txBody>
                  <a:tcPr marL="73152" marR="73152" marT="0" marB="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r>
              <a:tr h="301752">
                <a:tc>
                  <a:txBody>
                    <a:bodyPr/>
                    <a:lstStyle/>
                    <a:p>
                      <a:pPr indent="0" marL="0">
                        <a:buNone/>
                      </a:pPr>
                      <a:endParaRPr lang="en-US" sz="1000" dirty="0">
                        <a:latin typeface="Arial" charset="0"/>
                        <a:ea typeface="Arial" charset="0"/>
                        <a:cs typeface="Arial" charset="0"/>
                      </a:endParaRPr>
                    </a:p>
                  </a:txBody>
                  <a:tcPr marL="73152" marR="73152" marT="0" marB="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7F7F7"/>
                    </a:solidFill>
                  </a:tcPr>
                </a:tc>
                <a:tc>
                  <a:txBody>
                    <a:bodyPr/>
                    <a:lstStyle/>
                    <a:p>
                      <a:pPr indent="0" marL="0">
                        <a:buNone/>
                      </a:pPr>
                      <a:r>
                        <a:rPr lang="en-US" sz="1000" dirty="0">
                          <a:solidFill>
                            <a:srgbClr val="222222"/>
                          </a:solidFill>
                          <a:latin typeface="Arial" pitchFamily="34" charset="0"/>
                          <a:ea typeface="Arial" pitchFamily="34" charset="-122"/>
                          <a:cs typeface="Arial" pitchFamily="34" charset="-120"/>
                        </a:rPr>
                        <a:t>Chad Childs</a:t>
                      </a:r>
                      <a:endParaRPr lang="en-US" sz="1000" dirty="0">
                        <a:latin typeface="Arial" charset="0"/>
                        <a:ea typeface="Arial" charset="0"/>
                        <a:cs typeface="Arial" charset="0"/>
                      </a:endParaRPr>
                    </a:p>
                  </a:txBody>
                  <a:tcPr marL="73152" marR="73152" marT="0" marB="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7F7F7"/>
                    </a:solidFill>
                  </a:tcPr>
                </a:tc>
                <a:tc>
                  <a:txBody>
                    <a:bodyPr/>
                    <a:lstStyle/>
                    <a:p>
                      <a:pPr indent="0" marL="0">
                        <a:buNone/>
                      </a:pPr>
                      <a:r>
                        <a:rPr lang="en-US" sz="1000" dirty="0">
                          <a:solidFill>
                            <a:srgbClr val="222222"/>
                          </a:solidFill>
                          <a:latin typeface="Arial" pitchFamily="34" charset="0"/>
                          <a:ea typeface="Arial" pitchFamily="34" charset="-122"/>
                          <a:cs typeface="Arial" pitchFamily="34" charset="-120"/>
                        </a:rPr>
                        <a:t>TA Supervisor</a:t>
                      </a:r>
                      <a:endParaRPr lang="en-US" sz="1000" dirty="0">
                        <a:latin typeface="Arial" charset="0"/>
                        <a:ea typeface="Arial" charset="0"/>
                        <a:cs typeface="Arial" charset="0"/>
                      </a:endParaRPr>
                    </a:p>
                  </a:txBody>
                  <a:tcPr marL="73152" marR="73152" marT="0" marB="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7F7F7"/>
                    </a:solidFill>
                  </a:tcPr>
                </a:tc>
                <a:tc>
                  <a:txBody>
                    <a:bodyPr/>
                    <a:lstStyle/>
                    <a:p>
                      <a:pPr indent="0" marL="0">
                        <a:buNone/>
                      </a:pPr>
                      <a:r>
                        <a:rPr lang="en-US" sz="1000" dirty="0">
                          <a:solidFill>
                            <a:srgbClr val="222222"/>
                          </a:solidFill>
                          <a:latin typeface="Arial" pitchFamily="34" charset="0"/>
                          <a:ea typeface="Arial" pitchFamily="34" charset="-122"/>
                          <a:cs typeface="Arial" pitchFamily="34" charset="-120"/>
                        </a:rPr>
                        <a:t>281-299-6088</a:t>
                      </a:r>
                      <a:endParaRPr lang="en-US" sz="1000" dirty="0">
                        <a:latin typeface="Arial" charset="0"/>
                        <a:ea typeface="Arial" charset="0"/>
                        <a:cs typeface="Arial" charset="0"/>
                      </a:endParaRPr>
                    </a:p>
                  </a:txBody>
                  <a:tcPr marL="73152" marR="73152" marT="0" marB="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7F7F7"/>
                    </a:solidFill>
                  </a:tcPr>
                </a:tc>
                <a:tc>
                  <a:txBody>
                    <a:bodyPr/>
                    <a:lstStyle/>
                    <a:p>
                      <a:pPr indent="0" marL="0">
                        <a:buNone/>
                      </a:pPr>
                      <a:r>
                        <a:rPr lang="en-US" sz="1000" dirty="0">
                          <a:solidFill>
                            <a:srgbClr val="222222"/>
                          </a:solidFill>
                          <a:latin typeface="Arial" pitchFamily="34" charset="0"/>
                          <a:ea typeface="Arial" pitchFamily="34" charset="-122"/>
                          <a:cs typeface="Arial" pitchFamily="34" charset="-120"/>
                        </a:rPr>
                        <a:t>cechilds@marathonpetroleum.com</a:t>
                      </a:r>
                      <a:endParaRPr lang="en-US" sz="1000" dirty="0">
                        <a:latin typeface="Arial" charset="0"/>
                        <a:ea typeface="Arial" charset="0"/>
                        <a:cs typeface="Arial" charset="0"/>
                      </a:endParaRPr>
                    </a:p>
                  </a:txBody>
                  <a:tcPr marL="73152" marR="73152" marT="0" marB="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7F7F7"/>
                    </a:solidFill>
                  </a:tcPr>
                </a:tc>
              </a:tr>
              <a:tr h="301752">
                <a:tc>
                  <a:txBody>
                    <a:bodyPr/>
                    <a:lstStyle/>
                    <a:p>
                      <a:pPr indent="0" marL="0">
                        <a:buNone/>
                      </a:pPr>
                      <a:r>
                        <a:rPr lang="en-US" sz="1000" b="1" dirty="0">
                          <a:solidFill>
                            <a:srgbClr val="222222"/>
                          </a:solidFill>
                          <a:latin typeface="Arial" pitchFamily="34" charset="0"/>
                          <a:ea typeface="Arial" pitchFamily="34" charset="-122"/>
                          <a:cs typeface="Arial" pitchFamily="34" charset="-120"/>
                        </a:rPr>
                        <a:t>Detroit, MI</a:t>
                      </a:r>
                      <a:endParaRPr lang="en-US" sz="1000" dirty="0">
                        <a:latin typeface="Arial" charset="0"/>
                        <a:ea typeface="Arial" charset="0"/>
                        <a:cs typeface="Arial" charset="0"/>
                      </a:endParaRPr>
                    </a:p>
                  </a:txBody>
                  <a:tcPr marL="73152" marR="73152" marT="0" marB="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indent="0" marL="0">
                        <a:buNone/>
                      </a:pPr>
                      <a:r>
                        <a:rPr lang="en-US" sz="1000" dirty="0">
                          <a:solidFill>
                            <a:srgbClr val="222222"/>
                          </a:solidFill>
                          <a:latin typeface="Arial" pitchFamily="34" charset="0"/>
                          <a:ea typeface="Arial" pitchFamily="34" charset="-122"/>
                          <a:cs typeface="Arial" pitchFamily="34" charset="-120"/>
                        </a:rPr>
                        <a:t>Nate Lajiness</a:t>
                      </a:r>
                      <a:endParaRPr lang="en-US" sz="1000" dirty="0">
                        <a:latin typeface="Arial" charset="0"/>
                        <a:ea typeface="Arial" charset="0"/>
                        <a:cs typeface="Arial" charset="0"/>
                      </a:endParaRPr>
                    </a:p>
                  </a:txBody>
                  <a:tcPr marL="73152" marR="73152" marT="0" marB="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indent="0" marL="0">
                        <a:buNone/>
                      </a:pPr>
                      <a:r>
                        <a:rPr lang="en-US" sz="1000" dirty="0">
                          <a:solidFill>
                            <a:srgbClr val="222222"/>
                          </a:solidFill>
                          <a:latin typeface="Arial" pitchFamily="34" charset="0"/>
                          <a:ea typeface="Arial" pitchFamily="34" charset="-122"/>
                          <a:cs typeface="Arial" pitchFamily="34" charset="-120"/>
                        </a:rPr>
                        <a:t>Turnaround Planner</a:t>
                      </a:r>
                      <a:endParaRPr lang="en-US" sz="1000" dirty="0">
                        <a:latin typeface="Arial" charset="0"/>
                        <a:ea typeface="Arial" charset="0"/>
                        <a:cs typeface="Arial" charset="0"/>
                      </a:endParaRPr>
                    </a:p>
                  </a:txBody>
                  <a:tcPr marL="73152" marR="73152" marT="0" marB="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indent="0" marL="0">
                        <a:buNone/>
                      </a:pPr>
                      <a:r>
                        <a:rPr lang="en-US" sz="1000" dirty="0">
                          <a:solidFill>
                            <a:srgbClr val="222222"/>
                          </a:solidFill>
                          <a:latin typeface="Arial" pitchFamily="34" charset="0"/>
                          <a:ea typeface="Arial" pitchFamily="34" charset="-122"/>
                          <a:cs typeface="Arial" pitchFamily="34" charset="-120"/>
                        </a:rPr>
                        <a:t>313-297-6166</a:t>
                      </a:r>
                      <a:endParaRPr lang="en-US" sz="1000" dirty="0">
                        <a:latin typeface="Arial" charset="0"/>
                        <a:ea typeface="Arial" charset="0"/>
                        <a:cs typeface="Arial" charset="0"/>
                      </a:endParaRPr>
                    </a:p>
                  </a:txBody>
                  <a:tcPr marL="73152" marR="73152" marT="0" marB="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indent="0" marL="0">
                        <a:buNone/>
                      </a:pPr>
                      <a:r>
                        <a:rPr lang="en-US" sz="1000" dirty="0">
                          <a:solidFill>
                            <a:srgbClr val="222222"/>
                          </a:solidFill>
                          <a:latin typeface="Arial" pitchFamily="34" charset="0"/>
                          <a:ea typeface="Arial" pitchFamily="34" charset="-122"/>
                          <a:cs typeface="Arial" pitchFamily="34" charset="-120"/>
                        </a:rPr>
                        <a:t>nlajiness@marathonpetroleum.com</a:t>
                      </a:r>
                      <a:endParaRPr lang="en-US" sz="1000" dirty="0">
                        <a:latin typeface="Arial" charset="0"/>
                        <a:ea typeface="Arial" charset="0"/>
                        <a:cs typeface="Arial" charset="0"/>
                      </a:endParaRPr>
                    </a:p>
                  </a:txBody>
                  <a:tcPr marL="73152" marR="73152" marT="0" marB="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r>
            </a:tbl>
          </a:graphicData>
        </a:graphic>
      </p:graphicFrame>
      <p:sp>
        <p:nvSpPr>
          <p:cNvPr id="6" name="Text 3"/>
          <p:cNvSpPr txBox="1"/>
          <p:nvPr/>
        </p:nvSpPr>
        <p:spPr>
          <a:xfrm>
            <a:off x="548640" y="6419088"/>
            <a:ext cx="7315200" cy="228600"/>
          </a:xfrm>
          <a:prstGeom prst="rect">
            <a:avLst/>
          </a:prstGeom>
          <a:noFill/>
          <a:ln/>
        </p:spPr>
        <p:txBody>
          <a:bodyPr wrap="square" lIns="0" tIns="0" rIns="0" bIns="0" rtlCol="0" anchor="ctr"/>
          <a:lstStyle/>
          <a:p>
            <a:pPr indent="0" marL="0">
              <a:buNone/>
            </a:pPr>
            <a:r>
              <a:rPr lang="en-US" sz="900" dirty="0">
                <a:solidFill>
                  <a:srgbClr val="9A9A9A"/>
                </a:solidFill>
                <a:latin typeface="Arial" pitchFamily="34" charset="0"/>
                <a:ea typeface="Arial" pitchFamily="34" charset="-122"/>
                <a:cs typeface="Arial" pitchFamily="34" charset="-120"/>
              </a:rPr>
              <a:t>USA DeBusk  |  LAR Heater Pigging &amp; Decoking Services  |  DSP#26098</a:t>
            </a:r>
            <a:endParaRPr lang="en-US" sz="900" dirty="0"/>
          </a:p>
        </p:txBody>
      </p:sp>
      <p:sp>
        <p:nvSpPr>
          <p:cNvPr id="7" name="Text 4"/>
          <p:cNvSpPr txBox="1"/>
          <p:nvPr/>
        </p:nvSpPr>
        <p:spPr>
          <a:xfrm>
            <a:off x="11155680" y="6419088"/>
            <a:ext cx="484632" cy="228600"/>
          </a:xfrm>
          <a:prstGeom prst="rect">
            <a:avLst/>
          </a:prstGeom>
          <a:noFill/>
          <a:ln/>
        </p:spPr>
        <p:txBody>
          <a:bodyPr wrap="square" lIns="0" tIns="0" rIns="0" bIns="0" rtlCol="0" anchor="ctr"/>
          <a:lstStyle/>
          <a:p>
            <a:pPr algn="r" indent="0" marL="0">
              <a:buNone/>
            </a:pPr>
            <a:r>
              <a:rPr lang="en-US" sz="900" dirty="0">
                <a:solidFill>
                  <a:srgbClr val="9A9A9A"/>
                </a:solidFill>
                <a:latin typeface="Arial" pitchFamily="34" charset="0"/>
                <a:ea typeface="Arial" pitchFamily="34" charset="-122"/>
                <a:cs typeface="Arial" pitchFamily="34" charset="-120"/>
              </a:rPr>
              <a:t>25</a:t>
            </a:r>
            <a:endParaRPr lang="en-US" sz="9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11480"/>
            <a:ext cx="1199845" cy="310896"/>
          </a:xfrm>
          <a:prstGeom prst="roundRect">
            <a:avLst>
              <a:gd name="adj" fmla="val 23529"/>
            </a:avLst>
          </a:prstGeom>
          <a:solidFill>
            <a:srgbClr val="FCC30A"/>
          </a:solidFill>
          <a:ln w="12700">
            <a:solidFill>
              <a:srgbClr val="FCC30A"/>
            </a:solidFill>
            <a:prstDash val="solid"/>
          </a:ln>
        </p:spPr>
      </p:sp>
      <p:sp>
        <p:nvSpPr>
          <p:cNvPr id="3" name="Text 1"/>
          <p:cNvSpPr txBox="1"/>
          <p:nvPr/>
        </p:nvSpPr>
        <p:spPr>
          <a:xfrm>
            <a:off x="548640" y="411480"/>
            <a:ext cx="1199845" cy="310896"/>
          </a:xfrm>
          <a:prstGeom prst="rect">
            <a:avLst/>
          </a:prstGeom>
          <a:noFill/>
          <a:ln/>
        </p:spPr>
        <p:txBody>
          <a:bodyPr wrap="square" lIns="0" tIns="0" rIns="0" bIns="0" rtlCol="0" anchor="ctr"/>
          <a:lstStyle/>
          <a:p>
            <a:pPr algn="ctr" indent="0" marL="0">
              <a:buNone/>
            </a:pPr>
            <a:r>
              <a:rPr lang="en-US" sz="1050" b="1" spc="150" kern="0" dirty="0">
                <a:solidFill>
                  <a:srgbClr val="1E1E1E"/>
                </a:solidFill>
                <a:latin typeface="Arial" pitchFamily="34" charset="0"/>
                <a:ea typeface="Arial" pitchFamily="34" charset="-122"/>
                <a:cs typeface="Arial" pitchFamily="34" charset="-120"/>
              </a:rPr>
              <a:t>APPENDIX</a:t>
            </a:r>
            <a:endParaRPr lang="en-US" sz="1050" dirty="0"/>
          </a:p>
        </p:txBody>
      </p:sp>
      <p:sp>
        <p:nvSpPr>
          <p:cNvPr id="4" name="Text 2"/>
          <p:cNvSpPr txBox="1"/>
          <p:nvPr/>
        </p:nvSpPr>
        <p:spPr>
          <a:xfrm>
            <a:off x="548640" y="841248"/>
            <a:ext cx="11064240" cy="731520"/>
          </a:xfrm>
          <a:prstGeom prst="rect">
            <a:avLst/>
          </a:prstGeom>
          <a:noFill/>
          <a:ln/>
        </p:spPr>
        <p:txBody>
          <a:bodyPr wrap="square" lIns="0" tIns="0" rIns="0" bIns="0" rtlCol="0" anchor="t"/>
          <a:lstStyle/>
          <a:p>
            <a:pPr indent="0" marL="0">
              <a:buNone/>
            </a:pPr>
            <a:r>
              <a:rPr lang="en-US" sz="2800" b="1" dirty="0">
                <a:solidFill>
                  <a:srgbClr val="222222"/>
                </a:solidFill>
                <a:latin typeface="Arial" pitchFamily="34" charset="0"/>
                <a:ea typeface="Arial" pitchFamily="34" charset="-122"/>
                <a:cs typeface="Arial" pitchFamily="34" charset="-120"/>
              </a:rPr>
              <a:t>TriMax pump performance</a:t>
            </a:r>
            <a:endParaRPr lang="en-US" sz="2800" dirty="0"/>
          </a:p>
        </p:txBody>
      </p:sp>
      <p:sp>
        <p:nvSpPr>
          <p:cNvPr id="5" name="Text 3"/>
          <p:cNvSpPr txBox="1"/>
          <p:nvPr/>
        </p:nvSpPr>
        <p:spPr>
          <a:xfrm>
            <a:off x="548640" y="1481328"/>
            <a:ext cx="11064240" cy="365760"/>
          </a:xfrm>
          <a:prstGeom prst="rect">
            <a:avLst/>
          </a:prstGeom>
          <a:noFill/>
          <a:ln/>
        </p:spPr>
        <p:txBody>
          <a:bodyPr wrap="square" lIns="0" tIns="0" rIns="0" bIns="0" rtlCol="0" anchor="t"/>
          <a:lstStyle/>
          <a:p>
            <a:pPr indent="0" marL="0">
              <a:buNone/>
            </a:pPr>
            <a:r>
              <a:rPr lang="en-US" sz="1500" dirty="0">
                <a:solidFill>
                  <a:srgbClr val="5E5E5E"/>
                </a:solidFill>
                <a:latin typeface="Arial" pitchFamily="34" charset="0"/>
                <a:ea typeface="Arial" pitchFamily="34" charset="-122"/>
                <a:cs typeface="Arial" pitchFamily="34" charset="-120"/>
              </a:rPr>
              <a:t>Waterous CMU two-stage pump, one per pass. Series operation is used for pigging.</a:t>
            </a:r>
            <a:endParaRPr lang="en-US" sz="1500" dirty="0"/>
          </a:p>
        </p:txBody>
      </p:sp>
      <p:sp>
        <p:nvSpPr>
          <p:cNvPr id="6" name="Shape 4"/>
          <p:cNvSpPr/>
          <p:nvPr/>
        </p:nvSpPr>
        <p:spPr>
          <a:xfrm>
            <a:off x="502920" y="1920240"/>
            <a:ext cx="6616900" cy="4160520"/>
          </a:xfrm>
          <a:prstGeom prst="rect">
            <a:avLst/>
          </a:prstGeom>
          <a:solidFill>
            <a:srgbClr val="FFFFFF"/>
          </a:solidFill>
          <a:ln w="12700">
            <a:solidFill>
              <a:srgbClr val="DDDDDD"/>
            </a:solidFill>
            <a:prstDash val="solid"/>
          </a:ln>
        </p:spPr>
      </p:sp>
      <p:pic>
        <p:nvPicPr>
          <p:cNvPr id="7" name="Image 0" descr="/tmp/claude-0/-home-user-obsidian-work/c8998718-f22f-57a3-84c2-766db1d92b4c/scratchpad/deck/img/pump_curve.png">    </p:cNvPr>
          <p:cNvPicPr>
            <a:picLocks noChangeAspect="1"/>
          </p:cNvPicPr>
          <p:nvPr/>
        </p:nvPicPr>
        <p:blipFill>
          <a:blip r:embed="rId1"/>
          <a:stretch>
            <a:fillRect/>
          </a:stretch>
        </p:blipFill>
        <p:spPr>
          <a:xfrm>
            <a:off x="548640" y="1965960"/>
            <a:ext cx="6525460" cy="4069080"/>
          </a:xfrm>
          <a:prstGeom prst="rect">
            <a:avLst/>
          </a:prstGeom>
        </p:spPr>
      </p:pic>
      <p:sp>
        <p:nvSpPr>
          <p:cNvPr id="8" name="Text 5"/>
          <p:cNvSpPr txBox="1"/>
          <p:nvPr/>
        </p:nvSpPr>
        <p:spPr>
          <a:xfrm>
            <a:off x="548640" y="6126480"/>
            <a:ext cx="6525460" cy="228600"/>
          </a:xfrm>
          <a:prstGeom prst="rect">
            <a:avLst/>
          </a:prstGeom>
          <a:noFill/>
          <a:ln/>
        </p:spPr>
        <p:txBody>
          <a:bodyPr wrap="square" lIns="0" tIns="0" rIns="0" bIns="0" rtlCol="0" anchor="ctr"/>
          <a:lstStyle/>
          <a:p>
            <a:pPr indent="0" marL="0">
              <a:buNone/>
            </a:pPr>
            <a:r>
              <a:rPr lang="en-US" sz="950" i="1" dirty="0">
                <a:solidFill>
                  <a:srgbClr val="8A8A8A"/>
                </a:solidFill>
                <a:latin typeface="Arial" pitchFamily="34" charset="0"/>
                <a:ea typeface="Arial" pitchFamily="34" charset="-122"/>
                <a:cs typeface="Arial" pitchFamily="34" charset="-120"/>
              </a:rPr>
              <a:t>Manufacturer curves: Waterous Company, form F-2692</a:t>
            </a:r>
            <a:endParaRPr lang="en-US" sz="950" dirty="0"/>
          </a:p>
        </p:txBody>
      </p:sp>
      <p:sp>
        <p:nvSpPr>
          <p:cNvPr id="9" name="Shape 6"/>
          <p:cNvSpPr/>
          <p:nvPr/>
        </p:nvSpPr>
        <p:spPr>
          <a:xfrm>
            <a:off x="7818120" y="1965960"/>
            <a:ext cx="3822192" cy="1188720"/>
          </a:xfrm>
          <a:prstGeom prst="rect">
            <a:avLst/>
          </a:prstGeom>
          <a:solidFill>
            <a:srgbClr val="1E1E1E"/>
          </a:solidFill>
          <a:ln w="12700">
            <a:solidFill>
              <a:srgbClr val="1E1E1E"/>
            </a:solidFill>
            <a:prstDash val="solid"/>
          </a:ln>
        </p:spPr>
      </p:sp>
      <p:sp>
        <p:nvSpPr>
          <p:cNvPr id="10" name="Text 7"/>
          <p:cNvSpPr txBox="1"/>
          <p:nvPr/>
        </p:nvSpPr>
        <p:spPr>
          <a:xfrm>
            <a:off x="8046720" y="2075688"/>
            <a:ext cx="3383280" cy="548640"/>
          </a:xfrm>
          <a:prstGeom prst="rect">
            <a:avLst/>
          </a:prstGeom>
          <a:noFill/>
          <a:ln/>
        </p:spPr>
        <p:txBody>
          <a:bodyPr wrap="square" lIns="0" tIns="0" rIns="0" bIns="0" rtlCol="0" anchor="ctr"/>
          <a:lstStyle/>
          <a:p>
            <a:pPr indent="0" marL="0">
              <a:buNone/>
            </a:pPr>
            <a:r>
              <a:rPr lang="en-US" sz="2800" b="1" dirty="0">
                <a:solidFill>
                  <a:srgbClr val="FCC30A"/>
                </a:solidFill>
                <a:latin typeface="Arial" pitchFamily="34" charset="0"/>
                <a:ea typeface="Arial" pitchFamily="34" charset="-122"/>
                <a:cs typeface="Arial" pitchFamily="34" charset="-120"/>
              </a:rPr>
              <a:t>150–300</a:t>
            </a:r>
            <a:endParaRPr lang="en-US" sz="2800" dirty="0"/>
          </a:p>
        </p:txBody>
      </p:sp>
      <p:sp>
        <p:nvSpPr>
          <p:cNvPr id="11" name="Text 8"/>
          <p:cNvSpPr txBox="1"/>
          <p:nvPr/>
        </p:nvSpPr>
        <p:spPr>
          <a:xfrm>
            <a:off x="8046720" y="2624328"/>
            <a:ext cx="3383280" cy="411480"/>
          </a:xfrm>
          <a:prstGeom prst="rect">
            <a:avLst/>
          </a:prstGeom>
          <a:noFill/>
          <a:ln/>
        </p:spPr>
        <p:txBody>
          <a:bodyPr wrap="square" lIns="0" tIns="0" rIns="0" bIns="0" rtlCol="0" anchor="t"/>
          <a:lstStyle/>
          <a:p>
            <a:pPr indent="0" marL="0">
              <a:buNone/>
            </a:pPr>
            <a:r>
              <a:rPr lang="en-US" sz="1150" dirty="0">
                <a:solidFill>
                  <a:srgbClr val="FFFFFF"/>
                </a:solidFill>
                <a:latin typeface="Arial" pitchFamily="34" charset="0"/>
                <a:ea typeface="Arial" pitchFamily="34" charset="-122"/>
                <a:cs typeface="Arial" pitchFamily="34" charset="-120"/>
              </a:rPr>
              <a:t>psi normal pigging</a:t>
            </a:r>
            <a:endParaRPr lang="en-US" sz="1150" dirty="0"/>
          </a:p>
        </p:txBody>
      </p:sp>
      <p:sp>
        <p:nvSpPr>
          <p:cNvPr id="12" name="Shape 9"/>
          <p:cNvSpPr/>
          <p:nvPr/>
        </p:nvSpPr>
        <p:spPr>
          <a:xfrm>
            <a:off x="7818120" y="3337560"/>
            <a:ext cx="3822192" cy="1188720"/>
          </a:xfrm>
          <a:prstGeom prst="rect">
            <a:avLst/>
          </a:prstGeom>
          <a:solidFill>
            <a:srgbClr val="F4F4F4"/>
          </a:solidFill>
          <a:ln w="12700">
            <a:solidFill>
              <a:srgbClr val="F4F4F4"/>
            </a:solidFill>
            <a:prstDash val="solid"/>
          </a:ln>
        </p:spPr>
      </p:sp>
      <p:sp>
        <p:nvSpPr>
          <p:cNvPr id="13" name="Text 10"/>
          <p:cNvSpPr txBox="1"/>
          <p:nvPr/>
        </p:nvSpPr>
        <p:spPr>
          <a:xfrm>
            <a:off x="8046720" y="3447288"/>
            <a:ext cx="3383280" cy="548640"/>
          </a:xfrm>
          <a:prstGeom prst="rect">
            <a:avLst/>
          </a:prstGeom>
          <a:noFill/>
          <a:ln/>
        </p:spPr>
        <p:txBody>
          <a:bodyPr wrap="square" lIns="0" tIns="0" rIns="0" bIns="0" rtlCol="0" anchor="ctr"/>
          <a:lstStyle/>
          <a:p>
            <a:pPr indent="0" marL="0">
              <a:buNone/>
            </a:pPr>
            <a:r>
              <a:rPr lang="en-US" sz="2800" b="1" dirty="0">
                <a:solidFill>
                  <a:srgbClr val="222222"/>
                </a:solidFill>
                <a:latin typeface="Arial" pitchFamily="34" charset="0"/>
                <a:ea typeface="Arial" pitchFamily="34" charset="-122"/>
                <a:cs typeface="Arial" pitchFamily="34" charset="-120"/>
              </a:rPr>
              <a:t>500–550</a:t>
            </a:r>
            <a:endParaRPr lang="en-US" sz="2800" dirty="0"/>
          </a:p>
        </p:txBody>
      </p:sp>
      <p:sp>
        <p:nvSpPr>
          <p:cNvPr id="14" name="Text 11"/>
          <p:cNvSpPr txBox="1"/>
          <p:nvPr/>
        </p:nvSpPr>
        <p:spPr>
          <a:xfrm>
            <a:off x="8046720" y="3995928"/>
            <a:ext cx="3383280" cy="411480"/>
          </a:xfrm>
          <a:prstGeom prst="rect">
            <a:avLst/>
          </a:prstGeom>
          <a:noFill/>
          <a:ln/>
        </p:spPr>
        <p:txBody>
          <a:bodyPr wrap="square" lIns="0" tIns="0" rIns="0" bIns="0" rtlCol="0" anchor="t"/>
          <a:lstStyle/>
          <a:p>
            <a:pPr indent="0" marL="0">
              <a:buNone/>
            </a:pPr>
            <a:r>
              <a:rPr lang="en-US" sz="1150" dirty="0">
                <a:solidFill>
                  <a:srgbClr val="5E5E5E"/>
                </a:solidFill>
                <a:latin typeface="Arial" pitchFamily="34" charset="0"/>
                <a:ea typeface="Arial" pitchFamily="34" charset="-122"/>
                <a:cs typeface="Arial" pitchFamily="34" charset="-120"/>
              </a:rPr>
              <a:t>psi effective max, after valve losses</a:t>
            </a:r>
            <a:endParaRPr lang="en-US" sz="1150" dirty="0"/>
          </a:p>
        </p:txBody>
      </p:sp>
      <p:sp>
        <p:nvSpPr>
          <p:cNvPr id="15" name="Shape 12"/>
          <p:cNvSpPr/>
          <p:nvPr/>
        </p:nvSpPr>
        <p:spPr>
          <a:xfrm>
            <a:off x="7818120" y="4709160"/>
            <a:ext cx="3822192" cy="1188720"/>
          </a:xfrm>
          <a:prstGeom prst="rect">
            <a:avLst/>
          </a:prstGeom>
          <a:solidFill>
            <a:srgbClr val="F4F4F4"/>
          </a:solidFill>
          <a:ln w="12700">
            <a:solidFill>
              <a:srgbClr val="F4F4F4"/>
            </a:solidFill>
            <a:prstDash val="solid"/>
          </a:ln>
        </p:spPr>
      </p:sp>
      <p:sp>
        <p:nvSpPr>
          <p:cNvPr id="16" name="Text 13"/>
          <p:cNvSpPr txBox="1"/>
          <p:nvPr/>
        </p:nvSpPr>
        <p:spPr>
          <a:xfrm>
            <a:off x="8046720" y="4818888"/>
            <a:ext cx="3383280" cy="548640"/>
          </a:xfrm>
          <a:prstGeom prst="rect">
            <a:avLst/>
          </a:prstGeom>
          <a:noFill/>
          <a:ln/>
        </p:spPr>
        <p:txBody>
          <a:bodyPr wrap="square" lIns="0" tIns="0" rIns="0" bIns="0" rtlCol="0" anchor="ctr"/>
          <a:lstStyle/>
          <a:p>
            <a:pPr indent="0" marL="0">
              <a:buNone/>
            </a:pPr>
            <a:r>
              <a:rPr lang="en-US" sz="2800" b="1" dirty="0">
                <a:solidFill>
                  <a:srgbClr val="222222"/>
                </a:solidFill>
                <a:latin typeface="Arial" pitchFamily="34" charset="0"/>
                <a:ea typeface="Arial" pitchFamily="34" charset="-122"/>
                <a:cs typeface="Arial" pitchFamily="34" charset="-120"/>
              </a:rPr>
              <a:t>600</a:t>
            </a:r>
            <a:endParaRPr lang="en-US" sz="2800" dirty="0"/>
          </a:p>
        </p:txBody>
      </p:sp>
      <p:sp>
        <p:nvSpPr>
          <p:cNvPr id="17" name="Text 14"/>
          <p:cNvSpPr txBox="1"/>
          <p:nvPr/>
        </p:nvSpPr>
        <p:spPr>
          <a:xfrm>
            <a:off x="8046720" y="5367528"/>
            <a:ext cx="3383280" cy="411480"/>
          </a:xfrm>
          <a:prstGeom prst="rect">
            <a:avLst/>
          </a:prstGeom>
          <a:noFill/>
          <a:ln/>
        </p:spPr>
        <p:txBody>
          <a:bodyPr wrap="square" lIns="0" tIns="0" rIns="0" bIns="0" rtlCol="0" anchor="t"/>
          <a:lstStyle/>
          <a:p>
            <a:pPr indent="0" marL="0">
              <a:buNone/>
            </a:pPr>
            <a:r>
              <a:rPr lang="en-US" sz="1150" dirty="0">
                <a:solidFill>
                  <a:srgbClr val="5E5E5E"/>
                </a:solidFill>
                <a:latin typeface="Arial" pitchFamily="34" charset="0"/>
                <a:ea typeface="Arial" pitchFamily="34" charset="-122"/>
                <a:cs typeface="Arial" pitchFamily="34" charset="-120"/>
              </a:rPr>
              <a:t>psi rated pump maximum</a:t>
            </a:r>
            <a:endParaRPr lang="en-US" sz="1150" dirty="0"/>
          </a:p>
        </p:txBody>
      </p:sp>
      <p:sp>
        <p:nvSpPr>
          <p:cNvPr id="18" name="Text 15"/>
          <p:cNvSpPr txBox="1"/>
          <p:nvPr/>
        </p:nvSpPr>
        <p:spPr>
          <a:xfrm>
            <a:off x="548640" y="6419088"/>
            <a:ext cx="7315200" cy="228600"/>
          </a:xfrm>
          <a:prstGeom prst="rect">
            <a:avLst/>
          </a:prstGeom>
          <a:noFill/>
          <a:ln/>
        </p:spPr>
        <p:txBody>
          <a:bodyPr wrap="square" lIns="0" tIns="0" rIns="0" bIns="0" rtlCol="0" anchor="ctr"/>
          <a:lstStyle/>
          <a:p>
            <a:pPr indent="0" marL="0">
              <a:buNone/>
            </a:pPr>
            <a:r>
              <a:rPr lang="en-US" sz="900" dirty="0">
                <a:solidFill>
                  <a:srgbClr val="9A9A9A"/>
                </a:solidFill>
                <a:latin typeface="Arial" pitchFamily="34" charset="0"/>
                <a:ea typeface="Arial" pitchFamily="34" charset="-122"/>
                <a:cs typeface="Arial" pitchFamily="34" charset="-120"/>
              </a:rPr>
              <a:t>USA DeBusk  |  LAR Heater Pigging &amp; Decoking Services  |  DSP#26098</a:t>
            </a:r>
            <a:endParaRPr lang="en-US" sz="900" dirty="0"/>
          </a:p>
        </p:txBody>
      </p:sp>
      <p:sp>
        <p:nvSpPr>
          <p:cNvPr id="19" name="Text 16"/>
          <p:cNvSpPr txBox="1"/>
          <p:nvPr/>
        </p:nvSpPr>
        <p:spPr>
          <a:xfrm>
            <a:off x="11155680" y="6419088"/>
            <a:ext cx="484632" cy="228600"/>
          </a:xfrm>
          <a:prstGeom prst="rect">
            <a:avLst/>
          </a:prstGeom>
          <a:noFill/>
          <a:ln/>
        </p:spPr>
        <p:txBody>
          <a:bodyPr wrap="square" lIns="0" tIns="0" rIns="0" bIns="0" rtlCol="0" anchor="ctr"/>
          <a:lstStyle/>
          <a:p>
            <a:pPr algn="r" indent="0" marL="0">
              <a:buNone/>
            </a:pPr>
            <a:r>
              <a:rPr lang="en-US" sz="900" dirty="0">
                <a:solidFill>
                  <a:srgbClr val="9A9A9A"/>
                </a:solidFill>
                <a:latin typeface="Arial" pitchFamily="34" charset="0"/>
                <a:ea typeface="Arial" pitchFamily="34" charset="-122"/>
                <a:cs typeface="Arial" pitchFamily="34" charset="-120"/>
              </a:rPr>
              <a:t>26</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26</Slides>
  <Notes>26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26</vt:i4>
      </vt:variant>
    </vt:vector>
  </HeadingPairs>
  <TitlesOfParts>
    <vt:vector size="2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vector>
  </TitlesOfParts>
  <Company>USA DeBusk, LLC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LAR Heater Pigging &amp; Decoking Services — Technical Proposal</dc:title>
  <dc:subject>PptxGenJS Presentation</dc:subject>
  <dc:creator>USA DeBusk</dc:creator>
  <cp:lastModifiedBy>USA DeBusk</cp:lastModifiedBy>
  <cp:revision>1</cp:revision>
  <dcterms:created xsi:type="dcterms:W3CDTF">2026-09-23T23:54:32Z</dcterms:created>
  <dcterms:modified xsi:type="dcterms:W3CDTF">2026-09-23T23:54:32Z</dcterms:modified>
</cp:coreProperties>
</file>