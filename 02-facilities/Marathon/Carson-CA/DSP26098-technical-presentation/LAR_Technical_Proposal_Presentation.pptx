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We don't build our own pigs. We source engineered decoking pigs from specialist manufacturers, so we're never limited to one design and can match the pig to the coil and the coke.
(Presenter: this is where to talk about our supplier base and why we buy rather than build.)
Walk the four cards: urethane body over a foam core lets flow bypass the pig and carry coke away; durometer is chosen for each job, softer to get through tight bends, harder to cut hard coke; studs are carbide as standard, with other stud materials when the tube metallurgy calls for it; and when the pig wear shows hard, heavy coke, we move to high-durometer, fully studded designs.
The photos are real pigs from our jobs, including the wear marks that tell us what's left in the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Same coker, two years apart: Detroit brought us back.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16).
- "What if duration overruns?" Lump sum per occurrence. Pricing excludes additional fouling, unknown repairs and stoppages outside our control; those, plus stand-by not caused by USA DeBusk, are billed T&amp;M at the proposal rates.
- "Local presence?" Slide 17, per RFI GD-1.
- "CARB registration?" Slide 14: every TriMax carries statewide PERP registration.
- "Filtration?" Available at $150/hr per the rate sheet.
- "Pump curves / pressure capability?" Appendix slide 26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21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Series operation is how the pump runs for pigging (higher pressure, lower flow). Normal pigging runs 150 to 300 psi. The curve tops out at 600 psi; in practice we see 500 to 550 at the pig because of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1E1E1E"/>
          </a:solidFill>
          <a:ln w="12700">
            <a:solidFill>
              <a:srgbClr val="1E1E1E"/>
            </a:solidFill>
            <a:prstDash val="solid"/>
          </a:ln>
        </p:spPr>
      </p:sp>
      <p:pic>
        <p:nvPicPr>
          <p:cNvPr id="7" name="Image 0" descr="/tmp/claude-0/-home-user-obsidian-work/c8998718-f22f-57a3-84c2-766db1d92b4c/scratchpad/deck/img/pigs_lineup.jpg">    </p:cNvPr>
          <p:cNvPicPr>
            <a:picLocks noChangeAspect="1"/>
          </p:cNvPicPr>
          <p:nvPr/>
        </p:nvPicPr>
        <p:blipFill>
          <a:blip r:embed="rId1"/>
          <a:stretch>
            <a:fillRect/>
          </a:stretch>
        </p:blipFill>
        <p:spPr>
          <a:xfrm>
            <a:off x="777240" y="2286000"/>
            <a:ext cx="3200400" cy="1553972"/>
          </a:xfrm>
          <a:prstGeom prst="rect">
            <a:avLst/>
          </a:prstGeom>
        </p:spPr>
      </p:pic>
      <p:pic>
        <p:nvPicPr>
          <p:cNvPr id="8" name="Image 1" descr="/tmp/claude-0/-home-user-obsidian-work/c8998718-f22f-57a3-84c2-766db1d92b4c/scratchpad/deck/img/pigs_three.jpg">    </p:cNvPr>
          <p:cNvPicPr>
            <a:picLocks noChangeAspect="1"/>
          </p:cNvPicPr>
          <p:nvPr/>
        </p:nvPicPr>
        <p:blipFill>
          <a:blip r:embed="rId2"/>
          <a:stretch>
            <a:fillRect/>
          </a:stretch>
        </p:blipFill>
        <p:spPr>
          <a:xfrm>
            <a:off x="1051560" y="3977640"/>
            <a:ext cx="2651760" cy="1624203"/>
          </a:xfrm>
          <a:prstGeom prst="rect">
            <a:avLst/>
          </a:prstGeom>
        </p:spPr>
      </p:pic>
      <p:sp>
        <p:nvSpPr>
          <p:cNvPr id="9" name="Text 5"/>
          <p:cNvSpPr txBox="1"/>
          <p:nvPr/>
        </p:nvSpPr>
        <p:spPr>
          <a:xfrm>
            <a:off x="777240" y="5669280"/>
            <a:ext cx="3200400" cy="365760"/>
          </a:xfrm>
          <a:prstGeom prst="rect">
            <a:avLst/>
          </a:prstGeom>
          <a:noFill/>
          <a:ln/>
        </p:spPr>
        <p:txBody>
          <a:bodyPr wrap="square" lIns="0" tIns="0" rIns="0" bIns="0" rtlCol="0" anchor="t"/>
          <a:lstStyle/>
          <a:p>
            <a:pPr indent="0" marL="0">
              <a:buNone/>
            </a:pPr>
            <a:r>
              <a:rPr lang="en-US" sz="950" i="1" dirty="0">
                <a:solidFill>
                  <a:srgbClr val="BDBDBD"/>
                </a:solidFill>
                <a:latin typeface="Arial" pitchFamily="34" charset="0"/>
                <a:ea typeface="Arial" pitchFamily="34" charset="-122"/>
                <a:cs typeface="Arial" pitchFamily="34" charset="-120"/>
              </a:rPr>
              <a:t>Foam, carbide-studded and worn pigs from USA DeBusk jobs</a:t>
            </a:r>
            <a:endParaRPr lang="en-US" sz="950" dirty="0"/>
          </a:p>
        </p:txBody>
      </p:sp>
      <p:sp>
        <p:nvSpPr>
          <p:cNvPr id="10"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1"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2" name="Image 2" descr="preencoded.png">    </p:cNvPr>
          <p:cNvPicPr>
            <a:picLocks noChangeAspect="1"/>
          </p:cNvPicPr>
          <p:nvPr/>
        </p:nvPicPr>
        <p:blipFill>
          <a:blip r:embed="rId3"/>
          <a:stretch>
            <a:fillRect/>
          </a:stretch>
        </p:blipFill>
        <p:spPr>
          <a:xfrm>
            <a:off x="4933188" y="2464308"/>
            <a:ext cx="301752" cy="301752"/>
          </a:xfrm>
          <a:prstGeom prst="rect">
            <a:avLst/>
          </a:prstGeom>
        </p:spPr>
      </p:pic>
      <p:sp>
        <p:nvSpPr>
          <p:cNvPr id="13"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Urethane body, foam core</a:t>
            </a:r>
            <a:endParaRPr lang="en-US" sz="1500" dirty="0"/>
          </a:p>
        </p:txBody>
      </p:sp>
      <p:sp>
        <p:nvSpPr>
          <p:cNvPr id="14"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Flexes through return bends while flow bypasses the pig and carries debris away</a:t>
            </a:r>
            <a:endParaRPr lang="en-US" sz="1200" dirty="0"/>
          </a:p>
        </p:txBody>
      </p:sp>
      <p:sp>
        <p:nvSpPr>
          <p:cNvPr id="15"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6"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7" name="Image 3" descr="preencoded.png">    </p:cNvPr>
          <p:cNvPicPr>
            <a:picLocks noChangeAspect="1"/>
          </p:cNvPicPr>
          <p:nvPr/>
        </p:nvPicPr>
        <p:blipFill>
          <a:blip r:embed="rId4"/>
          <a:stretch>
            <a:fillRect/>
          </a:stretch>
        </p:blipFill>
        <p:spPr>
          <a:xfrm>
            <a:off x="8545068" y="2464308"/>
            <a:ext cx="301752" cy="301752"/>
          </a:xfrm>
          <a:prstGeom prst="rect">
            <a:avLst/>
          </a:prstGeom>
        </p:spPr>
      </p:pic>
      <p:sp>
        <p:nvSpPr>
          <p:cNvPr id="18"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Durometer chosen per job</a:t>
            </a:r>
            <a:endParaRPr lang="en-US" sz="1500" dirty="0"/>
          </a:p>
        </p:txBody>
      </p:sp>
      <p:sp>
        <p:nvSpPr>
          <p:cNvPr id="19"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Softer compounds compress through tight bends; harder compounds remove coke aggressively</a:t>
            </a:r>
            <a:endParaRPr lang="en-US" sz="1200" dirty="0"/>
          </a:p>
        </p:txBody>
      </p:sp>
      <p:sp>
        <p:nvSpPr>
          <p:cNvPr id="20"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1"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2" name="Image 4" descr="preencoded.png">    </p:cNvPr>
          <p:cNvPicPr>
            <a:picLocks noChangeAspect="1"/>
          </p:cNvPicPr>
          <p:nvPr/>
        </p:nvPicPr>
        <p:blipFill>
          <a:blip r:embed="rId5"/>
          <a:stretch>
            <a:fillRect/>
          </a:stretch>
        </p:blipFill>
        <p:spPr>
          <a:xfrm>
            <a:off x="4933188" y="4567428"/>
            <a:ext cx="301752" cy="301752"/>
          </a:xfrm>
          <a:prstGeom prst="rect">
            <a:avLst/>
          </a:prstGeom>
        </p:spPr>
      </p:pic>
      <p:sp>
        <p:nvSpPr>
          <p:cNvPr id="23"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4"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Carbide studs as standard, with alternate stud materials matched to the tube metallurgy</a:t>
            </a:r>
            <a:endParaRPr lang="en-US" sz="1200" dirty="0"/>
          </a:p>
        </p:txBody>
      </p:sp>
      <p:sp>
        <p:nvSpPr>
          <p:cNvPr id="25"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6"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7" name="Image 5" descr="preencoded.png">    </p:cNvPr>
          <p:cNvPicPr>
            <a:picLocks noChangeAspect="1"/>
          </p:cNvPicPr>
          <p:nvPr/>
        </p:nvPicPr>
        <p:blipFill>
          <a:blip r:embed="rId6"/>
          <a:stretch>
            <a:fillRect/>
          </a:stretch>
        </p:blipFill>
        <p:spPr>
          <a:xfrm>
            <a:off x="8545068" y="4567428"/>
            <a:ext cx="301752" cy="301752"/>
          </a:xfrm>
          <a:prstGeom prst="rect">
            <a:avLst/>
          </a:prstGeom>
        </p:spPr>
      </p:pic>
      <p:sp>
        <p:nvSpPr>
          <p:cNvPr id="28"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9"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30"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1"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Proven in the field: successful sign-offs from all of our clients, and highly effective for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Ready when LAR needs us</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Two decokes on the same coker, two years apart: MPC brought us back.</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 operation is used for pigging.</a:t>
            </a:r>
            <a:endParaRPr lang="en-US" sz="1500" dirty="0"/>
          </a:p>
        </p:txBody>
      </p:sp>
      <p:sp>
        <p:nvSpPr>
          <p:cNvPr id="6" name="Shape 4"/>
          <p:cNvSpPr/>
          <p:nvPr/>
        </p:nvSpPr>
        <p:spPr>
          <a:xfrm>
            <a:off x="502920" y="1920240"/>
            <a:ext cx="6616900" cy="416052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curve.png">    </p:cNvPr>
          <p:cNvPicPr>
            <a:picLocks noChangeAspect="1"/>
          </p:cNvPicPr>
          <p:nvPr/>
        </p:nvPicPr>
        <p:blipFill>
          <a:blip r:embed="rId1"/>
          <a:stretch>
            <a:fillRect/>
          </a:stretch>
        </p:blipFill>
        <p:spPr>
          <a:xfrm>
            <a:off x="548640" y="1965960"/>
            <a:ext cx="6525460" cy="4069080"/>
          </a:xfrm>
          <a:prstGeom prst="rect">
            <a:avLst/>
          </a:prstGeom>
        </p:spPr>
      </p:pic>
      <p:sp>
        <p:nvSpPr>
          <p:cNvPr id="8" name="Text 5"/>
          <p:cNvSpPr txBox="1"/>
          <p:nvPr/>
        </p:nvSpPr>
        <p:spPr>
          <a:xfrm>
            <a:off x="548640" y="6126480"/>
            <a:ext cx="652546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curves: Waterous Company, form F-2692</a:t>
            </a:r>
            <a:endParaRPr lang="en-US" sz="950" dirty="0"/>
          </a:p>
        </p:txBody>
      </p:sp>
      <p:sp>
        <p:nvSpPr>
          <p:cNvPr id="9" name="Shape 6"/>
          <p:cNvSpPr/>
          <p:nvPr/>
        </p:nvSpPr>
        <p:spPr>
          <a:xfrm>
            <a:off x="7818120" y="1965960"/>
            <a:ext cx="3822192" cy="1188720"/>
          </a:xfrm>
          <a:prstGeom prst="rect">
            <a:avLst/>
          </a:prstGeom>
          <a:solidFill>
            <a:srgbClr val="1E1E1E"/>
          </a:solidFill>
          <a:ln w="12700">
            <a:solidFill>
              <a:srgbClr val="1E1E1E"/>
            </a:solidFill>
            <a:prstDash val="solid"/>
          </a:ln>
        </p:spPr>
      </p:sp>
      <p:sp>
        <p:nvSpPr>
          <p:cNvPr id="10" name="Text 7"/>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1" name="Text 8"/>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2" name="Shape 9"/>
          <p:cNvSpPr/>
          <p:nvPr/>
        </p:nvSpPr>
        <p:spPr>
          <a:xfrm>
            <a:off x="7818120" y="3337560"/>
            <a:ext cx="3822192" cy="1188720"/>
          </a:xfrm>
          <a:prstGeom prst="rect">
            <a:avLst/>
          </a:prstGeom>
          <a:solidFill>
            <a:srgbClr val="F4F4F4"/>
          </a:solidFill>
          <a:ln w="12700">
            <a:solidFill>
              <a:srgbClr val="F4F4F4"/>
            </a:solidFill>
            <a:prstDash val="solid"/>
          </a:ln>
        </p:spPr>
      </p:sp>
      <p:sp>
        <p:nvSpPr>
          <p:cNvPr id="13" name="Text 10"/>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4" name="Text 11"/>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5" name="Shape 12"/>
          <p:cNvSpPr/>
          <p:nvPr/>
        </p:nvSpPr>
        <p:spPr>
          <a:xfrm>
            <a:off x="7818120" y="4709160"/>
            <a:ext cx="3822192" cy="1188720"/>
          </a:xfrm>
          <a:prstGeom prst="rect">
            <a:avLst/>
          </a:prstGeom>
          <a:solidFill>
            <a:srgbClr val="F4F4F4"/>
          </a:solidFill>
          <a:ln w="12700">
            <a:solidFill>
              <a:srgbClr val="F4F4F4"/>
            </a:solidFill>
            <a:prstDash val="solid"/>
          </a:ln>
        </p:spPr>
      </p:sp>
      <p:sp>
        <p:nvSpPr>
          <p:cNvPr id="16" name="Text 13"/>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17" name="Text 14"/>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18" name="Text 15"/>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6"/>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2026-09-24T00:42:31Z</dcterms:created>
  <dcterms:modified xsi:type="dcterms:W3CDTF">2026-09-24T00:42:31Z</dcterms:modified>
</cp:coreProperties>
</file>