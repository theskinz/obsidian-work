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evaluation team for the shortlist. Introduce yourself (Marshall Douglas, Director of Pigging Operations) and anyone attending with you.
Frame: "This deck follows your ten discussion points in your order, so you can score as we go. We'll hold about 40 minutes and leave 20 for questions."
The photo is our TriMax triple pumper on a delayed coker, the same service we're proposing for 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Walk the agenda quickly. Point out it mirrors MPC's list 1 to 10. Item 10 "Others" is used as a closing summary.
Transition: "Let's start with what we understood the job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heaters across the Carson and Wilmington sides of LAR. Coker #1 Heaters 1 and 2 four times a year each, Coker #2 Heater 3 three times, Wilmington DCU H-101 once. That is 12 decokes a year and 60 over the five-year term.
Commercial basis as submitted: lump sum per occurrence, mob/demob waived, 30-day terms. Stand-by not caused by USA DeBusk at the attached rates.
Key message: this is a program, not a one-off job, and we've planned it that way.
Point to the photo: "That's your coker at Carson, from Marathon's own site. It's the unit we'd be cleaning four times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Marathon witnesses the final gauge foam and signs off per pass (detail in topic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RFI item SP-2 asked for a pig progression plan per heater. This is it.
The ceiling is fixed by our sizing rule: smallest tube ID plus a quarter inch. On the Carson cokers the governing ID is 3.826" (4" Sch 80), so the maximum is 4.076". On H-101 the ID is 4.026", so the maximum is 4.276".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in several Brinell grades (200, 400, 600 BHN),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Numbers here are exactly as submitted in the proposal's Technical Data page, from the coil data Marathon provided.
Per Carson heater: 1,134' per pass convection plus 2,016' per pass radiant, about 3,150' per pass and 6,300' per heater. H-101: 627' plus 1,881' per pass across 4 passes, about 10,000'.
Three coil-specific controls:
1) Stainless. The Carson convection and all of H-101 are stainless. We verify water quality before fill, coordinate with Marathon's passivation requirements, and keep galvanized hardware off the tubes.
2) Connections. The coils have 600# RFWN flanges and our launchers/receivers are 300#; Marathon supplies the inlet/outlet spools and adapters, per the proposal's provided-items list.
3) Bends. 180° returns and mule ears set pig length and flexibility, not just diameter.
Launcher connections are at grade (process control valves / radiant outlets); the H-101 radiant outlets are at grade and the 1st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Each occurrence as quoted:
Carson heaters: 6 hours rig-in, 34 hours pigging all coils in conjunction, 6 hours rig-out: 46 hours total.
H-101: 6 rig-in, 18 hours on coils 1 and 2 together, a 4-hour rig-over to coils 3 and 4, 18 hours, 6 rig-out: 52 hours.
"In conjunction" means both Carson passes are pigged at the same time, each on its own pump and operator station, so elapsed time is one coil's time, not two. On a 2-pass heater the TriMax's third pump is a spare: if a pump goes down, the job keeps running.
We run 24/7 on 12-hour day/night shifts, so a Carson heater is back in Marathon's hands in about two days.
Durations come from footage and our historical performance. Actual hardness and thickness of deposits can move them, and the proposal covers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dots show one year of the program; exact dates follow Marathon's run-length and turnaround plan, not ours.
12 decokes a year, 60 over the term, 2,790 project hours, and mobilization/demobilization waived because LAR is serviced as a program.
The real value of a recurring program: each decoke on the same heater builds on the last. We keep heater-specific records of pig sizes, hours and problem spots, so every visit starts smarter than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occurrence gets the same package: one TriMax, one support unit carrying fittings, tooling and spares, two crew trucks.
Crew: day shift is a supervisor and two operators; night shift is a supervisor and an operator; Travis Trenholm manages the project.
Readiness: turnover has run about 5% over the last 12 months. We hold onto people with competitive pay, ongoing training and certification, career paths, and dedicated core crews per site. For LAR that means the same faces on the same heaters.
Every technician is USA DeBusk-certified, selected by heater-type experience, with training verified before mobilization. The personnel training documents (SSHASP) were attached to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me, Director of Pigging Operations, 26 years. Jason Harman, Commercial Manager, 22 years, is the commercial point of contact. Travis Trenholm, Pigging Operations Manager, 15 years, is the project manager on every LAR occurrence.
Under Travis: a bench of project managers, our equipment manager and a senior field tech, led in experience by Danilo Ramirez at 33 years. One point of contact manages the work flow and daily updates to Marathon.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At LAR we pig both Carson passes together and H-101 in pairs, which leaves the third pump as an on-board spare. Against a dual unit the triple raises productivity by about 50%, and on a two-pass Carson heater the third pump is 100% spare capacity: if one pump goes down, the job doesn't stop.
The spare pump can also propel a smart pig, so inspection runs don't need extra equipment.
Each operator station has a 17" automated HMI touchscreen, and pig logs are recorded digitally (next slide).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normal pigging runs 150 to 300 psi. The pump is rated to 600 psi, but after losses through our valves the realistic ceiling at the pig is 500 to 550, and above 500 the crew works an over-pressure checklist. The manufacturer's pump curves are in the appendix if anyone wants them.
Real-time sensor data feeds the operator interface, where coke shows up as a pressure spike. The technician can stop and scrub that exact spot. Flow direction reverses from the station without hose changes.
Power is a Cummins QSL9 at 333 bhp, Tier 4, CARB-registered. California compliance is two slides on, after the operator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LAR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Marathon: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California compliance is a gate for LAR, and we've cleared it. Every TriMax engine carries a CARB Statewide Portable Equipment Registration: certified Cummins QSL9 engines, Tier 4 blue placard, a diesel particulate emission factor of 0.015 g/bhp-hr. Six triple-pass units and 18 engines are registered for SCAQMD work, so no rental or swap-in equipment is needed to work in the Basin.
Everything needed arrives with the rig: support unit, 300# launchers and receivers, tested and certified hard and flex pipe connecting our equipment, all pigs and foam swabs. Closed-loop filtration is optional at the proposal rate: it runs continuously, captures coke fines from the effluent, and recycles clean water. That can save thousands of gallons of water a shift; the next slide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but it matters in California.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Marathon's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Marathon rep to watch the final gauge foam run. It's line size or slightly over and soft enough to mark, groove or deform on any remaining coke. Marathon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Marathon. Flow tests before and after at the same rate give an objective comparison.
Close-out: per-pass sign-off, final pig size recorded for each pass, the job book, and a post-job review. On a recurring program, that record is what makes the next decoke on the same heater faster.
The full QA/QC manual was attached to the RFI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Topic 6: emergency response and local resources.
We maintain shops, equipment and crews in the Southern California / LA Basin area with regional support. That local footprint allows same-day to next-day mobilization to LAR.
Support is 24/7: dispatch and the account manager can be reached at any hour, with on-call supervisors and crews for nights, weekends and holidays.
Response: same day for local needs, within 24 hours otherwise, with manpower and pigging/decoking equipment staged from our regional shops.
On the recurring program, the same crew that knows these heaters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numbers as submitted in the RFI: EMR 0.95 in 2024, 0.62 in 2025, 0.48 in 2026, roughly half the industry baseline and down 49% in two years. Active in ISNetworld with an A grade. No fatalities in the last three years. OSHA 300 logs for three years were provided with the RFI.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Marathon's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the safety manual and SSHASP submitted with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SCAQMD rigs, so one contractor covers the full scope without subs.
Fleet: we run the largest triple-pass pigging fleet in the world, and it's standardized: six identical TriMax units, 18 engines. The TriMax runs up to three passes at once; on LAR's 2-pass heaters that third pump is an on-board spare, so a pump failure doesn't stop the job, and it can also drive a smart pig. We also offer closed-loop filtration and smart-pig support, so Marathon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On a 60-decoke program that compounds, and Marathon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You don't have to take our word for it: nine Marathon refineries, with named contacts at eight of them; Galveston Bay's contact is available on request. Catlettsburg, Salt Lake City, Martinez, Dickinson, St. Paul Park, Robinson, Galveston Bay, Garyville and Detroit.
Martinez is the closest comparison for LAR: a California MPC facility under the same state air rules.
The contact list is in the appendix and in the leave-behind. We'd encourage the team to call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Two coker examples from our job records, starting with one of yours.
First: Marathon Detroit, the 70H1 coker. Six passes across three cells, about 15,000 feet of convection and radiant coil. We ran two TriMax units and pigged all six passes at once, in September 2024 and again this month, September 2026. Both decokes were completed on schedule and safely, and Marathon Detroit re-engaged us two years later for the same coker. Nate Lajiness at Detroit is on our reference list.
Second: CHS McPherson, coker heater HF-0012, six passes, just over 12,000 feet of coil, 85 pigging hours on a planned decoke. The radiant held hard coke that stopped standard pigs. Lesson: on a coker, stage the heavy-duty pig set for the radiant from the start. We'll do that at LAR on every occurrence.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 know Marathon's system, our equipment is registered and ready for California,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 reserved for Q&amp;A]
Likely questions and where the answer lives:
- "How do you handle a plugged pass?" Bi-directional flow and stepwise pig sizing (slides 4–6); pre-job walkdown (slide 17).
- "What if duration overruns?" Lump sum per occurrence. Pricing excludes additional fouling, unknown repairs and stoppages outside our control; those, plus stand-by not caused by USA DeBusk, are billed T&amp;M at the proposal rates.
- "Local presence?" Slide 18, per RFI GD-1.
- "CARB registration?" Slide 14: every TriMax carries statewide PERP registration.
- "Filtration?" Available at $150/hr per the rate sheet.
- "Pump curves / pressure capability?" Appendix slide 27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Leave-behind reference list. Not presented; point to it from slide 22 (MPC map)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 Pull it up if an engineer asks about pump capability.
This is the series-operation curve, which is how the pump runs for pigging (higher pressure, lower flow). Each line is an engine speed. Normal pigging runs 150 to 300 psi. The curve reaches 600 psi; the gold band marks the 500 to 550 psi we actually see at the pig, after losses through our valves.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itle.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logo_white.png">    </p:cNvPr>
          <p:cNvPicPr>
            <a:picLocks noChangeAspect="1"/>
          </p:cNvPicPr>
          <p:nvPr/>
        </p:nvPicPr>
        <p:blipFill>
          <a:blip r:embed="rId3"/>
          <a:stretch>
            <a:fillRect/>
          </a:stretch>
        </p:blipFill>
        <p:spPr>
          <a:xfrm>
            <a:off x="640080" y="594360"/>
            <a:ext cx="3108960" cy="465883"/>
          </a:xfrm>
          <a:prstGeom prst="rect">
            <a:avLst/>
          </a:prstGeom>
        </p:spPr>
      </p:pic>
      <p:sp>
        <p:nvSpPr>
          <p:cNvPr id="5" name="Text 0"/>
          <p:cNvSpPr txBox="1"/>
          <p:nvPr/>
        </p:nvSpPr>
        <p:spPr>
          <a:xfrm>
            <a:off x="640080" y="2148840"/>
            <a:ext cx="6583680" cy="1737360"/>
          </a:xfrm>
          <a:prstGeom prst="rect">
            <a:avLst/>
          </a:prstGeom>
          <a:noFill/>
          <a:ln/>
        </p:spPr>
        <p:txBody>
          <a:bodyPr wrap="square" lIns="0" tIns="0" rIns="0" bIns="0" rtlCol="0" anchor="t"/>
          <a:lstStyle/>
          <a:p>
            <a:pPr indent="0" marL="0">
              <a:lnSpc>
                <a:spcPct val="95000"/>
              </a:lnSpc>
              <a:buNone/>
            </a:pPr>
            <a:r>
              <a:rPr lang="en-US" sz="4400" b="1" dirty="0">
                <a:solidFill>
                  <a:srgbClr val="FFFFFF"/>
                </a:solidFill>
                <a:latin typeface="Arial" pitchFamily="34" charset="0"/>
                <a:ea typeface="Arial" pitchFamily="34" charset="-122"/>
                <a:cs typeface="Arial" pitchFamily="34" charset="-120"/>
              </a:rPr>
              <a:t>LAR Heater Pigging</a:t>
            </a:r>
            <a:endParaRPr lang="en-US" sz="4400" dirty="0"/>
          </a:p>
          <a:p>
            <a:pPr indent="0" marL="0">
              <a:lnSpc>
                <a:spcPct val="95000"/>
              </a:lnSpc>
              <a:buNone/>
            </a:pPr>
            <a:r>
              <a:rPr lang="en-US" sz="4400" b="1" dirty="0">
                <a:solidFill>
                  <a:srgbClr val="FFFFFF"/>
                </a:solidFill>
                <a:latin typeface="Arial" pitchFamily="34" charset="0"/>
                <a:ea typeface="Arial" pitchFamily="34" charset="-122"/>
                <a:cs typeface="Arial" pitchFamily="34" charset="-120"/>
              </a:rPr>
              <a:t>&amp; Decoking Services</a:t>
            </a:r>
            <a:endParaRPr lang="en-US" sz="4400" dirty="0"/>
          </a:p>
        </p:txBody>
      </p:sp>
      <p:sp>
        <p:nvSpPr>
          <p:cNvPr id="6" name="Text 1"/>
          <p:cNvSpPr txBox="1"/>
          <p:nvPr/>
        </p:nvSpPr>
        <p:spPr>
          <a:xfrm>
            <a:off x="640080" y="3931920"/>
            <a:ext cx="6583680" cy="41148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Marathon Petroleum, Los Angeles Refinery</a:t>
            </a:r>
            <a:endParaRPr lang="en-US" sz="2000" dirty="0"/>
          </a:p>
        </p:txBody>
      </p:sp>
      <p:sp>
        <p:nvSpPr>
          <p:cNvPr id="7" name="Text 2"/>
          <p:cNvSpPr txBox="1"/>
          <p:nvPr/>
        </p:nvSpPr>
        <p:spPr>
          <a:xfrm>
            <a:off x="640080" y="4370832"/>
            <a:ext cx="6583680" cy="365760"/>
          </a:xfrm>
          <a:prstGeom prst="rect">
            <a:avLst/>
          </a:prstGeom>
          <a:noFill/>
          <a:ln/>
        </p:spPr>
        <p:txBody>
          <a:bodyPr wrap="square" lIns="0" tIns="0" rIns="0" bIns="0" rtlCol="0" anchor="ctr"/>
          <a:lstStyle/>
          <a:p>
            <a:pPr indent="0" marL="0">
              <a:buNone/>
            </a:pPr>
            <a:r>
              <a:rPr lang="en-US" sz="1600" dirty="0">
                <a:solidFill>
                  <a:srgbClr val="BDBDBD"/>
                </a:solidFill>
                <a:latin typeface="Arial" pitchFamily="34" charset="0"/>
                <a:ea typeface="Arial" pitchFamily="34" charset="-122"/>
                <a:cs typeface="Arial" pitchFamily="34" charset="-120"/>
              </a:rPr>
              <a:t>Carson Coker #1 &amp; #2, Wilmington DCU H-101</a:t>
            </a:r>
            <a:endParaRPr lang="en-US" sz="1600" dirty="0"/>
          </a:p>
        </p:txBody>
      </p:sp>
      <p:sp>
        <p:nvSpPr>
          <p:cNvPr id="8" name="Text 3"/>
          <p:cNvSpPr txBox="1"/>
          <p:nvPr/>
        </p:nvSpPr>
        <p:spPr>
          <a:xfrm>
            <a:off x="640080" y="5257800"/>
            <a:ext cx="640080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Marshall Douglas</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Director of Pigging Operations</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DSP#26098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agenda.jpg">    </p:cNvPr>
          <p:cNvPicPr>
            <a:picLocks noChangeAspect="1"/>
          </p:cNvPicPr>
          <p:nvPr/>
        </p:nvPicPr>
        <p:blipFill>
          <a:blip r:embed="rId1"/>
          <a:stretch>
            <a:fillRect/>
          </a:stretch>
        </p:blipFill>
        <p:spPr>
          <a:xfrm>
            <a:off x="0" y="0"/>
            <a:ext cx="4023360" cy="6858000"/>
          </a:xfrm>
          <a:prstGeom prst="rect">
            <a:avLst/>
          </a:prstGeom>
        </p:spPr>
      </p:pic>
      <p:sp>
        <p:nvSpPr>
          <p:cNvPr id="3" name="Text 0"/>
          <p:cNvSpPr txBox="1"/>
          <p:nvPr/>
        </p:nvSpPr>
        <p:spPr>
          <a:xfrm>
            <a:off x="457200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1"/>
          <p:cNvSpPr txBox="1"/>
          <p:nvPr/>
        </p:nvSpPr>
        <p:spPr>
          <a:xfrm>
            <a:off x="457200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Structured to the evaluation team's ten discussion points</a:t>
            </a:r>
            <a:endParaRPr lang="en-US" sz="1500" dirty="0"/>
          </a:p>
        </p:txBody>
      </p:sp>
      <p:sp>
        <p:nvSpPr>
          <p:cNvPr id="5" name="Text 2"/>
          <p:cNvSpPr txBox="1"/>
          <p:nvPr/>
        </p:nvSpPr>
        <p:spPr>
          <a:xfrm>
            <a:off x="457200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530352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Pigging &amp; decoking methodology</a:t>
            </a:r>
            <a:endParaRPr lang="en-US" sz="1500" dirty="0"/>
          </a:p>
        </p:txBody>
      </p:sp>
      <p:sp>
        <p:nvSpPr>
          <p:cNvPr id="7" name="Text 4"/>
          <p:cNvSpPr txBox="1"/>
          <p:nvPr/>
        </p:nvSpPr>
        <p:spPr>
          <a:xfrm>
            <a:off x="457200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02</a:t>
            </a:r>
            <a:endParaRPr lang="en-US" sz="2600" dirty="0"/>
          </a:p>
        </p:txBody>
      </p:sp>
      <p:sp>
        <p:nvSpPr>
          <p:cNvPr id="8" name="Text 5"/>
          <p:cNvSpPr txBox="1"/>
          <p:nvPr/>
        </p:nvSpPr>
        <p:spPr>
          <a:xfrm>
            <a:off x="530352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Execution plan &amp; schedule</a:t>
            </a:r>
            <a:endParaRPr lang="en-US" sz="1500" dirty="0"/>
          </a:p>
        </p:txBody>
      </p:sp>
      <p:sp>
        <p:nvSpPr>
          <p:cNvPr id="9" name="Text 6"/>
          <p:cNvSpPr txBox="1"/>
          <p:nvPr/>
        </p:nvSpPr>
        <p:spPr>
          <a:xfrm>
            <a:off x="457200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03</a:t>
            </a:r>
            <a:endParaRPr lang="en-US" sz="2600" dirty="0"/>
          </a:p>
        </p:txBody>
      </p:sp>
      <p:sp>
        <p:nvSpPr>
          <p:cNvPr id="10" name="Text 7"/>
          <p:cNvSpPr txBox="1"/>
          <p:nvPr/>
        </p:nvSpPr>
        <p:spPr>
          <a:xfrm>
            <a:off x="530352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Operational readiness &amp; resources</a:t>
            </a:r>
            <a:endParaRPr lang="en-US" sz="1500" dirty="0"/>
          </a:p>
        </p:txBody>
      </p:sp>
      <p:sp>
        <p:nvSpPr>
          <p:cNvPr id="11" name="Text 8"/>
          <p:cNvSpPr txBox="1"/>
          <p:nvPr/>
        </p:nvSpPr>
        <p:spPr>
          <a:xfrm>
            <a:off x="457200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04</a:t>
            </a:r>
            <a:endParaRPr lang="en-US" sz="2600" dirty="0"/>
          </a:p>
        </p:txBody>
      </p:sp>
      <p:sp>
        <p:nvSpPr>
          <p:cNvPr id="12" name="Text 9"/>
          <p:cNvSpPr txBox="1"/>
          <p:nvPr/>
        </p:nvSpPr>
        <p:spPr>
          <a:xfrm>
            <a:off x="530352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Equipment &amp; technology</a:t>
            </a:r>
            <a:endParaRPr lang="en-US" sz="1500" dirty="0"/>
          </a:p>
        </p:txBody>
      </p:sp>
      <p:sp>
        <p:nvSpPr>
          <p:cNvPr id="13" name="Text 10"/>
          <p:cNvSpPr txBox="1"/>
          <p:nvPr/>
        </p:nvSpPr>
        <p:spPr>
          <a:xfrm>
            <a:off x="457200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05</a:t>
            </a:r>
            <a:endParaRPr lang="en-US" sz="2600" dirty="0"/>
          </a:p>
        </p:txBody>
      </p:sp>
      <p:sp>
        <p:nvSpPr>
          <p:cNvPr id="14" name="Text 11"/>
          <p:cNvSpPr txBox="1"/>
          <p:nvPr/>
        </p:nvSpPr>
        <p:spPr>
          <a:xfrm>
            <a:off x="530352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Cleanliness verification &amp; QA/QC</a:t>
            </a:r>
            <a:endParaRPr lang="en-US" sz="1500" dirty="0"/>
          </a:p>
        </p:txBody>
      </p:sp>
      <p:sp>
        <p:nvSpPr>
          <p:cNvPr id="15" name="Text 12"/>
          <p:cNvSpPr txBox="1"/>
          <p:nvPr/>
        </p:nvSpPr>
        <p:spPr>
          <a:xfrm>
            <a:off x="832104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06</a:t>
            </a:r>
            <a:endParaRPr lang="en-US" sz="2600" dirty="0"/>
          </a:p>
        </p:txBody>
      </p:sp>
      <p:sp>
        <p:nvSpPr>
          <p:cNvPr id="16" name="Text 13"/>
          <p:cNvSpPr txBox="1"/>
          <p:nvPr/>
        </p:nvSpPr>
        <p:spPr>
          <a:xfrm>
            <a:off x="905256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Emergency response &amp; local resources</a:t>
            </a:r>
            <a:endParaRPr lang="en-US" sz="1500" dirty="0"/>
          </a:p>
        </p:txBody>
      </p:sp>
      <p:sp>
        <p:nvSpPr>
          <p:cNvPr id="17" name="Text 14"/>
          <p:cNvSpPr txBox="1"/>
          <p:nvPr/>
        </p:nvSpPr>
        <p:spPr>
          <a:xfrm>
            <a:off x="832104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07</a:t>
            </a:r>
            <a:endParaRPr lang="en-US" sz="2600" dirty="0"/>
          </a:p>
        </p:txBody>
      </p:sp>
      <p:sp>
        <p:nvSpPr>
          <p:cNvPr id="18" name="Text 15"/>
          <p:cNvSpPr txBox="1"/>
          <p:nvPr/>
        </p:nvSpPr>
        <p:spPr>
          <a:xfrm>
            <a:off x="905256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Safety &amp; risk mitigation</a:t>
            </a:r>
            <a:endParaRPr lang="en-US" sz="1500" dirty="0"/>
          </a:p>
        </p:txBody>
      </p:sp>
      <p:sp>
        <p:nvSpPr>
          <p:cNvPr id="19" name="Text 16"/>
          <p:cNvSpPr txBox="1"/>
          <p:nvPr/>
        </p:nvSpPr>
        <p:spPr>
          <a:xfrm>
            <a:off x="832104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08</a:t>
            </a:r>
            <a:endParaRPr lang="en-US" sz="2600" dirty="0"/>
          </a:p>
        </p:txBody>
      </p:sp>
      <p:sp>
        <p:nvSpPr>
          <p:cNvPr id="20" name="Text 17"/>
          <p:cNvSpPr txBox="1"/>
          <p:nvPr/>
        </p:nvSpPr>
        <p:spPr>
          <a:xfrm>
            <a:off x="905256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Best practices, capabilities &amp; innovation</a:t>
            </a:r>
            <a:endParaRPr lang="en-US" sz="1500" dirty="0"/>
          </a:p>
        </p:txBody>
      </p:sp>
      <p:sp>
        <p:nvSpPr>
          <p:cNvPr id="21" name="Text 18"/>
          <p:cNvSpPr txBox="1"/>
          <p:nvPr/>
        </p:nvSpPr>
        <p:spPr>
          <a:xfrm>
            <a:off x="832104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09</a:t>
            </a:r>
            <a:endParaRPr lang="en-US" sz="2600" dirty="0"/>
          </a:p>
        </p:txBody>
      </p:sp>
      <p:sp>
        <p:nvSpPr>
          <p:cNvPr id="22" name="Text 19"/>
          <p:cNvSpPr txBox="1"/>
          <p:nvPr/>
        </p:nvSpPr>
        <p:spPr>
          <a:xfrm>
            <a:off x="905256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MPC references &amp; case studies</a:t>
            </a:r>
            <a:endParaRPr lang="en-US" sz="1500" dirty="0"/>
          </a:p>
        </p:txBody>
      </p:sp>
      <p:sp>
        <p:nvSpPr>
          <p:cNvPr id="23" name="Text 20"/>
          <p:cNvSpPr txBox="1"/>
          <p:nvPr/>
        </p:nvSpPr>
        <p:spPr>
          <a:xfrm>
            <a:off x="832104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10</a:t>
            </a:r>
            <a:endParaRPr lang="en-US" sz="2600" dirty="0"/>
          </a:p>
        </p:txBody>
      </p:sp>
      <p:sp>
        <p:nvSpPr>
          <p:cNvPr id="24" name="Text 21"/>
          <p:cNvSpPr txBox="1"/>
          <p:nvPr/>
        </p:nvSpPr>
        <p:spPr>
          <a:xfrm>
            <a:off x="905256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Why USA DeBusk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lar.jpg">    </p:cNvPr>
          <p:cNvPicPr>
            <a:picLocks noChangeAspect="1"/>
          </p:cNvPicPr>
          <p:nvPr/>
        </p:nvPicPr>
        <p:blipFill>
          <a:blip r:embed="rId1"/>
          <a:stretch>
            <a:fillRect/>
          </a:stretch>
        </p:blipFill>
        <p:spPr>
          <a:xfrm>
            <a:off x="8531352" y="0"/>
            <a:ext cx="3657600" cy="6858000"/>
          </a:xfrm>
          <a:prstGeom prst="rect">
            <a:avLst/>
          </a:prstGeom>
        </p:spPr>
      </p:pic>
      <p:sp>
        <p:nvSpPr>
          <p:cNvPr id="3" name="Text 0"/>
          <p:cNvSpPr txBox="1"/>
          <p:nvPr/>
        </p:nvSpPr>
        <p:spPr>
          <a:xfrm>
            <a:off x="8714232" y="5394960"/>
            <a:ext cx="3291840" cy="457200"/>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Marathon Los Angeles Refinery</a:t>
            </a:r>
            <a:endParaRPr lang="en-US" sz="1100" dirty="0"/>
          </a:p>
          <a:p>
            <a:pPr algn="ctr" indent="0" marL="0">
              <a:buNone/>
            </a:pPr>
            <a:r>
              <a:rPr lang="en-US" sz="1100" b="1" dirty="0">
                <a:solidFill>
                  <a:srgbClr val="FFFFFF"/>
                </a:solidFill>
                <a:latin typeface="Arial" pitchFamily="34" charset="0"/>
                <a:ea typeface="Arial" pitchFamily="34" charset="-122"/>
                <a:cs typeface="Arial" pitchFamily="34" charset="-120"/>
              </a:rPr>
              <a:t>Carson delayed coker</a:t>
            </a:r>
            <a:endParaRPr lang="en-US" sz="1100" dirty="0"/>
          </a:p>
        </p:txBody>
      </p:sp>
      <p:sp>
        <p:nvSpPr>
          <p:cNvPr id="4" name="Text 1"/>
          <p:cNvSpPr txBox="1"/>
          <p:nvPr/>
        </p:nvSpPr>
        <p:spPr>
          <a:xfrm>
            <a:off x="8714232" y="5897880"/>
            <a:ext cx="3291840" cy="22860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Photo: Marathon Petroleum</a:t>
            </a:r>
            <a:endParaRPr lang="en-US" sz="900" dirty="0"/>
          </a:p>
        </p:txBody>
      </p:sp>
      <p:sp>
        <p:nvSpPr>
          <p:cNvPr id="5" name="Shape 2"/>
          <p:cNvSpPr/>
          <p:nvPr/>
        </p:nvSpPr>
        <p:spPr>
          <a:xfrm>
            <a:off x="548640" y="411480"/>
            <a:ext cx="927868"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92786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SCOPE</a:t>
            </a:r>
            <a:endParaRPr lang="en-US" sz="1050" dirty="0"/>
          </a:p>
        </p:txBody>
      </p:sp>
      <p:sp>
        <p:nvSpPr>
          <p:cNvPr id="7" name="Text 4"/>
          <p:cNvSpPr txBox="1"/>
          <p:nvPr/>
        </p:nvSpPr>
        <p:spPr>
          <a:xfrm>
            <a:off x="54864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understanding of the scope</a:t>
            </a:r>
            <a:endParaRPr lang="en-US" sz="3200" dirty="0"/>
          </a:p>
        </p:txBody>
      </p:sp>
      <p:sp>
        <p:nvSpPr>
          <p:cNvPr id="8" name="Text 5"/>
          <p:cNvSpPr txBox="1"/>
          <p:nvPr/>
        </p:nvSpPr>
        <p:spPr>
          <a:xfrm>
            <a:off x="548640" y="1481328"/>
            <a:ext cx="7498080" cy="64008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Recurring mechanical pigging &amp; decoking, lump sum per occurrence, mobilization and demobilization waived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6583680" cy="914400"/>
        </p:xfrm>
        <a:graphic>
          <a:graphicData uri="http://schemas.openxmlformats.org/drawingml/2006/table">
            <a:tbl>
              <a:tblPr/>
              <a:tblGrid>
                <a:gridCol w="1920240"/>
                <a:gridCol w="1371600"/>
                <a:gridCol w="1005840"/>
                <a:gridCol w="1143000"/>
                <a:gridCol w="1143000"/>
              </a:tblGrid>
              <a:tr h="475488">
                <a:tc>
                  <a:txBody>
                    <a:bodyPr/>
                    <a:lstStyle/>
                    <a:p>
                      <a:pPr indent="0" marL="0">
                        <a:buNone/>
                      </a:pPr>
                      <a:r>
                        <a:rPr lang="en-US" sz="1200" b="1" dirty="0">
                          <a:solidFill>
                            <a:srgbClr val="FFFFFF"/>
                          </a:solidFill>
                          <a:latin typeface="Arial" pitchFamily="34" charset="0"/>
                          <a:ea typeface="Arial" pitchFamily="34" charset="-122"/>
                          <a:cs typeface="Arial" pitchFamily="34" charset="-120"/>
                        </a:rPr>
                        <a:t>Unit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Heater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Passes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Per year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5 years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Wilmington DCU</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H-101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10" name="Text 6"/>
          <p:cNvSpPr txBox="1"/>
          <p:nvPr/>
        </p:nvSpPr>
        <p:spPr>
          <a:xfrm>
            <a:off x="548640" y="4681728"/>
            <a:ext cx="658368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scope table</a:t>
            </a:r>
            <a:endParaRPr lang="en-US" sz="1000" dirty="0"/>
          </a:p>
        </p:txBody>
      </p:sp>
      <p:sp>
        <p:nvSpPr>
          <p:cNvPr id="11" name="Shape 7"/>
          <p:cNvSpPr/>
          <p:nvPr/>
        </p:nvSpPr>
        <p:spPr>
          <a:xfrm>
            <a:off x="548640" y="5029200"/>
            <a:ext cx="1737360" cy="1188720"/>
          </a:xfrm>
          <a:prstGeom prst="rect">
            <a:avLst/>
          </a:prstGeom>
          <a:solidFill>
            <a:srgbClr val="1E1E1E"/>
          </a:solidFill>
          <a:ln w="12700">
            <a:solidFill>
              <a:srgbClr val="1E1E1E"/>
            </a:solidFill>
            <a:prstDash val="solid"/>
          </a:ln>
        </p:spPr>
      </p:sp>
      <p:sp>
        <p:nvSpPr>
          <p:cNvPr id="12" name="Text 8"/>
          <p:cNvSpPr txBox="1"/>
          <p:nvPr/>
        </p:nvSpPr>
        <p:spPr>
          <a:xfrm>
            <a:off x="71323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4</a:t>
            </a:r>
            <a:endParaRPr lang="en-US" sz="3000" dirty="0"/>
          </a:p>
        </p:txBody>
      </p:sp>
      <p:sp>
        <p:nvSpPr>
          <p:cNvPr id="13" name="Text 9"/>
          <p:cNvSpPr txBox="1"/>
          <p:nvPr/>
        </p:nvSpPr>
        <p:spPr>
          <a:xfrm>
            <a:off x="71323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heaters, two sites</a:t>
            </a:r>
            <a:endParaRPr lang="en-US" sz="1100" dirty="0"/>
          </a:p>
        </p:txBody>
      </p:sp>
      <p:sp>
        <p:nvSpPr>
          <p:cNvPr id="14" name="Shape 10"/>
          <p:cNvSpPr/>
          <p:nvPr/>
        </p:nvSpPr>
        <p:spPr>
          <a:xfrm>
            <a:off x="2423160" y="5029200"/>
            <a:ext cx="1737360" cy="1188720"/>
          </a:xfrm>
          <a:prstGeom prst="rect">
            <a:avLst/>
          </a:prstGeom>
          <a:solidFill>
            <a:srgbClr val="1E1E1E"/>
          </a:solidFill>
          <a:ln w="12700">
            <a:solidFill>
              <a:srgbClr val="1E1E1E"/>
            </a:solidFill>
            <a:prstDash val="solid"/>
          </a:ln>
        </p:spPr>
      </p:sp>
      <p:sp>
        <p:nvSpPr>
          <p:cNvPr id="15" name="Text 11"/>
          <p:cNvSpPr txBox="1"/>
          <p:nvPr/>
        </p:nvSpPr>
        <p:spPr>
          <a:xfrm>
            <a:off x="258775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12</a:t>
            </a:r>
            <a:endParaRPr lang="en-US" sz="3000" dirty="0"/>
          </a:p>
        </p:txBody>
      </p:sp>
      <p:sp>
        <p:nvSpPr>
          <p:cNvPr id="16" name="Text 12"/>
          <p:cNvSpPr txBox="1"/>
          <p:nvPr/>
        </p:nvSpPr>
        <p:spPr>
          <a:xfrm>
            <a:off x="258775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per year</a:t>
            </a:r>
            <a:endParaRPr lang="en-US" sz="1100" dirty="0"/>
          </a:p>
        </p:txBody>
      </p:sp>
      <p:sp>
        <p:nvSpPr>
          <p:cNvPr id="17" name="Shape 13"/>
          <p:cNvSpPr/>
          <p:nvPr/>
        </p:nvSpPr>
        <p:spPr>
          <a:xfrm>
            <a:off x="4297680" y="5029200"/>
            <a:ext cx="1737360" cy="1188720"/>
          </a:xfrm>
          <a:prstGeom prst="rect">
            <a:avLst/>
          </a:prstGeom>
          <a:solidFill>
            <a:srgbClr val="1E1E1E"/>
          </a:solidFill>
          <a:ln w="12700">
            <a:solidFill>
              <a:srgbClr val="1E1E1E"/>
            </a:solidFill>
            <a:prstDash val="solid"/>
          </a:ln>
        </p:spPr>
      </p:sp>
      <p:sp>
        <p:nvSpPr>
          <p:cNvPr id="18" name="Text 14"/>
          <p:cNvSpPr txBox="1"/>
          <p:nvPr/>
        </p:nvSpPr>
        <p:spPr>
          <a:xfrm>
            <a:off x="446227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60</a:t>
            </a:r>
            <a:endParaRPr lang="en-US" sz="3000" dirty="0"/>
          </a:p>
        </p:txBody>
      </p:sp>
      <p:sp>
        <p:nvSpPr>
          <p:cNvPr id="19" name="Text 15"/>
          <p:cNvSpPr txBox="1"/>
          <p:nvPr/>
        </p:nvSpPr>
        <p:spPr>
          <a:xfrm>
            <a:off x="446227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over 5 years</a:t>
            </a:r>
            <a:endParaRPr lang="en-US" sz="1100" dirty="0"/>
          </a:p>
        </p:txBody>
      </p:sp>
      <p:sp>
        <p:nvSpPr>
          <p:cNvPr id="20" name="Shape 16"/>
          <p:cNvSpPr/>
          <p:nvPr/>
        </p:nvSpPr>
        <p:spPr>
          <a:xfrm>
            <a:off x="6172200" y="5029200"/>
            <a:ext cx="1737360" cy="1188720"/>
          </a:xfrm>
          <a:prstGeom prst="rect">
            <a:avLst/>
          </a:prstGeom>
          <a:solidFill>
            <a:srgbClr val="1E1E1E"/>
          </a:solidFill>
          <a:ln w="12700">
            <a:solidFill>
              <a:srgbClr val="1E1E1E"/>
            </a:solidFill>
            <a:prstDash val="solid"/>
          </a:ln>
        </p:spPr>
      </p:sp>
      <p:sp>
        <p:nvSpPr>
          <p:cNvPr id="21" name="Text 17"/>
          <p:cNvSpPr txBox="1"/>
          <p:nvPr/>
        </p:nvSpPr>
        <p:spPr>
          <a:xfrm>
            <a:off x="6336792" y="5138928"/>
            <a:ext cx="146304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2,790</a:t>
            </a:r>
            <a:endParaRPr lang="en-US" sz="2600" dirty="0"/>
          </a:p>
        </p:txBody>
      </p:sp>
      <p:sp>
        <p:nvSpPr>
          <p:cNvPr id="22" name="Text 18"/>
          <p:cNvSpPr txBox="1"/>
          <p:nvPr/>
        </p:nvSpPr>
        <p:spPr>
          <a:xfrm>
            <a:off x="633679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project hours, 5 years</a:t>
            </a:r>
            <a:endParaRPr lang="en-US" sz="1100" dirty="0"/>
          </a:p>
        </p:txBody>
      </p:sp>
      <p:sp>
        <p:nvSpPr>
          <p:cNvPr id="23"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4"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method.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7" name="Shape 4"/>
          <p:cNvSpPr/>
          <p:nvPr/>
        </p:nvSpPr>
        <p:spPr>
          <a:xfrm>
            <a:off x="795528" y="2350008"/>
            <a:ext cx="0" cy="3337560"/>
          </a:xfrm>
          <a:prstGeom prst="line">
            <a:avLst/>
          </a:prstGeom>
          <a:noFill/>
          <a:ln w="25400">
            <a:solidFill>
              <a:srgbClr val="DDDDDD"/>
            </a:solidFill>
            <a:prstDash val="solid"/>
          </a:ln>
        </p:spPr>
      </p:sp>
      <p:sp>
        <p:nvSpPr>
          <p:cNvPr id="8" name="Shape 5"/>
          <p:cNvSpPr/>
          <p:nvPr/>
        </p:nvSpPr>
        <p:spPr>
          <a:xfrm>
            <a:off x="548640" y="2103120"/>
            <a:ext cx="493776" cy="493776"/>
          </a:xfrm>
          <a:prstGeom prst="ellipse">
            <a:avLst/>
          </a:prstGeom>
          <a:solidFill>
            <a:srgbClr val="1E1E1E"/>
          </a:solidFill>
          <a:ln w="25400">
            <a:solidFill>
              <a:srgbClr val="FFFFFF"/>
            </a:solidFill>
            <a:prstDash val="solid"/>
          </a:ln>
        </p:spPr>
      </p:sp>
      <p:sp>
        <p:nvSpPr>
          <p:cNvPr id="9" name="Text 6"/>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80160" y="208483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1" name="Text 8"/>
          <p:cNvSpPr txBox="1"/>
          <p:nvPr/>
        </p:nvSpPr>
        <p:spPr>
          <a:xfrm>
            <a:off x="1280160" y="235915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2" name="Shape 9"/>
          <p:cNvSpPr/>
          <p:nvPr/>
        </p:nvSpPr>
        <p:spPr>
          <a:xfrm>
            <a:off x="548640" y="2770632"/>
            <a:ext cx="493776" cy="493776"/>
          </a:xfrm>
          <a:prstGeom prst="ellipse">
            <a:avLst/>
          </a:prstGeom>
          <a:solidFill>
            <a:srgbClr val="1E1E1E"/>
          </a:solidFill>
          <a:ln w="25400">
            <a:solidFill>
              <a:srgbClr val="FFFFFF"/>
            </a:solidFill>
            <a:prstDash val="solid"/>
          </a:ln>
        </p:spPr>
      </p:sp>
      <p:sp>
        <p:nvSpPr>
          <p:cNvPr id="13" name="Text 10"/>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1280160" y="2752344"/>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5" name="Text 12"/>
          <p:cNvSpPr txBox="1"/>
          <p:nvPr/>
        </p:nvSpPr>
        <p:spPr>
          <a:xfrm>
            <a:off x="1280160" y="3026664"/>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6" name="Shape 13"/>
          <p:cNvSpPr/>
          <p:nvPr/>
        </p:nvSpPr>
        <p:spPr>
          <a:xfrm>
            <a:off x="548640" y="3438144"/>
            <a:ext cx="493776" cy="493776"/>
          </a:xfrm>
          <a:prstGeom prst="ellipse">
            <a:avLst/>
          </a:prstGeom>
          <a:solidFill>
            <a:srgbClr val="1E1E1E"/>
          </a:solidFill>
          <a:ln w="25400">
            <a:solidFill>
              <a:srgbClr val="FFFFFF"/>
            </a:solidFill>
            <a:prstDash val="solid"/>
          </a:ln>
        </p:spPr>
      </p:sp>
      <p:sp>
        <p:nvSpPr>
          <p:cNvPr id="17" name="Text 14"/>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280160" y="3419856"/>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19" name="Text 16"/>
          <p:cNvSpPr txBox="1"/>
          <p:nvPr/>
        </p:nvSpPr>
        <p:spPr>
          <a:xfrm>
            <a:off x="1280160" y="3694176"/>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0" name="Shape 17"/>
          <p:cNvSpPr/>
          <p:nvPr/>
        </p:nvSpPr>
        <p:spPr>
          <a:xfrm>
            <a:off x="548640" y="4105656"/>
            <a:ext cx="493776" cy="493776"/>
          </a:xfrm>
          <a:prstGeom prst="ellipse">
            <a:avLst/>
          </a:prstGeom>
          <a:solidFill>
            <a:srgbClr val="1E1E1E"/>
          </a:solidFill>
          <a:ln w="25400">
            <a:solidFill>
              <a:srgbClr val="FFFFFF"/>
            </a:solidFill>
            <a:prstDash val="solid"/>
          </a:ln>
        </p:spPr>
      </p:sp>
      <p:sp>
        <p:nvSpPr>
          <p:cNvPr id="21" name="Text 18"/>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2" name="Text 19"/>
          <p:cNvSpPr txBox="1"/>
          <p:nvPr/>
        </p:nvSpPr>
        <p:spPr>
          <a:xfrm>
            <a:off x="1280160" y="4087368"/>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3" name="Text 20"/>
          <p:cNvSpPr txBox="1"/>
          <p:nvPr/>
        </p:nvSpPr>
        <p:spPr>
          <a:xfrm>
            <a:off x="1280160" y="4361688"/>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4" name="Shape 21"/>
          <p:cNvSpPr/>
          <p:nvPr/>
        </p:nvSpPr>
        <p:spPr>
          <a:xfrm>
            <a:off x="548640" y="4773168"/>
            <a:ext cx="493776" cy="493776"/>
          </a:xfrm>
          <a:prstGeom prst="ellipse">
            <a:avLst/>
          </a:prstGeom>
          <a:solidFill>
            <a:srgbClr val="1E1E1E"/>
          </a:solidFill>
          <a:ln w="25400">
            <a:solidFill>
              <a:srgbClr val="FFFFFF"/>
            </a:solidFill>
            <a:prstDash val="solid"/>
          </a:ln>
        </p:spPr>
      </p:sp>
      <p:sp>
        <p:nvSpPr>
          <p:cNvPr id="25" name="Text 22"/>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6" name="Text 23"/>
          <p:cNvSpPr txBox="1"/>
          <p:nvPr/>
        </p:nvSpPr>
        <p:spPr>
          <a:xfrm>
            <a:off x="1280160" y="4754880"/>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7" name="Text 24"/>
          <p:cNvSpPr txBox="1"/>
          <p:nvPr/>
        </p:nvSpPr>
        <p:spPr>
          <a:xfrm>
            <a:off x="1280160" y="5029200"/>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28" name="Shape 25"/>
          <p:cNvSpPr/>
          <p:nvPr/>
        </p:nvSpPr>
        <p:spPr>
          <a:xfrm>
            <a:off x="548640" y="5440680"/>
            <a:ext cx="493776" cy="493776"/>
          </a:xfrm>
          <a:prstGeom prst="ellipse">
            <a:avLst/>
          </a:prstGeom>
          <a:solidFill>
            <a:srgbClr val="FCC30A"/>
          </a:solidFill>
          <a:ln w="25400">
            <a:solidFill>
              <a:srgbClr val="FFFFFF"/>
            </a:solidFill>
            <a:prstDash val="solid"/>
          </a:ln>
        </p:spPr>
      </p:sp>
      <p:sp>
        <p:nvSpPr>
          <p:cNvPr id="29" name="Text 26"/>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0" name="Text 27"/>
          <p:cNvSpPr txBox="1"/>
          <p:nvPr/>
        </p:nvSpPr>
        <p:spPr>
          <a:xfrm>
            <a:off x="1280160" y="542239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1" name="Text 28"/>
          <p:cNvSpPr txBox="1"/>
          <p:nvPr/>
        </p:nvSpPr>
        <p:spPr>
          <a:xfrm>
            <a:off x="1280160" y="569671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Marathon, final flow test, pass signed clean</a:t>
            </a:r>
            <a:endParaRPr lang="en-US" sz="1250" dirty="0"/>
          </a:p>
        </p:txBody>
      </p:sp>
      <p:sp>
        <p:nvSpPr>
          <p:cNvPr id="32"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3"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 by heater</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Answers RFI item SP-2; the gauge foam run sets the starting size, the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Carson Cokers, Heaters #1, #2, #3</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Governing ID 3.826"  (4" Sch 80)</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Wilmington DCU H-101</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4.026"  (4.5" OD × 0.237")</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4.026"</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4.276"</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Heater data &amp; coil-specific controls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1234440"/>
                <a:gridCol w="1143000"/>
                <a:gridCol w="777240"/>
                <a:gridCol w="960120"/>
                <a:gridCol w="1417320"/>
                <a:gridCol w="1143000"/>
              </a:tblGrid>
              <a:tr h="457200">
                <a:tc>
                  <a:txBody>
                    <a:bodyPr/>
                    <a:lstStyle/>
                    <a:p>
                      <a:pPr indent="0" marL="0">
                        <a:buNone/>
                      </a:pPr>
                      <a:r>
                        <a:rPr lang="en-US" sz="1150" b="1" dirty="0">
                          <a:solidFill>
                            <a:srgbClr val="FFFFFF"/>
                          </a:solidFill>
                          <a:latin typeface="Arial" pitchFamily="34" charset="0"/>
                          <a:ea typeface="Arial" pitchFamily="34" charset="-122"/>
                          <a:cs typeface="Arial" pitchFamily="34" charset="-120"/>
                        </a:rPr>
                        <a:t>Heater</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Section</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Passes</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Footage</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Tube ID</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Metallurgy</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2,268'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SS 321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4,032'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 / 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A335 P9</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2,508'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7,524'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6" name="Text 3"/>
          <p:cNvSpPr txBox="1"/>
          <p:nvPr/>
        </p:nvSpPr>
        <p:spPr>
          <a:xfrm>
            <a:off x="548640" y="4206240"/>
            <a:ext cx="667512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Technical Data (coil data provided by Marathon)</a:t>
            </a:r>
            <a:endParaRPr lang="en-US" sz="1000" dirty="0"/>
          </a:p>
        </p:txBody>
      </p:sp>
      <p:sp>
        <p:nvSpPr>
          <p:cNvPr id="7" name="Text 4"/>
          <p:cNvSpPr txBox="1"/>
          <p:nvPr/>
        </p:nvSpPr>
        <p:spPr>
          <a:xfrm>
            <a:off x="548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6,300'</a:t>
            </a:r>
            <a:endParaRPr lang="en-US" sz="3000" dirty="0"/>
          </a:p>
        </p:txBody>
      </p:sp>
      <p:sp>
        <p:nvSpPr>
          <p:cNvPr id="8" name="Text 5"/>
          <p:cNvSpPr txBox="1"/>
          <p:nvPr/>
        </p:nvSpPr>
        <p:spPr>
          <a:xfrm>
            <a:off x="548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per Carson heater</a:t>
            </a:r>
            <a:endParaRPr lang="en-US" sz="1200" dirty="0"/>
          </a:p>
        </p:txBody>
      </p:sp>
      <p:sp>
        <p:nvSpPr>
          <p:cNvPr id="9" name="Text 6"/>
          <p:cNvSpPr txBox="1"/>
          <p:nvPr/>
        </p:nvSpPr>
        <p:spPr>
          <a:xfrm>
            <a:off x="2834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10,032'</a:t>
            </a:r>
            <a:endParaRPr lang="en-US" sz="3000" dirty="0"/>
          </a:p>
        </p:txBody>
      </p:sp>
      <p:sp>
        <p:nvSpPr>
          <p:cNvPr id="10" name="Text 7"/>
          <p:cNvSpPr txBox="1"/>
          <p:nvPr/>
        </p:nvSpPr>
        <p:spPr>
          <a:xfrm>
            <a:off x="2834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on H-101</a:t>
            </a:r>
            <a:endParaRPr lang="en-US" sz="1200" dirty="0"/>
          </a:p>
        </p:txBody>
      </p:sp>
      <p:sp>
        <p:nvSpPr>
          <p:cNvPr id="11" name="Text 8"/>
          <p:cNvSpPr txBox="1"/>
          <p:nvPr/>
        </p:nvSpPr>
        <p:spPr>
          <a:xfrm>
            <a:off x="5120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Grade</a:t>
            </a:r>
            <a:endParaRPr lang="en-US" sz="3000" dirty="0"/>
          </a:p>
        </p:txBody>
      </p:sp>
      <p:sp>
        <p:nvSpPr>
          <p:cNvPr id="12" name="Text 9"/>
          <p:cNvSpPr txBox="1"/>
          <p:nvPr/>
        </p:nvSpPr>
        <p:spPr>
          <a:xfrm>
            <a:off x="5120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launcher access (H-101 radiant: grade &amp; 1st deck)</a:t>
            </a:r>
            <a:endParaRPr lang="en-US" sz="1200" dirty="0"/>
          </a:p>
        </p:txBody>
      </p:sp>
      <p:sp>
        <p:nvSpPr>
          <p:cNvPr id="13" name="Shape 10"/>
          <p:cNvSpPr/>
          <p:nvPr/>
        </p:nvSpPr>
        <p:spPr>
          <a:xfrm>
            <a:off x="7680960" y="178308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4" name="Shape 11"/>
          <p:cNvSpPr/>
          <p:nvPr/>
        </p:nvSpPr>
        <p:spPr>
          <a:xfrm>
            <a:off x="7882128" y="2057400"/>
            <a:ext cx="658368" cy="658368"/>
          </a:xfrm>
          <a:prstGeom prst="ellipse">
            <a:avLst/>
          </a:prstGeom>
          <a:solidFill>
            <a:srgbClr val="1E1E1E"/>
          </a:solidFill>
          <a:ln w="12700">
            <a:solidFill>
              <a:srgbClr val="1E1E1E"/>
            </a:solidFill>
            <a:prstDash val="solid"/>
          </a:ln>
        </p:spPr>
      </p:sp>
      <p:pic>
        <p:nvPicPr>
          <p:cNvPr id="15" name="Image 0" descr="preencoded.png">    </p:cNvPr>
          <p:cNvPicPr>
            <a:picLocks noChangeAspect="1"/>
          </p:cNvPicPr>
          <p:nvPr/>
        </p:nvPicPr>
        <p:blipFill>
          <a:blip r:embed="rId1"/>
          <a:stretch>
            <a:fillRect/>
          </a:stretch>
        </p:blipFill>
        <p:spPr>
          <a:xfrm>
            <a:off x="8046720" y="2221992"/>
            <a:ext cx="329184" cy="329184"/>
          </a:xfrm>
          <a:prstGeom prst="rect">
            <a:avLst/>
          </a:prstGeom>
        </p:spPr>
      </p:pic>
      <p:sp>
        <p:nvSpPr>
          <p:cNvPr id="16" name="Text 12"/>
          <p:cNvSpPr txBox="1"/>
          <p:nvPr/>
        </p:nvSpPr>
        <p:spPr>
          <a:xfrm>
            <a:off x="8732520" y="196596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Stainless coils</a:t>
            </a:r>
            <a:endParaRPr lang="en-US" sz="1500" dirty="0"/>
          </a:p>
        </p:txBody>
      </p:sp>
      <p:sp>
        <p:nvSpPr>
          <p:cNvPr id="17" name="Text 13"/>
          <p:cNvSpPr txBox="1"/>
          <p:nvPr/>
        </p:nvSpPr>
        <p:spPr>
          <a:xfrm>
            <a:off x="8732520" y="228600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Water quality verified before fill; passivation coordinated with Marathon; no galvanized contact with tubes</a:t>
            </a:r>
            <a:endParaRPr lang="en-US" sz="1150" dirty="0"/>
          </a:p>
        </p:txBody>
      </p:sp>
      <p:sp>
        <p:nvSpPr>
          <p:cNvPr id="18" name="Shape 14"/>
          <p:cNvSpPr/>
          <p:nvPr/>
        </p:nvSpPr>
        <p:spPr>
          <a:xfrm>
            <a:off x="7680960" y="324612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9" name="Shape 15"/>
          <p:cNvSpPr/>
          <p:nvPr/>
        </p:nvSpPr>
        <p:spPr>
          <a:xfrm>
            <a:off x="7882128" y="3520440"/>
            <a:ext cx="658368" cy="658368"/>
          </a:xfrm>
          <a:prstGeom prst="ellipse">
            <a:avLst/>
          </a:prstGeom>
          <a:solidFill>
            <a:srgbClr val="1E1E1E"/>
          </a:solidFill>
          <a:ln w="12700">
            <a:solidFill>
              <a:srgbClr val="1E1E1E"/>
            </a:solidFill>
            <a:prstDash val="solid"/>
          </a:ln>
        </p:spPr>
      </p:sp>
      <p:pic>
        <p:nvPicPr>
          <p:cNvPr id="20" name="Image 1" descr="preencoded.png">    </p:cNvPr>
          <p:cNvPicPr>
            <a:picLocks noChangeAspect="1"/>
          </p:cNvPicPr>
          <p:nvPr/>
        </p:nvPicPr>
        <p:blipFill>
          <a:blip r:embed="rId2"/>
          <a:stretch>
            <a:fillRect/>
          </a:stretch>
        </p:blipFill>
        <p:spPr>
          <a:xfrm>
            <a:off x="8046720" y="3685032"/>
            <a:ext cx="329184" cy="329184"/>
          </a:xfrm>
          <a:prstGeom prst="rect">
            <a:avLst/>
          </a:prstGeom>
        </p:spPr>
      </p:pic>
      <p:sp>
        <p:nvSpPr>
          <p:cNvPr id="21" name="Text 16"/>
          <p:cNvSpPr txBox="1"/>
          <p:nvPr/>
        </p:nvSpPr>
        <p:spPr>
          <a:xfrm>
            <a:off x="8732520" y="342900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Connections</a:t>
            </a:r>
            <a:endParaRPr lang="en-US" sz="1500" dirty="0"/>
          </a:p>
        </p:txBody>
      </p:sp>
      <p:sp>
        <p:nvSpPr>
          <p:cNvPr id="22" name="Text 17"/>
          <p:cNvSpPr txBox="1"/>
          <p:nvPr/>
        </p:nvSpPr>
        <p:spPr>
          <a:xfrm>
            <a:off x="8732520" y="374904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600# RFWN coil flanges adapted to USA DeBusk 300# launchers and receivers</a:t>
            </a:r>
            <a:endParaRPr lang="en-US" sz="1150" dirty="0"/>
          </a:p>
        </p:txBody>
      </p:sp>
      <p:sp>
        <p:nvSpPr>
          <p:cNvPr id="23" name="Shape 18"/>
          <p:cNvSpPr/>
          <p:nvPr/>
        </p:nvSpPr>
        <p:spPr>
          <a:xfrm>
            <a:off x="7680960" y="470916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4" name="Shape 19"/>
          <p:cNvSpPr/>
          <p:nvPr/>
        </p:nvSpPr>
        <p:spPr>
          <a:xfrm>
            <a:off x="7882128" y="4983480"/>
            <a:ext cx="658368" cy="658368"/>
          </a:xfrm>
          <a:prstGeom prst="ellipse">
            <a:avLst/>
          </a:prstGeom>
          <a:solidFill>
            <a:srgbClr val="1E1E1E"/>
          </a:solidFill>
          <a:ln w="12700">
            <a:solidFill>
              <a:srgbClr val="1E1E1E"/>
            </a:solidFill>
            <a:prstDash val="solid"/>
          </a:ln>
        </p:spPr>
      </p:sp>
      <p:pic>
        <p:nvPicPr>
          <p:cNvPr id="25" name="Image 2" descr="preencoded.png">    </p:cNvPr>
          <p:cNvPicPr>
            <a:picLocks noChangeAspect="1"/>
          </p:cNvPicPr>
          <p:nvPr/>
        </p:nvPicPr>
        <p:blipFill>
          <a:blip r:embed="rId3"/>
          <a:stretch>
            <a:fillRect/>
          </a:stretch>
        </p:blipFill>
        <p:spPr>
          <a:xfrm>
            <a:off x="8046720" y="5148072"/>
            <a:ext cx="329184" cy="329184"/>
          </a:xfrm>
          <a:prstGeom prst="rect">
            <a:avLst/>
          </a:prstGeom>
        </p:spPr>
      </p:pic>
      <p:sp>
        <p:nvSpPr>
          <p:cNvPr id="26" name="Text 20"/>
          <p:cNvSpPr txBox="1"/>
          <p:nvPr/>
        </p:nvSpPr>
        <p:spPr>
          <a:xfrm>
            <a:off x="8732520" y="489204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Return bends</a:t>
            </a:r>
            <a:endParaRPr lang="en-US" sz="1500" dirty="0"/>
          </a:p>
        </p:txBody>
      </p:sp>
      <p:sp>
        <p:nvSpPr>
          <p:cNvPr id="27" name="Text 21"/>
          <p:cNvSpPr txBox="1"/>
          <p:nvPr/>
        </p:nvSpPr>
        <p:spPr>
          <a:xfrm>
            <a:off x="8732520" y="521208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Pig length and flexibility selected for 180° returns and mule ears</a:t>
            </a:r>
            <a:endParaRPr lang="en-US" sz="1150" dirty="0"/>
          </a:p>
        </p:txBody>
      </p:sp>
      <p:sp>
        <p:nvSpPr>
          <p:cNvPr id="28"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9"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Execution plan per occurrence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3429000" y="2194560"/>
            <a:ext cx="0" cy="3511296"/>
          </a:xfrm>
          <a:prstGeom prst="line">
            <a:avLst/>
          </a:prstGeom>
          <a:noFill/>
          <a:ln w="12700">
            <a:solidFill>
              <a:srgbClr val="E6E6E6"/>
            </a:solidFill>
            <a:prstDash val="dash"/>
          </a:ln>
        </p:spPr>
      </p:sp>
      <p:sp>
        <p:nvSpPr>
          <p:cNvPr id="7" name="Text 5"/>
          <p:cNvSpPr txBox="1"/>
          <p:nvPr/>
        </p:nvSpPr>
        <p:spPr>
          <a:xfrm>
            <a:off x="3063240"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0 h</a:t>
            </a:r>
            <a:endParaRPr lang="en-US" sz="1000" dirty="0"/>
          </a:p>
        </p:txBody>
      </p:sp>
      <p:sp>
        <p:nvSpPr>
          <p:cNvPr id="8" name="Shape 6"/>
          <p:cNvSpPr/>
          <p:nvPr/>
        </p:nvSpPr>
        <p:spPr>
          <a:xfrm>
            <a:off x="5096022" y="2194560"/>
            <a:ext cx="0" cy="3511296"/>
          </a:xfrm>
          <a:prstGeom prst="line">
            <a:avLst/>
          </a:prstGeom>
          <a:noFill/>
          <a:ln w="12700">
            <a:solidFill>
              <a:srgbClr val="E6E6E6"/>
            </a:solidFill>
            <a:prstDash val="dash"/>
          </a:ln>
        </p:spPr>
      </p:sp>
      <p:sp>
        <p:nvSpPr>
          <p:cNvPr id="9" name="Text 7"/>
          <p:cNvSpPr txBox="1"/>
          <p:nvPr/>
        </p:nvSpPr>
        <p:spPr>
          <a:xfrm>
            <a:off x="4730262"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12 h</a:t>
            </a:r>
            <a:endParaRPr lang="en-US" sz="1000" dirty="0"/>
          </a:p>
        </p:txBody>
      </p:sp>
      <p:sp>
        <p:nvSpPr>
          <p:cNvPr id="10" name="Shape 8"/>
          <p:cNvSpPr/>
          <p:nvPr/>
        </p:nvSpPr>
        <p:spPr>
          <a:xfrm>
            <a:off x="6763043" y="2194560"/>
            <a:ext cx="0" cy="3511296"/>
          </a:xfrm>
          <a:prstGeom prst="line">
            <a:avLst/>
          </a:prstGeom>
          <a:noFill/>
          <a:ln w="12700">
            <a:solidFill>
              <a:srgbClr val="E6E6E6"/>
            </a:solidFill>
            <a:prstDash val="dash"/>
          </a:ln>
        </p:spPr>
      </p:sp>
      <p:sp>
        <p:nvSpPr>
          <p:cNvPr id="11" name="Text 9"/>
          <p:cNvSpPr txBox="1"/>
          <p:nvPr/>
        </p:nvSpPr>
        <p:spPr>
          <a:xfrm>
            <a:off x="6397283"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24 h</a:t>
            </a:r>
            <a:endParaRPr lang="en-US" sz="1000" dirty="0"/>
          </a:p>
        </p:txBody>
      </p:sp>
      <p:sp>
        <p:nvSpPr>
          <p:cNvPr id="12" name="Shape 10"/>
          <p:cNvSpPr/>
          <p:nvPr/>
        </p:nvSpPr>
        <p:spPr>
          <a:xfrm>
            <a:off x="8430065" y="2194560"/>
            <a:ext cx="0" cy="3511296"/>
          </a:xfrm>
          <a:prstGeom prst="line">
            <a:avLst/>
          </a:prstGeom>
          <a:noFill/>
          <a:ln w="12700">
            <a:solidFill>
              <a:srgbClr val="E6E6E6"/>
            </a:solidFill>
            <a:prstDash val="dash"/>
          </a:ln>
        </p:spPr>
      </p:sp>
      <p:sp>
        <p:nvSpPr>
          <p:cNvPr id="13" name="Text 11"/>
          <p:cNvSpPr txBox="1"/>
          <p:nvPr/>
        </p:nvSpPr>
        <p:spPr>
          <a:xfrm>
            <a:off x="8064305"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36 h</a:t>
            </a:r>
            <a:endParaRPr lang="en-US" sz="1000" dirty="0"/>
          </a:p>
        </p:txBody>
      </p:sp>
      <p:sp>
        <p:nvSpPr>
          <p:cNvPr id="14" name="Shape 12"/>
          <p:cNvSpPr/>
          <p:nvPr/>
        </p:nvSpPr>
        <p:spPr>
          <a:xfrm>
            <a:off x="10097086" y="2194560"/>
            <a:ext cx="0" cy="3511296"/>
          </a:xfrm>
          <a:prstGeom prst="line">
            <a:avLst/>
          </a:prstGeom>
          <a:noFill/>
          <a:ln w="12700">
            <a:solidFill>
              <a:srgbClr val="E6E6E6"/>
            </a:solidFill>
            <a:prstDash val="dash"/>
          </a:ln>
        </p:spPr>
      </p:sp>
      <p:sp>
        <p:nvSpPr>
          <p:cNvPr id="15" name="Text 13"/>
          <p:cNvSpPr txBox="1"/>
          <p:nvPr/>
        </p:nvSpPr>
        <p:spPr>
          <a:xfrm>
            <a:off x="9731326"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48 h</a:t>
            </a:r>
            <a:endParaRPr lang="en-US" sz="1000" dirty="0"/>
          </a:p>
        </p:txBody>
      </p:sp>
      <p:sp>
        <p:nvSpPr>
          <p:cNvPr id="16" name="Text 14"/>
          <p:cNvSpPr txBox="1"/>
          <p:nvPr/>
        </p:nvSpPr>
        <p:spPr>
          <a:xfrm>
            <a:off x="548640" y="2331720"/>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#1</a:t>
            </a:r>
            <a:endParaRPr lang="en-US" sz="1300" dirty="0"/>
          </a:p>
        </p:txBody>
      </p:sp>
      <p:sp>
        <p:nvSpPr>
          <p:cNvPr id="17" name="Shape 15"/>
          <p:cNvSpPr/>
          <p:nvPr/>
        </p:nvSpPr>
        <p:spPr>
          <a:xfrm>
            <a:off x="3429000" y="2331720"/>
            <a:ext cx="806079" cy="566928"/>
          </a:xfrm>
          <a:prstGeom prst="rect">
            <a:avLst/>
          </a:prstGeom>
          <a:solidFill>
            <a:srgbClr val="1E1E1E"/>
          </a:solidFill>
          <a:ln w="12700">
            <a:solidFill>
              <a:srgbClr val="1E1E1E"/>
            </a:solidFill>
            <a:prstDash val="solid"/>
          </a:ln>
        </p:spPr>
      </p:sp>
      <p:sp>
        <p:nvSpPr>
          <p:cNvPr id="18" name="Text 16"/>
          <p:cNvSpPr txBox="1"/>
          <p:nvPr/>
        </p:nvSpPr>
        <p:spPr>
          <a:xfrm>
            <a:off x="3429000"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19" name="Shape 17"/>
          <p:cNvSpPr/>
          <p:nvPr/>
        </p:nvSpPr>
        <p:spPr>
          <a:xfrm>
            <a:off x="4262511" y="2331720"/>
            <a:ext cx="4695796" cy="566928"/>
          </a:xfrm>
          <a:prstGeom prst="rect">
            <a:avLst/>
          </a:prstGeom>
          <a:solidFill>
            <a:srgbClr val="FCC30A"/>
          </a:solidFill>
          <a:ln w="12700">
            <a:solidFill>
              <a:srgbClr val="FCC30A"/>
            </a:solidFill>
            <a:prstDash val="solid"/>
          </a:ln>
        </p:spPr>
      </p:sp>
      <p:sp>
        <p:nvSpPr>
          <p:cNvPr id="20" name="Text 18"/>
          <p:cNvSpPr txBox="1"/>
          <p:nvPr/>
        </p:nvSpPr>
        <p:spPr>
          <a:xfrm>
            <a:off x="4262511" y="2331720"/>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1" name="Shape 19"/>
          <p:cNvSpPr/>
          <p:nvPr/>
        </p:nvSpPr>
        <p:spPr>
          <a:xfrm>
            <a:off x="8985738" y="2331720"/>
            <a:ext cx="806079" cy="566928"/>
          </a:xfrm>
          <a:prstGeom prst="rect">
            <a:avLst/>
          </a:prstGeom>
          <a:solidFill>
            <a:srgbClr val="1E1E1E"/>
          </a:solidFill>
          <a:ln w="12700">
            <a:solidFill>
              <a:srgbClr val="1E1E1E"/>
            </a:solidFill>
            <a:prstDash val="solid"/>
          </a:ln>
        </p:spPr>
      </p:sp>
      <p:sp>
        <p:nvSpPr>
          <p:cNvPr id="22" name="Text 20"/>
          <p:cNvSpPr txBox="1"/>
          <p:nvPr/>
        </p:nvSpPr>
        <p:spPr>
          <a:xfrm>
            <a:off x="8985738"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3" name="Text 21"/>
          <p:cNvSpPr txBox="1"/>
          <p:nvPr/>
        </p:nvSpPr>
        <p:spPr>
          <a:xfrm>
            <a:off x="9928977" y="2331720"/>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24" name="Text 22"/>
          <p:cNvSpPr txBox="1"/>
          <p:nvPr/>
        </p:nvSpPr>
        <p:spPr>
          <a:xfrm>
            <a:off x="548640" y="3209544"/>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#2</a:t>
            </a:r>
            <a:endParaRPr lang="en-US" sz="1300" dirty="0"/>
          </a:p>
        </p:txBody>
      </p:sp>
      <p:sp>
        <p:nvSpPr>
          <p:cNvPr id="25" name="Shape 23"/>
          <p:cNvSpPr/>
          <p:nvPr/>
        </p:nvSpPr>
        <p:spPr>
          <a:xfrm>
            <a:off x="3429000" y="3209544"/>
            <a:ext cx="806079" cy="566928"/>
          </a:xfrm>
          <a:prstGeom prst="rect">
            <a:avLst/>
          </a:prstGeom>
          <a:solidFill>
            <a:srgbClr val="1E1E1E"/>
          </a:solidFill>
          <a:ln w="12700">
            <a:solidFill>
              <a:srgbClr val="1E1E1E"/>
            </a:solidFill>
            <a:prstDash val="solid"/>
          </a:ln>
        </p:spPr>
      </p:sp>
      <p:sp>
        <p:nvSpPr>
          <p:cNvPr id="26" name="Text 24"/>
          <p:cNvSpPr txBox="1"/>
          <p:nvPr/>
        </p:nvSpPr>
        <p:spPr>
          <a:xfrm>
            <a:off x="3429000"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7" name="Shape 25"/>
          <p:cNvSpPr/>
          <p:nvPr/>
        </p:nvSpPr>
        <p:spPr>
          <a:xfrm>
            <a:off x="4262511" y="3209544"/>
            <a:ext cx="4695796" cy="566928"/>
          </a:xfrm>
          <a:prstGeom prst="rect">
            <a:avLst/>
          </a:prstGeom>
          <a:solidFill>
            <a:srgbClr val="FCC30A"/>
          </a:solidFill>
          <a:ln w="12700">
            <a:solidFill>
              <a:srgbClr val="FCC30A"/>
            </a:solidFill>
            <a:prstDash val="solid"/>
          </a:ln>
        </p:spPr>
      </p:sp>
      <p:sp>
        <p:nvSpPr>
          <p:cNvPr id="28" name="Text 26"/>
          <p:cNvSpPr txBox="1"/>
          <p:nvPr/>
        </p:nvSpPr>
        <p:spPr>
          <a:xfrm>
            <a:off x="4262511" y="3209544"/>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9" name="Shape 27"/>
          <p:cNvSpPr/>
          <p:nvPr/>
        </p:nvSpPr>
        <p:spPr>
          <a:xfrm>
            <a:off x="8985738" y="3209544"/>
            <a:ext cx="806079" cy="566928"/>
          </a:xfrm>
          <a:prstGeom prst="rect">
            <a:avLst/>
          </a:prstGeom>
          <a:solidFill>
            <a:srgbClr val="1E1E1E"/>
          </a:solidFill>
          <a:ln w="12700">
            <a:solidFill>
              <a:srgbClr val="1E1E1E"/>
            </a:solidFill>
            <a:prstDash val="solid"/>
          </a:ln>
        </p:spPr>
      </p:sp>
      <p:sp>
        <p:nvSpPr>
          <p:cNvPr id="30" name="Text 28"/>
          <p:cNvSpPr txBox="1"/>
          <p:nvPr/>
        </p:nvSpPr>
        <p:spPr>
          <a:xfrm>
            <a:off x="8985738"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1" name="Text 29"/>
          <p:cNvSpPr txBox="1"/>
          <p:nvPr/>
        </p:nvSpPr>
        <p:spPr>
          <a:xfrm>
            <a:off x="9928977" y="3209544"/>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32" name="Text 30"/>
          <p:cNvSpPr txBox="1"/>
          <p:nvPr/>
        </p:nvSpPr>
        <p:spPr>
          <a:xfrm>
            <a:off x="548640" y="4087368"/>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#2, Heater #3</a:t>
            </a:r>
            <a:endParaRPr lang="en-US" sz="1300" dirty="0"/>
          </a:p>
        </p:txBody>
      </p:sp>
      <p:sp>
        <p:nvSpPr>
          <p:cNvPr id="33" name="Shape 31"/>
          <p:cNvSpPr/>
          <p:nvPr/>
        </p:nvSpPr>
        <p:spPr>
          <a:xfrm>
            <a:off x="3429000" y="4087368"/>
            <a:ext cx="806079" cy="566928"/>
          </a:xfrm>
          <a:prstGeom prst="rect">
            <a:avLst/>
          </a:prstGeom>
          <a:solidFill>
            <a:srgbClr val="1E1E1E"/>
          </a:solidFill>
          <a:ln w="12700">
            <a:solidFill>
              <a:srgbClr val="1E1E1E"/>
            </a:solidFill>
            <a:prstDash val="solid"/>
          </a:ln>
        </p:spPr>
      </p:sp>
      <p:sp>
        <p:nvSpPr>
          <p:cNvPr id="34" name="Text 32"/>
          <p:cNvSpPr txBox="1"/>
          <p:nvPr/>
        </p:nvSpPr>
        <p:spPr>
          <a:xfrm>
            <a:off x="3429000"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5" name="Shape 33"/>
          <p:cNvSpPr/>
          <p:nvPr/>
        </p:nvSpPr>
        <p:spPr>
          <a:xfrm>
            <a:off x="4262511" y="4087368"/>
            <a:ext cx="4695796" cy="566928"/>
          </a:xfrm>
          <a:prstGeom prst="rect">
            <a:avLst/>
          </a:prstGeom>
          <a:solidFill>
            <a:srgbClr val="FCC30A"/>
          </a:solidFill>
          <a:ln w="12700">
            <a:solidFill>
              <a:srgbClr val="FCC30A"/>
            </a:solidFill>
            <a:prstDash val="solid"/>
          </a:ln>
        </p:spPr>
      </p:sp>
      <p:sp>
        <p:nvSpPr>
          <p:cNvPr id="36" name="Text 34"/>
          <p:cNvSpPr txBox="1"/>
          <p:nvPr/>
        </p:nvSpPr>
        <p:spPr>
          <a:xfrm>
            <a:off x="4262511" y="4087368"/>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37" name="Shape 35"/>
          <p:cNvSpPr/>
          <p:nvPr/>
        </p:nvSpPr>
        <p:spPr>
          <a:xfrm>
            <a:off x="8985738" y="4087368"/>
            <a:ext cx="806079" cy="566928"/>
          </a:xfrm>
          <a:prstGeom prst="rect">
            <a:avLst/>
          </a:prstGeom>
          <a:solidFill>
            <a:srgbClr val="1E1E1E"/>
          </a:solidFill>
          <a:ln w="12700">
            <a:solidFill>
              <a:srgbClr val="1E1E1E"/>
            </a:solidFill>
            <a:prstDash val="solid"/>
          </a:ln>
        </p:spPr>
      </p:sp>
      <p:sp>
        <p:nvSpPr>
          <p:cNvPr id="38" name="Text 36"/>
          <p:cNvSpPr txBox="1"/>
          <p:nvPr/>
        </p:nvSpPr>
        <p:spPr>
          <a:xfrm>
            <a:off x="8985738"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9" name="Text 37"/>
          <p:cNvSpPr txBox="1"/>
          <p:nvPr/>
        </p:nvSpPr>
        <p:spPr>
          <a:xfrm>
            <a:off x="9928977" y="4087368"/>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40" name="Text 38"/>
          <p:cNvSpPr txBox="1"/>
          <p:nvPr/>
        </p:nvSpPr>
        <p:spPr>
          <a:xfrm>
            <a:off x="548640" y="4965192"/>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Wilmington DCU, H-101</a:t>
            </a:r>
            <a:endParaRPr lang="en-US" sz="1300" dirty="0"/>
          </a:p>
        </p:txBody>
      </p:sp>
      <p:sp>
        <p:nvSpPr>
          <p:cNvPr id="41" name="Shape 39"/>
          <p:cNvSpPr/>
          <p:nvPr/>
        </p:nvSpPr>
        <p:spPr>
          <a:xfrm>
            <a:off x="3429000" y="4965192"/>
            <a:ext cx="806079" cy="566928"/>
          </a:xfrm>
          <a:prstGeom prst="rect">
            <a:avLst/>
          </a:prstGeom>
          <a:solidFill>
            <a:srgbClr val="1E1E1E"/>
          </a:solidFill>
          <a:ln w="12700">
            <a:solidFill>
              <a:srgbClr val="1E1E1E"/>
            </a:solidFill>
            <a:prstDash val="solid"/>
          </a:ln>
        </p:spPr>
      </p:sp>
      <p:sp>
        <p:nvSpPr>
          <p:cNvPr id="42" name="Text 40"/>
          <p:cNvSpPr txBox="1"/>
          <p:nvPr/>
        </p:nvSpPr>
        <p:spPr>
          <a:xfrm>
            <a:off x="3429000"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43" name="Shape 41"/>
          <p:cNvSpPr/>
          <p:nvPr/>
        </p:nvSpPr>
        <p:spPr>
          <a:xfrm>
            <a:off x="4262511" y="4965192"/>
            <a:ext cx="2473100" cy="566928"/>
          </a:xfrm>
          <a:prstGeom prst="rect">
            <a:avLst/>
          </a:prstGeom>
          <a:solidFill>
            <a:srgbClr val="FCC30A"/>
          </a:solidFill>
          <a:ln w="12700">
            <a:solidFill>
              <a:srgbClr val="FCC30A"/>
            </a:solidFill>
            <a:prstDash val="solid"/>
          </a:ln>
        </p:spPr>
      </p:sp>
      <p:sp>
        <p:nvSpPr>
          <p:cNvPr id="44" name="Text 42"/>
          <p:cNvSpPr txBox="1"/>
          <p:nvPr/>
        </p:nvSpPr>
        <p:spPr>
          <a:xfrm>
            <a:off x="4262511"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1 &amp; 2: 18 h</a:t>
            </a:r>
            <a:endParaRPr lang="en-US" sz="1200" dirty="0"/>
          </a:p>
        </p:txBody>
      </p:sp>
      <p:sp>
        <p:nvSpPr>
          <p:cNvPr id="45" name="Shape 43"/>
          <p:cNvSpPr/>
          <p:nvPr/>
        </p:nvSpPr>
        <p:spPr>
          <a:xfrm>
            <a:off x="6763043" y="4965192"/>
            <a:ext cx="528242" cy="566928"/>
          </a:xfrm>
          <a:prstGeom prst="rect">
            <a:avLst/>
          </a:prstGeom>
          <a:solidFill>
            <a:srgbClr val="BDBDBD"/>
          </a:solidFill>
          <a:ln w="12700">
            <a:solidFill>
              <a:srgbClr val="BDBDBD"/>
            </a:solidFill>
            <a:prstDash val="solid"/>
          </a:ln>
        </p:spPr>
      </p:sp>
      <p:sp>
        <p:nvSpPr>
          <p:cNvPr id="46" name="Text 44"/>
          <p:cNvSpPr txBox="1"/>
          <p:nvPr/>
        </p:nvSpPr>
        <p:spPr>
          <a:xfrm>
            <a:off x="6763043" y="4965192"/>
            <a:ext cx="528242"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4</a:t>
            </a:r>
            <a:endParaRPr lang="en-US" sz="1200" dirty="0"/>
          </a:p>
        </p:txBody>
      </p:sp>
      <p:sp>
        <p:nvSpPr>
          <p:cNvPr id="47" name="Shape 45"/>
          <p:cNvSpPr/>
          <p:nvPr/>
        </p:nvSpPr>
        <p:spPr>
          <a:xfrm>
            <a:off x="7318717" y="4965192"/>
            <a:ext cx="2473100" cy="566928"/>
          </a:xfrm>
          <a:prstGeom prst="rect">
            <a:avLst/>
          </a:prstGeom>
          <a:solidFill>
            <a:srgbClr val="FCC30A"/>
          </a:solidFill>
          <a:ln w="12700">
            <a:solidFill>
              <a:srgbClr val="FCC30A"/>
            </a:solidFill>
            <a:prstDash val="solid"/>
          </a:ln>
        </p:spPr>
      </p:sp>
      <p:sp>
        <p:nvSpPr>
          <p:cNvPr id="48" name="Text 46"/>
          <p:cNvSpPr txBox="1"/>
          <p:nvPr/>
        </p:nvSpPr>
        <p:spPr>
          <a:xfrm>
            <a:off x="7318717"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3 &amp; 4: 18 h</a:t>
            </a:r>
            <a:endParaRPr lang="en-US" sz="1200" dirty="0"/>
          </a:p>
        </p:txBody>
      </p:sp>
      <p:sp>
        <p:nvSpPr>
          <p:cNvPr id="49" name="Shape 47"/>
          <p:cNvSpPr/>
          <p:nvPr/>
        </p:nvSpPr>
        <p:spPr>
          <a:xfrm>
            <a:off x="9819249" y="4965192"/>
            <a:ext cx="806079" cy="566928"/>
          </a:xfrm>
          <a:prstGeom prst="rect">
            <a:avLst/>
          </a:prstGeom>
          <a:solidFill>
            <a:srgbClr val="1E1E1E"/>
          </a:solidFill>
          <a:ln w="12700">
            <a:solidFill>
              <a:srgbClr val="1E1E1E"/>
            </a:solidFill>
            <a:prstDash val="solid"/>
          </a:ln>
        </p:spPr>
      </p:sp>
      <p:sp>
        <p:nvSpPr>
          <p:cNvPr id="50" name="Text 48"/>
          <p:cNvSpPr txBox="1"/>
          <p:nvPr/>
        </p:nvSpPr>
        <p:spPr>
          <a:xfrm>
            <a:off x="9819249"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1" name="Text 49"/>
          <p:cNvSpPr txBox="1"/>
          <p:nvPr/>
        </p:nvSpPr>
        <p:spPr>
          <a:xfrm>
            <a:off x="10762488" y="4965192"/>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52 h</a:t>
            </a:r>
            <a:endParaRPr lang="en-US" sz="1800" dirty="0"/>
          </a:p>
        </p:txBody>
      </p:sp>
      <p:sp>
        <p:nvSpPr>
          <p:cNvPr id="52" name="Shape 50"/>
          <p:cNvSpPr/>
          <p:nvPr/>
        </p:nvSpPr>
        <p:spPr>
          <a:xfrm>
            <a:off x="3429000" y="5897880"/>
            <a:ext cx="256032" cy="182880"/>
          </a:xfrm>
          <a:prstGeom prst="rect">
            <a:avLst/>
          </a:prstGeom>
          <a:solidFill>
            <a:srgbClr val="1E1E1E"/>
          </a:solidFill>
          <a:ln w="12700">
            <a:solidFill>
              <a:srgbClr val="1E1E1E"/>
            </a:solidFill>
            <a:prstDash val="solid"/>
          </a:ln>
        </p:spPr>
      </p:sp>
      <p:sp>
        <p:nvSpPr>
          <p:cNvPr id="53" name="Text 51"/>
          <p:cNvSpPr txBox="1"/>
          <p:nvPr/>
        </p:nvSpPr>
        <p:spPr>
          <a:xfrm>
            <a:off x="377647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Rig-in / rig-out</a:t>
            </a:r>
            <a:endParaRPr lang="en-US" sz="1100" dirty="0"/>
          </a:p>
        </p:txBody>
      </p:sp>
      <p:sp>
        <p:nvSpPr>
          <p:cNvPr id="54" name="Shape 52"/>
          <p:cNvSpPr/>
          <p:nvPr/>
        </p:nvSpPr>
        <p:spPr>
          <a:xfrm>
            <a:off x="5532120" y="5897880"/>
            <a:ext cx="256032" cy="182880"/>
          </a:xfrm>
          <a:prstGeom prst="rect">
            <a:avLst/>
          </a:prstGeom>
          <a:solidFill>
            <a:srgbClr val="FCC30A"/>
          </a:solidFill>
          <a:ln w="12700">
            <a:solidFill>
              <a:srgbClr val="FCC30A"/>
            </a:solidFill>
            <a:prstDash val="solid"/>
          </a:ln>
        </p:spPr>
      </p:sp>
      <p:sp>
        <p:nvSpPr>
          <p:cNvPr id="55" name="Text 53"/>
          <p:cNvSpPr txBox="1"/>
          <p:nvPr/>
        </p:nvSpPr>
        <p:spPr>
          <a:xfrm>
            <a:off x="587959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56" name="Shape 54"/>
          <p:cNvSpPr/>
          <p:nvPr/>
        </p:nvSpPr>
        <p:spPr>
          <a:xfrm>
            <a:off x="7635240" y="5897880"/>
            <a:ext cx="256032" cy="182880"/>
          </a:xfrm>
          <a:prstGeom prst="rect">
            <a:avLst/>
          </a:prstGeom>
          <a:solidFill>
            <a:srgbClr val="BDBDBD"/>
          </a:solidFill>
          <a:ln w="12700">
            <a:solidFill>
              <a:srgbClr val="BDBDBD"/>
            </a:solidFill>
            <a:prstDash val="solid"/>
          </a:ln>
        </p:spPr>
      </p:sp>
      <p:sp>
        <p:nvSpPr>
          <p:cNvPr id="57" name="Text 55"/>
          <p:cNvSpPr txBox="1"/>
          <p:nvPr/>
        </p:nvSpPr>
        <p:spPr>
          <a:xfrm>
            <a:off x="798271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Rig-over</a:t>
            </a:r>
            <a:endParaRPr lang="en-US" sz="1100" dirty="0"/>
          </a:p>
        </p:txBody>
      </p:sp>
      <p:sp>
        <p:nvSpPr>
          <p:cNvPr id="58" name="Text 56"/>
          <p:cNvSpPr txBox="1"/>
          <p:nvPr/>
        </p:nvSpPr>
        <p:spPr>
          <a:xfrm>
            <a:off x="548640" y="5852160"/>
            <a:ext cx="2743200" cy="365760"/>
          </a:xfrm>
          <a:prstGeom prst="rect">
            <a:avLst/>
          </a:prstGeom>
          <a:noFill/>
          <a:ln/>
        </p:spPr>
        <p:txBody>
          <a:bodyPr wrap="square" lIns="0" tIns="0" rIns="0" bIns="0" rtlCol="0" anchor="t"/>
          <a:lstStyle/>
          <a:p>
            <a:pPr indent="0" marL="0">
              <a:buNone/>
            </a:pPr>
            <a:r>
              <a:rPr lang="en-US" sz="1000" i="1" dirty="0">
                <a:solidFill>
                  <a:srgbClr val="8A8A8A"/>
                </a:solidFill>
                <a:latin typeface="Arial" pitchFamily="34" charset="0"/>
                <a:ea typeface="Arial" pitchFamily="34" charset="-122"/>
                <a:cs typeface="Arial" pitchFamily="34" charset="-120"/>
              </a:rPr>
              <a:t>Per occurrence; durations are not consecutive</a:t>
            </a:r>
            <a:endParaRPr lang="en-US" sz="1000" dirty="0"/>
          </a:p>
        </p:txBody>
      </p:sp>
      <p:sp>
        <p:nvSpPr>
          <p:cNvPr id="59" name="Text 5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60" name="Text 5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Five-year program at a glance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Illustrative annual cadence: dates are set to Marathon's run-length and turnaround plan</a:t>
            </a:r>
            <a:endParaRPr lang="en-US" sz="1500" dirty="0"/>
          </a:p>
        </p:txBody>
      </p:sp>
      <p:sp>
        <p:nvSpPr>
          <p:cNvPr id="6" name="Text 4"/>
          <p:cNvSpPr txBox="1"/>
          <p:nvPr/>
        </p:nvSpPr>
        <p:spPr>
          <a:xfrm>
            <a:off x="310896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7" name="Text 5"/>
          <p:cNvSpPr txBox="1"/>
          <p:nvPr/>
        </p:nvSpPr>
        <p:spPr>
          <a:xfrm>
            <a:off x="349300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F</a:t>
            </a:r>
            <a:endParaRPr lang="en-US" sz="1100" dirty="0"/>
          </a:p>
        </p:txBody>
      </p:sp>
      <p:sp>
        <p:nvSpPr>
          <p:cNvPr id="8" name="Text 6"/>
          <p:cNvSpPr txBox="1"/>
          <p:nvPr/>
        </p:nvSpPr>
        <p:spPr>
          <a:xfrm>
            <a:off x="387705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9" name="Text 7"/>
          <p:cNvSpPr txBox="1"/>
          <p:nvPr/>
        </p:nvSpPr>
        <p:spPr>
          <a:xfrm>
            <a:off x="426110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0" name="Text 8"/>
          <p:cNvSpPr txBox="1"/>
          <p:nvPr/>
        </p:nvSpPr>
        <p:spPr>
          <a:xfrm>
            <a:off x="464515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11" name="Text 9"/>
          <p:cNvSpPr txBox="1"/>
          <p:nvPr/>
        </p:nvSpPr>
        <p:spPr>
          <a:xfrm>
            <a:off x="502920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2" name="Text 10"/>
          <p:cNvSpPr txBox="1"/>
          <p:nvPr/>
        </p:nvSpPr>
        <p:spPr>
          <a:xfrm>
            <a:off x="541324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3" name="Text 11"/>
          <p:cNvSpPr txBox="1"/>
          <p:nvPr/>
        </p:nvSpPr>
        <p:spPr>
          <a:xfrm>
            <a:off x="579729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4" name="Text 12"/>
          <p:cNvSpPr txBox="1"/>
          <p:nvPr/>
        </p:nvSpPr>
        <p:spPr>
          <a:xfrm>
            <a:off x="618134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S</a:t>
            </a:r>
            <a:endParaRPr lang="en-US" sz="1100" dirty="0"/>
          </a:p>
        </p:txBody>
      </p:sp>
      <p:sp>
        <p:nvSpPr>
          <p:cNvPr id="15" name="Text 13"/>
          <p:cNvSpPr txBox="1"/>
          <p:nvPr/>
        </p:nvSpPr>
        <p:spPr>
          <a:xfrm>
            <a:off x="656539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O</a:t>
            </a:r>
            <a:endParaRPr lang="en-US" sz="1100" dirty="0"/>
          </a:p>
        </p:txBody>
      </p:sp>
      <p:sp>
        <p:nvSpPr>
          <p:cNvPr id="16" name="Text 14"/>
          <p:cNvSpPr txBox="1"/>
          <p:nvPr/>
        </p:nvSpPr>
        <p:spPr>
          <a:xfrm>
            <a:off x="694944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N</a:t>
            </a:r>
            <a:endParaRPr lang="en-US" sz="1100" dirty="0"/>
          </a:p>
        </p:txBody>
      </p:sp>
      <p:sp>
        <p:nvSpPr>
          <p:cNvPr id="17" name="Text 15"/>
          <p:cNvSpPr txBox="1"/>
          <p:nvPr/>
        </p:nvSpPr>
        <p:spPr>
          <a:xfrm>
            <a:off x="733348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D</a:t>
            </a:r>
            <a:endParaRPr lang="en-US" sz="1100" dirty="0"/>
          </a:p>
        </p:txBody>
      </p:sp>
      <p:sp>
        <p:nvSpPr>
          <p:cNvPr id="18" name="Text 16"/>
          <p:cNvSpPr txBox="1"/>
          <p:nvPr/>
        </p:nvSpPr>
        <p:spPr>
          <a:xfrm>
            <a:off x="548640" y="251460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#1</a:t>
            </a:r>
            <a:endParaRPr lang="en-US" sz="1300" dirty="0"/>
          </a:p>
        </p:txBody>
      </p:sp>
      <p:sp>
        <p:nvSpPr>
          <p:cNvPr id="19" name="Shape 17"/>
          <p:cNvSpPr/>
          <p:nvPr/>
        </p:nvSpPr>
        <p:spPr>
          <a:xfrm>
            <a:off x="3108960" y="2587752"/>
            <a:ext cx="4608576" cy="310896"/>
          </a:xfrm>
          <a:prstGeom prst="rect">
            <a:avLst/>
          </a:prstGeom>
          <a:solidFill>
            <a:srgbClr val="2B2B2B"/>
          </a:solidFill>
          <a:ln w="12700">
            <a:solidFill>
              <a:srgbClr val="2B2B2B"/>
            </a:solidFill>
            <a:prstDash val="solid"/>
          </a:ln>
        </p:spPr>
      </p:sp>
      <p:sp>
        <p:nvSpPr>
          <p:cNvPr id="20" name="Shape 18"/>
          <p:cNvSpPr/>
          <p:nvPr/>
        </p:nvSpPr>
        <p:spPr>
          <a:xfrm>
            <a:off x="3502152" y="2560320"/>
            <a:ext cx="365760" cy="365760"/>
          </a:xfrm>
          <a:prstGeom prst="ellipse">
            <a:avLst/>
          </a:prstGeom>
          <a:solidFill>
            <a:srgbClr val="FCC30A"/>
          </a:solidFill>
          <a:ln w="25400">
            <a:solidFill>
              <a:srgbClr val="1E1E1E"/>
            </a:solidFill>
            <a:prstDash val="solid"/>
          </a:ln>
        </p:spPr>
      </p:sp>
      <p:sp>
        <p:nvSpPr>
          <p:cNvPr id="21" name="Shape 19"/>
          <p:cNvSpPr/>
          <p:nvPr/>
        </p:nvSpPr>
        <p:spPr>
          <a:xfrm>
            <a:off x="4654296" y="2560320"/>
            <a:ext cx="365760" cy="365760"/>
          </a:xfrm>
          <a:prstGeom prst="ellipse">
            <a:avLst/>
          </a:prstGeom>
          <a:solidFill>
            <a:srgbClr val="FCC30A"/>
          </a:solidFill>
          <a:ln w="25400">
            <a:solidFill>
              <a:srgbClr val="1E1E1E"/>
            </a:solidFill>
            <a:prstDash val="solid"/>
          </a:ln>
        </p:spPr>
      </p:sp>
      <p:sp>
        <p:nvSpPr>
          <p:cNvPr id="22" name="Shape 20"/>
          <p:cNvSpPr/>
          <p:nvPr/>
        </p:nvSpPr>
        <p:spPr>
          <a:xfrm>
            <a:off x="5806440" y="2560320"/>
            <a:ext cx="365760" cy="365760"/>
          </a:xfrm>
          <a:prstGeom prst="ellipse">
            <a:avLst/>
          </a:prstGeom>
          <a:solidFill>
            <a:srgbClr val="FCC30A"/>
          </a:solidFill>
          <a:ln w="25400">
            <a:solidFill>
              <a:srgbClr val="1E1E1E"/>
            </a:solidFill>
            <a:prstDash val="solid"/>
          </a:ln>
        </p:spPr>
      </p:sp>
      <p:sp>
        <p:nvSpPr>
          <p:cNvPr id="23" name="Shape 21"/>
          <p:cNvSpPr/>
          <p:nvPr/>
        </p:nvSpPr>
        <p:spPr>
          <a:xfrm>
            <a:off x="6958584" y="2560320"/>
            <a:ext cx="365760" cy="365760"/>
          </a:xfrm>
          <a:prstGeom prst="ellipse">
            <a:avLst/>
          </a:prstGeom>
          <a:solidFill>
            <a:srgbClr val="FCC30A"/>
          </a:solidFill>
          <a:ln w="25400">
            <a:solidFill>
              <a:srgbClr val="1E1E1E"/>
            </a:solidFill>
            <a:prstDash val="solid"/>
          </a:ln>
        </p:spPr>
      </p:sp>
      <p:sp>
        <p:nvSpPr>
          <p:cNvPr id="24" name="Text 22"/>
          <p:cNvSpPr txBox="1"/>
          <p:nvPr/>
        </p:nvSpPr>
        <p:spPr>
          <a:xfrm>
            <a:off x="7946136" y="251460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25" name="Text 23"/>
          <p:cNvSpPr txBox="1"/>
          <p:nvPr/>
        </p:nvSpPr>
        <p:spPr>
          <a:xfrm>
            <a:off x="548640" y="324612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#2</a:t>
            </a:r>
            <a:endParaRPr lang="en-US" sz="1300" dirty="0"/>
          </a:p>
        </p:txBody>
      </p:sp>
      <p:sp>
        <p:nvSpPr>
          <p:cNvPr id="26" name="Shape 24"/>
          <p:cNvSpPr/>
          <p:nvPr/>
        </p:nvSpPr>
        <p:spPr>
          <a:xfrm>
            <a:off x="3108960" y="3319272"/>
            <a:ext cx="4608576" cy="310896"/>
          </a:xfrm>
          <a:prstGeom prst="rect">
            <a:avLst/>
          </a:prstGeom>
          <a:solidFill>
            <a:srgbClr val="2B2B2B"/>
          </a:solidFill>
          <a:ln w="12700">
            <a:solidFill>
              <a:srgbClr val="2B2B2B"/>
            </a:solidFill>
            <a:prstDash val="solid"/>
          </a:ln>
        </p:spPr>
      </p:sp>
      <p:sp>
        <p:nvSpPr>
          <p:cNvPr id="27" name="Shape 25"/>
          <p:cNvSpPr/>
          <p:nvPr/>
        </p:nvSpPr>
        <p:spPr>
          <a:xfrm>
            <a:off x="3886200" y="3291840"/>
            <a:ext cx="365760" cy="365760"/>
          </a:xfrm>
          <a:prstGeom prst="ellipse">
            <a:avLst/>
          </a:prstGeom>
          <a:solidFill>
            <a:srgbClr val="FCC30A"/>
          </a:solidFill>
          <a:ln w="25400">
            <a:solidFill>
              <a:srgbClr val="1E1E1E"/>
            </a:solidFill>
            <a:prstDash val="solid"/>
          </a:ln>
        </p:spPr>
      </p:sp>
      <p:sp>
        <p:nvSpPr>
          <p:cNvPr id="28" name="Shape 26"/>
          <p:cNvSpPr/>
          <p:nvPr/>
        </p:nvSpPr>
        <p:spPr>
          <a:xfrm>
            <a:off x="5038344" y="3291840"/>
            <a:ext cx="365760" cy="365760"/>
          </a:xfrm>
          <a:prstGeom prst="ellipse">
            <a:avLst/>
          </a:prstGeom>
          <a:solidFill>
            <a:srgbClr val="FCC30A"/>
          </a:solidFill>
          <a:ln w="25400">
            <a:solidFill>
              <a:srgbClr val="1E1E1E"/>
            </a:solidFill>
            <a:prstDash val="solid"/>
          </a:ln>
        </p:spPr>
      </p:sp>
      <p:sp>
        <p:nvSpPr>
          <p:cNvPr id="29" name="Shape 27"/>
          <p:cNvSpPr/>
          <p:nvPr/>
        </p:nvSpPr>
        <p:spPr>
          <a:xfrm>
            <a:off x="6190488" y="3291840"/>
            <a:ext cx="365760" cy="365760"/>
          </a:xfrm>
          <a:prstGeom prst="ellipse">
            <a:avLst/>
          </a:prstGeom>
          <a:solidFill>
            <a:srgbClr val="FCC30A"/>
          </a:solidFill>
          <a:ln w="25400">
            <a:solidFill>
              <a:srgbClr val="1E1E1E"/>
            </a:solidFill>
            <a:prstDash val="solid"/>
          </a:ln>
        </p:spPr>
      </p:sp>
      <p:sp>
        <p:nvSpPr>
          <p:cNvPr id="30" name="Shape 28"/>
          <p:cNvSpPr/>
          <p:nvPr/>
        </p:nvSpPr>
        <p:spPr>
          <a:xfrm>
            <a:off x="7342632" y="3291840"/>
            <a:ext cx="365760" cy="365760"/>
          </a:xfrm>
          <a:prstGeom prst="ellipse">
            <a:avLst/>
          </a:prstGeom>
          <a:solidFill>
            <a:srgbClr val="FCC30A"/>
          </a:solidFill>
          <a:ln w="25400">
            <a:solidFill>
              <a:srgbClr val="1E1E1E"/>
            </a:solidFill>
            <a:prstDash val="solid"/>
          </a:ln>
        </p:spPr>
      </p:sp>
      <p:sp>
        <p:nvSpPr>
          <p:cNvPr id="31" name="Text 29"/>
          <p:cNvSpPr txBox="1"/>
          <p:nvPr/>
        </p:nvSpPr>
        <p:spPr>
          <a:xfrm>
            <a:off x="7946136" y="324612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32" name="Text 30"/>
          <p:cNvSpPr txBox="1"/>
          <p:nvPr/>
        </p:nvSpPr>
        <p:spPr>
          <a:xfrm>
            <a:off x="548640" y="397764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#2, Heater #3</a:t>
            </a:r>
            <a:endParaRPr lang="en-US" sz="1300" dirty="0"/>
          </a:p>
        </p:txBody>
      </p:sp>
      <p:sp>
        <p:nvSpPr>
          <p:cNvPr id="33" name="Shape 31"/>
          <p:cNvSpPr/>
          <p:nvPr/>
        </p:nvSpPr>
        <p:spPr>
          <a:xfrm>
            <a:off x="3108960" y="4050792"/>
            <a:ext cx="4608576" cy="310896"/>
          </a:xfrm>
          <a:prstGeom prst="rect">
            <a:avLst/>
          </a:prstGeom>
          <a:solidFill>
            <a:srgbClr val="2B2B2B"/>
          </a:solidFill>
          <a:ln w="12700">
            <a:solidFill>
              <a:srgbClr val="2B2B2B"/>
            </a:solidFill>
            <a:prstDash val="solid"/>
          </a:ln>
        </p:spPr>
      </p:sp>
      <p:sp>
        <p:nvSpPr>
          <p:cNvPr id="34" name="Shape 32"/>
          <p:cNvSpPr/>
          <p:nvPr/>
        </p:nvSpPr>
        <p:spPr>
          <a:xfrm>
            <a:off x="3886200" y="4023360"/>
            <a:ext cx="365760" cy="365760"/>
          </a:xfrm>
          <a:prstGeom prst="ellipse">
            <a:avLst/>
          </a:prstGeom>
          <a:solidFill>
            <a:srgbClr val="FCC30A"/>
          </a:solidFill>
          <a:ln w="25400">
            <a:solidFill>
              <a:srgbClr val="1E1E1E"/>
            </a:solidFill>
            <a:prstDash val="solid"/>
          </a:ln>
        </p:spPr>
      </p:sp>
      <p:sp>
        <p:nvSpPr>
          <p:cNvPr id="35" name="Shape 33"/>
          <p:cNvSpPr/>
          <p:nvPr/>
        </p:nvSpPr>
        <p:spPr>
          <a:xfrm>
            <a:off x="5422392" y="4023360"/>
            <a:ext cx="365760" cy="365760"/>
          </a:xfrm>
          <a:prstGeom prst="ellipse">
            <a:avLst/>
          </a:prstGeom>
          <a:solidFill>
            <a:srgbClr val="FCC30A"/>
          </a:solidFill>
          <a:ln w="25400">
            <a:solidFill>
              <a:srgbClr val="1E1E1E"/>
            </a:solidFill>
            <a:prstDash val="solid"/>
          </a:ln>
        </p:spPr>
      </p:sp>
      <p:sp>
        <p:nvSpPr>
          <p:cNvPr id="36" name="Shape 34"/>
          <p:cNvSpPr/>
          <p:nvPr/>
        </p:nvSpPr>
        <p:spPr>
          <a:xfrm>
            <a:off x="6958584" y="4023360"/>
            <a:ext cx="365760" cy="365760"/>
          </a:xfrm>
          <a:prstGeom prst="ellipse">
            <a:avLst/>
          </a:prstGeom>
          <a:solidFill>
            <a:srgbClr val="FCC30A"/>
          </a:solidFill>
          <a:ln w="25400">
            <a:solidFill>
              <a:srgbClr val="1E1E1E"/>
            </a:solidFill>
            <a:prstDash val="solid"/>
          </a:ln>
        </p:spPr>
      </p:sp>
      <p:sp>
        <p:nvSpPr>
          <p:cNvPr id="37" name="Text 35"/>
          <p:cNvSpPr txBox="1"/>
          <p:nvPr/>
        </p:nvSpPr>
        <p:spPr>
          <a:xfrm>
            <a:off x="7946136" y="397764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3× / yr</a:t>
            </a:r>
            <a:endParaRPr lang="en-US" sz="1300" dirty="0"/>
          </a:p>
        </p:txBody>
      </p:sp>
      <p:sp>
        <p:nvSpPr>
          <p:cNvPr id="38" name="Text 36"/>
          <p:cNvSpPr txBox="1"/>
          <p:nvPr/>
        </p:nvSpPr>
        <p:spPr>
          <a:xfrm>
            <a:off x="548640" y="470916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DCU, H-101</a:t>
            </a:r>
            <a:endParaRPr lang="en-US" sz="1300" dirty="0"/>
          </a:p>
        </p:txBody>
      </p:sp>
      <p:sp>
        <p:nvSpPr>
          <p:cNvPr id="39" name="Shape 37"/>
          <p:cNvSpPr/>
          <p:nvPr/>
        </p:nvSpPr>
        <p:spPr>
          <a:xfrm>
            <a:off x="3108960" y="4782312"/>
            <a:ext cx="4608576" cy="310896"/>
          </a:xfrm>
          <a:prstGeom prst="rect">
            <a:avLst/>
          </a:prstGeom>
          <a:solidFill>
            <a:srgbClr val="2B2B2B"/>
          </a:solidFill>
          <a:ln w="12700">
            <a:solidFill>
              <a:srgbClr val="2B2B2B"/>
            </a:solidFill>
            <a:prstDash val="solid"/>
          </a:ln>
        </p:spPr>
      </p:sp>
      <p:sp>
        <p:nvSpPr>
          <p:cNvPr id="40" name="Shape 38"/>
          <p:cNvSpPr/>
          <p:nvPr/>
        </p:nvSpPr>
        <p:spPr>
          <a:xfrm>
            <a:off x="6190488" y="4754880"/>
            <a:ext cx="365760" cy="365760"/>
          </a:xfrm>
          <a:prstGeom prst="ellipse">
            <a:avLst/>
          </a:prstGeom>
          <a:solidFill>
            <a:srgbClr val="FCC30A"/>
          </a:solidFill>
          <a:ln w="25400">
            <a:solidFill>
              <a:srgbClr val="1E1E1E"/>
            </a:solidFill>
            <a:prstDash val="solid"/>
          </a:ln>
        </p:spPr>
      </p:sp>
      <p:sp>
        <p:nvSpPr>
          <p:cNvPr id="41" name="Text 39"/>
          <p:cNvSpPr txBox="1"/>
          <p:nvPr/>
        </p:nvSpPr>
        <p:spPr>
          <a:xfrm>
            <a:off x="7946136" y="470916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1× / yr</a:t>
            </a:r>
            <a:endParaRPr lang="en-US" sz="1300" dirty="0"/>
          </a:p>
        </p:txBody>
      </p:sp>
      <p:sp>
        <p:nvSpPr>
          <p:cNvPr id="42" name="Shape 40"/>
          <p:cNvSpPr/>
          <p:nvPr/>
        </p:nvSpPr>
        <p:spPr>
          <a:xfrm>
            <a:off x="9144000" y="2011680"/>
            <a:ext cx="2496312" cy="896112"/>
          </a:xfrm>
          <a:prstGeom prst="rect">
            <a:avLst/>
          </a:prstGeom>
          <a:solidFill>
            <a:srgbClr val="2B2B2B"/>
          </a:solidFill>
          <a:ln w="12700">
            <a:solidFill>
              <a:srgbClr val="2B2B2B"/>
            </a:solidFill>
            <a:prstDash val="solid"/>
          </a:ln>
        </p:spPr>
      </p:sp>
      <p:sp>
        <p:nvSpPr>
          <p:cNvPr id="43" name="Text 41"/>
          <p:cNvSpPr txBox="1"/>
          <p:nvPr/>
        </p:nvSpPr>
        <p:spPr>
          <a:xfrm>
            <a:off x="9326880" y="2084832"/>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12</a:t>
            </a:r>
            <a:endParaRPr lang="en-US" sz="2800" dirty="0"/>
          </a:p>
        </p:txBody>
      </p:sp>
      <p:sp>
        <p:nvSpPr>
          <p:cNvPr id="44" name="Text 42"/>
          <p:cNvSpPr txBox="1"/>
          <p:nvPr/>
        </p:nvSpPr>
        <p:spPr>
          <a:xfrm>
            <a:off x="10469880" y="2084832"/>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a year</a:t>
            </a:r>
            <a:endParaRPr lang="en-US" sz="1150" dirty="0"/>
          </a:p>
        </p:txBody>
      </p:sp>
      <p:sp>
        <p:nvSpPr>
          <p:cNvPr id="45" name="Shape 43"/>
          <p:cNvSpPr/>
          <p:nvPr/>
        </p:nvSpPr>
        <p:spPr>
          <a:xfrm>
            <a:off x="9144000" y="3035808"/>
            <a:ext cx="2496312" cy="896112"/>
          </a:xfrm>
          <a:prstGeom prst="rect">
            <a:avLst/>
          </a:prstGeom>
          <a:solidFill>
            <a:srgbClr val="2B2B2B"/>
          </a:solidFill>
          <a:ln w="12700">
            <a:solidFill>
              <a:srgbClr val="2B2B2B"/>
            </a:solidFill>
            <a:prstDash val="solid"/>
          </a:ln>
        </p:spPr>
      </p:sp>
      <p:sp>
        <p:nvSpPr>
          <p:cNvPr id="46" name="Text 44"/>
          <p:cNvSpPr txBox="1"/>
          <p:nvPr/>
        </p:nvSpPr>
        <p:spPr>
          <a:xfrm>
            <a:off x="9326880" y="3108960"/>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60</a:t>
            </a:r>
            <a:endParaRPr lang="en-US" sz="2800" dirty="0"/>
          </a:p>
        </p:txBody>
      </p:sp>
      <p:sp>
        <p:nvSpPr>
          <p:cNvPr id="47" name="Text 45"/>
          <p:cNvSpPr txBox="1"/>
          <p:nvPr/>
        </p:nvSpPr>
        <p:spPr>
          <a:xfrm>
            <a:off x="10469880" y="3108960"/>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in 5 years</a:t>
            </a:r>
            <a:endParaRPr lang="en-US" sz="1150" dirty="0"/>
          </a:p>
        </p:txBody>
      </p:sp>
      <p:sp>
        <p:nvSpPr>
          <p:cNvPr id="48" name="Shape 46"/>
          <p:cNvSpPr/>
          <p:nvPr/>
        </p:nvSpPr>
        <p:spPr>
          <a:xfrm>
            <a:off x="9144000" y="4059936"/>
            <a:ext cx="2496312" cy="896112"/>
          </a:xfrm>
          <a:prstGeom prst="rect">
            <a:avLst/>
          </a:prstGeom>
          <a:solidFill>
            <a:srgbClr val="2B2B2B"/>
          </a:solidFill>
          <a:ln w="12700">
            <a:solidFill>
              <a:srgbClr val="2B2B2B"/>
            </a:solidFill>
            <a:prstDash val="solid"/>
          </a:ln>
        </p:spPr>
      </p:sp>
      <p:sp>
        <p:nvSpPr>
          <p:cNvPr id="49" name="Text 47"/>
          <p:cNvSpPr txBox="1"/>
          <p:nvPr/>
        </p:nvSpPr>
        <p:spPr>
          <a:xfrm>
            <a:off x="9326880" y="4133088"/>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2,790</a:t>
            </a:r>
            <a:endParaRPr lang="en-US" sz="2800" dirty="0"/>
          </a:p>
        </p:txBody>
      </p:sp>
      <p:sp>
        <p:nvSpPr>
          <p:cNvPr id="50" name="Text 48"/>
          <p:cNvSpPr txBox="1"/>
          <p:nvPr/>
        </p:nvSpPr>
        <p:spPr>
          <a:xfrm>
            <a:off x="10469880" y="4133088"/>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project hours</a:t>
            </a:r>
            <a:endParaRPr lang="en-US" sz="1150" dirty="0"/>
          </a:p>
        </p:txBody>
      </p:sp>
      <p:sp>
        <p:nvSpPr>
          <p:cNvPr id="51" name="Shape 49"/>
          <p:cNvSpPr/>
          <p:nvPr/>
        </p:nvSpPr>
        <p:spPr>
          <a:xfrm>
            <a:off x="9144000" y="5084064"/>
            <a:ext cx="2496312" cy="896112"/>
          </a:xfrm>
          <a:prstGeom prst="rect">
            <a:avLst/>
          </a:prstGeom>
          <a:solidFill>
            <a:srgbClr val="2B2B2B"/>
          </a:solidFill>
          <a:ln w="12700">
            <a:solidFill>
              <a:srgbClr val="2B2B2B"/>
            </a:solidFill>
            <a:prstDash val="solid"/>
          </a:ln>
        </p:spPr>
      </p:sp>
      <p:sp>
        <p:nvSpPr>
          <p:cNvPr id="52" name="Text 50"/>
          <p:cNvSpPr txBox="1"/>
          <p:nvPr/>
        </p:nvSpPr>
        <p:spPr>
          <a:xfrm>
            <a:off x="9326880" y="5157216"/>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$0</a:t>
            </a:r>
            <a:endParaRPr lang="en-US" sz="2800" dirty="0"/>
          </a:p>
        </p:txBody>
      </p:sp>
      <p:sp>
        <p:nvSpPr>
          <p:cNvPr id="53" name="Text 51"/>
          <p:cNvSpPr txBox="1"/>
          <p:nvPr/>
        </p:nvSpPr>
        <p:spPr>
          <a:xfrm>
            <a:off x="10469880" y="5157216"/>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mob / demob</a:t>
            </a:r>
            <a:endParaRPr lang="en-US" sz="1150" dirty="0"/>
          </a:p>
        </p:txBody>
      </p:sp>
      <p:sp>
        <p:nvSpPr>
          <p:cNvPr id="54" name="Text 52"/>
          <p:cNvSpPr txBox="1"/>
          <p:nvPr/>
        </p:nvSpPr>
        <p:spPr>
          <a:xfrm>
            <a:off x="548640" y="5577840"/>
            <a:ext cx="8138160" cy="548640"/>
          </a:xfrm>
          <a:prstGeom prst="rect">
            <a:avLst/>
          </a:prstGeom>
          <a:noFill/>
          <a:ln/>
        </p:spPr>
        <p:txBody>
          <a:bodyPr wrap="square" lIns="0" tIns="0" rIns="0" bIns="0" rtlCol="0" anchor="t"/>
          <a:lstStyle/>
          <a:p>
            <a:pPr indent="0" marL="0">
              <a:buNone/>
            </a:pPr>
            <a:r>
              <a:rPr lang="en-US" sz="1400" i="1" dirty="0">
                <a:solidFill>
                  <a:srgbClr val="BDBDBD"/>
                </a:solidFill>
                <a:latin typeface="Arial" pitchFamily="34" charset="0"/>
                <a:ea typeface="Arial" pitchFamily="34" charset="-122"/>
                <a:cs typeface="Arial" pitchFamily="34" charset="-120"/>
              </a:rPr>
              <a:t>Same crew leadership, same equipment and same procedures every visit: each decoke builds on the last one's records.</a:t>
            </a:r>
            <a:endParaRPr lang="en-US" sz="1400" dirty="0"/>
          </a:p>
        </p:txBody>
      </p:sp>
      <p:sp>
        <p:nvSpPr>
          <p:cNvPr id="55" name="Text 5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6" name="Text 5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ready.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6634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6634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4663440" y="841248"/>
            <a:ext cx="6949440" cy="731520"/>
          </a:xfrm>
          <a:prstGeom prst="rect">
            <a:avLst/>
          </a:prstGeom>
          <a:noFill/>
          <a:ln/>
        </p:spPr>
        <p:txBody>
          <a:bodyPr wrap="square" lIns="0" tIns="0" rIns="0" bIns="0" rtlCol="0" anchor="t"/>
          <a:lstStyle/>
          <a:p>
            <a:pPr indent="0" marL="0">
              <a:buNone/>
            </a:pPr>
            <a:r>
              <a:rPr lang="en-US" sz="3000" b="1" dirty="0">
                <a:solidFill>
                  <a:srgbClr val="222222"/>
                </a:solidFill>
                <a:latin typeface="Arial" pitchFamily="34" charset="0"/>
                <a:ea typeface="Arial" pitchFamily="34" charset="-122"/>
                <a:cs typeface="Arial" pitchFamily="34" charset="-120"/>
              </a:rPr>
              <a:t>Crew &amp; equipment, every occurrence</a:t>
            </a:r>
            <a:endParaRPr lang="en-US" sz="3000" dirty="0"/>
          </a:p>
        </p:txBody>
      </p:sp>
      <p:sp>
        <p:nvSpPr>
          <p:cNvPr id="6" name="Text 3"/>
          <p:cNvSpPr txBox="1"/>
          <p:nvPr/>
        </p:nvSpPr>
        <p:spPr>
          <a:xfrm>
            <a:off x="52120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46634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52120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46634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52120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46634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52120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87325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81838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87325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81838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87325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81838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87325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46634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4773168" y="1892808"/>
            <a:ext cx="219456" cy="219456"/>
          </a:xfrm>
          <a:prstGeom prst="rect">
            <a:avLst/>
          </a:prstGeom>
        </p:spPr>
      </p:pic>
      <p:sp>
        <p:nvSpPr>
          <p:cNvPr id="22" name="Shape 18"/>
          <p:cNvSpPr/>
          <p:nvPr/>
        </p:nvSpPr>
        <p:spPr>
          <a:xfrm>
            <a:off x="81838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8293608" y="1892808"/>
            <a:ext cx="219456" cy="219456"/>
          </a:xfrm>
          <a:prstGeom prst="rect">
            <a:avLst/>
          </a:prstGeom>
        </p:spPr>
      </p:pic>
      <p:sp>
        <p:nvSpPr>
          <p:cNvPr id="24" name="Shape 19"/>
          <p:cNvSpPr/>
          <p:nvPr/>
        </p:nvSpPr>
        <p:spPr>
          <a:xfrm>
            <a:off x="4663440" y="4617720"/>
            <a:ext cx="2148840" cy="1417320"/>
          </a:xfrm>
          <a:prstGeom prst="rect">
            <a:avLst/>
          </a:prstGeom>
          <a:solidFill>
            <a:srgbClr val="1E1E1E"/>
          </a:solidFill>
          <a:ln w="12700">
            <a:solidFill>
              <a:srgbClr val="1E1E1E"/>
            </a:solidFill>
            <a:prstDash val="solid"/>
          </a:ln>
        </p:spPr>
      </p:sp>
      <p:sp>
        <p:nvSpPr>
          <p:cNvPr id="25" name="Text 20"/>
          <p:cNvSpPr txBox="1"/>
          <p:nvPr/>
        </p:nvSpPr>
        <p:spPr>
          <a:xfrm>
            <a:off x="484632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484632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crew turnover, last 12 months</a:t>
            </a:r>
            <a:endParaRPr lang="en-US" sz="1150" dirty="0"/>
          </a:p>
        </p:txBody>
      </p:sp>
      <p:sp>
        <p:nvSpPr>
          <p:cNvPr id="27" name="Shape 22"/>
          <p:cNvSpPr/>
          <p:nvPr/>
        </p:nvSpPr>
        <p:spPr>
          <a:xfrm>
            <a:off x="6995160" y="4617720"/>
            <a:ext cx="2148840" cy="1417320"/>
          </a:xfrm>
          <a:prstGeom prst="rect">
            <a:avLst/>
          </a:prstGeom>
          <a:solidFill>
            <a:srgbClr val="1E1E1E"/>
          </a:solidFill>
          <a:ln w="12700">
            <a:solidFill>
              <a:srgbClr val="1E1E1E"/>
            </a:solidFill>
            <a:prstDash val="solid"/>
          </a:ln>
        </p:spPr>
      </p:sp>
      <p:sp>
        <p:nvSpPr>
          <p:cNvPr id="28" name="Text 23"/>
          <p:cNvSpPr txBox="1"/>
          <p:nvPr/>
        </p:nvSpPr>
        <p:spPr>
          <a:xfrm>
            <a:off x="717804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717804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two 12-hour shifts</a:t>
            </a:r>
            <a:endParaRPr lang="en-US" sz="1150" dirty="0"/>
          </a:p>
        </p:txBody>
      </p:sp>
      <p:sp>
        <p:nvSpPr>
          <p:cNvPr id="30" name="Shape 25"/>
          <p:cNvSpPr/>
          <p:nvPr/>
        </p:nvSpPr>
        <p:spPr>
          <a:xfrm>
            <a:off x="9326880" y="4617720"/>
            <a:ext cx="2148840" cy="1417320"/>
          </a:xfrm>
          <a:prstGeom prst="rect">
            <a:avLst/>
          </a:prstGeom>
          <a:solidFill>
            <a:srgbClr val="1E1E1E"/>
          </a:solidFill>
          <a:ln w="12700">
            <a:solidFill>
              <a:srgbClr val="1E1E1E"/>
            </a:solidFill>
            <a:prstDash val="solid"/>
          </a:ln>
        </p:spPr>
      </p:sp>
      <p:sp>
        <p:nvSpPr>
          <p:cNvPr id="31" name="Text 26"/>
          <p:cNvSpPr txBox="1"/>
          <p:nvPr/>
        </p:nvSpPr>
        <p:spPr>
          <a:xfrm>
            <a:off x="950976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950976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training verified before mobilization</a:t>
            </a:r>
            <a:endParaRPr lang="en-US" sz="1150" dirty="0"/>
          </a:p>
        </p:txBody>
      </p:sp>
      <p:sp>
        <p:nvSpPr>
          <p:cNvPr id="33" name="Text 28"/>
          <p:cNvSpPr txBox="1"/>
          <p:nvPr/>
        </p:nvSpPr>
        <p:spPr>
          <a:xfrm>
            <a:off x="46634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Your LAR project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FCC30A"/>
          </a:solidFill>
          <a:ln w="12700">
            <a:solidFill>
              <a:srgbClr val="FCC30A"/>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2B2B2B"/>
          </a:solidFill>
          <a:ln w="12700">
            <a:solidFill>
              <a:srgbClr val="363636"/>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CARB-registered engines, California-ready</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tmp/claude-0/-home-user-obsidian-work/c8998718-f22f-57a3-84c2-766db1d92b4c/scratchpad/deck/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California-ready, CARB-registered fleet</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CARB Statewide Portable Equipment Registration (PERP); certificates shown</a:t>
            </a:r>
            <a:endParaRPr lang="en-US" sz="1500" dirty="0"/>
          </a:p>
        </p:txBody>
      </p:sp>
      <p:sp>
        <p:nvSpPr>
          <p:cNvPr id="6" name="Text 4"/>
          <p:cNvSpPr txBox="1"/>
          <p:nvPr/>
        </p:nvSpPr>
        <p:spPr>
          <a:xfrm>
            <a:off x="54864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6</a:t>
            </a:r>
            <a:endParaRPr lang="en-US" sz="4000" dirty="0"/>
          </a:p>
        </p:txBody>
      </p:sp>
      <p:sp>
        <p:nvSpPr>
          <p:cNvPr id="7" name="Text 5"/>
          <p:cNvSpPr txBox="1"/>
          <p:nvPr/>
        </p:nvSpPr>
        <p:spPr>
          <a:xfrm>
            <a:off x="54864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identical TriMax units, SCAQMD-ready</a:t>
            </a:r>
            <a:endParaRPr lang="en-US" sz="1300" dirty="0"/>
          </a:p>
        </p:txBody>
      </p:sp>
      <p:sp>
        <p:nvSpPr>
          <p:cNvPr id="8" name="Text 6"/>
          <p:cNvSpPr txBox="1"/>
          <p:nvPr/>
        </p:nvSpPr>
        <p:spPr>
          <a:xfrm>
            <a:off x="361188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18</a:t>
            </a:r>
            <a:endParaRPr lang="en-US" sz="4000" dirty="0"/>
          </a:p>
        </p:txBody>
      </p:sp>
      <p:sp>
        <p:nvSpPr>
          <p:cNvPr id="9" name="Text 7"/>
          <p:cNvSpPr txBox="1"/>
          <p:nvPr/>
        </p:nvSpPr>
        <p:spPr>
          <a:xfrm>
            <a:off x="361188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registered pumping engines</a:t>
            </a:r>
            <a:endParaRPr lang="en-US" sz="1300" dirty="0"/>
          </a:p>
        </p:txBody>
      </p:sp>
      <p:sp>
        <p:nvSpPr>
          <p:cNvPr id="10" name="Text 8"/>
          <p:cNvSpPr txBox="1"/>
          <p:nvPr/>
        </p:nvSpPr>
        <p:spPr>
          <a:xfrm>
            <a:off x="54864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Tier 4</a:t>
            </a:r>
            <a:endParaRPr lang="en-US" sz="4000" dirty="0"/>
          </a:p>
        </p:txBody>
      </p:sp>
      <p:sp>
        <p:nvSpPr>
          <p:cNvPr id="11" name="Text 9"/>
          <p:cNvSpPr txBox="1"/>
          <p:nvPr/>
        </p:nvSpPr>
        <p:spPr>
          <a:xfrm>
            <a:off x="54864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engines (blue placard)</a:t>
            </a:r>
            <a:endParaRPr lang="en-US" sz="1300" dirty="0"/>
          </a:p>
        </p:txBody>
      </p:sp>
      <p:sp>
        <p:nvSpPr>
          <p:cNvPr id="12" name="Text 10"/>
          <p:cNvSpPr txBox="1"/>
          <p:nvPr/>
        </p:nvSpPr>
        <p:spPr>
          <a:xfrm>
            <a:off x="361188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0.015</a:t>
            </a:r>
            <a:endParaRPr lang="en-US" sz="4000" dirty="0"/>
          </a:p>
        </p:txBody>
      </p:sp>
      <p:sp>
        <p:nvSpPr>
          <p:cNvPr id="13" name="Text 11"/>
          <p:cNvSpPr txBox="1"/>
          <p:nvPr/>
        </p:nvSpPr>
        <p:spPr>
          <a:xfrm>
            <a:off x="361188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g/bhp-hr diesel PM emission factor</a:t>
            </a:r>
            <a:endParaRPr lang="en-US" sz="1300" dirty="0"/>
          </a:p>
        </p:txBody>
      </p:sp>
      <p:pic>
        <p:nvPicPr>
          <p:cNvPr id="14" name="Image 0" descr="/tmp/claude-0/-home-user-obsidian-work/c8998718-f22f-57a3-84c2-766db1d92b4c/scratchpad/deck/img/cert_t1.png">    </p:cNvPr>
          <p:cNvPicPr>
            <a:picLocks noChangeAspect="1"/>
          </p:cNvPicPr>
          <p:nvPr/>
        </p:nvPicPr>
        <p:blipFill>
          <a:blip r:embed="rId1"/>
          <a:stretch>
            <a:fillRect/>
          </a:stretch>
        </p:blipFill>
        <p:spPr>
          <a:xfrm>
            <a:off x="672084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5" name="Text 12"/>
          <p:cNvSpPr txBox="1"/>
          <p:nvPr/>
        </p:nvSpPr>
        <p:spPr>
          <a:xfrm>
            <a:off x="672084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1</a:t>
            </a:r>
            <a:endParaRPr lang="en-US" sz="1100" dirty="0"/>
          </a:p>
        </p:txBody>
      </p:sp>
      <p:pic>
        <p:nvPicPr>
          <p:cNvPr id="16" name="Image 1" descr="/tmp/claude-0/-home-user-obsidian-work/c8998718-f22f-57a3-84c2-766db1d92b4c/scratchpad/deck/img/cert_t2.png">    </p:cNvPr>
          <p:cNvPicPr>
            <a:picLocks noChangeAspect="1"/>
          </p:cNvPicPr>
          <p:nvPr/>
        </p:nvPicPr>
        <p:blipFill>
          <a:blip r:embed="rId2"/>
          <a:stretch>
            <a:fillRect/>
          </a:stretch>
        </p:blipFill>
        <p:spPr>
          <a:xfrm>
            <a:off x="841248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7" name="Text 13"/>
          <p:cNvSpPr txBox="1"/>
          <p:nvPr/>
        </p:nvSpPr>
        <p:spPr>
          <a:xfrm>
            <a:off x="841248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2</a:t>
            </a:r>
            <a:endParaRPr lang="en-US" sz="1100" dirty="0"/>
          </a:p>
        </p:txBody>
      </p:sp>
      <p:pic>
        <p:nvPicPr>
          <p:cNvPr id="18" name="Image 2" descr="/tmp/claude-0/-home-user-obsidian-work/c8998718-f22f-57a3-84c2-766db1d92b4c/scratchpad/deck/img/cert_t6.png">    </p:cNvPr>
          <p:cNvPicPr>
            <a:picLocks noChangeAspect="1"/>
          </p:cNvPicPr>
          <p:nvPr/>
        </p:nvPicPr>
        <p:blipFill>
          <a:blip r:embed="rId3"/>
          <a:stretch>
            <a:fillRect/>
          </a:stretch>
        </p:blipFill>
        <p:spPr>
          <a:xfrm>
            <a:off x="1010412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9" name="Text 14"/>
          <p:cNvSpPr txBox="1"/>
          <p:nvPr/>
        </p:nvSpPr>
        <p:spPr>
          <a:xfrm>
            <a:off x="1010412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6</a:t>
            </a:r>
            <a:endParaRPr lang="en-US" sz="1100" dirty="0"/>
          </a:p>
        </p:txBody>
      </p:sp>
      <p:sp>
        <p:nvSpPr>
          <p:cNvPr id="20" name="Text 15"/>
          <p:cNvSpPr txBox="1"/>
          <p:nvPr/>
        </p:nvSpPr>
        <p:spPr>
          <a:xfrm>
            <a:off x="6720840" y="4526280"/>
            <a:ext cx="4937760" cy="274320"/>
          </a:xfrm>
          <a:prstGeom prst="rect">
            <a:avLst/>
          </a:prstGeom>
          <a:noFill/>
          <a:ln/>
        </p:spPr>
        <p:txBody>
          <a:bodyPr wrap="square" lIns="0" tIns="0" rIns="0" bIns="0" rtlCol="0" anchor="ctr"/>
          <a:lstStyle/>
          <a:p>
            <a:pPr algn="ctr" indent="0" marL="0">
              <a:buNone/>
            </a:pPr>
            <a:r>
              <a:rPr lang="en-US" sz="1000" i="1" dirty="0">
                <a:solidFill>
                  <a:srgbClr val="8A8A8A"/>
                </a:solidFill>
                <a:latin typeface="Arial" pitchFamily="34" charset="0"/>
                <a:ea typeface="Arial" pitchFamily="34" charset="-122"/>
                <a:cs typeface="Arial" pitchFamily="34" charset="-120"/>
              </a:rPr>
              <a:t>CARB PERP registration certificates</a:t>
            </a:r>
            <a:endParaRPr lang="en-US" sz="1000" dirty="0"/>
          </a:p>
        </p:txBody>
      </p:sp>
      <p:sp>
        <p:nvSpPr>
          <p:cNvPr id="21" name="Shape 16"/>
          <p:cNvSpPr/>
          <p:nvPr/>
        </p:nvSpPr>
        <p:spPr>
          <a:xfrm>
            <a:off x="548640" y="4983480"/>
            <a:ext cx="11091672" cy="1188720"/>
          </a:xfrm>
          <a:prstGeom prst="rect">
            <a:avLst/>
          </a:prstGeom>
          <a:solidFill>
            <a:srgbClr val="F4F4F4"/>
          </a:solidFill>
          <a:ln w="12700">
            <a:solidFill>
              <a:srgbClr val="F4F4F4"/>
            </a:solidFill>
            <a:prstDash val="solid"/>
          </a:ln>
        </p:spPr>
      </p:sp>
      <p:sp>
        <p:nvSpPr>
          <p:cNvPr id="22" name="Shape 17"/>
          <p:cNvSpPr/>
          <p:nvPr/>
        </p:nvSpPr>
        <p:spPr>
          <a:xfrm>
            <a:off x="777240" y="5239512"/>
            <a:ext cx="658368" cy="658368"/>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41832" y="5404104"/>
            <a:ext cx="329184" cy="329184"/>
          </a:xfrm>
          <a:prstGeom prst="rect">
            <a:avLst/>
          </a:prstGeom>
        </p:spPr>
      </p:pic>
      <p:sp>
        <p:nvSpPr>
          <p:cNvPr id="24" name="Text 18"/>
          <p:cNvSpPr txBox="1"/>
          <p:nvPr/>
        </p:nvSpPr>
        <p:spPr>
          <a:xfrm>
            <a:off x="152704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Support unit</a:t>
            </a:r>
            <a:endParaRPr lang="en-US" sz="1150" dirty="0"/>
          </a:p>
        </p:txBody>
      </p:sp>
      <p:sp>
        <p:nvSpPr>
          <p:cNvPr id="25" name="Shape 19"/>
          <p:cNvSpPr/>
          <p:nvPr/>
        </p:nvSpPr>
        <p:spPr>
          <a:xfrm>
            <a:off x="2971800" y="5239512"/>
            <a:ext cx="658368" cy="658368"/>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3136392" y="5404104"/>
            <a:ext cx="329184" cy="329184"/>
          </a:xfrm>
          <a:prstGeom prst="rect">
            <a:avLst/>
          </a:prstGeom>
        </p:spPr>
      </p:pic>
      <p:sp>
        <p:nvSpPr>
          <p:cNvPr id="27" name="Text 20"/>
          <p:cNvSpPr txBox="1"/>
          <p:nvPr/>
        </p:nvSpPr>
        <p:spPr>
          <a:xfrm>
            <a:off x="372160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300# launchers &amp; receivers</a:t>
            </a:r>
            <a:endParaRPr lang="en-US" sz="1150" dirty="0"/>
          </a:p>
        </p:txBody>
      </p:sp>
      <p:sp>
        <p:nvSpPr>
          <p:cNvPr id="28" name="Shape 21"/>
          <p:cNvSpPr/>
          <p:nvPr/>
        </p:nvSpPr>
        <p:spPr>
          <a:xfrm>
            <a:off x="5166360" y="5239512"/>
            <a:ext cx="658368" cy="658368"/>
          </a:xfrm>
          <a:prstGeom prst="ellipse">
            <a:avLst/>
          </a:prstGeom>
          <a:solidFill>
            <a:srgbClr val="1E1E1E"/>
          </a:solidFill>
          <a:ln w="12700">
            <a:solidFill>
              <a:srgbClr val="1E1E1E"/>
            </a:solidFill>
            <a:prstDash val="solid"/>
          </a:ln>
        </p:spPr>
      </p:sp>
      <p:pic>
        <p:nvPicPr>
          <p:cNvPr id="29" name="Image 5" descr="preencoded.png">    </p:cNvPr>
          <p:cNvPicPr>
            <a:picLocks noChangeAspect="1"/>
          </p:cNvPicPr>
          <p:nvPr/>
        </p:nvPicPr>
        <p:blipFill>
          <a:blip r:embed="rId6"/>
          <a:stretch>
            <a:fillRect/>
          </a:stretch>
        </p:blipFill>
        <p:spPr>
          <a:xfrm>
            <a:off x="5330952" y="5404104"/>
            <a:ext cx="329184" cy="329184"/>
          </a:xfrm>
          <a:prstGeom prst="rect">
            <a:avLst/>
          </a:prstGeom>
        </p:spPr>
      </p:pic>
      <p:sp>
        <p:nvSpPr>
          <p:cNvPr id="30" name="Text 22"/>
          <p:cNvSpPr txBox="1"/>
          <p:nvPr/>
        </p:nvSpPr>
        <p:spPr>
          <a:xfrm>
            <a:off x="591616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Tested &amp; certified hard and flex pipe</a:t>
            </a:r>
            <a:endParaRPr lang="en-US" sz="1150" dirty="0"/>
          </a:p>
        </p:txBody>
      </p:sp>
      <p:sp>
        <p:nvSpPr>
          <p:cNvPr id="31" name="Shape 23"/>
          <p:cNvSpPr/>
          <p:nvPr/>
        </p:nvSpPr>
        <p:spPr>
          <a:xfrm>
            <a:off x="7360920" y="5239512"/>
            <a:ext cx="658368" cy="658368"/>
          </a:xfrm>
          <a:prstGeom prst="ellipse">
            <a:avLst/>
          </a:prstGeom>
          <a:solidFill>
            <a:srgbClr val="1E1E1E"/>
          </a:solidFill>
          <a:ln w="12700">
            <a:solidFill>
              <a:srgbClr val="1E1E1E"/>
            </a:solidFill>
            <a:prstDash val="solid"/>
          </a:ln>
        </p:spPr>
      </p:sp>
      <p:pic>
        <p:nvPicPr>
          <p:cNvPr id="32" name="Image 6" descr="preencoded.png">    </p:cNvPr>
          <p:cNvPicPr>
            <a:picLocks noChangeAspect="1"/>
          </p:cNvPicPr>
          <p:nvPr/>
        </p:nvPicPr>
        <p:blipFill>
          <a:blip r:embed="rId7"/>
          <a:stretch>
            <a:fillRect/>
          </a:stretch>
        </p:blipFill>
        <p:spPr>
          <a:xfrm>
            <a:off x="7525512" y="5404104"/>
            <a:ext cx="329184" cy="329184"/>
          </a:xfrm>
          <a:prstGeom prst="rect">
            <a:avLst/>
          </a:prstGeom>
        </p:spPr>
      </p:pic>
      <p:sp>
        <p:nvSpPr>
          <p:cNvPr id="33" name="Text 24"/>
          <p:cNvSpPr txBox="1"/>
          <p:nvPr/>
        </p:nvSpPr>
        <p:spPr>
          <a:xfrm>
            <a:off x="811072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All pigs &amp; foam swabs</a:t>
            </a:r>
            <a:endParaRPr lang="en-US" sz="1150" dirty="0"/>
          </a:p>
        </p:txBody>
      </p:sp>
      <p:sp>
        <p:nvSpPr>
          <p:cNvPr id="34" name="Shape 25"/>
          <p:cNvSpPr/>
          <p:nvPr/>
        </p:nvSpPr>
        <p:spPr>
          <a:xfrm>
            <a:off x="9555480" y="5239512"/>
            <a:ext cx="658368" cy="658368"/>
          </a:xfrm>
          <a:prstGeom prst="ellipse">
            <a:avLst/>
          </a:prstGeom>
          <a:solidFill>
            <a:srgbClr val="1E1E1E"/>
          </a:solidFill>
          <a:ln w="12700">
            <a:solidFill>
              <a:srgbClr val="1E1E1E"/>
            </a:solidFill>
            <a:prstDash val="solid"/>
          </a:ln>
        </p:spPr>
      </p:sp>
      <p:pic>
        <p:nvPicPr>
          <p:cNvPr id="35" name="Image 7" descr="preencoded.png">    </p:cNvPr>
          <p:cNvPicPr>
            <a:picLocks noChangeAspect="1"/>
          </p:cNvPicPr>
          <p:nvPr/>
        </p:nvPicPr>
        <p:blipFill>
          <a:blip r:embed="rId8"/>
          <a:stretch>
            <a:fillRect/>
          </a:stretch>
        </p:blipFill>
        <p:spPr>
          <a:xfrm>
            <a:off x="9720072" y="5404104"/>
            <a:ext cx="329184" cy="329184"/>
          </a:xfrm>
          <a:prstGeom prst="rect">
            <a:avLst/>
          </a:prstGeom>
        </p:spPr>
      </p:pic>
      <p:sp>
        <p:nvSpPr>
          <p:cNvPr id="36" name="Text 26"/>
          <p:cNvSpPr txBox="1"/>
          <p:nvPr/>
        </p:nvSpPr>
        <p:spPr>
          <a:xfrm>
            <a:off x="1030528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Optional: closed-loop filtration</a:t>
            </a:r>
            <a:endParaRPr lang="en-US" sz="1150" dirty="0"/>
          </a:p>
        </p:txBody>
      </p:sp>
      <p:sp>
        <p:nvSpPr>
          <p:cNvPr id="37"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 at the proposal rate</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Marathon</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tmp/claude-0/-home-user-obsidian-work/c8998718-f22f-57a3-84c2-766db1d92b4c/scratchpad/deck/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Marathon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Field-proven process: successful sign-offs from all of our clients and reliable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 submitted with the RFI response</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Marathon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Marathon</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tmp/claude-0/-home-user-obsidian-work/c8998718-f22f-57a3-84c2-766db1d92b4c/scratchpad/deck/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4555236"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4555236"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 &amp; LOCAL RESOURCES</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LAR</a:t>
            </a:r>
            <a:endParaRPr lang="en-US" sz="3200" dirty="0"/>
          </a:p>
        </p:txBody>
      </p:sp>
      <p:sp>
        <p:nvSpPr>
          <p:cNvPr id="8" name="Text 4"/>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Shops, equipment and crews in Southern California / LA Basin, with regional support</a:t>
            </a:r>
            <a:endParaRPr lang="en-US" sz="1500" dirty="0"/>
          </a:p>
        </p:txBody>
      </p:sp>
      <p:sp>
        <p:nvSpPr>
          <p:cNvPr id="9" name="Shape 5"/>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0" name="Text 6"/>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1" name="Text 7"/>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2" name="Shape 8"/>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3" name="Text 9"/>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4" name="Text 10"/>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for local needs</a:t>
            </a:r>
            <a:endParaRPr lang="en-US" sz="1150" dirty="0"/>
          </a:p>
        </p:txBody>
      </p:sp>
      <p:sp>
        <p:nvSpPr>
          <p:cNvPr id="15" name="Shape 11"/>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6" name="Text 12"/>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&lt; 24 hrs</a:t>
            </a:r>
            <a:endParaRPr lang="en-US" sz="2200" dirty="0"/>
          </a:p>
        </p:txBody>
      </p:sp>
      <p:sp>
        <p:nvSpPr>
          <p:cNvPr id="17" name="Text 13"/>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Manpower &amp; equipment anywhere else, from regional shops</a:t>
            </a:r>
            <a:endParaRPr lang="en-US" sz="1150" dirty="0"/>
          </a:p>
        </p:txBody>
      </p:sp>
      <p:sp>
        <p:nvSpPr>
          <p:cNvPr id="18" name="Text 1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9" name="Text 1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Marathon's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iff.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4672622"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4672622"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BEST PRACTICES, CAPABILITIES &amp; INNOVATION</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6" name="Shape 3"/>
          <p:cNvSpPr/>
          <p:nvPr/>
        </p:nvSpPr>
        <p:spPr>
          <a:xfrm>
            <a:off x="548640" y="1874520"/>
            <a:ext cx="3749040" cy="1965960"/>
          </a:xfrm>
          <a:prstGeom prst="rect">
            <a:avLst/>
          </a:prstGeom>
          <a:solidFill>
            <a:srgbClr val="2B2B2B"/>
          </a:solidFill>
          <a:ln w="12700">
            <a:solidFill>
              <a:srgbClr val="2B2B2B"/>
            </a:solidFill>
            <a:prstDash val="solid"/>
          </a:ln>
        </p:spPr>
      </p:sp>
      <p:sp>
        <p:nvSpPr>
          <p:cNvPr id="7" name="Shape 4"/>
          <p:cNvSpPr/>
          <p:nvPr/>
        </p:nvSpPr>
        <p:spPr>
          <a:xfrm>
            <a:off x="822960" y="2148840"/>
            <a:ext cx="658368" cy="658368"/>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9" name="Text 5"/>
          <p:cNvSpPr txBox="1"/>
          <p:nvPr/>
        </p:nvSpPr>
        <p:spPr>
          <a:xfrm>
            <a:off x="164592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Self-performed scope</a:t>
            </a:r>
            <a:endParaRPr lang="en-US" sz="1700" dirty="0"/>
          </a:p>
        </p:txBody>
      </p:sp>
      <p:sp>
        <p:nvSpPr>
          <p:cNvPr id="10" name="Text 6"/>
          <p:cNvSpPr txBox="1"/>
          <p:nvPr/>
        </p:nvSpPr>
        <p:spPr>
          <a:xfrm>
            <a:off x="82296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Pigging, decoking and hydroblasting with our own equipment and SCAQMD rigs: one contractor, no subs</a:t>
            </a:r>
            <a:endParaRPr lang="en-US" sz="1250" dirty="0"/>
          </a:p>
        </p:txBody>
      </p:sp>
      <p:sp>
        <p:nvSpPr>
          <p:cNvPr id="11" name="Shape 7"/>
          <p:cNvSpPr/>
          <p:nvPr/>
        </p:nvSpPr>
        <p:spPr>
          <a:xfrm>
            <a:off x="4480560" y="1874520"/>
            <a:ext cx="3749040" cy="1965960"/>
          </a:xfrm>
          <a:prstGeom prst="rect">
            <a:avLst/>
          </a:prstGeom>
          <a:solidFill>
            <a:srgbClr val="2B2B2B"/>
          </a:solidFill>
          <a:ln w="12700">
            <a:solidFill>
              <a:srgbClr val="2B2B2B"/>
            </a:solidFill>
            <a:prstDash val="solid"/>
          </a:ln>
        </p:spPr>
      </p:sp>
      <p:sp>
        <p:nvSpPr>
          <p:cNvPr id="12" name="Shape 8"/>
          <p:cNvSpPr/>
          <p:nvPr/>
        </p:nvSpPr>
        <p:spPr>
          <a:xfrm>
            <a:off x="4754880" y="2148840"/>
            <a:ext cx="658368" cy="658368"/>
          </a:xfrm>
          <a:prstGeom prst="ellipse">
            <a:avLst/>
          </a:prstGeom>
          <a:solidFill>
            <a:srgbClr val="FCC30A"/>
          </a:solidFill>
          <a:ln w="12700">
            <a:solidFill>
              <a:srgbClr val="FCC30A"/>
            </a:solidFill>
            <a:prstDash val="solid"/>
          </a:ln>
        </p:spPr>
      </p:sp>
      <p:pic>
        <p:nvPicPr>
          <p:cNvPr id="13" name="Image 2" descr="preencoded.png">    </p:cNvPr>
          <p:cNvPicPr>
            <a:picLocks noChangeAspect="1"/>
          </p:cNvPicPr>
          <p:nvPr/>
        </p:nvPicPr>
        <p:blipFill>
          <a:blip r:embed="rId3"/>
          <a:stretch>
            <a:fillRect/>
          </a:stretch>
        </p:blipFill>
        <p:spPr>
          <a:xfrm>
            <a:off x="4919472" y="2313432"/>
            <a:ext cx="329184" cy="329184"/>
          </a:xfrm>
          <a:prstGeom prst="rect">
            <a:avLst/>
          </a:prstGeom>
        </p:spPr>
      </p:pic>
      <p:sp>
        <p:nvSpPr>
          <p:cNvPr id="14" name="Text 9"/>
          <p:cNvSpPr txBox="1"/>
          <p:nvPr/>
        </p:nvSpPr>
        <p:spPr>
          <a:xfrm>
            <a:off x="557784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Largest standardized fleet</a:t>
            </a:r>
            <a:endParaRPr lang="en-US" sz="1700" dirty="0"/>
          </a:p>
        </p:txBody>
      </p:sp>
      <p:sp>
        <p:nvSpPr>
          <p:cNvPr id="15" name="Text 10"/>
          <p:cNvSpPr txBox="1"/>
          <p:nvPr/>
        </p:nvSpPr>
        <p:spPr>
          <a:xfrm>
            <a:off x="475488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50" dirty="0"/>
          </a:p>
        </p:txBody>
      </p:sp>
      <p:sp>
        <p:nvSpPr>
          <p:cNvPr id="16" name="Shape 11"/>
          <p:cNvSpPr/>
          <p:nvPr/>
        </p:nvSpPr>
        <p:spPr>
          <a:xfrm>
            <a:off x="548640" y="4023360"/>
            <a:ext cx="3749040" cy="1965960"/>
          </a:xfrm>
          <a:prstGeom prst="rect">
            <a:avLst/>
          </a:prstGeom>
          <a:solidFill>
            <a:srgbClr val="2B2B2B"/>
          </a:solidFill>
          <a:ln w="12700">
            <a:solidFill>
              <a:srgbClr val="2B2B2B"/>
            </a:solidFill>
            <a:prstDash val="solid"/>
          </a:ln>
        </p:spPr>
      </p:sp>
      <p:sp>
        <p:nvSpPr>
          <p:cNvPr id="17" name="Shape 12"/>
          <p:cNvSpPr/>
          <p:nvPr/>
        </p:nvSpPr>
        <p:spPr>
          <a:xfrm>
            <a:off x="822960" y="4297680"/>
            <a:ext cx="658368" cy="658368"/>
          </a:xfrm>
          <a:prstGeom prst="ellipse">
            <a:avLst/>
          </a:prstGeom>
          <a:solidFill>
            <a:srgbClr val="FCC30A"/>
          </a:solidFill>
          <a:ln w="12700">
            <a:solidFill>
              <a:srgbClr val="FCC30A"/>
            </a:solidFill>
            <a:prstDash val="solid"/>
          </a:ln>
        </p:spPr>
      </p:sp>
      <p:pic>
        <p:nvPicPr>
          <p:cNvPr id="18"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19" name="Text 13"/>
          <p:cNvSpPr txBox="1"/>
          <p:nvPr/>
        </p:nvSpPr>
        <p:spPr>
          <a:xfrm>
            <a:off x="164592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Widest pig selection</a:t>
            </a:r>
            <a:endParaRPr lang="en-US" sz="1700" dirty="0"/>
          </a:p>
        </p:txBody>
      </p:sp>
      <p:sp>
        <p:nvSpPr>
          <p:cNvPr id="20" name="Text 14"/>
          <p:cNvSpPr txBox="1"/>
          <p:nvPr/>
        </p:nvSpPr>
        <p:spPr>
          <a:xfrm>
            <a:off x="82296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50" dirty="0"/>
          </a:p>
        </p:txBody>
      </p:sp>
      <p:sp>
        <p:nvSpPr>
          <p:cNvPr id="21" name="Shape 15"/>
          <p:cNvSpPr/>
          <p:nvPr/>
        </p:nvSpPr>
        <p:spPr>
          <a:xfrm>
            <a:off x="4480560" y="4023360"/>
            <a:ext cx="3749040" cy="1965960"/>
          </a:xfrm>
          <a:prstGeom prst="rect">
            <a:avLst/>
          </a:prstGeom>
          <a:solidFill>
            <a:srgbClr val="2B2B2B"/>
          </a:solidFill>
          <a:ln w="12700">
            <a:solidFill>
              <a:srgbClr val="2B2B2B"/>
            </a:solidFill>
            <a:prstDash val="solid"/>
          </a:ln>
        </p:spPr>
      </p:sp>
      <p:sp>
        <p:nvSpPr>
          <p:cNvPr id="22" name="Shape 16"/>
          <p:cNvSpPr/>
          <p:nvPr/>
        </p:nvSpPr>
        <p:spPr>
          <a:xfrm>
            <a:off x="4754880" y="4297680"/>
            <a:ext cx="658368" cy="658368"/>
          </a:xfrm>
          <a:prstGeom prst="ellipse">
            <a:avLst/>
          </a:prstGeom>
          <a:solidFill>
            <a:srgbClr val="FCC30A"/>
          </a:solidFill>
          <a:ln w="12700">
            <a:solidFill>
              <a:srgbClr val="FCC30A"/>
            </a:solidFill>
            <a:prstDash val="solid"/>
          </a:ln>
        </p:spPr>
      </p:sp>
      <p:pic>
        <p:nvPicPr>
          <p:cNvPr id="23" name="Image 4" descr="preencoded.png">    </p:cNvPr>
          <p:cNvPicPr>
            <a:picLocks noChangeAspect="1"/>
          </p:cNvPicPr>
          <p:nvPr/>
        </p:nvPicPr>
        <p:blipFill>
          <a:blip r:embed="rId5"/>
          <a:stretch>
            <a:fillRect/>
          </a:stretch>
        </p:blipFill>
        <p:spPr>
          <a:xfrm>
            <a:off x="4919472" y="4462272"/>
            <a:ext cx="329184" cy="329184"/>
          </a:xfrm>
          <a:prstGeom prst="rect">
            <a:avLst/>
          </a:prstGeom>
        </p:spPr>
      </p:pic>
      <p:sp>
        <p:nvSpPr>
          <p:cNvPr id="24" name="Text 17"/>
          <p:cNvSpPr txBox="1"/>
          <p:nvPr/>
        </p:nvSpPr>
        <p:spPr>
          <a:xfrm>
            <a:off x="557784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Data-driven, shared</a:t>
            </a:r>
            <a:endParaRPr lang="en-US" sz="1700" dirty="0"/>
          </a:p>
        </p:txBody>
      </p:sp>
      <p:sp>
        <p:nvSpPr>
          <p:cNvPr id="25" name="Text 18"/>
          <p:cNvSpPr txBox="1"/>
          <p:nvPr/>
        </p:nvSpPr>
        <p:spPr>
          <a:xfrm>
            <a:off x="475488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Durations built from recorded actuals; lessons learned reviewed with Marathon after every job</a:t>
            </a:r>
            <a:endParaRPr lang="en-US" sz="1250" dirty="0"/>
          </a:p>
        </p:txBody>
      </p:sp>
      <p:sp>
        <p:nvSpPr>
          <p:cNvPr id="26"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7"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MPC system</a:t>
            </a:r>
            <a:endParaRPr lang="en-US" sz="3200" dirty="0"/>
          </a:p>
        </p:txBody>
      </p:sp>
      <p:pic>
        <p:nvPicPr>
          <p:cNvPr id="5" name="Image 0" descr="/tmp/claude-0/-home-user-obsidian-work/c8998718-f22f-57a3-84c2-766db1d92b4c/scratchpad/deck/img/mpc_map.png">    </p:cNvPr>
          <p:cNvPicPr>
            <a:picLocks noChangeAspect="1"/>
          </p:cNvPicPr>
          <p:nvPr/>
        </p:nvPicPr>
        <p:blipFill>
          <a:blip r:embed="rId1"/>
          <a:stretch>
            <a:fillRect/>
          </a:stretch>
        </p:blipFill>
        <p:spPr>
          <a:xfrm>
            <a:off x="457200" y="1554480"/>
            <a:ext cx="7680960" cy="4790276"/>
          </a:xfrm>
          <a:prstGeom prst="rect">
            <a:avLst/>
          </a:prstGeom>
        </p:spPr>
      </p:pic>
      <p:sp>
        <p:nvSpPr>
          <p:cNvPr id="6" name="Text 3"/>
          <p:cNvSpPr txBox="1"/>
          <p:nvPr/>
        </p:nvSpPr>
        <p:spPr>
          <a:xfrm>
            <a:off x="8869680" y="1828800"/>
            <a:ext cx="2743200" cy="1188720"/>
          </a:xfrm>
          <a:prstGeom prst="rect">
            <a:avLst/>
          </a:prstGeom>
          <a:noFill/>
          <a:ln/>
        </p:spPr>
        <p:txBody>
          <a:bodyPr wrap="square" lIns="0" tIns="0" rIns="0" bIns="0" rtlCol="0" anchor="ctr"/>
          <a:lstStyle/>
          <a:p>
            <a:pPr indent="0" marL="0">
              <a:buNone/>
            </a:pPr>
            <a:r>
              <a:rPr lang="en-US" sz="8800" b="1" dirty="0">
                <a:solidFill>
                  <a:srgbClr val="FCC30A"/>
                </a:solidFill>
                <a:latin typeface="Arial" pitchFamily="34" charset="0"/>
                <a:ea typeface="Arial" pitchFamily="34" charset="-122"/>
                <a:cs typeface="Arial" pitchFamily="34" charset="-120"/>
              </a:rPr>
              <a:t>9</a:t>
            </a:r>
            <a:endParaRPr lang="en-US" sz="8800" dirty="0"/>
          </a:p>
        </p:txBody>
      </p:sp>
      <p:sp>
        <p:nvSpPr>
          <p:cNvPr id="7" name="Text 4"/>
          <p:cNvSpPr txBox="1"/>
          <p:nvPr/>
        </p:nvSpPr>
        <p:spPr>
          <a:xfrm>
            <a:off x="8869680" y="3017520"/>
            <a:ext cx="2743200" cy="6858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Marathon refineries with USA DeBusk references</a:t>
            </a:r>
            <a:endParaRPr lang="en-US" sz="1600" dirty="0"/>
          </a:p>
        </p:txBody>
      </p:sp>
      <p:sp>
        <p:nvSpPr>
          <p:cNvPr id="8" name="Text 5"/>
          <p:cNvSpPr txBox="1"/>
          <p:nvPr/>
        </p:nvSpPr>
        <p:spPr>
          <a:xfrm>
            <a:off x="8869680" y="3886200"/>
            <a:ext cx="2788920" cy="219456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Named contacts at 8 sites (Galveston Bay on request), listed in the appendix</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Includes Martinez, CA, our West Coast MPC reference</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Crude, coker and vacuum heater experience</a:t>
            </a:r>
            <a:endParaRPr lang="en-US" sz="1250" dirty="0"/>
          </a:p>
        </p:txBody>
      </p:sp>
      <p:sp>
        <p:nvSpPr>
          <p:cNvPr id="9" name="Text 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0" name="Text 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Coker heater case studies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Marathon Detroit, MI: 70H1 Coker</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Decoked September 2024 and September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3 cells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15,156'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TriMax units</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All six passes, convection and radiant, pigged simultaneously on two TriMax units.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Completed on schedule and safely on both occasions; Marathon Detroit re-engaged USA DeBusk for the same coker.</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CHS McPherson, KS: Coker HF-0012</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6-pass coker heater, planned decoke, 2025</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12,036'</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85 h</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Hard coke held pigs in the radiant section.</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Stage heavy-duty scraper pigs for the radiant from day one, not as a mid-job change.</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why.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2"/>
          <p:cNvSpPr txBox="1"/>
          <p:nvPr/>
        </p:nvSpPr>
        <p:spPr>
          <a:xfrm>
            <a:off x="548640" y="841248"/>
            <a:ext cx="685800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Why USA DeBusk for LAR</a:t>
            </a:r>
            <a:endParaRPr lang="en-US" sz="3600" dirty="0"/>
          </a:p>
        </p:txBody>
      </p:sp>
      <p:sp>
        <p:nvSpPr>
          <p:cNvPr id="7" name="Shape 3"/>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2" descr="preencoded.png">    </p:cNvPr>
          <p:cNvPicPr>
            <a:picLocks noChangeAspect="1"/>
          </p:cNvPicPr>
          <p:nvPr/>
        </p:nvPicPr>
        <p:blipFill>
          <a:blip r:embed="rId3"/>
          <a:stretch>
            <a:fillRect/>
          </a:stretch>
        </p:blipFill>
        <p:spPr>
          <a:xfrm>
            <a:off x="674370" y="2045970"/>
            <a:ext cx="251460" cy="251460"/>
          </a:xfrm>
          <a:prstGeom prst="rect">
            <a:avLst/>
          </a:prstGeom>
        </p:spPr>
      </p:pic>
      <p:sp>
        <p:nvSpPr>
          <p:cNvPr id="9" name="Text 4"/>
          <p:cNvSpPr txBox="1"/>
          <p:nvPr/>
        </p:nvSpPr>
        <p:spPr>
          <a:xfrm>
            <a:off x="1234440" y="1874520"/>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experience</a:t>
            </a:r>
            <a:endParaRPr lang="en-US" sz="1800" dirty="0"/>
          </a:p>
        </p:txBody>
      </p:sp>
      <p:sp>
        <p:nvSpPr>
          <p:cNvPr id="10" name="Text 5"/>
          <p:cNvSpPr txBox="1"/>
          <p:nvPr/>
        </p:nvSpPr>
        <p:spPr>
          <a:xfrm>
            <a:off x="1234440" y="2203704"/>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200+ years combined; 9 MPC references, including Detroit's coker</a:t>
            </a:r>
            <a:endParaRPr lang="en-US" sz="1300" dirty="0"/>
          </a:p>
        </p:txBody>
      </p:sp>
      <p:sp>
        <p:nvSpPr>
          <p:cNvPr id="11" name="Shape 6"/>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3" descr="preencoded.png">    </p:cNvPr>
          <p:cNvPicPr>
            <a:picLocks noChangeAspect="1"/>
          </p:cNvPicPr>
          <p:nvPr/>
        </p:nvPicPr>
        <p:blipFill>
          <a:blip r:embed="rId4"/>
          <a:stretch>
            <a:fillRect/>
          </a:stretch>
        </p:blipFill>
        <p:spPr>
          <a:xfrm>
            <a:off x="674370" y="2887218"/>
            <a:ext cx="251460" cy="251460"/>
          </a:xfrm>
          <a:prstGeom prst="rect">
            <a:avLst/>
          </a:prstGeom>
        </p:spPr>
      </p:pic>
      <p:sp>
        <p:nvSpPr>
          <p:cNvPr id="13" name="Text 7"/>
          <p:cNvSpPr txBox="1"/>
          <p:nvPr/>
        </p:nvSpPr>
        <p:spPr>
          <a:xfrm>
            <a:off x="1234440" y="2715768"/>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California-ready</a:t>
            </a:r>
            <a:endParaRPr lang="en-US" sz="1800" dirty="0"/>
          </a:p>
        </p:txBody>
      </p:sp>
      <p:sp>
        <p:nvSpPr>
          <p:cNvPr id="14" name="Text 8"/>
          <p:cNvSpPr txBox="1"/>
          <p:nvPr/>
        </p:nvSpPr>
        <p:spPr>
          <a:xfrm>
            <a:off x="1234440" y="3044952"/>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CARB-registered Tier 4 fleet, Southern California footprint</a:t>
            </a:r>
            <a:endParaRPr lang="en-US" sz="1300" dirty="0"/>
          </a:p>
        </p:txBody>
      </p:sp>
      <p:sp>
        <p:nvSpPr>
          <p:cNvPr id="15" name="Shape 9"/>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4" descr="preencoded.png">    </p:cNvPr>
          <p:cNvPicPr>
            <a:picLocks noChangeAspect="1"/>
          </p:cNvPicPr>
          <p:nvPr/>
        </p:nvPicPr>
        <p:blipFill>
          <a:blip r:embed="rId5"/>
          <a:stretch>
            <a:fillRect/>
          </a:stretch>
        </p:blipFill>
        <p:spPr>
          <a:xfrm>
            <a:off x="674370" y="3728466"/>
            <a:ext cx="251460" cy="251460"/>
          </a:xfrm>
          <a:prstGeom prst="rect">
            <a:avLst/>
          </a:prstGeom>
        </p:spPr>
      </p:pic>
      <p:sp>
        <p:nvSpPr>
          <p:cNvPr id="17" name="Text 10"/>
          <p:cNvSpPr txBox="1"/>
          <p:nvPr/>
        </p:nvSpPr>
        <p:spPr>
          <a:xfrm>
            <a:off x="1234440" y="3557016"/>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1"/>
          <p:cNvSpPr txBox="1"/>
          <p:nvPr/>
        </p:nvSpPr>
        <p:spPr>
          <a:xfrm>
            <a:off x="1234440" y="3886200"/>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Triple-pass TriMax: a spare pump on every 2-pass heater</a:t>
            </a:r>
            <a:endParaRPr lang="en-US" sz="1300" dirty="0"/>
          </a:p>
        </p:txBody>
      </p:sp>
      <p:sp>
        <p:nvSpPr>
          <p:cNvPr id="19" name="Shape 12"/>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5" descr="preencoded.png">    </p:cNvPr>
          <p:cNvPicPr>
            <a:picLocks noChangeAspect="1"/>
          </p:cNvPicPr>
          <p:nvPr/>
        </p:nvPicPr>
        <p:blipFill>
          <a:blip r:embed="rId6"/>
          <a:stretch>
            <a:fillRect/>
          </a:stretch>
        </p:blipFill>
        <p:spPr>
          <a:xfrm>
            <a:off x="674370" y="4569714"/>
            <a:ext cx="251460" cy="251460"/>
          </a:xfrm>
          <a:prstGeom prst="rect">
            <a:avLst/>
          </a:prstGeom>
        </p:spPr>
      </p:pic>
      <p:sp>
        <p:nvSpPr>
          <p:cNvPr id="21" name="Text 13"/>
          <p:cNvSpPr txBox="1"/>
          <p:nvPr/>
        </p:nvSpPr>
        <p:spPr>
          <a:xfrm>
            <a:off x="1234440" y="4398264"/>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4"/>
          <p:cNvSpPr txBox="1"/>
          <p:nvPr/>
        </p:nvSpPr>
        <p:spPr>
          <a:xfrm>
            <a:off x="1234440" y="4727448"/>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4-point verification and joint sign-off on every pass</a:t>
            </a:r>
            <a:endParaRPr lang="en-US" sz="1300" dirty="0"/>
          </a:p>
        </p:txBody>
      </p:sp>
      <p:sp>
        <p:nvSpPr>
          <p:cNvPr id="23" name="Shape 15"/>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6" descr="preencoded.png">    </p:cNvPr>
          <p:cNvPicPr>
            <a:picLocks noChangeAspect="1"/>
          </p:cNvPicPr>
          <p:nvPr/>
        </p:nvPicPr>
        <p:blipFill>
          <a:blip r:embed="rId7"/>
          <a:stretch>
            <a:fillRect/>
          </a:stretch>
        </p:blipFill>
        <p:spPr>
          <a:xfrm>
            <a:off x="674370" y="5410962"/>
            <a:ext cx="251460" cy="251460"/>
          </a:xfrm>
          <a:prstGeom prst="rect">
            <a:avLst/>
          </a:prstGeom>
        </p:spPr>
      </p:pic>
      <p:sp>
        <p:nvSpPr>
          <p:cNvPr id="25" name="Text 16"/>
          <p:cNvSpPr txBox="1"/>
          <p:nvPr/>
        </p:nvSpPr>
        <p:spPr>
          <a:xfrm>
            <a:off x="1234440" y="5239512"/>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7"/>
          <p:cNvSpPr txBox="1"/>
          <p:nvPr/>
        </p:nvSpPr>
        <p:spPr>
          <a:xfrm>
            <a:off x="1234440" y="5568696"/>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EMR 0.48, ISNetworld A, zero fatalities in 3 years</a:t>
            </a:r>
            <a:endParaRPr lang="en-US" sz="1300" dirty="0"/>
          </a:p>
        </p:txBody>
      </p:sp>
      <p:sp>
        <p:nvSpPr>
          <p:cNvPr id="27" name="Text 1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8" name="Text 1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qa.jpg">    </p:cNvPr>
          <p:cNvPicPr>
            <a:picLocks noChangeAspect="1"/>
          </p:cNvPicPr>
          <p:nvPr/>
        </p:nvPicPr>
        <p:blipFill>
          <a:blip r:embed="rId1">
            <a:alphaModFix amt="28000"/>
          </a:blip>
          <a:stretch>
            <a:fillRect/>
          </a:stretch>
        </p:blipFill>
        <p:spPr>
          <a:xfrm>
            <a:off x="0" y="0"/>
            <a:ext cx="12191695" cy="6858000"/>
          </a:xfrm>
          <a:prstGeom prst="rect">
            <a:avLst/>
          </a:prstGeom>
        </p:spPr>
      </p:pic>
      <p:pic>
        <p:nvPicPr>
          <p:cNvPr id="3" name="Image 1" descr="/tmp/claude-0/-home-user-obsidian-work/c8998718-f22f-57a3-84c2-766db1d92b4c/scratchpad/deck/img/logo_white.png">    </p:cNvPr>
          <p:cNvPicPr>
            <a:picLocks noChangeAspect="1"/>
          </p:cNvPicPr>
          <p:nvPr/>
        </p:nvPicPr>
        <p:blipFill>
          <a:blip r:embed="rId2"/>
          <a:stretch>
            <a:fillRect/>
          </a:stretch>
        </p:blipFill>
        <p:spPr>
          <a:xfrm>
            <a:off x="4267048" y="1463040"/>
            <a:ext cx="3657600" cy="548097"/>
          </a:xfrm>
          <a:prstGeom prst="rect">
            <a:avLst/>
          </a:prstGeom>
        </p:spPr>
      </p:pic>
      <p:sp>
        <p:nvSpPr>
          <p:cNvPr id="4" name="Text 0"/>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1"/>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2"/>
          <p:cNvSpPr txBox="1"/>
          <p:nvPr/>
        </p:nvSpPr>
        <p:spPr>
          <a:xfrm>
            <a:off x="548640" y="4846320"/>
            <a:ext cx="11091672" cy="731520"/>
          </a:xfrm>
          <a:prstGeom prst="rect">
            <a:avLst/>
          </a:prstGeom>
          <a:noFill/>
          <a:ln/>
        </p:spPr>
        <p:txBody>
          <a:bodyPr wrap="square" lIns="0" tIns="0" rIns="0" bIns="0" rtlCol="0" anchor="ctr"/>
          <a:lstStyle/>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Marshall Douglas  |  Director of Pigging Operations</a:t>
            </a:r>
            <a:endParaRPr lang="en-US" sz="1400" dirty="0"/>
          </a:p>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MPC references</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828800"/>
                <a:gridCol w="2011680"/>
                <a:gridCol w="2834640"/>
                <a:gridCol w="1417320"/>
                <a:gridCol w="2999232"/>
              </a:tblGrid>
              <a:tr h="301752">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Refinery</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Contact</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Role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Phone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Email</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Catlettsburg, KY</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Eddie Slone</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606-331-2585</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slone@marathonpetroleum.com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Rayburn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TAR / Construction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606-331-0180</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rdrayburn@marathonpetroleum.com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 Holbrook</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Planning</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606-369-6467</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benlholbrook@marathonpetroleum.com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Salt Lake City, UT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Aaron Wiggins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Maintenance Supervisor / Turnarounds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801-703-6722</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ATWiggins@marathonpetroleum.com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Martinez, CA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Kyle Yates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Project Engineer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925-316-9726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SYates2@marathonpetroleum.com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Gorman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952-607-6853</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RMGorman@marathonpetroleum.com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Dickinson, ND</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Tyler Bauer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701-516-3456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tbauer@marathonpetroleum.com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St. Paul Park, MN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Keith James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715-441-7986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TKJames@marathonpetroleum.com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Robinson, IL</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Brian Maus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618-544-2121</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bkmaus@marathonpetroleum.com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Galveston Bay, TX</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Available upon request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Garyville, LA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Shawn Kramer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225-571-2689</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skramer@marathonpetroleum.com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Chad Childs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281-299-6088</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cechilds@marathonpetroleum.com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Detroit, MI</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Nate Lajiness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313-297-6166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nlajiness@marathonpetroleum.com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 name="Text 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TriMax pump performance</a:t>
            </a:r>
            <a:endParaRPr lang="en-US" sz="28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 Waterous Company, form F-2692</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 Heater Pigging &amp; Decoking Services — Technical Proposal</dc:title>
  <dc:subject>PptxGenJS Presentation</dc:subject>
  <dc:creator>USA DeBusk</dc:creator>
  <cp:lastModifiedBy>USA DeBusk</cp:lastModifiedBy>
  <cp:revision>1</cp:revision>
  <dcterms:created xsi:type="dcterms:W3CDTF">2026-09-24T01:25:02Z</dcterms:created>
  <dcterms:modified xsi:type="dcterms:W3CDTF">2026-09-24T01:25:02Z</dcterms:modified>
</cp:coreProperties>
</file>