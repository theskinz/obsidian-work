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6, one of the six identical units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and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 21: 14 heaters at five Valero refineries, including the Texas City coker heater. Reference contacts on request.
- "Smart pig inspection?" The spare TriMax pump drives the inspection tool.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night.jpg">    </p:cNvPr>
          <p:cNvPicPr>
            <a:picLocks noChangeAspect="1"/>
          </p:cNvPicPr>
          <p:nvPr/>
        </p:nvPicPr>
        <p:blipFill>
          <a:blip r:embed="rId1"/>
          <a:stretch>
            <a:fillRect/>
          </a:stretch>
        </p:blipFill>
        <p:spPr>
          <a:xfrm>
            <a:off x="0" y="1187444"/>
            <a:ext cx="12191695" cy="5670556"/>
          </a:xfrm>
          <a:prstGeom prst="rect">
            <a:avLst/>
          </a:prstGeom>
        </p:spPr>
      </p:pic>
      <p:pic>
        <p:nvPicPr>
          <p:cNvPr id="3"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457200"/>
            <a:ext cx="2560320" cy="383668"/>
          </a:xfrm>
          <a:prstGeom prst="rect">
            <a:avLst/>
          </a:prstGeom>
        </p:spPr>
      </p:pic>
      <p:sp>
        <p:nvSpPr>
          <p:cNvPr id="4" name="Text 0"/>
          <p:cNvSpPr txBox="1"/>
          <p:nvPr/>
        </p:nvSpPr>
        <p:spPr>
          <a:xfrm>
            <a:off x="6858000" y="411480"/>
            <a:ext cx="4782312" cy="548640"/>
          </a:xfrm>
          <a:prstGeom prst="rect">
            <a:avLst/>
          </a:prstGeom>
          <a:noFill/>
          <a:ln/>
        </p:spPr>
        <p:txBody>
          <a:bodyPr wrap="square" lIns="0" tIns="0" rIns="0" bIns="0" rtlCol="0" anchor="t"/>
          <a:lstStyle/>
          <a:p>
            <a:pPr algn="r" indent="0" marL="0">
              <a:spcAft>
                <a:spcPts val="200"/>
              </a:spcAft>
              <a:buNone/>
            </a:pPr>
            <a:r>
              <a:rPr lang="en-US" sz="1200" b="1" dirty="0">
                <a:solidFill>
                  <a:srgbClr val="FFFFFF"/>
                </a:solidFill>
                <a:latin typeface="Arial" pitchFamily="34" charset="0"/>
                <a:ea typeface="Arial" pitchFamily="34" charset="-122"/>
                <a:cs typeface="Arial" pitchFamily="34" charset="-120"/>
              </a:rPr>
              <a:t>Presented by Jason Harman</a:t>
            </a:r>
            <a:endParaRPr lang="en-US" sz="1200" dirty="0"/>
          </a:p>
          <a:p>
            <a:pPr algn="r" indent="0" marL="0">
              <a:spcAft>
                <a:spcPts val="200"/>
              </a:spcAft>
              <a:buNone/>
            </a:pPr>
            <a:r>
              <a:rPr lang="en-US" sz="1200" dirty="0">
                <a:solidFill>
                  <a:srgbClr val="BDBDBD"/>
                </a:solidFill>
                <a:latin typeface="Arial" pitchFamily="34" charset="0"/>
                <a:ea typeface="Arial" pitchFamily="34" charset="-122"/>
                <a:cs typeface="Arial" pitchFamily="34" charset="-120"/>
              </a:rPr>
              <a:t>Commercial Manager  |  October 2026</a:t>
            </a:r>
            <a:endParaRPr lang="en-US" sz="1200" dirty="0"/>
          </a:p>
        </p:txBody>
      </p:sp>
      <p:sp>
        <p:nvSpPr>
          <p:cNvPr id="5" name="Text 1"/>
          <p:cNvSpPr txBox="1"/>
          <p:nvPr/>
        </p:nvSpPr>
        <p:spPr>
          <a:xfrm>
            <a:off x="640080" y="960120"/>
            <a:ext cx="10972800" cy="6858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Heater Pigging &amp; Decoking Services</a:t>
            </a:r>
            <a:endParaRPr lang="en-US" sz="3800" dirty="0"/>
          </a:p>
        </p:txBody>
      </p:sp>
      <p:sp>
        <p:nvSpPr>
          <p:cNvPr id="6" name="Shape 2"/>
          <p:cNvSpPr/>
          <p:nvPr/>
        </p:nvSpPr>
        <p:spPr>
          <a:xfrm>
            <a:off x="640080" y="1755648"/>
            <a:ext cx="822960" cy="54864"/>
          </a:xfrm>
          <a:prstGeom prst="rect">
            <a:avLst/>
          </a:prstGeom>
          <a:solidFill>
            <a:srgbClr val="FCC30A"/>
          </a:solidFill>
          <a:ln w="12700">
            <a:solidFill>
              <a:srgbClr val="FCC30A"/>
            </a:solidFill>
            <a:prstDash val="solid"/>
          </a:ln>
        </p:spPr>
      </p:sp>
      <p:sp>
        <p:nvSpPr>
          <p:cNvPr id="7" name="Text 3"/>
          <p:cNvSpPr txBox="1"/>
          <p:nvPr/>
        </p:nvSpPr>
        <p:spPr>
          <a:xfrm>
            <a:off x="1645920" y="1600200"/>
            <a:ext cx="7315200" cy="36576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Body, durometer and studding chosen for the coil, the coke and the metallurgy</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decides which pigs are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approximate 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Technician</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trimax_dusk.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6"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7"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8"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9" name="Image 2" descr="preencoded.png">    </p:cNvPr>
          <p:cNvPicPr>
            <a:picLocks noChangeAspect="1"/>
          </p:cNvPicPr>
          <p:nvPr/>
        </p:nvPicPr>
        <p:blipFill>
          <a:blip r:embed="rId3"/>
          <a:stretch>
            <a:fillRect/>
          </a:stretch>
        </p:blipFill>
        <p:spPr>
          <a:xfrm>
            <a:off x="690372" y="2153412"/>
            <a:ext cx="283464" cy="283464"/>
          </a:xfrm>
          <a:prstGeom prst="rect">
            <a:avLst/>
          </a:prstGeom>
        </p:spPr>
      </p:pic>
      <p:sp>
        <p:nvSpPr>
          <p:cNvPr id="10"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1"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2"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3" name="Image 3" descr="preencoded.png">    </p:cNvPr>
          <p:cNvPicPr>
            <a:picLocks noChangeAspect="1"/>
          </p:cNvPicPr>
          <p:nvPr/>
        </p:nvPicPr>
        <p:blipFill>
          <a:blip r:embed="rId4"/>
          <a:stretch>
            <a:fillRect/>
          </a:stretch>
        </p:blipFill>
        <p:spPr>
          <a:xfrm>
            <a:off x="690372" y="2884932"/>
            <a:ext cx="283464" cy="283464"/>
          </a:xfrm>
          <a:prstGeom prst="rect">
            <a:avLst/>
          </a:prstGeom>
        </p:spPr>
      </p:pic>
      <p:sp>
        <p:nvSpPr>
          <p:cNvPr id="14"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5"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6"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7" name="Image 4" descr="preencoded.png">    </p:cNvPr>
          <p:cNvPicPr>
            <a:picLocks noChangeAspect="1"/>
          </p:cNvPicPr>
          <p:nvPr/>
        </p:nvPicPr>
        <p:blipFill>
          <a:blip r:embed="rId5"/>
          <a:stretch>
            <a:fillRect/>
          </a:stretch>
        </p:blipFill>
        <p:spPr>
          <a:xfrm>
            <a:off x="690372" y="3616452"/>
            <a:ext cx="283464" cy="283464"/>
          </a:xfrm>
          <a:prstGeom prst="rect">
            <a:avLst/>
          </a:prstGeom>
        </p:spPr>
      </p:pic>
      <p:sp>
        <p:nvSpPr>
          <p:cNvPr id="18"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19"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0"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1" name="Image 5" descr="preencoded.png">    </p:cNvPr>
          <p:cNvPicPr>
            <a:picLocks noChangeAspect="1"/>
          </p:cNvPicPr>
          <p:nvPr/>
        </p:nvPicPr>
        <p:blipFill>
          <a:blip r:embed="rId6"/>
          <a:stretch>
            <a:fillRect/>
          </a:stretch>
        </p:blipFill>
        <p:spPr>
          <a:xfrm>
            <a:off x="690372" y="4347972"/>
            <a:ext cx="283464" cy="283464"/>
          </a:xfrm>
          <a:prstGeom prst="rect">
            <a:avLst/>
          </a:prstGeom>
        </p:spPr>
      </p:pic>
      <p:sp>
        <p:nvSpPr>
          <p:cNvPr id="22"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3"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4"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5" name="Image 6" descr="preencoded.png">    </p:cNvPr>
          <p:cNvPicPr>
            <a:picLocks noChangeAspect="1"/>
          </p:cNvPicPr>
          <p:nvPr/>
        </p:nvPicPr>
        <p:blipFill>
          <a:blip r:embed="rId7"/>
          <a:stretch>
            <a:fillRect/>
          </a:stretch>
        </p:blipFill>
        <p:spPr>
          <a:xfrm>
            <a:off x="690372" y="5079492"/>
            <a:ext cx="283464" cy="283464"/>
          </a:xfrm>
          <a:prstGeom prst="rect">
            <a:avLst/>
          </a:prstGeom>
        </p:spPr>
      </p:pic>
      <p:sp>
        <p:nvSpPr>
          <p:cNvPr id="26"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7"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8"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29"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0"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1"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2" name="Shape 23"/>
          <p:cNvSpPr/>
          <p:nvPr/>
        </p:nvSpPr>
        <p:spPr>
          <a:xfrm>
            <a:off x="6309360" y="5824728"/>
            <a:ext cx="0" cy="310896"/>
          </a:xfrm>
          <a:prstGeom prst="line">
            <a:avLst/>
          </a:prstGeom>
          <a:noFill/>
          <a:ln w="19050">
            <a:solidFill>
              <a:srgbClr val="FFFFFF"/>
            </a:solidFill>
            <a:prstDash val="solid"/>
          </a:ln>
        </p:spPr>
      </p:sp>
      <p:sp>
        <p:nvSpPr>
          <p:cNvPr id="33"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4"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5"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6"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7"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8"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39"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0"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1"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pump curve: Waterous Company</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operator works that location until it clears</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fines in the return stream taper off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A pass is called clean only when all four indicators agree.</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 one in line with closures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subcontractors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Largest triple-pass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triple-pass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Engineered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18223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8223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Local</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2026-10-14T17:54:55Z</dcterms:created>
  <dcterms:modified xsi:type="dcterms:W3CDTF">2026-10-14T17:54:55Z</dcterms:modified>
</cp:coreProperties>
</file>