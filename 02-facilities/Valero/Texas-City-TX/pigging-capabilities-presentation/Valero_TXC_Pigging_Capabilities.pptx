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Texas City team for the time. Introduce yourself (Jason Harman, Commercial Manager) and anyone attending with you.
Frame: "We're not new to Texas City: we've pigged your coker heater before. This is an overview of how we pig and decoke fired heaters, what we bring to site, and what we've done across the Valero system. About 30 minutes, then questions."
The photo is TriMax 4 staged at a refinery, the same equipment we'd bring to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 Walk the agenda quickly: how we clean a heater, how we run the job, what we bring, how you know it's clean, safety, and our Valero track record.
Transition: "First, the services we offer a site like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What we do, in one slide. We mechanically pig and decoke fired heater coils: cokers, crude and vacuum heaters, and charge and process heaters. The method is the same across all of them; what changes is the coke, the coil geometry and the metallurgy, and we plan each heater around those.
Smart pig support: we clean coils to the standard an inspection tool needs, and the TriMax's spare pump can drive the inspection pig, so the inspection doesn't need its own pumping equipment.
We work planned turnarounds and run-length decokes, and we mobilize on short notice when a heater has to come down. Closed-loop filtration is available as an option; we'll cover it in the equipment section.
Transition: "Here's how we clean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Valero witnesses the final gauge foam and signs off per pass (detail on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heater gets a pig progression plan before we mobilize; these are two examples of how it's built.
The ceiling is fixed by our sizing rule: smallest tube ID plus a quarter inch. On a 4" Sch 80 coil the ID is 3.826", so the maximum is 4.076". Where a pass changes diameter, as on many vacuum heaters, the smallest ID governs the whole pass: a pass running 3" to 8" is capped by its 2.900" tubes. Tube condition can set a lower practical ceiling, and when it does, we stop there.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(Presenter: this is where to talk about our supplier base and why we source rather than build.)
Walk the four cards. Bodies come soft-core or hard-core, in urethane or high-density foam, plus medium and hard foam pushers. Durometers run across a full range (for example 40, 60 and 80) so we can compress through tight bends or cut hard coke. Pigs run bald or studded: tungsten carbide, hardened steel, or stainless where the tube metallurgy calls for it. And when pig wear shows hard, heavy coke, we move to high-durometer, fully studded designs.
The photo shows new pigs: soft and hard bodies, bald and studded.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We don't show up and figure out the heater on site. Every heater is planned from its drawings first.
Geometry: footage and tube IDs per pass, and where the diameter changes, set the pig progression and the duration estimate.
Metallurgy: on stainless and chrome coils we verify water quality before fill and keep galvanized hardware off the tubes.
Connections: we confirm the coil flange size and rating and match the spools and adapters to our 300# launchers and receivers before we arrive.
Bends: 180° returns, plug headers and mule ears set pig length and flexibility, not just diameter.
Access: inlet and outlet elevations get walked down so the rig layout is set before rig-in.
Service: a coker, a crude heater and a vacuum heater foul differently, and that decides which pigs we stage from day one.
If Texas City shares drawings for a heater, we'll build its plan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decoke follows the same sequence.
Plan: the heater's drawings set the pig progression, the rig layout and the duration estimate before we arrive.
Rig-in: launchers and receivers connected, filled and pressure tested before anything launches.
Pig: "in conjunction" means passes are pigged at the same time, each on its own pump and operator station, so elapsed time is one pass's time, not the sum. A TriMax runs up to three passes at once; on a heater with fewer passes, the spare pump keeps the job running if a pump goes down.
Rig-over: on heaters with more passes than pumps, we move to the next set. Larger heaters or multi-heater jobs get more than one TriMax.
Verify and rig-out: each pass is signed off with Valero, then the equipment comes out and the job book is delivered.
We run 24/7 on 12-hour day and night shifts until the heater is handed back. Duration depends on footage and on how hard and thick the deposits are, and we quote each heater from its own geometry.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standard single-rig job gets this package: one TriMax, one support unit carrying fittings, tooling and spares, two crew trucks. Bigger heaters get more rigs and more crew.
Crew: day shift is a supervisor and two operators; night shift is a supervisor and an operator; a project manager owns the job and the daily updates.
Readiness: turnover has run about 5% over the last 12 months. We hold onto people with competitive pay, ongoing training and certification, career paths, and dedicated core crews per site. For Texas City that means the same faces on your heaters job after job.
Every technician is USA DeBusk-certified, selected by heater-type experience, with training verified before mobilization. Our personnel training documents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Marshall Douglas, Director of Pigging Operations, 26 years. I'm Jason Harman, Commercial Manager, 22 years, and I'm your commercial point of contact. Travis Trenholm, Pigging Operations Manager, 15 years, runs the field operation.
Under Travis: a bench of project managers, our equipment manager and a senior field tech, led in experience by Danilo Ramirez at 33 years. On every job one project manager is the single point of contact for the work flow and daily updates to Valero.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Against a dual unit the triple raises productivity by about 50%, and on a two-pass heater the third pump is 100% spare capacity: if one pump goes down, the job doesn't stop.
The spare pump can also propel a smart pig, so inspection runs don't need extra equipment.
Each operator station has a 17" automated HMI touchscreen, and pig logs are recorded digitally (operator screen, two slides on).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150 to 300 psi for normal pigging; the next slide shows the pump curve behind it.
Real-time sensor data feeds the operator interface, where coke shows up as a pressure spike. The technician can stop and scrub that exact spot. Flow direction reverses from the station without hose changes.
Power is a Cummins QSL9 at 333 bhp, Tier 4 Final, the same engine on every pump in the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manufacturer's curve behind the pressure bar on the last slide: the Waterous pump in series operation, which is how it runs for pigging (higher pressure, lower flow). Each line is one engine speed.
Normal pigging runs 150 to 300 psi, well inside the envelope. The pump is rated to 600 psi, but after losses through our valves the realistic ceiling at the pig is 500 to 550, the gold band. Above 500 the crew works an over-pressure checklist. That margin is what lets us push through a hard spot without running the pump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operator screen from a TriMax station, the same software every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Valero: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Filtration is optional and priced separately. We ran it for Valero at Port Arthur.
Without filtration, supply water comes from a hydrant and the dirty tank discharges. With it, a frac tank feeds the loop: a 4×3 transfer pump moves dirty water from the TriMax through a trailer-mounted filter press, and the filtrate returns to the clean tank. It runs alongside pigging and doesn't affect coil pressure.
Each press handles 400 GPM across 1,243 square feet of filtration area, and we run three identical presses.
The benefits: far less fresh water drawn, far less wastewater to handle (thousands of gallons a shift), and the coke fines come out as filter cake for Valero's disposal. It's worth considering where water is limited or where the stainless coils call for controlled water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Valero rep to watch the final gauge foam run. It's line size or slightly over and soft enough to mark, groove or deform on any remaining coke. Valero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Valero. Flow tests before and after at the same rate give an objective comparison.
Close-out: per-pass sign-off, final pig size recorded for each pass, the job book, and a post-job review. That record is what makes the next decoke on the same heater faster.
The full QA/QC manual is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Emergency response.
Our operating base is Deer Park. Every TriMax stages there when it isn't on a job, so Texas City is about as close to our equipment as a refinery gets.
Support is 24/7: dispatch and the account manager can be reached at any hour, with on-call supervisors and crews for nights, weekends and holidays.
Response is same day for Texas City when a unit is in the yard. If the fleet is committed, we'll tell you straight away when the next unit frees up.
The crew that has worked your heaters before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Our Experience Modification Rate: 0.95 in 2024, 0.62 in 2025, 0.48 in 2026, roughly half the industry baseline and down 49% in two years. Active in ISNetworld with an A grade. No fatalities in the last three years. OSHA 300 logs are available on request.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Valero's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our safety manual and SSHASP,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differentiators, backed by more than 200 years of combined experience on our team.
Self-performed: pigging, decoking and hydroblasting with in-house equipment and crews, so one contractor covers the full scope without subs.
Fleet: we run the largest triple-pass pigging fleet in the world, and it's standardized: six identical TriMax units, 18 engines. The TriMax runs up to three passes at once; on a 2-pass heater that third pump is an on-board spare, so a pump failure doesn't stop the job, and it can also drive a smart pig. We also offer closed-loop filtration and smart-pig support, so Valero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Every return visit to a heater starts from that record, and Valero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Texas City isn't new to us: we've pigged your coker heater before. Across Valero, that's 14 heaters at five refineries.
Port Arthur: the H-102A and H-102B vacuum heaters, which are the case study on the next slide, plus F-2000. Three Rivers: the 100-H-1 and 100-H-2 crude charge heaters, the H-1102 preflash reboiler, H-1105 and 440-H1. Meraux: both vacuum unit heaters. And on the West Coast, Wilmington's 20H200 and 20H2000 vacuum heaters and the 31H3000 coker feed heater.
That covers coker, vacuum, crude charge and reboiler service. Reference contacts at any of these sites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 Valero job from this year: the H-102A and H-102B vacuum heaters at Port Arthur, March into April 2026.
Two 8-pass heaters, 16 passes, about 18,500 feet of coil with diameters running from 3" up to 8" in the same pass. Heavy pitch and resid, concentrated in the 3" tubes. We ran in triple mode with filtration, and every pass was smart-pig inspected after cleaning. We went through 434 pigs, mostly in the 3" to 5" range.
Midway through, we swapped one TriMax for another. The new unit was rigged into three passes within two hours and pigging never stopped. That's the standardized fleet paying off.
The lesson is on pass 6B. The smart pig run found a quarter-inch coke ring at the inlet of the last 5" tube, right before the step-up to 8". It took about 24 hours of dedicated pigging to break, and inspection confirmed it clear before rig-out. Pass 6B's flow test came down 188 psi. What we took from it: on mixed-diameter passes, we stage pigs for every diameter and plan time at each step-up, so the inspection run confirms the result instead of finding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"We've already pigged your coker, we know Valero's refineries, our fleet is down the road in Deer Park,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Likely questions and where the answer lives:
- "How do you handle a plugged pass?" Bi-directional flow and stepwise pig sizing (slides 4–6); planning from drawings (slide 7).
- "How long would our heater take?" Depends on footage, tube IDs and fouling. Offer to build a plan and quote from the heater's drawings.
- "How fast can you get here?" Slide 17: the fleet stages at Deer Park; same day when a unit is in the yard.
- "Have you worked at Valero before?" Slides 21–22: 14 heaters at five Valero refineries, including the Texas City coker heater. Reference contacts on request.
- "Smart pig inspection?" The spare TriMax pump drives the inspection tool; Port Arthur had every pass inspected (slide 22).
- "Filtration?" Optional, priced per the Valero rate sheet.
- "Pump curves / pressure capability?" Slide 12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2.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2.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over_trimax.jpg">    </p:cNvPr>
          <p:cNvPicPr>
            <a:picLocks noChangeAspect="1"/>
          </p:cNvPicPr>
          <p:nvPr/>
        </p:nvPicPr>
        <p:blipFill>
          <a:blip r:embed="rId1"/>
          <a:stretch>
            <a:fillRect/>
          </a:stretch>
        </p:blipFill>
        <p:spPr>
          <a:xfrm>
            <a:off x="4572000" y="0"/>
            <a:ext cx="7619695" cy="6858000"/>
          </a:xfrm>
          <a:prstGeom prst="rect">
            <a:avLst/>
          </a:prstGeom>
        </p:spPr>
      </p:pic>
      <p:sp>
        <p:nvSpPr>
          <p:cNvPr id="3" name="Shape 0"/>
          <p:cNvSpPr/>
          <p:nvPr/>
        </p:nvSpPr>
        <p:spPr>
          <a:xfrm>
            <a:off x="640080" y="1920240"/>
            <a:ext cx="822960" cy="64008"/>
          </a:xfrm>
          <a:prstGeom prst="rect">
            <a:avLst/>
          </a:prstGeom>
          <a:solidFill>
            <a:srgbClr val="FCC30A"/>
          </a:solidFill>
          <a:ln w="12700">
            <a:solidFill>
              <a:srgbClr val="FCC30A"/>
            </a:solidFill>
            <a:prstDash val="solid"/>
          </a:ln>
        </p:spPr>
      </p:sp>
      <p:pic>
        <p:nvPicPr>
          <p:cNvPr id="4" name="Image 1" descr="C:\Users\Jwuts\obsidian-work\02-facilities\Valero\Texas-City-TX\pigging-capabilities-presentation\build/img/logo_white.png">    </p:cNvPr>
          <p:cNvPicPr>
            <a:picLocks noChangeAspect="1"/>
          </p:cNvPicPr>
          <p:nvPr/>
        </p:nvPicPr>
        <p:blipFill>
          <a:blip r:embed="rId2"/>
          <a:stretch>
            <a:fillRect/>
          </a:stretch>
        </p:blipFill>
        <p:spPr>
          <a:xfrm>
            <a:off x="640080" y="594360"/>
            <a:ext cx="3108960" cy="465883"/>
          </a:xfrm>
          <a:prstGeom prst="rect">
            <a:avLst/>
          </a:prstGeom>
        </p:spPr>
      </p:pic>
      <p:sp>
        <p:nvSpPr>
          <p:cNvPr id="5" name="Text 1"/>
          <p:cNvSpPr txBox="1"/>
          <p:nvPr/>
        </p:nvSpPr>
        <p:spPr>
          <a:xfrm>
            <a:off x="640080" y="2148840"/>
            <a:ext cx="3840480" cy="1920240"/>
          </a:xfrm>
          <a:prstGeom prst="rect">
            <a:avLst/>
          </a:prstGeom>
          <a:noFill/>
          <a:ln/>
        </p:spPr>
        <p:txBody>
          <a:bodyPr wrap="square" lIns="0" tIns="0" rIns="0" bIns="0" rtlCol="0" anchor="t"/>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Heater Pigging</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&amp; Decoking</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Services</a:t>
            </a:r>
            <a:endParaRPr lang="en-US" sz="3800" dirty="0"/>
          </a:p>
        </p:txBody>
      </p:sp>
      <p:sp>
        <p:nvSpPr>
          <p:cNvPr id="6" name="Text 2"/>
          <p:cNvSpPr txBox="1"/>
          <p:nvPr/>
        </p:nvSpPr>
        <p:spPr>
          <a:xfrm>
            <a:off x="640080" y="4114800"/>
            <a:ext cx="3840480" cy="411480"/>
          </a:xfrm>
          <a:prstGeom prst="rect">
            <a:avLst/>
          </a:prstGeom>
          <a:noFill/>
          <a:ln/>
        </p:spPr>
        <p:txBody>
          <a:bodyPr wrap="square" lIns="0" tIns="0" rIns="0" bIns="0" rtlCol="0" anchor="ctr"/>
          <a:lstStyle/>
          <a:p>
            <a:pPr indent="0" marL="0">
              <a:buNone/>
            </a:pPr>
            <a:r>
              <a:rPr lang="en-US" sz="1800" b="1" dirty="0">
                <a:solidFill>
                  <a:srgbClr val="FCC30A"/>
                </a:solidFill>
                <a:latin typeface="Arial" pitchFamily="34" charset="0"/>
                <a:ea typeface="Arial" pitchFamily="34" charset="-122"/>
                <a:cs typeface="Arial" pitchFamily="34" charset="-120"/>
              </a:rPr>
              <a:t>Valero Texas City Refinery</a:t>
            </a:r>
            <a:endParaRPr lang="en-US" sz="1800" dirty="0"/>
          </a:p>
        </p:txBody>
      </p:sp>
      <p:sp>
        <p:nvSpPr>
          <p:cNvPr id="7" name="Text 3"/>
          <p:cNvSpPr txBox="1"/>
          <p:nvPr/>
        </p:nvSpPr>
        <p:spPr>
          <a:xfrm>
            <a:off x="640080" y="4526280"/>
            <a:ext cx="3840480" cy="548640"/>
          </a:xfrm>
          <a:prstGeom prst="rect">
            <a:avLst/>
          </a:prstGeom>
          <a:noFill/>
          <a:ln/>
        </p:spPr>
        <p:txBody>
          <a:bodyPr wrap="square" lIns="0" tIns="0" rIns="0" bIns="0" rtlCol="0" anchor="t"/>
          <a:lstStyle/>
          <a:p>
            <a:pPr indent="0" marL="0">
              <a:buNone/>
            </a:pPr>
            <a:r>
              <a:rPr lang="en-US" sz="1400" dirty="0">
                <a:solidFill>
                  <a:srgbClr val="BDBDBD"/>
                </a:solidFill>
                <a:latin typeface="Arial" pitchFamily="34" charset="0"/>
                <a:ea typeface="Arial" pitchFamily="34" charset="-122"/>
                <a:cs typeface="Arial" pitchFamily="34" charset="-120"/>
              </a:rPr>
              <a:t>Mechanical pigging &amp; decoking for fired heaters</a:t>
            </a:r>
            <a:endParaRPr lang="en-US" sz="1400" dirty="0"/>
          </a:p>
        </p:txBody>
      </p:sp>
      <p:sp>
        <p:nvSpPr>
          <p:cNvPr id="8" name="Text 4"/>
          <p:cNvSpPr txBox="1"/>
          <p:nvPr/>
        </p:nvSpPr>
        <p:spPr>
          <a:xfrm>
            <a:off x="640080" y="5349240"/>
            <a:ext cx="3840480" cy="914400"/>
          </a:xfrm>
          <a:prstGeom prst="rect">
            <a:avLst/>
          </a:prstGeom>
          <a:noFill/>
          <a:ln/>
        </p:spPr>
        <p:txBody>
          <a:bodyPr wrap="square" lIns="0" tIns="0" rIns="0" bIns="0" rtlCol="0" anchor="t"/>
          <a:lstStyle/>
          <a:p>
            <a:pPr indent="0" marL="0">
              <a:spcAft>
                <a:spcPts val="200"/>
              </a:spcAft>
              <a:buNone/>
            </a:pPr>
            <a:r>
              <a:rPr lang="en-US" sz="1300" b="1" dirty="0">
                <a:solidFill>
                  <a:srgbClr val="FFFFFF"/>
                </a:solidFill>
                <a:latin typeface="Arial" pitchFamily="34" charset="0"/>
                <a:ea typeface="Arial" pitchFamily="34" charset="-122"/>
                <a:cs typeface="Arial" pitchFamily="34" charset="-120"/>
              </a:rPr>
              <a:t>Presented by Jason Harman</a:t>
            </a:r>
            <a:endParaRPr lang="en-US" sz="1300" dirty="0"/>
          </a:p>
          <a:p>
            <a:pPr indent="0" marL="0">
              <a:spcAft>
                <a:spcPts val="200"/>
              </a:spcAft>
              <a:buNone/>
            </a:pPr>
            <a:r>
              <a:rPr lang="en-US" sz="1300" dirty="0">
                <a:solidFill>
                  <a:srgbClr val="BDBDBD"/>
                </a:solidFill>
                <a:latin typeface="Arial" pitchFamily="34" charset="0"/>
                <a:ea typeface="Arial" pitchFamily="34" charset="-122"/>
                <a:cs typeface="Arial" pitchFamily="34" charset="-120"/>
              </a:rPr>
              <a:t>Commercial Manager</a:t>
            </a:r>
            <a:endParaRPr lang="en-US" sz="1300" dirty="0"/>
          </a:p>
          <a:p>
            <a:pPr indent="0" marL="0">
              <a:spcAft>
                <a:spcPts val="200"/>
              </a:spcAft>
              <a:buNone/>
            </a:pPr>
            <a:r>
              <a:rPr lang="en-US" sz="1300" dirty="0">
                <a:solidFill>
                  <a:srgbClr val="8A8A8A"/>
                </a:solidFill>
                <a:latin typeface="Arial" pitchFamily="34" charset="0"/>
                <a:ea typeface="Arial" pitchFamily="34" charset="-122"/>
                <a:cs typeface="Arial" pitchFamily="34" charset="-120"/>
              </a:rPr>
              <a:t>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CC30A"/>
          </a:solidFill>
          <a:ln w="12700">
            <a:solidFill>
              <a:srgbClr val="FCC30A"/>
            </a:solidFill>
            <a:prstDash val="solid"/>
          </a:ln>
        </p:spPr>
      </p:sp>
      <p:sp>
        <p:nvSpPr>
          <p:cNvPr id="3" name="Text 1"/>
          <p:cNvSpPr txBox="1"/>
          <p:nvPr/>
        </p:nvSpPr>
        <p:spPr>
          <a:xfrm>
            <a:off x="82296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2"/>
          <p:cNvSpPr txBox="1"/>
          <p:nvPr/>
        </p:nvSpPr>
        <p:spPr>
          <a:xfrm>
            <a:off x="82296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Heater pigging &amp; decoking at Texas City</a:t>
            </a:r>
            <a:endParaRPr lang="en-US" sz="1500" dirty="0"/>
          </a:p>
        </p:txBody>
      </p:sp>
      <p:pic>
        <p:nvPicPr>
          <p:cNvPr id="5" name="Image 0" descr="C:\Users\Jwuts\obsidian-work\02-facilities\Valero\Texas-City-TX\pigging-capabilities-presentation\build/img/logo_white.png">    </p:cNvPr>
          <p:cNvPicPr>
            <a:picLocks noChangeAspect="1"/>
          </p:cNvPicPr>
          <p:nvPr/>
        </p:nvPicPr>
        <p:blipFill>
          <a:blip r:embed="rId1"/>
          <a:stretch>
            <a:fillRect/>
          </a:stretch>
        </p:blipFill>
        <p:spPr>
          <a:xfrm>
            <a:off x="9265615" y="685800"/>
            <a:ext cx="2377440" cy="356263"/>
          </a:xfrm>
          <a:prstGeom prst="rect">
            <a:avLst/>
          </a:prstGeom>
        </p:spPr>
      </p:pic>
      <p:sp>
        <p:nvSpPr>
          <p:cNvPr id="6" name="Text 3"/>
          <p:cNvSpPr txBox="1"/>
          <p:nvPr/>
        </p:nvSpPr>
        <p:spPr>
          <a:xfrm>
            <a:off x="8229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01</a:t>
            </a:r>
            <a:endParaRPr lang="en-US" sz="3000" dirty="0"/>
          </a:p>
        </p:txBody>
      </p:sp>
      <p:sp>
        <p:nvSpPr>
          <p:cNvPr id="7" name="Text 4"/>
          <p:cNvSpPr txBox="1"/>
          <p:nvPr/>
        </p:nvSpPr>
        <p:spPr>
          <a:xfrm>
            <a:off x="16916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Pigging &amp; decoking methodology</a:t>
            </a:r>
            <a:endParaRPr lang="en-US" sz="1800" dirty="0"/>
          </a:p>
        </p:txBody>
      </p:sp>
      <p:sp>
        <p:nvSpPr>
          <p:cNvPr id="8" name="Shape 5"/>
          <p:cNvSpPr/>
          <p:nvPr/>
        </p:nvSpPr>
        <p:spPr>
          <a:xfrm>
            <a:off x="822960" y="2761488"/>
            <a:ext cx="4937760" cy="0"/>
          </a:xfrm>
          <a:prstGeom prst="line">
            <a:avLst/>
          </a:prstGeom>
          <a:noFill/>
          <a:ln w="12700">
            <a:solidFill>
              <a:srgbClr val="363636"/>
            </a:solidFill>
            <a:prstDash val="solid"/>
          </a:ln>
        </p:spPr>
      </p:sp>
      <p:sp>
        <p:nvSpPr>
          <p:cNvPr id="9" name="Text 6"/>
          <p:cNvSpPr txBox="1"/>
          <p:nvPr/>
        </p:nvSpPr>
        <p:spPr>
          <a:xfrm>
            <a:off x="8229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02</a:t>
            </a:r>
            <a:endParaRPr lang="en-US" sz="3000" dirty="0"/>
          </a:p>
        </p:txBody>
      </p:sp>
      <p:sp>
        <p:nvSpPr>
          <p:cNvPr id="10" name="Text 7"/>
          <p:cNvSpPr txBox="1"/>
          <p:nvPr/>
        </p:nvSpPr>
        <p:spPr>
          <a:xfrm>
            <a:off x="16916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Execution</a:t>
            </a:r>
            <a:endParaRPr lang="en-US" sz="1800" dirty="0"/>
          </a:p>
        </p:txBody>
      </p:sp>
      <p:sp>
        <p:nvSpPr>
          <p:cNvPr id="11" name="Shape 8"/>
          <p:cNvSpPr/>
          <p:nvPr/>
        </p:nvSpPr>
        <p:spPr>
          <a:xfrm>
            <a:off x="822960" y="3584448"/>
            <a:ext cx="4937760" cy="0"/>
          </a:xfrm>
          <a:prstGeom prst="line">
            <a:avLst/>
          </a:prstGeom>
          <a:noFill/>
          <a:ln w="12700">
            <a:solidFill>
              <a:srgbClr val="363636"/>
            </a:solidFill>
            <a:prstDash val="solid"/>
          </a:ln>
        </p:spPr>
      </p:sp>
      <p:sp>
        <p:nvSpPr>
          <p:cNvPr id="12" name="Text 9"/>
          <p:cNvSpPr txBox="1"/>
          <p:nvPr/>
        </p:nvSpPr>
        <p:spPr>
          <a:xfrm>
            <a:off x="8229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03</a:t>
            </a:r>
            <a:endParaRPr lang="en-US" sz="3000" dirty="0"/>
          </a:p>
        </p:txBody>
      </p:sp>
      <p:sp>
        <p:nvSpPr>
          <p:cNvPr id="13" name="Text 10"/>
          <p:cNvSpPr txBox="1"/>
          <p:nvPr/>
        </p:nvSpPr>
        <p:spPr>
          <a:xfrm>
            <a:off x="16916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Readiness &amp; resources</a:t>
            </a:r>
            <a:endParaRPr lang="en-US" sz="1800" dirty="0"/>
          </a:p>
        </p:txBody>
      </p:sp>
      <p:sp>
        <p:nvSpPr>
          <p:cNvPr id="14" name="Shape 11"/>
          <p:cNvSpPr/>
          <p:nvPr/>
        </p:nvSpPr>
        <p:spPr>
          <a:xfrm>
            <a:off x="822960" y="4407408"/>
            <a:ext cx="4937760" cy="0"/>
          </a:xfrm>
          <a:prstGeom prst="line">
            <a:avLst/>
          </a:prstGeom>
          <a:noFill/>
          <a:ln w="12700">
            <a:solidFill>
              <a:srgbClr val="363636"/>
            </a:solidFill>
            <a:prstDash val="solid"/>
          </a:ln>
        </p:spPr>
      </p:sp>
      <p:sp>
        <p:nvSpPr>
          <p:cNvPr id="15" name="Text 12"/>
          <p:cNvSpPr txBox="1"/>
          <p:nvPr/>
        </p:nvSpPr>
        <p:spPr>
          <a:xfrm>
            <a:off x="8229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04</a:t>
            </a:r>
            <a:endParaRPr lang="en-US" sz="3000" dirty="0"/>
          </a:p>
        </p:txBody>
      </p:sp>
      <p:sp>
        <p:nvSpPr>
          <p:cNvPr id="16" name="Text 13"/>
          <p:cNvSpPr txBox="1"/>
          <p:nvPr/>
        </p:nvSpPr>
        <p:spPr>
          <a:xfrm>
            <a:off x="16916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Equipment &amp; technology</a:t>
            </a:r>
            <a:endParaRPr lang="en-US" sz="1800" dirty="0"/>
          </a:p>
        </p:txBody>
      </p:sp>
      <p:sp>
        <p:nvSpPr>
          <p:cNvPr id="17" name="Shape 14"/>
          <p:cNvSpPr/>
          <p:nvPr/>
        </p:nvSpPr>
        <p:spPr>
          <a:xfrm>
            <a:off x="822960" y="5230368"/>
            <a:ext cx="4937760" cy="0"/>
          </a:xfrm>
          <a:prstGeom prst="line">
            <a:avLst/>
          </a:prstGeom>
          <a:noFill/>
          <a:ln w="12700">
            <a:solidFill>
              <a:srgbClr val="363636"/>
            </a:solidFill>
            <a:prstDash val="solid"/>
          </a:ln>
        </p:spPr>
      </p:sp>
      <p:sp>
        <p:nvSpPr>
          <p:cNvPr id="18" name="Text 15"/>
          <p:cNvSpPr txBox="1"/>
          <p:nvPr/>
        </p:nvSpPr>
        <p:spPr>
          <a:xfrm>
            <a:off x="8229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05</a:t>
            </a:r>
            <a:endParaRPr lang="en-US" sz="3000" dirty="0"/>
          </a:p>
        </p:txBody>
      </p:sp>
      <p:sp>
        <p:nvSpPr>
          <p:cNvPr id="19" name="Text 16"/>
          <p:cNvSpPr txBox="1"/>
          <p:nvPr/>
        </p:nvSpPr>
        <p:spPr>
          <a:xfrm>
            <a:off x="16916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Cleanliness verification &amp; QA/QC</a:t>
            </a:r>
            <a:endParaRPr lang="en-US" sz="1800" dirty="0"/>
          </a:p>
        </p:txBody>
      </p:sp>
      <p:sp>
        <p:nvSpPr>
          <p:cNvPr id="20" name="Shape 17"/>
          <p:cNvSpPr/>
          <p:nvPr/>
        </p:nvSpPr>
        <p:spPr>
          <a:xfrm>
            <a:off x="822960" y="6053328"/>
            <a:ext cx="4937760" cy="0"/>
          </a:xfrm>
          <a:prstGeom prst="line">
            <a:avLst/>
          </a:prstGeom>
          <a:noFill/>
          <a:ln w="12700">
            <a:solidFill>
              <a:srgbClr val="363636"/>
            </a:solidFill>
            <a:prstDash val="solid"/>
          </a:ln>
        </p:spPr>
      </p:sp>
      <p:sp>
        <p:nvSpPr>
          <p:cNvPr id="21" name="Text 18"/>
          <p:cNvSpPr txBox="1"/>
          <p:nvPr/>
        </p:nvSpPr>
        <p:spPr>
          <a:xfrm>
            <a:off x="63093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06</a:t>
            </a:r>
            <a:endParaRPr lang="en-US" sz="3000" dirty="0"/>
          </a:p>
        </p:txBody>
      </p:sp>
      <p:sp>
        <p:nvSpPr>
          <p:cNvPr id="22" name="Text 19"/>
          <p:cNvSpPr txBox="1"/>
          <p:nvPr/>
        </p:nvSpPr>
        <p:spPr>
          <a:xfrm>
            <a:off x="71780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Emergency response</a:t>
            </a:r>
            <a:endParaRPr lang="en-US" sz="1800" dirty="0"/>
          </a:p>
        </p:txBody>
      </p:sp>
      <p:sp>
        <p:nvSpPr>
          <p:cNvPr id="23" name="Shape 20"/>
          <p:cNvSpPr/>
          <p:nvPr/>
        </p:nvSpPr>
        <p:spPr>
          <a:xfrm>
            <a:off x="6309360" y="2761488"/>
            <a:ext cx="4937760" cy="0"/>
          </a:xfrm>
          <a:prstGeom prst="line">
            <a:avLst/>
          </a:prstGeom>
          <a:noFill/>
          <a:ln w="12700">
            <a:solidFill>
              <a:srgbClr val="363636"/>
            </a:solidFill>
            <a:prstDash val="solid"/>
          </a:ln>
        </p:spPr>
      </p:sp>
      <p:sp>
        <p:nvSpPr>
          <p:cNvPr id="24" name="Text 21"/>
          <p:cNvSpPr txBox="1"/>
          <p:nvPr/>
        </p:nvSpPr>
        <p:spPr>
          <a:xfrm>
            <a:off x="63093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07</a:t>
            </a:r>
            <a:endParaRPr lang="en-US" sz="3000" dirty="0"/>
          </a:p>
        </p:txBody>
      </p:sp>
      <p:sp>
        <p:nvSpPr>
          <p:cNvPr id="25" name="Text 22"/>
          <p:cNvSpPr txBox="1"/>
          <p:nvPr/>
        </p:nvSpPr>
        <p:spPr>
          <a:xfrm>
            <a:off x="71780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Safety &amp; risk mitigation</a:t>
            </a:r>
            <a:endParaRPr lang="en-US" sz="1800" dirty="0"/>
          </a:p>
        </p:txBody>
      </p:sp>
      <p:sp>
        <p:nvSpPr>
          <p:cNvPr id="26" name="Shape 23"/>
          <p:cNvSpPr/>
          <p:nvPr/>
        </p:nvSpPr>
        <p:spPr>
          <a:xfrm>
            <a:off x="6309360" y="3584448"/>
            <a:ext cx="4937760" cy="0"/>
          </a:xfrm>
          <a:prstGeom prst="line">
            <a:avLst/>
          </a:prstGeom>
          <a:noFill/>
          <a:ln w="12700">
            <a:solidFill>
              <a:srgbClr val="363636"/>
            </a:solidFill>
            <a:prstDash val="solid"/>
          </a:ln>
        </p:spPr>
      </p:sp>
      <p:sp>
        <p:nvSpPr>
          <p:cNvPr id="27" name="Text 24"/>
          <p:cNvSpPr txBox="1"/>
          <p:nvPr/>
        </p:nvSpPr>
        <p:spPr>
          <a:xfrm>
            <a:off x="63093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08</a:t>
            </a:r>
            <a:endParaRPr lang="en-US" sz="3000" dirty="0"/>
          </a:p>
        </p:txBody>
      </p:sp>
      <p:sp>
        <p:nvSpPr>
          <p:cNvPr id="28" name="Text 25"/>
          <p:cNvSpPr txBox="1"/>
          <p:nvPr/>
        </p:nvSpPr>
        <p:spPr>
          <a:xfrm>
            <a:off x="71780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Capabilities</a:t>
            </a:r>
            <a:endParaRPr lang="en-US" sz="1800" dirty="0"/>
          </a:p>
        </p:txBody>
      </p:sp>
      <p:sp>
        <p:nvSpPr>
          <p:cNvPr id="29" name="Shape 26"/>
          <p:cNvSpPr/>
          <p:nvPr/>
        </p:nvSpPr>
        <p:spPr>
          <a:xfrm>
            <a:off x="6309360" y="4407408"/>
            <a:ext cx="4937760" cy="0"/>
          </a:xfrm>
          <a:prstGeom prst="line">
            <a:avLst/>
          </a:prstGeom>
          <a:noFill/>
          <a:ln w="12700">
            <a:solidFill>
              <a:srgbClr val="363636"/>
            </a:solidFill>
            <a:prstDash val="solid"/>
          </a:ln>
        </p:spPr>
      </p:sp>
      <p:sp>
        <p:nvSpPr>
          <p:cNvPr id="30" name="Text 27"/>
          <p:cNvSpPr txBox="1"/>
          <p:nvPr/>
        </p:nvSpPr>
        <p:spPr>
          <a:xfrm>
            <a:off x="63093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09</a:t>
            </a:r>
            <a:endParaRPr lang="en-US" sz="3000" dirty="0"/>
          </a:p>
        </p:txBody>
      </p:sp>
      <p:sp>
        <p:nvSpPr>
          <p:cNvPr id="31" name="Text 28"/>
          <p:cNvSpPr txBox="1"/>
          <p:nvPr/>
        </p:nvSpPr>
        <p:spPr>
          <a:xfrm>
            <a:off x="71780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Valero references &amp; case study</a:t>
            </a:r>
            <a:endParaRPr lang="en-US" sz="1800" dirty="0"/>
          </a:p>
        </p:txBody>
      </p:sp>
      <p:sp>
        <p:nvSpPr>
          <p:cNvPr id="32" name="Shape 29"/>
          <p:cNvSpPr/>
          <p:nvPr/>
        </p:nvSpPr>
        <p:spPr>
          <a:xfrm>
            <a:off x="6309360" y="5230368"/>
            <a:ext cx="4937760" cy="0"/>
          </a:xfrm>
          <a:prstGeom prst="line">
            <a:avLst/>
          </a:prstGeom>
          <a:noFill/>
          <a:ln w="12700">
            <a:solidFill>
              <a:srgbClr val="363636"/>
            </a:solidFill>
            <a:prstDash val="solid"/>
          </a:ln>
        </p:spPr>
      </p:sp>
      <p:sp>
        <p:nvSpPr>
          <p:cNvPr id="33" name="Text 30"/>
          <p:cNvSpPr txBox="1"/>
          <p:nvPr/>
        </p:nvSpPr>
        <p:spPr>
          <a:xfrm>
            <a:off x="63093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a:t>
            </a:r>
            <a:endParaRPr lang="en-US" sz="3000" dirty="0"/>
          </a:p>
        </p:txBody>
      </p:sp>
      <p:sp>
        <p:nvSpPr>
          <p:cNvPr id="34" name="Text 31"/>
          <p:cNvSpPr txBox="1"/>
          <p:nvPr/>
        </p:nvSpPr>
        <p:spPr>
          <a:xfrm>
            <a:off x="71780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Why USA DeBusk</a:t>
            </a:r>
            <a:endParaRPr lang="en-US" sz="1800" dirty="0"/>
          </a:p>
        </p:txBody>
      </p:sp>
      <p:sp>
        <p:nvSpPr>
          <p:cNvPr id="35" name="Shape 32"/>
          <p:cNvSpPr/>
          <p:nvPr/>
        </p:nvSpPr>
        <p:spPr>
          <a:xfrm>
            <a:off x="6309360" y="6053328"/>
            <a:ext cx="4937760" cy="0"/>
          </a:xfrm>
          <a:prstGeom prst="line">
            <a:avLst/>
          </a:prstGeom>
          <a:noFill/>
          <a:ln w="12700">
            <a:solidFill>
              <a:srgbClr val="363636"/>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onsite_40.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192511"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19251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SERVICES</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services for Texas City</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Mechanical decoking of fired heater coils, planned or on short notice</a:t>
            </a:r>
            <a:endParaRPr lang="en-US" sz="1500" dirty="0"/>
          </a:p>
        </p:txBody>
      </p:sp>
      <p:sp>
        <p:nvSpPr>
          <p:cNvPr id="7" name="Shape 4"/>
          <p:cNvSpPr/>
          <p:nvPr/>
        </p:nvSpPr>
        <p:spPr>
          <a:xfrm>
            <a:off x="548640" y="2103120"/>
            <a:ext cx="3730752" cy="1325880"/>
          </a:xfrm>
          <a:prstGeom prst="rect">
            <a:avLst/>
          </a:prstGeom>
          <a:solidFill>
            <a:srgbClr val="F4F4F4"/>
          </a:solidFill>
          <a:ln w="12700">
            <a:solidFill>
              <a:srgbClr val="F4F4F4"/>
            </a:solidFill>
            <a:prstDash val="solid"/>
          </a:ln>
        </p:spPr>
      </p:sp>
      <p:sp>
        <p:nvSpPr>
          <p:cNvPr id="8" name="Shape 5"/>
          <p:cNvSpPr/>
          <p:nvPr/>
        </p:nvSpPr>
        <p:spPr>
          <a:xfrm>
            <a:off x="777240" y="2359152"/>
            <a:ext cx="566928" cy="566928"/>
          </a:xfrm>
          <a:prstGeom prst="ellipse">
            <a:avLst/>
          </a:prstGeom>
          <a:solidFill>
            <a:srgbClr val="1E1E1E"/>
          </a:solidFill>
          <a:ln w="12700">
            <a:solidFill>
              <a:srgbClr val="1E1E1E"/>
            </a:solidFill>
            <a:prstDash val="solid"/>
          </a:ln>
        </p:spPr>
      </p:sp>
      <p:pic>
        <p:nvPicPr>
          <p:cNvPr id="9" name="Image 1" descr="preencoded.png">    </p:cNvPr>
          <p:cNvPicPr>
            <a:picLocks noChangeAspect="1"/>
          </p:cNvPicPr>
          <p:nvPr/>
        </p:nvPicPr>
        <p:blipFill>
          <a:blip r:embed="rId2"/>
          <a:stretch>
            <a:fillRect/>
          </a:stretch>
        </p:blipFill>
        <p:spPr>
          <a:xfrm>
            <a:off x="918972" y="2500884"/>
            <a:ext cx="283464" cy="283464"/>
          </a:xfrm>
          <a:prstGeom prst="rect">
            <a:avLst/>
          </a:prstGeom>
        </p:spPr>
      </p:pic>
      <p:sp>
        <p:nvSpPr>
          <p:cNvPr id="10" name="Text 6"/>
          <p:cNvSpPr txBox="1"/>
          <p:nvPr/>
        </p:nvSpPr>
        <p:spPr>
          <a:xfrm>
            <a:off x="15087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Coker heaters</a:t>
            </a:r>
            <a:endParaRPr lang="en-US" sz="1550" dirty="0"/>
          </a:p>
        </p:txBody>
      </p:sp>
      <p:sp>
        <p:nvSpPr>
          <p:cNvPr id="11" name="Text 7"/>
          <p:cNvSpPr txBox="1"/>
          <p:nvPr/>
        </p:nvSpPr>
        <p:spPr>
          <a:xfrm>
            <a:off x="15087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Hard coke in radiant and convection coils, on run-length or turnaround cycles</a:t>
            </a:r>
            <a:endParaRPr lang="en-US" sz="1150" dirty="0"/>
          </a:p>
        </p:txBody>
      </p:sp>
      <p:sp>
        <p:nvSpPr>
          <p:cNvPr id="12" name="Shape 8"/>
          <p:cNvSpPr/>
          <p:nvPr/>
        </p:nvSpPr>
        <p:spPr>
          <a:xfrm>
            <a:off x="4434840" y="2103120"/>
            <a:ext cx="3730752" cy="1325880"/>
          </a:xfrm>
          <a:prstGeom prst="rect">
            <a:avLst/>
          </a:prstGeom>
          <a:solidFill>
            <a:srgbClr val="F4F4F4"/>
          </a:solidFill>
          <a:ln w="12700">
            <a:solidFill>
              <a:srgbClr val="F4F4F4"/>
            </a:solidFill>
            <a:prstDash val="solid"/>
          </a:ln>
        </p:spPr>
      </p:sp>
      <p:sp>
        <p:nvSpPr>
          <p:cNvPr id="13" name="Shape 9"/>
          <p:cNvSpPr/>
          <p:nvPr/>
        </p:nvSpPr>
        <p:spPr>
          <a:xfrm>
            <a:off x="4663440" y="2359152"/>
            <a:ext cx="566928" cy="566928"/>
          </a:xfrm>
          <a:prstGeom prst="ellipse">
            <a:avLst/>
          </a:prstGeom>
          <a:solidFill>
            <a:srgbClr val="1E1E1E"/>
          </a:solidFill>
          <a:ln w="12700">
            <a:solidFill>
              <a:srgbClr val="1E1E1E"/>
            </a:solidFill>
            <a:prstDash val="solid"/>
          </a:ln>
        </p:spPr>
      </p:sp>
      <p:pic>
        <p:nvPicPr>
          <p:cNvPr id="14" name="Image 2" descr="preencoded.png">    </p:cNvPr>
          <p:cNvPicPr>
            <a:picLocks noChangeAspect="1"/>
          </p:cNvPicPr>
          <p:nvPr/>
        </p:nvPicPr>
        <p:blipFill>
          <a:blip r:embed="rId3"/>
          <a:stretch>
            <a:fillRect/>
          </a:stretch>
        </p:blipFill>
        <p:spPr>
          <a:xfrm>
            <a:off x="4805172" y="2500884"/>
            <a:ext cx="283464" cy="283464"/>
          </a:xfrm>
          <a:prstGeom prst="rect">
            <a:avLst/>
          </a:prstGeom>
        </p:spPr>
      </p:pic>
      <p:sp>
        <p:nvSpPr>
          <p:cNvPr id="15" name="Text 10"/>
          <p:cNvSpPr txBox="1"/>
          <p:nvPr/>
        </p:nvSpPr>
        <p:spPr>
          <a:xfrm>
            <a:off x="53949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Crude &amp; vacuum heaters</a:t>
            </a:r>
            <a:endParaRPr lang="en-US" sz="1550" dirty="0"/>
          </a:p>
        </p:txBody>
      </p:sp>
      <p:sp>
        <p:nvSpPr>
          <p:cNvPr id="16" name="Text 11"/>
          <p:cNvSpPr txBox="1"/>
          <p:nvPr/>
        </p:nvSpPr>
        <p:spPr>
          <a:xfrm>
            <a:off x="53949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Pitch, resid and coke across mixed-diameter passes</a:t>
            </a:r>
            <a:endParaRPr lang="en-US" sz="1150" dirty="0"/>
          </a:p>
        </p:txBody>
      </p:sp>
      <p:sp>
        <p:nvSpPr>
          <p:cNvPr id="17" name="Shape 12"/>
          <p:cNvSpPr/>
          <p:nvPr/>
        </p:nvSpPr>
        <p:spPr>
          <a:xfrm>
            <a:off x="548640" y="3566160"/>
            <a:ext cx="3730752" cy="1325880"/>
          </a:xfrm>
          <a:prstGeom prst="rect">
            <a:avLst/>
          </a:prstGeom>
          <a:solidFill>
            <a:srgbClr val="F4F4F4"/>
          </a:solidFill>
          <a:ln w="12700">
            <a:solidFill>
              <a:srgbClr val="F4F4F4"/>
            </a:solidFill>
            <a:prstDash val="solid"/>
          </a:ln>
        </p:spPr>
      </p:sp>
      <p:sp>
        <p:nvSpPr>
          <p:cNvPr id="18" name="Shape 13"/>
          <p:cNvSpPr/>
          <p:nvPr/>
        </p:nvSpPr>
        <p:spPr>
          <a:xfrm>
            <a:off x="777240" y="3822192"/>
            <a:ext cx="566928" cy="566928"/>
          </a:xfrm>
          <a:prstGeom prst="ellipse">
            <a:avLst/>
          </a:prstGeom>
          <a:solidFill>
            <a:srgbClr val="1E1E1E"/>
          </a:solidFill>
          <a:ln w="12700">
            <a:solidFill>
              <a:srgbClr val="1E1E1E"/>
            </a:solidFill>
            <a:prstDash val="solid"/>
          </a:ln>
        </p:spPr>
      </p:sp>
      <p:pic>
        <p:nvPicPr>
          <p:cNvPr id="19" name="Image 3" descr="preencoded.png">    </p:cNvPr>
          <p:cNvPicPr>
            <a:picLocks noChangeAspect="1"/>
          </p:cNvPicPr>
          <p:nvPr/>
        </p:nvPicPr>
        <p:blipFill>
          <a:blip r:embed="rId4"/>
          <a:stretch>
            <a:fillRect/>
          </a:stretch>
        </p:blipFill>
        <p:spPr>
          <a:xfrm>
            <a:off x="918972" y="3963924"/>
            <a:ext cx="283464" cy="283464"/>
          </a:xfrm>
          <a:prstGeom prst="rect">
            <a:avLst/>
          </a:prstGeom>
        </p:spPr>
      </p:pic>
      <p:sp>
        <p:nvSpPr>
          <p:cNvPr id="20" name="Text 14"/>
          <p:cNvSpPr txBox="1"/>
          <p:nvPr/>
        </p:nvSpPr>
        <p:spPr>
          <a:xfrm>
            <a:off x="15087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Charge &amp; process heaters</a:t>
            </a:r>
            <a:endParaRPr lang="en-US" sz="1550" dirty="0"/>
          </a:p>
        </p:txBody>
      </p:sp>
      <p:sp>
        <p:nvSpPr>
          <p:cNvPr id="21" name="Text 15"/>
          <p:cNvSpPr txBox="1"/>
          <p:nvPr/>
        </p:nvSpPr>
        <p:spPr>
          <a:xfrm>
            <a:off x="15087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Process heater coils cleaned and verified ahead of restart or inspection</a:t>
            </a:r>
            <a:endParaRPr lang="en-US" sz="1150" dirty="0"/>
          </a:p>
        </p:txBody>
      </p:sp>
      <p:sp>
        <p:nvSpPr>
          <p:cNvPr id="22" name="Shape 16"/>
          <p:cNvSpPr/>
          <p:nvPr/>
        </p:nvSpPr>
        <p:spPr>
          <a:xfrm>
            <a:off x="4434840" y="3566160"/>
            <a:ext cx="3730752" cy="1325880"/>
          </a:xfrm>
          <a:prstGeom prst="rect">
            <a:avLst/>
          </a:prstGeom>
          <a:solidFill>
            <a:srgbClr val="F4F4F4"/>
          </a:solidFill>
          <a:ln w="12700">
            <a:solidFill>
              <a:srgbClr val="F4F4F4"/>
            </a:solidFill>
            <a:prstDash val="solid"/>
          </a:ln>
        </p:spPr>
      </p:sp>
      <p:sp>
        <p:nvSpPr>
          <p:cNvPr id="23" name="Shape 17"/>
          <p:cNvSpPr/>
          <p:nvPr/>
        </p:nvSpPr>
        <p:spPr>
          <a:xfrm>
            <a:off x="4663440" y="3822192"/>
            <a:ext cx="566928" cy="566928"/>
          </a:xfrm>
          <a:prstGeom prst="ellipse">
            <a:avLst/>
          </a:prstGeom>
          <a:solidFill>
            <a:srgbClr val="1E1E1E"/>
          </a:solidFill>
          <a:ln w="12700">
            <a:solidFill>
              <a:srgbClr val="1E1E1E"/>
            </a:solidFill>
            <a:prstDash val="solid"/>
          </a:ln>
        </p:spPr>
      </p:sp>
      <p:pic>
        <p:nvPicPr>
          <p:cNvPr id="24" name="Image 4" descr="preencoded.png">    </p:cNvPr>
          <p:cNvPicPr>
            <a:picLocks noChangeAspect="1"/>
          </p:cNvPicPr>
          <p:nvPr/>
        </p:nvPicPr>
        <p:blipFill>
          <a:blip r:embed="rId5"/>
          <a:stretch>
            <a:fillRect/>
          </a:stretch>
        </p:blipFill>
        <p:spPr>
          <a:xfrm>
            <a:off x="4805172" y="3963924"/>
            <a:ext cx="283464" cy="283464"/>
          </a:xfrm>
          <a:prstGeom prst="rect">
            <a:avLst/>
          </a:prstGeom>
        </p:spPr>
      </p:pic>
      <p:sp>
        <p:nvSpPr>
          <p:cNvPr id="25" name="Text 18"/>
          <p:cNvSpPr txBox="1"/>
          <p:nvPr/>
        </p:nvSpPr>
        <p:spPr>
          <a:xfrm>
            <a:off x="53949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Smart pig support</a:t>
            </a:r>
            <a:endParaRPr lang="en-US" sz="1550" dirty="0"/>
          </a:p>
        </p:txBody>
      </p:sp>
      <p:sp>
        <p:nvSpPr>
          <p:cNvPr id="26" name="Text 19"/>
          <p:cNvSpPr txBox="1"/>
          <p:nvPr/>
        </p:nvSpPr>
        <p:spPr>
          <a:xfrm>
            <a:off x="53949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Coils cleaned to inspection standard; spare TriMax pump drives the inspection tool</a:t>
            </a:r>
            <a:endParaRPr lang="en-US" sz="1150" dirty="0"/>
          </a:p>
        </p:txBody>
      </p:sp>
      <p:sp>
        <p:nvSpPr>
          <p:cNvPr id="27" name="Shape 20"/>
          <p:cNvSpPr/>
          <p:nvPr/>
        </p:nvSpPr>
        <p:spPr>
          <a:xfrm>
            <a:off x="548640" y="5166360"/>
            <a:ext cx="2432304" cy="1051560"/>
          </a:xfrm>
          <a:prstGeom prst="rect">
            <a:avLst/>
          </a:prstGeom>
          <a:solidFill>
            <a:srgbClr val="1E1E1E"/>
          </a:solidFill>
          <a:ln w="12700">
            <a:solidFill>
              <a:srgbClr val="1E1E1E"/>
            </a:solidFill>
            <a:prstDash val="solid"/>
          </a:ln>
        </p:spPr>
      </p:sp>
      <p:sp>
        <p:nvSpPr>
          <p:cNvPr id="28" name="Text 21"/>
          <p:cNvSpPr txBox="1"/>
          <p:nvPr/>
        </p:nvSpPr>
        <p:spPr>
          <a:xfrm>
            <a:off x="731520"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Planned</a:t>
            </a:r>
            <a:endParaRPr lang="en-US" sz="2000" dirty="0"/>
          </a:p>
        </p:txBody>
      </p:sp>
      <p:sp>
        <p:nvSpPr>
          <p:cNvPr id="29" name="Text 22"/>
          <p:cNvSpPr txBox="1"/>
          <p:nvPr/>
        </p:nvSpPr>
        <p:spPr>
          <a:xfrm>
            <a:off x="731520"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turnarounds &amp; run-length decokes</a:t>
            </a:r>
            <a:endParaRPr lang="en-US" sz="1100" dirty="0"/>
          </a:p>
        </p:txBody>
      </p:sp>
      <p:sp>
        <p:nvSpPr>
          <p:cNvPr id="30" name="Shape 23"/>
          <p:cNvSpPr/>
          <p:nvPr/>
        </p:nvSpPr>
        <p:spPr>
          <a:xfrm>
            <a:off x="3136392" y="5166360"/>
            <a:ext cx="2432304" cy="1051560"/>
          </a:xfrm>
          <a:prstGeom prst="rect">
            <a:avLst/>
          </a:prstGeom>
          <a:solidFill>
            <a:srgbClr val="1E1E1E"/>
          </a:solidFill>
          <a:ln w="12700">
            <a:solidFill>
              <a:srgbClr val="1E1E1E"/>
            </a:solidFill>
            <a:prstDash val="solid"/>
          </a:ln>
        </p:spPr>
      </p:sp>
      <p:sp>
        <p:nvSpPr>
          <p:cNvPr id="31" name="Text 24"/>
          <p:cNvSpPr txBox="1"/>
          <p:nvPr/>
        </p:nvSpPr>
        <p:spPr>
          <a:xfrm>
            <a:off x="3319272"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Short notice</a:t>
            </a:r>
            <a:endParaRPr lang="en-US" sz="2000" dirty="0"/>
          </a:p>
        </p:txBody>
      </p:sp>
      <p:sp>
        <p:nvSpPr>
          <p:cNvPr id="32" name="Text 25"/>
          <p:cNvSpPr txBox="1"/>
          <p:nvPr/>
        </p:nvSpPr>
        <p:spPr>
          <a:xfrm>
            <a:off x="3319272"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emergency mobilization</a:t>
            </a:r>
            <a:endParaRPr lang="en-US" sz="1100" dirty="0"/>
          </a:p>
        </p:txBody>
      </p:sp>
      <p:sp>
        <p:nvSpPr>
          <p:cNvPr id="33" name="Shape 26"/>
          <p:cNvSpPr/>
          <p:nvPr/>
        </p:nvSpPr>
        <p:spPr>
          <a:xfrm>
            <a:off x="5724144" y="5166360"/>
            <a:ext cx="2432304" cy="1051560"/>
          </a:xfrm>
          <a:prstGeom prst="rect">
            <a:avLst/>
          </a:prstGeom>
          <a:solidFill>
            <a:srgbClr val="1E1E1E"/>
          </a:solidFill>
          <a:ln w="12700">
            <a:solidFill>
              <a:srgbClr val="1E1E1E"/>
            </a:solidFill>
            <a:prstDash val="solid"/>
          </a:ln>
        </p:spPr>
      </p:sp>
      <p:sp>
        <p:nvSpPr>
          <p:cNvPr id="34" name="Text 27"/>
          <p:cNvSpPr txBox="1"/>
          <p:nvPr/>
        </p:nvSpPr>
        <p:spPr>
          <a:xfrm>
            <a:off x="5907024"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Optional</a:t>
            </a:r>
            <a:endParaRPr lang="en-US" sz="2000" dirty="0"/>
          </a:p>
        </p:txBody>
      </p:sp>
      <p:sp>
        <p:nvSpPr>
          <p:cNvPr id="35" name="Text 28"/>
          <p:cNvSpPr txBox="1"/>
          <p:nvPr/>
        </p:nvSpPr>
        <p:spPr>
          <a:xfrm>
            <a:off x="5907024"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closed-loop filtration</a:t>
            </a:r>
            <a:endParaRPr lang="en-US" sz="1100" dirty="0"/>
          </a:p>
        </p:txBody>
      </p:sp>
      <p:sp>
        <p:nvSpPr>
          <p:cNvPr id="36"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method_t6.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7" name="Shape 4"/>
          <p:cNvSpPr/>
          <p:nvPr/>
        </p:nvSpPr>
        <p:spPr>
          <a:xfrm>
            <a:off x="795528" y="2350008"/>
            <a:ext cx="0" cy="3337560"/>
          </a:xfrm>
          <a:prstGeom prst="line">
            <a:avLst/>
          </a:prstGeom>
          <a:noFill/>
          <a:ln w="25400">
            <a:solidFill>
              <a:srgbClr val="DDDDDD"/>
            </a:solidFill>
            <a:prstDash val="solid"/>
          </a:ln>
        </p:spPr>
      </p:sp>
      <p:sp>
        <p:nvSpPr>
          <p:cNvPr id="8" name="Shape 5"/>
          <p:cNvSpPr/>
          <p:nvPr/>
        </p:nvSpPr>
        <p:spPr>
          <a:xfrm>
            <a:off x="548640" y="2103120"/>
            <a:ext cx="493776" cy="493776"/>
          </a:xfrm>
          <a:prstGeom prst="ellipse">
            <a:avLst/>
          </a:prstGeom>
          <a:solidFill>
            <a:srgbClr val="1E1E1E"/>
          </a:solidFill>
          <a:ln w="25400">
            <a:solidFill>
              <a:srgbClr val="FFFFFF"/>
            </a:solidFill>
            <a:prstDash val="solid"/>
          </a:ln>
        </p:spPr>
      </p:sp>
      <p:sp>
        <p:nvSpPr>
          <p:cNvPr id="9" name="Text 6"/>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80160" y="208483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1" name="Text 8"/>
          <p:cNvSpPr txBox="1"/>
          <p:nvPr/>
        </p:nvSpPr>
        <p:spPr>
          <a:xfrm>
            <a:off x="1280160" y="235915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2" name="Shape 9"/>
          <p:cNvSpPr/>
          <p:nvPr/>
        </p:nvSpPr>
        <p:spPr>
          <a:xfrm>
            <a:off x="548640" y="2770632"/>
            <a:ext cx="493776" cy="493776"/>
          </a:xfrm>
          <a:prstGeom prst="ellipse">
            <a:avLst/>
          </a:prstGeom>
          <a:solidFill>
            <a:srgbClr val="1E1E1E"/>
          </a:solidFill>
          <a:ln w="25400">
            <a:solidFill>
              <a:srgbClr val="FFFFFF"/>
            </a:solidFill>
            <a:prstDash val="solid"/>
          </a:ln>
        </p:spPr>
      </p:sp>
      <p:sp>
        <p:nvSpPr>
          <p:cNvPr id="13" name="Text 10"/>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1280160" y="2752344"/>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5" name="Text 12"/>
          <p:cNvSpPr txBox="1"/>
          <p:nvPr/>
        </p:nvSpPr>
        <p:spPr>
          <a:xfrm>
            <a:off x="1280160" y="3026664"/>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6" name="Shape 13"/>
          <p:cNvSpPr/>
          <p:nvPr/>
        </p:nvSpPr>
        <p:spPr>
          <a:xfrm>
            <a:off x="548640" y="3438144"/>
            <a:ext cx="493776" cy="493776"/>
          </a:xfrm>
          <a:prstGeom prst="ellipse">
            <a:avLst/>
          </a:prstGeom>
          <a:solidFill>
            <a:srgbClr val="1E1E1E"/>
          </a:solidFill>
          <a:ln w="25400">
            <a:solidFill>
              <a:srgbClr val="FFFFFF"/>
            </a:solidFill>
            <a:prstDash val="solid"/>
          </a:ln>
        </p:spPr>
      </p:sp>
      <p:sp>
        <p:nvSpPr>
          <p:cNvPr id="17" name="Text 14"/>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1280160" y="3419856"/>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19" name="Text 16"/>
          <p:cNvSpPr txBox="1"/>
          <p:nvPr/>
        </p:nvSpPr>
        <p:spPr>
          <a:xfrm>
            <a:off x="1280160" y="3694176"/>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0" name="Shape 17"/>
          <p:cNvSpPr/>
          <p:nvPr/>
        </p:nvSpPr>
        <p:spPr>
          <a:xfrm>
            <a:off x="548640" y="4105656"/>
            <a:ext cx="493776" cy="493776"/>
          </a:xfrm>
          <a:prstGeom prst="ellipse">
            <a:avLst/>
          </a:prstGeom>
          <a:solidFill>
            <a:srgbClr val="1E1E1E"/>
          </a:solidFill>
          <a:ln w="25400">
            <a:solidFill>
              <a:srgbClr val="FFFFFF"/>
            </a:solidFill>
            <a:prstDash val="solid"/>
          </a:ln>
        </p:spPr>
      </p:sp>
      <p:sp>
        <p:nvSpPr>
          <p:cNvPr id="21" name="Text 18"/>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2" name="Text 19"/>
          <p:cNvSpPr txBox="1"/>
          <p:nvPr/>
        </p:nvSpPr>
        <p:spPr>
          <a:xfrm>
            <a:off x="1280160" y="4087368"/>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3" name="Text 20"/>
          <p:cNvSpPr txBox="1"/>
          <p:nvPr/>
        </p:nvSpPr>
        <p:spPr>
          <a:xfrm>
            <a:off x="1280160" y="4361688"/>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4" name="Shape 21"/>
          <p:cNvSpPr/>
          <p:nvPr/>
        </p:nvSpPr>
        <p:spPr>
          <a:xfrm>
            <a:off x="548640" y="4773168"/>
            <a:ext cx="493776" cy="493776"/>
          </a:xfrm>
          <a:prstGeom prst="ellipse">
            <a:avLst/>
          </a:prstGeom>
          <a:solidFill>
            <a:srgbClr val="1E1E1E"/>
          </a:solidFill>
          <a:ln w="25400">
            <a:solidFill>
              <a:srgbClr val="FFFFFF"/>
            </a:solidFill>
            <a:prstDash val="solid"/>
          </a:ln>
        </p:spPr>
      </p:sp>
      <p:sp>
        <p:nvSpPr>
          <p:cNvPr id="25" name="Text 22"/>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6" name="Text 23"/>
          <p:cNvSpPr txBox="1"/>
          <p:nvPr/>
        </p:nvSpPr>
        <p:spPr>
          <a:xfrm>
            <a:off x="1280160" y="4754880"/>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7" name="Text 24"/>
          <p:cNvSpPr txBox="1"/>
          <p:nvPr/>
        </p:nvSpPr>
        <p:spPr>
          <a:xfrm>
            <a:off x="1280160" y="5029200"/>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28" name="Shape 25"/>
          <p:cNvSpPr/>
          <p:nvPr/>
        </p:nvSpPr>
        <p:spPr>
          <a:xfrm>
            <a:off x="548640" y="5440680"/>
            <a:ext cx="493776" cy="493776"/>
          </a:xfrm>
          <a:prstGeom prst="ellipse">
            <a:avLst/>
          </a:prstGeom>
          <a:solidFill>
            <a:srgbClr val="FCC30A"/>
          </a:solidFill>
          <a:ln w="25400">
            <a:solidFill>
              <a:srgbClr val="FFFFFF"/>
            </a:solidFill>
            <a:prstDash val="solid"/>
          </a:ln>
        </p:spPr>
      </p:sp>
      <p:sp>
        <p:nvSpPr>
          <p:cNvPr id="29" name="Text 26"/>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0" name="Text 27"/>
          <p:cNvSpPr txBox="1"/>
          <p:nvPr/>
        </p:nvSpPr>
        <p:spPr>
          <a:xfrm>
            <a:off x="1280160" y="542239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1" name="Text 28"/>
          <p:cNvSpPr txBox="1"/>
          <p:nvPr/>
        </p:nvSpPr>
        <p:spPr>
          <a:xfrm>
            <a:off x="1280160" y="569671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Valero, final flow test, pass signed clean</a:t>
            </a:r>
            <a:endParaRPr lang="en-US" sz="1250" dirty="0"/>
          </a:p>
        </p:txBody>
      </p:sp>
      <p:sp>
        <p:nvSpPr>
          <p:cNvPr id="32"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3"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gauge foam run sets the starting size; the smallest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4" Sch 80 coil</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3.826"</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mixed-diameter pass, 3" to 8"</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Smallest ID 2.900" governs the whole pass</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2.900"</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3.150"</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most diverse selection of engineered decoking pigs in the world</a:t>
            </a:r>
            <a:endParaRPr lang="en-US" sz="1500" dirty="0"/>
          </a:p>
        </p:txBody>
      </p:sp>
      <p:sp>
        <p:nvSpPr>
          <p:cNvPr id="6" name="Shape 4"/>
          <p:cNvSpPr/>
          <p:nvPr/>
        </p:nvSpPr>
        <p:spPr>
          <a:xfrm>
            <a:off x="548640" y="2057400"/>
            <a:ext cx="3657600" cy="411480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igs_new.jpg">    </p:cNvPr>
          <p:cNvPicPr>
            <a:picLocks noChangeAspect="1"/>
          </p:cNvPicPr>
          <p:nvPr/>
        </p:nvPicPr>
        <p:blipFill>
          <a:blip r:embed="rId1"/>
          <a:stretch>
            <a:fillRect/>
          </a:stretch>
        </p:blipFill>
        <p:spPr>
          <a:xfrm>
            <a:off x="777240" y="2788920"/>
            <a:ext cx="3200400" cy="2085109"/>
          </a:xfrm>
          <a:prstGeom prst="rect">
            <a:avLst/>
          </a:prstGeom>
        </p:spPr>
      </p:pic>
      <p:sp>
        <p:nvSpPr>
          <p:cNvPr id="8" name="Text 5"/>
          <p:cNvSpPr txBox="1"/>
          <p:nvPr/>
        </p:nvSpPr>
        <p:spPr>
          <a:xfrm>
            <a:off x="777240" y="5577840"/>
            <a:ext cx="3200400" cy="274320"/>
          </a:xfrm>
          <a:prstGeom prst="rect">
            <a:avLst/>
          </a:prstGeom>
          <a:noFill/>
          <a:ln/>
        </p:spPr>
        <p:txBody>
          <a:bodyPr wrap="square" lIns="0" tIns="0" rIns="0" bIns="0" rtlCol="0" anchor="ctr"/>
          <a:lstStyle/>
          <a:p>
            <a:pPr algn="ctr" indent="0" marL="0">
              <a:buNone/>
            </a:pPr>
            <a:r>
              <a:rPr lang="en-US" sz="1050" i="1" dirty="0">
                <a:solidFill>
                  <a:srgbClr val="5E5E5E"/>
                </a:solidFill>
                <a:latin typeface="Arial" pitchFamily="34" charset="0"/>
                <a:ea typeface="Arial" pitchFamily="34" charset="-122"/>
                <a:cs typeface="Arial" pitchFamily="34" charset="-120"/>
              </a:rPr>
              <a:t>New engineered decoking pigs</a:t>
            </a:r>
            <a:endParaRPr lang="en-US" sz="1050" dirty="0"/>
          </a:p>
        </p:txBody>
      </p:sp>
      <p:sp>
        <p:nvSpPr>
          <p:cNvPr id="9"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0"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1" name="Image 1" descr="preencoded.png">    </p:cNvPr>
          <p:cNvPicPr>
            <a:picLocks noChangeAspect="1"/>
          </p:cNvPicPr>
          <p:nvPr/>
        </p:nvPicPr>
        <p:blipFill>
          <a:blip r:embed="rId2"/>
          <a:stretch>
            <a:fillRect/>
          </a:stretch>
        </p:blipFill>
        <p:spPr>
          <a:xfrm>
            <a:off x="4933188" y="2464308"/>
            <a:ext cx="301752" cy="301752"/>
          </a:xfrm>
          <a:prstGeom prst="rect">
            <a:avLst/>
          </a:prstGeom>
        </p:spPr>
      </p:pic>
      <p:sp>
        <p:nvSpPr>
          <p:cNvPr id="12"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Soft-core and hard-core designs</a:t>
            </a:r>
            <a:endParaRPr lang="en-US" sz="1500" dirty="0"/>
          </a:p>
        </p:txBody>
      </p:sp>
      <p:sp>
        <p:nvSpPr>
          <p:cNvPr id="13"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Urethane or high-density foam bodies, plus foam pushers for flushing and proving the pass</a:t>
            </a:r>
            <a:endParaRPr lang="en-US" sz="1200" dirty="0"/>
          </a:p>
        </p:txBody>
      </p:sp>
      <p:sp>
        <p:nvSpPr>
          <p:cNvPr id="14"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5"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6" name="Image 2" descr="preencoded.png">    </p:cNvPr>
          <p:cNvPicPr>
            <a:picLocks noChangeAspect="1"/>
          </p:cNvPicPr>
          <p:nvPr/>
        </p:nvPicPr>
        <p:blipFill>
          <a:blip r:embed="rId3"/>
          <a:stretch>
            <a:fillRect/>
          </a:stretch>
        </p:blipFill>
        <p:spPr>
          <a:xfrm>
            <a:off x="8545068" y="2464308"/>
            <a:ext cx="301752" cy="301752"/>
          </a:xfrm>
          <a:prstGeom prst="rect">
            <a:avLst/>
          </a:prstGeom>
        </p:spPr>
      </p:pic>
      <p:sp>
        <p:nvSpPr>
          <p:cNvPr id="17"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A full range of durometers</a:t>
            </a:r>
            <a:endParaRPr lang="en-US" sz="1500" dirty="0"/>
          </a:p>
        </p:txBody>
      </p:sp>
      <p:sp>
        <p:nvSpPr>
          <p:cNvPr id="18"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 to hard compounds, chosen to compress through tight bends or cut hard coke</a:t>
            </a:r>
            <a:endParaRPr lang="en-US" sz="1200" dirty="0"/>
          </a:p>
        </p:txBody>
      </p:sp>
      <p:sp>
        <p:nvSpPr>
          <p:cNvPr id="19"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0"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1" name="Image 3" descr="preencoded.png">    </p:cNvPr>
          <p:cNvPicPr>
            <a:picLocks noChangeAspect="1"/>
          </p:cNvPicPr>
          <p:nvPr/>
        </p:nvPicPr>
        <p:blipFill>
          <a:blip r:embed="rId4"/>
          <a:stretch>
            <a:fillRect/>
          </a:stretch>
        </p:blipFill>
        <p:spPr>
          <a:xfrm>
            <a:off x="4933188" y="4567428"/>
            <a:ext cx="301752" cy="301752"/>
          </a:xfrm>
          <a:prstGeom prst="rect">
            <a:avLst/>
          </a:prstGeom>
        </p:spPr>
      </p:pic>
      <p:sp>
        <p:nvSpPr>
          <p:cNvPr id="22"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3"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Tungsten carbide, hardened-steel and stainless stud options, matched to the tube metallurgy</a:t>
            </a:r>
            <a:endParaRPr lang="en-US" sz="1200" dirty="0"/>
          </a:p>
        </p:txBody>
      </p:sp>
      <p:sp>
        <p:nvSpPr>
          <p:cNvPr id="24"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5"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8545068" y="4567428"/>
            <a:ext cx="301752" cy="301752"/>
          </a:xfrm>
          <a:prstGeom prst="rect">
            <a:avLst/>
          </a:prstGeom>
        </p:spPr>
      </p:pic>
      <p:sp>
        <p:nvSpPr>
          <p:cNvPr id="27"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8"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29"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Coil-specific controls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heater is planned from its drawings before we mobilize</a:t>
            </a:r>
            <a:endParaRPr lang="en-US" sz="1500" dirty="0"/>
          </a:p>
        </p:txBody>
      </p:sp>
      <p:sp>
        <p:nvSpPr>
          <p:cNvPr id="6" name="Shape 4"/>
          <p:cNvSpPr/>
          <p:nvPr/>
        </p:nvSpPr>
        <p:spPr>
          <a:xfrm>
            <a:off x="54864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04672" y="2359152"/>
            <a:ext cx="603504" cy="603504"/>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55548" y="2510028"/>
            <a:ext cx="301752" cy="301752"/>
          </a:xfrm>
          <a:prstGeom prst="rect">
            <a:avLst/>
          </a:prstGeom>
        </p:spPr>
      </p:pic>
      <p:sp>
        <p:nvSpPr>
          <p:cNvPr id="9" name="Text 6"/>
          <p:cNvSpPr txBox="1"/>
          <p:nvPr/>
        </p:nvSpPr>
        <p:spPr>
          <a:xfrm>
            <a:off x="155448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Tube geometry</a:t>
            </a:r>
            <a:endParaRPr lang="en-US" sz="1600" dirty="0"/>
          </a:p>
        </p:txBody>
      </p:sp>
      <p:sp>
        <p:nvSpPr>
          <p:cNvPr id="10" name="Text 7"/>
          <p:cNvSpPr txBox="1"/>
          <p:nvPr/>
        </p:nvSpPr>
        <p:spPr>
          <a:xfrm>
            <a:off x="80467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Footage, tube IDs and diameter changes per pass set the pig progression and the duration</a:t>
            </a:r>
            <a:endParaRPr lang="en-US" sz="1200" dirty="0"/>
          </a:p>
        </p:txBody>
      </p:sp>
      <p:sp>
        <p:nvSpPr>
          <p:cNvPr id="11" name="Shape 8"/>
          <p:cNvSpPr/>
          <p:nvPr/>
        </p:nvSpPr>
        <p:spPr>
          <a:xfrm>
            <a:off x="429768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53712" y="2359152"/>
            <a:ext cx="603504" cy="603504"/>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04588" y="2510028"/>
            <a:ext cx="301752" cy="301752"/>
          </a:xfrm>
          <a:prstGeom prst="rect">
            <a:avLst/>
          </a:prstGeom>
        </p:spPr>
      </p:pic>
      <p:sp>
        <p:nvSpPr>
          <p:cNvPr id="14" name="Text 10"/>
          <p:cNvSpPr txBox="1"/>
          <p:nvPr/>
        </p:nvSpPr>
        <p:spPr>
          <a:xfrm>
            <a:off x="530352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Metallurgy</a:t>
            </a:r>
            <a:endParaRPr lang="en-US" sz="1600" dirty="0"/>
          </a:p>
        </p:txBody>
      </p:sp>
      <p:sp>
        <p:nvSpPr>
          <p:cNvPr id="15" name="Text 11"/>
          <p:cNvSpPr txBox="1"/>
          <p:nvPr/>
        </p:nvSpPr>
        <p:spPr>
          <a:xfrm>
            <a:off x="455371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Stainless and chrome coils: water quality verified before fill, no galvanized contact with tubes</a:t>
            </a:r>
            <a:endParaRPr lang="en-US" sz="1200" dirty="0"/>
          </a:p>
        </p:txBody>
      </p:sp>
      <p:sp>
        <p:nvSpPr>
          <p:cNvPr id="16" name="Shape 12"/>
          <p:cNvSpPr/>
          <p:nvPr/>
        </p:nvSpPr>
        <p:spPr>
          <a:xfrm>
            <a:off x="804672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02752" y="2359152"/>
            <a:ext cx="603504" cy="603504"/>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53628" y="2510028"/>
            <a:ext cx="301752" cy="301752"/>
          </a:xfrm>
          <a:prstGeom prst="rect">
            <a:avLst/>
          </a:prstGeom>
        </p:spPr>
      </p:pic>
      <p:sp>
        <p:nvSpPr>
          <p:cNvPr id="19" name="Text 14"/>
          <p:cNvSpPr txBox="1"/>
          <p:nvPr/>
        </p:nvSpPr>
        <p:spPr>
          <a:xfrm>
            <a:off x="905256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Connections</a:t>
            </a:r>
            <a:endParaRPr lang="en-US" sz="1600" dirty="0"/>
          </a:p>
        </p:txBody>
      </p:sp>
      <p:sp>
        <p:nvSpPr>
          <p:cNvPr id="20" name="Text 15"/>
          <p:cNvSpPr txBox="1"/>
          <p:nvPr/>
        </p:nvSpPr>
        <p:spPr>
          <a:xfrm>
            <a:off x="830275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Coil flange size and rating confirmed; spools and adapters matched to our 300# launchers and receivers</a:t>
            </a:r>
            <a:endParaRPr lang="en-US" sz="1200" dirty="0"/>
          </a:p>
        </p:txBody>
      </p:sp>
      <p:sp>
        <p:nvSpPr>
          <p:cNvPr id="21" name="Shape 16"/>
          <p:cNvSpPr/>
          <p:nvPr/>
        </p:nvSpPr>
        <p:spPr>
          <a:xfrm>
            <a:off x="54864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2" name="Shape 17"/>
          <p:cNvSpPr/>
          <p:nvPr/>
        </p:nvSpPr>
        <p:spPr>
          <a:xfrm>
            <a:off x="804672" y="4416552"/>
            <a:ext cx="603504" cy="603504"/>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55548" y="4567428"/>
            <a:ext cx="301752" cy="301752"/>
          </a:xfrm>
          <a:prstGeom prst="rect">
            <a:avLst/>
          </a:prstGeom>
        </p:spPr>
      </p:pic>
      <p:sp>
        <p:nvSpPr>
          <p:cNvPr id="24" name="Text 18"/>
          <p:cNvSpPr txBox="1"/>
          <p:nvPr/>
        </p:nvSpPr>
        <p:spPr>
          <a:xfrm>
            <a:off x="155448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Return bends</a:t>
            </a:r>
            <a:endParaRPr lang="en-US" sz="1600" dirty="0"/>
          </a:p>
        </p:txBody>
      </p:sp>
      <p:sp>
        <p:nvSpPr>
          <p:cNvPr id="25" name="Text 19"/>
          <p:cNvSpPr txBox="1"/>
          <p:nvPr/>
        </p:nvSpPr>
        <p:spPr>
          <a:xfrm>
            <a:off x="80467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Pig length and flexibility selected for 180° returns, plug headers and mule ears</a:t>
            </a:r>
            <a:endParaRPr lang="en-US" sz="1200" dirty="0"/>
          </a:p>
        </p:txBody>
      </p:sp>
      <p:sp>
        <p:nvSpPr>
          <p:cNvPr id="26" name="Shape 20"/>
          <p:cNvSpPr/>
          <p:nvPr/>
        </p:nvSpPr>
        <p:spPr>
          <a:xfrm>
            <a:off x="429768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7" name="Shape 21"/>
          <p:cNvSpPr/>
          <p:nvPr/>
        </p:nvSpPr>
        <p:spPr>
          <a:xfrm>
            <a:off x="4553712" y="4416552"/>
            <a:ext cx="603504" cy="603504"/>
          </a:xfrm>
          <a:prstGeom prst="ellipse">
            <a:avLst/>
          </a:prstGeom>
          <a:solidFill>
            <a:srgbClr val="1E1E1E"/>
          </a:solidFill>
          <a:ln w="12700">
            <a:solidFill>
              <a:srgbClr val="1E1E1E"/>
            </a:solidFill>
            <a:prstDash val="solid"/>
          </a:ln>
        </p:spPr>
      </p:sp>
      <p:pic>
        <p:nvPicPr>
          <p:cNvPr id="28" name="Image 4" descr="preencoded.png">    </p:cNvPr>
          <p:cNvPicPr>
            <a:picLocks noChangeAspect="1"/>
          </p:cNvPicPr>
          <p:nvPr/>
        </p:nvPicPr>
        <p:blipFill>
          <a:blip r:embed="rId5"/>
          <a:stretch>
            <a:fillRect/>
          </a:stretch>
        </p:blipFill>
        <p:spPr>
          <a:xfrm>
            <a:off x="4704588" y="4567428"/>
            <a:ext cx="301752" cy="301752"/>
          </a:xfrm>
          <a:prstGeom prst="rect">
            <a:avLst/>
          </a:prstGeom>
        </p:spPr>
      </p:pic>
      <p:sp>
        <p:nvSpPr>
          <p:cNvPr id="29" name="Text 22"/>
          <p:cNvSpPr txBox="1"/>
          <p:nvPr/>
        </p:nvSpPr>
        <p:spPr>
          <a:xfrm>
            <a:off x="530352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Launcher access</a:t>
            </a:r>
            <a:endParaRPr lang="en-US" sz="1600" dirty="0"/>
          </a:p>
        </p:txBody>
      </p:sp>
      <p:sp>
        <p:nvSpPr>
          <p:cNvPr id="30" name="Text 23"/>
          <p:cNvSpPr txBox="1"/>
          <p:nvPr/>
        </p:nvSpPr>
        <p:spPr>
          <a:xfrm>
            <a:off x="455371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Inlet and outlet elevations walked down; rig layout set before rig-in</a:t>
            </a:r>
            <a:endParaRPr lang="en-US" sz="1200" dirty="0"/>
          </a:p>
        </p:txBody>
      </p:sp>
      <p:sp>
        <p:nvSpPr>
          <p:cNvPr id="31" name="Shape 24"/>
          <p:cNvSpPr/>
          <p:nvPr/>
        </p:nvSpPr>
        <p:spPr>
          <a:xfrm>
            <a:off x="804672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32" name="Shape 25"/>
          <p:cNvSpPr/>
          <p:nvPr/>
        </p:nvSpPr>
        <p:spPr>
          <a:xfrm>
            <a:off x="8302752" y="4416552"/>
            <a:ext cx="603504" cy="603504"/>
          </a:xfrm>
          <a:prstGeom prst="ellipse">
            <a:avLst/>
          </a:prstGeom>
          <a:solidFill>
            <a:srgbClr val="1E1E1E"/>
          </a:solidFill>
          <a:ln w="12700">
            <a:solidFill>
              <a:srgbClr val="1E1E1E"/>
            </a:solidFill>
            <a:prstDash val="solid"/>
          </a:ln>
        </p:spPr>
      </p:sp>
      <p:pic>
        <p:nvPicPr>
          <p:cNvPr id="33" name="Image 5" descr="preencoded.png">    </p:cNvPr>
          <p:cNvPicPr>
            <a:picLocks noChangeAspect="1"/>
          </p:cNvPicPr>
          <p:nvPr/>
        </p:nvPicPr>
        <p:blipFill>
          <a:blip r:embed="rId6"/>
          <a:stretch>
            <a:fillRect/>
          </a:stretch>
        </p:blipFill>
        <p:spPr>
          <a:xfrm>
            <a:off x="8453628" y="4567428"/>
            <a:ext cx="301752" cy="301752"/>
          </a:xfrm>
          <a:prstGeom prst="rect">
            <a:avLst/>
          </a:prstGeom>
        </p:spPr>
      </p:pic>
      <p:sp>
        <p:nvSpPr>
          <p:cNvPr id="34" name="Text 26"/>
          <p:cNvSpPr txBox="1"/>
          <p:nvPr/>
        </p:nvSpPr>
        <p:spPr>
          <a:xfrm>
            <a:off x="905256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Coke &amp; service</a:t>
            </a:r>
            <a:endParaRPr lang="en-US" sz="1600" dirty="0"/>
          </a:p>
        </p:txBody>
      </p:sp>
      <p:sp>
        <p:nvSpPr>
          <p:cNvPr id="35" name="Text 27"/>
          <p:cNvSpPr txBox="1"/>
          <p:nvPr/>
        </p:nvSpPr>
        <p:spPr>
          <a:xfrm>
            <a:off x="830275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Coker, crude or vacuum service sets the pig set staged on day one</a:t>
            </a:r>
            <a:endParaRPr lang="en-US" sz="1200" dirty="0"/>
          </a:p>
        </p:txBody>
      </p:sp>
      <p:sp>
        <p:nvSpPr>
          <p:cNvPr id="36"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66992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66992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How a decoke runs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548640" y="2240280"/>
            <a:ext cx="1757172" cy="822960"/>
          </a:xfrm>
          <a:prstGeom prst="chevron">
            <a:avLst/>
          </a:prstGeom>
          <a:solidFill>
            <a:srgbClr val="1E1E1E"/>
          </a:solidFill>
          <a:ln w="12700">
            <a:solidFill>
              <a:srgbClr val="1E1E1E"/>
            </a:solidFill>
            <a:prstDash val="solid"/>
          </a:ln>
        </p:spPr>
      </p:sp>
      <p:sp>
        <p:nvSpPr>
          <p:cNvPr id="7" name="Text 5"/>
          <p:cNvSpPr txBox="1"/>
          <p:nvPr/>
        </p:nvSpPr>
        <p:spPr>
          <a:xfrm>
            <a:off x="7772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8" name="Text 6"/>
          <p:cNvSpPr txBox="1"/>
          <p:nvPr/>
        </p:nvSpPr>
        <p:spPr>
          <a:xfrm>
            <a:off x="5943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Drawings reviewed, pig progression and rig layout set</a:t>
            </a:r>
            <a:endParaRPr lang="en-US" sz="1150" dirty="0"/>
          </a:p>
        </p:txBody>
      </p:sp>
      <p:sp>
        <p:nvSpPr>
          <p:cNvPr id="9" name="Shape 7"/>
          <p:cNvSpPr/>
          <p:nvPr/>
        </p:nvSpPr>
        <p:spPr>
          <a:xfrm>
            <a:off x="2415540" y="2240280"/>
            <a:ext cx="1757172" cy="822960"/>
          </a:xfrm>
          <a:prstGeom prst="chevron">
            <a:avLst/>
          </a:prstGeom>
          <a:solidFill>
            <a:srgbClr val="1E1E1E"/>
          </a:solidFill>
          <a:ln w="12700">
            <a:solidFill>
              <a:srgbClr val="1E1E1E"/>
            </a:solidFill>
            <a:prstDash val="solid"/>
          </a:ln>
        </p:spPr>
      </p:sp>
      <p:sp>
        <p:nvSpPr>
          <p:cNvPr id="10" name="Text 8"/>
          <p:cNvSpPr txBox="1"/>
          <p:nvPr/>
        </p:nvSpPr>
        <p:spPr>
          <a:xfrm>
            <a:off x="26441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Rig-in</a:t>
            </a:r>
            <a:endParaRPr lang="en-US" sz="1500" dirty="0"/>
          </a:p>
        </p:txBody>
      </p:sp>
      <p:sp>
        <p:nvSpPr>
          <p:cNvPr id="11" name="Text 9"/>
          <p:cNvSpPr txBox="1"/>
          <p:nvPr/>
        </p:nvSpPr>
        <p:spPr>
          <a:xfrm>
            <a:off x="24612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Launchers and receivers connected, filled and pressure tested</a:t>
            </a:r>
            <a:endParaRPr lang="en-US" sz="1150" dirty="0"/>
          </a:p>
        </p:txBody>
      </p:sp>
      <p:sp>
        <p:nvSpPr>
          <p:cNvPr id="12" name="Shape 10"/>
          <p:cNvSpPr/>
          <p:nvPr/>
        </p:nvSpPr>
        <p:spPr>
          <a:xfrm>
            <a:off x="4282440" y="2240280"/>
            <a:ext cx="1757172" cy="822960"/>
          </a:xfrm>
          <a:prstGeom prst="chevron">
            <a:avLst/>
          </a:prstGeom>
          <a:solidFill>
            <a:srgbClr val="FCC30A"/>
          </a:solidFill>
          <a:ln w="12700">
            <a:solidFill>
              <a:srgbClr val="FCC30A"/>
            </a:solidFill>
            <a:prstDash val="solid"/>
          </a:ln>
        </p:spPr>
      </p:sp>
      <p:sp>
        <p:nvSpPr>
          <p:cNvPr id="13" name="Text 11"/>
          <p:cNvSpPr txBox="1"/>
          <p:nvPr/>
        </p:nvSpPr>
        <p:spPr>
          <a:xfrm>
            <a:off x="45110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Pig</a:t>
            </a:r>
            <a:endParaRPr lang="en-US" sz="1500" dirty="0"/>
          </a:p>
        </p:txBody>
      </p:sp>
      <p:sp>
        <p:nvSpPr>
          <p:cNvPr id="14" name="Text 12"/>
          <p:cNvSpPr txBox="1"/>
          <p:nvPr/>
        </p:nvSpPr>
        <p:spPr>
          <a:xfrm>
            <a:off x="43281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Up to three passes at once per TriMax, around the clock</a:t>
            </a:r>
            <a:endParaRPr lang="en-US" sz="1150" dirty="0"/>
          </a:p>
        </p:txBody>
      </p:sp>
      <p:sp>
        <p:nvSpPr>
          <p:cNvPr id="15" name="Shape 13"/>
          <p:cNvSpPr/>
          <p:nvPr/>
        </p:nvSpPr>
        <p:spPr>
          <a:xfrm>
            <a:off x="6149340" y="2240280"/>
            <a:ext cx="1757172" cy="822960"/>
          </a:xfrm>
          <a:prstGeom prst="chevron">
            <a:avLst/>
          </a:prstGeom>
          <a:solidFill>
            <a:srgbClr val="BDBDBD"/>
          </a:solidFill>
          <a:ln w="12700">
            <a:solidFill>
              <a:srgbClr val="BDBDBD"/>
            </a:solidFill>
            <a:prstDash val="solid"/>
          </a:ln>
        </p:spPr>
      </p:sp>
      <p:sp>
        <p:nvSpPr>
          <p:cNvPr id="16" name="Text 14"/>
          <p:cNvSpPr txBox="1"/>
          <p:nvPr/>
        </p:nvSpPr>
        <p:spPr>
          <a:xfrm>
            <a:off x="63779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Rig-over</a:t>
            </a:r>
            <a:endParaRPr lang="en-US" sz="1500" dirty="0"/>
          </a:p>
        </p:txBody>
      </p:sp>
      <p:sp>
        <p:nvSpPr>
          <p:cNvPr id="17" name="Text 15"/>
          <p:cNvSpPr txBox="1"/>
          <p:nvPr/>
        </p:nvSpPr>
        <p:spPr>
          <a:xfrm>
            <a:off x="61950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Move to the next set of passes, if the heater has more</a:t>
            </a:r>
            <a:endParaRPr lang="en-US" sz="1150" dirty="0"/>
          </a:p>
        </p:txBody>
      </p:sp>
      <p:sp>
        <p:nvSpPr>
          <p:cNvPr id="18" name="Shape 16"/>
          <p:cNvSpPr/>
          <p:nvPr/>
        </p:nvSpPr>
        <p:spPr>
          <a:xfrm>
            <a:off x="8016240" y="2240280"/>
            <a:ext cx="1757172" cy="822960"/>
          </a:xfrm>
          <a:prstGeom prst="chevron">
            <a:avLst/>
          </a:prstGeom>
          <a:solidFill>
            <a:srgbClr val="1E1E1E"/>
          </a:solidFill>
          <a:ln w="12700">
            <a:solidFill>
              <a:srgbClr val="1E1E1E"/>
            </a:solidFill>
            <a:prstDash val="solid"/>
          </a:ln>
        </p:spPr>
      </p:sp>
      <p:sp>
        <p:nvSpPr>
          <p:cNvPr id="19" name="Text 17"/>
          <p:cNvSpPr txBox="1"/>
          <p:nvPr/>
        </p:nvSpPr>
        <p:spPr>
          <a:xfrm>
            <a:off x="82448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Verify</a:t>
            </a:r>
            <a:endParaRPr lang="en-US" sz="1500" dirty="0"/>
          </a:p>
        </p:txBody>
      </p:sp>
      <p:sp>
        <p:nvSpPr>
          <p:cNvPr id="20" name="Text 18"/>
          <p:cNvSpPr txBox="1"/>
          <p:nvPr/>
        </p:nvSpPr>
        <p:spPr>
          <a:xfrm>
            <a:off x="80619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Final gauge foam and flow test, pass signed off with Valero</a:t>
            </a:r>
            <a:endParaRPr lang="en-US" sz="1150" dirty="0"/>
          </a:p>
        </p:txBody>
      </p:sp>
      <p:sp>
        <p:nvSpPr>
          <p:cNvPr id="21" name="Shape 19"/>
          <p:cNvSpPr/>
          <p:nvPr/>
        </p:nvSpPr>
        <p:spPr>
          <a:xfrm>
            <a:off x="9883140" y="2240280"/>
            <a:ext cx="1757172" cy="822960"/>
          </a:xfrm>
          <a:prstGeom prst="chevron">
            <a:avLst/>
          </a:prstGeom>
          <a:solidFill>
            <a:srgbClr val="1E1E1E"/>
          </a:solidFill>
          <a:ln w="12700">
            <a:solidFill>
              <a:srgbClr val="1E1E1E"/>
            </a:solidFill>
            <a:prstDash val="solid"/>
          </a:ln>
        </p:spPr>
      </p:sp>
      <p:sp>
        <p:nvSpPr>
          <p:cNvPr id="22" name="Text 20"/>
          <p:cNvSpPr txBox="1"/>
          <p:nvPr/>
        </p:nvSpPr>
        <p:spPr>
          <a:xfrm>
            <a:off x="101117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Rig-out</a:t>
            </a:r>
            <a:endParaRPr lang="en-US" sz="1500" dirty="0"/>
          </a:p>
        </p:txBody>
      </p:sp>
      <p:sp>
        <p:nvSpPr>
          <p:cNvPr id="23" name="Text 21"/>
          <p:cNvSpPr txBox="1"/>
          <p:nvPr/>
        </p:nvSpPr>
        <p:spPr>
          <a:xfrm>
            <a:off x="99288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Equipment out, job book delivered</a:t>
            </a:r>
            <a:endParaRPr lang="en-US" sz="1150" dirty="0"/>
          </a:p>
        </p:txBody>
      </p:sp>
      <p:sp>
        <p:nvSpPr>
          <p:cNvPr id="24" name="Shape 22"/>
          <p:cNvSpPr/>
          <p:nvPr/>
        </p:nvSpPr>
        <p:spPr>
          <a:xfrm>
            <a:off x="548640" y="4480560"/>
            <a:ext cx="3593592" cy="1417320"/>
          </a:xfrm>
          <a:prstGeom prst="rect">
            <a:avLst/>
          </a:prstGeom>
          <a:solidFill>
            <a:srgbClr val="F4F4F4"/>
          </a:solidFill>
          <a:ln w="12700">
            <a:solidFill>
              <a:srgbClr val="F4F4F4"/>
            </a:solidFill>
            <a:prstDash val="solid"/>
          </a:ln>
        </p:spPr>
      </p:sp>
      <p:sp>
        <p:nvSpPr>
          <p:cNvPr id="25" name="Text 23"/>
          <p:cNvSpPr txBox="1"/>
          <p:nvPr/>
        </p:nvSpPr>
        <p:spPr>
          <a:xfrm>
            <a:off x="77724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24/7</a:t>
            </a:r>
            <a:endParaRPr lang="en-US" sz="3200" dirty="0"/>
          </a:p>
        </p:txBody>
      </p:sp>
      <p:sp>
        <p:nvSpPr>
          <p:cNvPr id="26" name="Text 24"/>
          <p:cNvSpPr txBox="1"/>
          <p:nvPr/>
        </p:nvSpPr>
        <p:spPr>
          <a:xfrm>
            <a:off x="77724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two 12-hour shifts until the heater is handed back</a:t>
            </a:r>
            <a:endParaRPr lang="en-US" sz="1200" dirty="0"/>
          </a:p>
        </p:txBody>
      </p:sp>
      <p:sp>
        <p:nvSpPr>
          <p:cNvPr id="27" name="Shape 25"/>
          <p:cNvSpPr/>
          <p:nvPr/>
        </p:nvSpPr>
        <p:spPr>
          <a:xfrm>
            <a:off x="4297680" y="4480560"/>
            <a:ext cx="3593592" cy="1417320"/>
          </a:xfrm>
          <a:prstGeom prst="rect">
            <a:avLst/>
          </a:prstGeom>
          <a:solidFill>
            <a:srgbClr val="F4F4F4"/>
          </a:solidFill>
          <a:ln w="12700">
            <a:solidFill>
              <a:srgbClr val="F4F4F4"/>
            </a:solidFill>
            <a:prstDash val="solid"/>
          </a:ln>
        </p:spPr>
      </p:sp>
      <p:sp>
        <p:nvSpPr>
          <p:cNvPr id="28" name="Text 26"/>
          <p:cNvSpPr txBox="1"/>
          <p:nvPr/>
        </p:nvSpPr>
        <p:spPr>
          <a:xfrm>
            <a:off x="452628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Up to 3</a:t>
            </a:r>
            <a:endParaRPr lang="en-US" sz="3200" dirty="0"/>
          </a:p>
        </p:txBody>
      </p:sp>
      <p:sp>
        <p:nvSpPr>
          <p:cNvPr id="29" name="Text 27"/>
          <p:cNvSpPr txBox="1"/>
          <p:nvPr/>
        </p:nvSpPr>
        <p:spPr>
          <a:xfrm>
            <a:off x="452628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passes pigged at once on each TriMax</a:t>
            </a:r>
            <a:endParaRPr lang="en-US" sz="1200" dirty="0"/>
          </a:p>
        </p:txBody>
      </p:sp>
      <p:sp>
        <p:nvSpPr>
          <p:cNvPr id="30" name="Shape 28"/>
          <p:cNvSpPr/>
          <p:nvPr/>
        </p:nvSpPr>
        <p:spPr>
          <a:xfrm>
            <a:off x="8046720" y="4480560"/>
            <a:ext cx="3593592" cy="1417320"/>
          </a:xfrm>
          <a:prstGeom prst="rect">
            <a:avLst/>
          </a:prstGeom>
          <a:solidFill>
            <a:srgbClr val="F4F4F4"/>
          </a:solidFill>
          <a:ln w="12700">
            <a:solidFill>
              <a:srgbClr val="F4F4F4"/>
            </a:solidFill>
            <a:prstDash val="solid"/>
          </a:ln>
        </p:spPr>
      </p:sp>
      <p:sp>
        <p:nvSpPr>
          <p:cNvPr id="31" name="Text 29"/>
          <p:cNvSpPr txBox="1"/>
          <p:nvPr/>
        </p:nvSpPr>
        <p:spPr>
          <a:xfrm>
            <a:off x="827532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a:t>
            </a:r>
            <a:endParaRPr lang="en-US" sz="3200" dirty="0"/>
          </a:p>
        </p:txBody>
      </p:sp>
      <p:sp>
        <p:nvSpPr>
          <p:cNvPr id="32" name="Text 30"/>
          <p:cNvSpPr txBox="1"/>
          <p:nvPr/>
        </p:nvSpPr>
        <p:spPr>
          <a:xfrm>
            <a:off x="827532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TriMax units on larger heaters or multi-heater jobs</a:t>
            </a:r>
            <a:endParaRPr lang="en-US" sz="1200" dirty="0"/>
          </a:p>
        </p:txBody>
      </p:sp>
      <p:sp>
        <p:nvSpPr>
          <p:cNvPr id="33"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ready.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6634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6634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4663440" y="841248"/>
            <a:ext cx="6949440" cy="731520"/>
          </a:xfrm>
          <a:prstGeom prst="rect">
            <a:avLst/>
          </a:prstGeom>
          <a:noFill/>
          <a:ln/>
        </p:spPr>
        <p:txBody>
          <a:bodyPr wrap="square" lIns="0" tIns="0" rIns="0" bIns="0" rtlCol="0" anchor="t"/>
          <a:lstStyle/>
          <a:p>
            <a:pPr indent="0" marL="0">
              <a:buNone/>
            </a:pPr>
            <a:r>
              <a:rPr lang="en-US" sz="3000" b="1" dirty="0">
                <a:solidFill>
                  <a:srgbClr val="222222"/>
                </a:solidFill>
                <a:latin typeface="Arial" pitchFamily="34" charset="0"/>
                <a:ea typeface="Arial" pitchFamily="34" charset="-122"/>
                <a:cs typeface="Arial" pitchFamily="34" charset="-120"/>
              </a:rPr>
              <a:t>Crew &amp; equipment, every job</a:t>
            </a:r>
            <a:endParaRPr lang="en-US" sz="3000" dirty="0"/>
          </a:p>
        </p:txBody>
      </p:sp>
      <p:sp>
        <p:nvSpPr>
          <p:cNvPr id="6" name="Text 3"/>
          <p:cNvSpPr txBox="1"/>
          <p:nvPr/>
        </p:nvSpPr>
        <p:spPr>
          <a:xfrm>
            <a:off x="52120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46634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52120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46634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52120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46634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52120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87325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81838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87325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81838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87325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81838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87325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46634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4773168" y="1892808"/>
            <a:ext cx="219456" cy="219456"/>
          </a:xfrm>
          <a:prstGeom prst="rect">
            <a:avLst/>
          </a:prstGeom>
        </p:spPr>
      </p:pic>
      <p:sp>
        <p:nvSpPr>
          <p:cNvPr id="22" name="Shape 18"/>
          <p:cNvSpPr/>
          <p:nvPr/>
        </p:nvSpPr>
        <p:spPr>
          <a:xfrm>
            <a:off x="81838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8293608" y="1892808"/>
            <a:ext cx="219456" cy="219456"/>
          </a:xfrm>
          <a:prstGeom prst="rect">
            <a:avLst/>
          </a:prstGeom>
        </p:spPr>
      </p:pic>
      <p:sp>
        <p:nvSpPr>
          <p:cNvPr id="24" name="Shape 19"/>
          <p:cNvSpPr/>
          <p:nvPr/>
        </p:nvSpPr>
        <p:spPr>
          <a:xfrm>
            <a:off x="4663440" y="4617720"/>
            <a:ext cx="2148840" cy="1417320"/>
          </a:xfrm>
          <a:prstGeom prst="rect">
            <a:avLst/>
          </a:prstGeom>
          <a:solidFill>
            <a:srgbClr val="1E1E1E"/>
          </a:solidFill>
          <a:ln w="12700">
            <a:solidFill>
              <a:srgbClr val="1E1E1E"/>
            </a:solidFill>
            <a:prstDash val="solid"/>
          </a:ln>
        </p:spPr>
      </p:sp>
      <p:sp>
        <p:nvSpPr>
          <p:cNvPr id="25" name="Text 20"/>
          <p:cNvSpPr txBox="1"/>
          <p:nvPr/>
        </p:nvSpPr>
        <p:spPr>
          <a:xfrm>
            <a:off x="484632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484632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crew turnover, last 12 months</a:t>
            </a:r>
            <a:endParaRPr lang="en-US" sz="1150" dirty="0"/>
          </a:p>
        </p:txBody>
      </p:sp>
      <p:sp>
        <p:nvSpPr>
          <p:cNvPr id="27" name="Shape 22"/>
          <p:cNvSpPr/>
          <p:nvPr/>
        </p:nvSpPr>
        <p:spPr>
          <a:xfrm>
            <a:off x="6995160" y="4617720"/>
            <a:ext cx="2148840" cy="1417320"/>
          </a:xfrm>
          <a:prstGeom prst="rect">
            <a:avLst/>
          </a:prstGeom>
          <a:solidFill>
            <a:srgbClr val="1E1E1E"/>
          </a:solidFill>
          <a:ln w="12700">
            <a:solidFill>
              <a:srgbClr val="1E1E1E"/>
            </a:solidFill>
            <a:prstDash val="solid"/>
          </a:ln>
        </p:spPr>
      </p:sp>
      <p:sp>
        <p:nvSpPr>
          <p:cNvPr id="28" name="Text 23"/>
          <p:cNvSpPr txBox="1"/>
          <p:nvPr/>
        </p:nvSpPr>
        <p:spPr>
          <a:xfrm>
            <a:off x="717804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717804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two 12-hour shifts</a:t>
            </a:r>
            <a:endParaRPr lang="en-US" sz="1150" dirty="0"/>
          </a:p>
        </p:txBody>
      </p:sp>
      <p:sp>
        <p:nvSpPr>
          <p:cNvPr id="30" name="Shape 25"/>
          <p:cNvSpPr/>
          <p:nvPr/>
        </p:nvSpPr>
        <p:spPr>
          <a:xfrm>
            <a:off x="9326880" y="4617720"/>
            <a:ext cx="2148840" cy="1417320"/>
          </a:xfrm>
          <a:prstGeom prst="rect">
            <a:avLst/>
          </a:prstGeom>
          <a:solidFill>
            <a:srgbClr val="1E1E1E"/>
          </a:solidFill>
          <a:ln w="12700">
            <a:solidFill>
              <a:srgbClr val="1E1E1E"/>
            </a:solidFill>
            <a:prstDash val="solid"/>
          </a:ln>
        </p:spPr>
      </p:sp>
      <p:sp>
        <p:nvSpPr>
          <p:cNvPr id="31" name="Text 26"/>
          <p:cNvSpPr txBox="1"/>
          <p:nvPr/>
        </p:nvSpPr>
        <p:spPr>
          <a:xfrm>
            <a:off x="950976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950976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training verified before mobilization</a:t>
            </a:r>
            <a:endParaRPr lang="en-US" sz="1150" dirty="0"/>
          </a:p>
        </p:txBody>
      </p:sp>
      <p:sp>
        <p:nvSpPr>
          <p:cNvPr id="33" name="Text 28"/>
          <p:cNvSpPr txBox="1"/>
          <p:nvPr/>
        </p:nvSpPr>
        <p:spPr>
          <a:xfrm>
            <a:off x="46634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Our pigging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2B2B2B"/>
          </a:solidFill>
          <a:ln w="12700">
            <a:solidFill>
              <a:srgbClr val="363636"/>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FCC30A"/>
          </a:solidFill>
          <a:ln w="12700">
            <a:solidFill>
              <a:srgbClr val="FCC30A"/>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trimax.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C:\Users\Jwuts\obsidian-work\02-facilities\Valero\Texas-City-TX\pigging-capabilities-presentation\build/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C:\Users\Jwuts\obsidian-work\02-facilities\Valero\Texas-City-TX\pigging-capabilities-presentation\build/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7"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8"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9"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10" name="Image 3" descr="preencoded.png">    </p:cNvPr>
          <p:cNvPicPr>
            <a:picLocks noChangeAspect="1"/>
          </p:cNvPicPr>
          <p:nvPr/>
        </p:nvPicPr>
        <p:blipFill>
          <a:blip r:embed="rId4"/>
          <a:stretch>
            <a:fillRect/>
          </a:stretch>
        </p:blipFill>
        <p:spPr>
          <a:xfrm>
            <a:off x="690372" y="2153412"/>
            <a:ext cx="283464" cy="283464"/>
          </a:xfrm>
          <a:prstGeom prst="rect">
            <a:avLst/>
          </a:prstGeom>
        </p:spPr>
      </p:pic>
      <p:sp>
        <p:nvSpPr>
          <p:cNvPr id="11"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2"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3"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4" name="Image 4" descr="preencoded.png">    </p:cNvPr>
          <p:cNvPicPr>
            <a:picLocks noChangeAspect="1"/>
          </p:cNvPicPr>
          <p:nvPr/>
        </p:nvPicPr>
        <p:blipFill>
          <a:blip r:embed="rId5"/>
          <a:stretch>
            <a:fillRect/>
          </a:stretch>
        </p:blipFill>
        <p:spPr>
          <a:xfrm>
            <a:off x="690372" y="2884932"/>
            <a:ext cx="283464" cy="283464"/>
          </a:xfrm>
          <a:prstGeom prst="rect">
            <a:avLst/>
          </a:prstGeom>
        </p:spPr>
      </p:pic>
      <p:sp>
        <p:nvSpPr>
          <p:cNvPr id="15"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6"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7"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8" name="Image 5" descr="preencoded.png">    </p:cNvPr>
          <p:cNvPicPr>
            <a:picLocks noChangeAspect="1"/>
          </p:cNvPicPr>
          <p:nvPr/>
        </p:nvPicPr>
        <p:blipFill>
          <a:blip r:embed="rId6"/>
          <a:stretch>
            <a:fillRect/>
          </a:stretch>
        </p:blipFill>
        <p:spPr>
          <a:xfrm>
            <a:off x="690372" y="3616452"/>
            <a:ext cx="283464" cy="283464"/>
          </a:xfrm>
          <a:prstGeom prst="rect">
            <a:avLst/>
          </a:prstGeom>
        </p:spPr>
      </p:pic>
      <p:sp>
        <p:nvSpPr>
          <p:cNvPr id="19"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20"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1"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2" name="Image 6" descr="preencoded.png">    </p:cNvPr>
          <p:cNvPicPr>
            <a:picLocks noChangeAspect="1"/>
          </p:cNvPicPr>
          <p:nvPr/>
        </p:nvPicPr>
        <p:blipFill>
          <a:blip r:embed="rId7"/>
          <a:stretch>
            <a:fillRect/>
          </a:stretch>
        </p:blipFill>
        <p:spPr>
          <a:xfrm>
            <a:off x="690372" y="4347972"/>
            <a:ext cx="283464" cy="283464"/>
          </a:xfrm>
          <a:prstGeom prst="rect">
            <a:avLst/>
          </a:prstGeom>
        </p:spPr>
      </p:pic>
      <p:sp>
        <p:nvSpPr>
          <p:cNvPr id="23"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4"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5"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6" name="Image 7" descr="preencoded.png">    </p:cNvPr>
          <p:cNvPicPr>
            <a:picLocks noChangeAspect="1"/>
          </p:cNvPicPr>
          <p:nvPr/>
        </p:nvPicPr>
        <p:blipFill>
          <a:blip r:embed="rId8"/>
          <a:stretch>
            <a:fillRect/>
          </a:stretch>
        </p:blipFill>
        <p:spPr>
          <a:xfrm>
            <a:off x="690372" y="5079492"/>
            <a:ext cx="283464" cy="283464"/>
          </a:xfrm>
          <a:prstGeom prst="rect">
            <a:avLst/>
          </a:prstGeom>
        </p:spPr>
      </p:pic>
      <p:sp>
        <p:nvSpPr>
          <p:cNvPr id="27"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8"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The same engine across all 18 pumps in the fleet</a:t>
            </a:r>
            <a:endParaRPr lang="en-US" sz="1200" dirty="0"/>
          </a:p>
        </p:txBody>
      </p:sp>
      <p:sp>
        <p:nvSpPr>
          <p:cNvPr id="29"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30"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1"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2"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3" name="Shape 23"/>
          <p:cNvSpPr/>
          <p:nvPr/>
        </p:nvSpPr>
        <p:spPr>
          <a:xfrm>
            <a:off x="6309360" y="5824728"/>
            <a:ext cx="0" cy="310896"/>
          </a:xfrm>
          <a:prstGeom prst="line">
            <a:avLst/>
          </a:prstGeom>
          <a:noFill/>
          <a:ln w="19050">
            <a:solidFill>
              <a:srgbClr val="FFFFFF"/>
            </a:solidFill>
            <a:prstDash val="solid"/>
          </a:ln>
        </p:spPr>
      </p:sp>
      <p:sp>
        <p:nvSpPr>
          <p:cNvPr id="34"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5"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6"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7"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8"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9"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40"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1"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2"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TriMax pump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series-operation curve, as used for pigging</a:t>
            </a:r>
            <a:endParaRPr lang="en-US" sz="1500" dirty="0"/>
          </a:p>
        </p:txBody>
      </p:sp>
      <p:sp>
        <p:nvSpPr>
          <p:cNvPr id="6" name="Shape 4"/>
          <p:cNvSpPr/>
          <p:nvPr/>
        </p:nvSpPr>
        <p:spPr>
          <a:xfrm>
            <a:off x="502920" y="1920240"/>
            <a:ext cx="3688293" cy="420624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ump_series.png">    </p:cNvPr>
          <p:cNvPicPr>
            <a:picLocks noChangeAspect="1"/>
          </p:cNvPicPr>
          <p:nvPr/>
        </p:nvPicPr>
        <p:blipFill>
          <a:blip r:embed="rId1"/>
          <a:stretch>
            <a:fillRect/>
          </a:stretch>
        </p:blipFill>
        <p:spPr>
          <a:xfrm>
            <a:off x="548640" y="1965960"/>
            <a:ext cx="3596853" cy="4114800"/>
          </a:xfrm>
          <a:prstGeom prst="rect">
            <a:avLst/>
          </a:prstGeom>
        </p:spPr>
      </p:pic>
      <p:sp>
        <p:nvSpPr>
          <p:cNvPr id="8" name="Shape 5"/>
          <p:cNvSpPr/>
          <p:nvPr/>
        </p:nvSpPr>
        <p:spPr>
          <a:xfrm>
            <a:off x="1214058" y="4253559"/>
            <a:ext cx="2373923" cy="143874"/>
          </a:xfrm>
          <a:prstGeom prst="rect">
            <a:avLst/>
          </a:prstGeom>
          <a:solidFill>
            <a:srgbClr val="FCC30A">
              <a:alpha val="55000"/>
            </a:srgbClr>
          </a:solidFill>
          <a:ln w="12700">
            <a:solidFill>
              <a:srgbClr val="B8860B"/>
            </a:solidFill>
            <a:prstDash val="solid"/>
          </a:ln>
        </p:spPr>
      </p:sp>
      <p:sp>
        <p:nvSpPr>
          <p:cNvPr id="9" name="Shape 6"/>
          <p:cNvSpPr/>
          <p:nvPr/>
        </p:nvSpPr>
        <p:spPr>
          <a:xfrm>
            <a:off x="4191213" y="4325496"/>
            <a:ext cx="411480" cy="0"/>
          </a:xfrm>
          <a:prstGeom prst="line">
            <a:avLst/>
          </a:prstGeom>
          <a:noFill/>
          <a:ln w="19050">
            <a:solidFill>
              <a:srgbClr val="B8860B"/>
            </a:solidFill>
            <a:prstDash val="solid"/>
            <a:headEnd type="triangle"/>
          </a:ln>
        </p:spPr>
      </p:sp>
      <p:sp>
        <p:nvSpPr>
          <p:cNvPr id="10" name="Text 7"/>
          <p:cNvSpPr txBox="1"/>
          <p:nvPr/>
        </p:nvSpPr>
        <p:spPr>
          <a:xfrm>
            <a:off x="4694133" y="4024959"/>
            <a:ext cx="2926080" cy="777240"/>
          </a:xfrm>
          <a:prstGeom prst="rect">
            <a:avLst/>
          </a:prstGeom>
          <a:noFill/>
          <a:ln/>
        </p:spPr>
        <p:txBody>
          <a:bodyPr wrap="square" lIns="0" tIns="0" rIns="0" bIns="0" rtlCol="0" anchor="t"/>
          <a:lstStyle/>
          <a:p>
            <a:pPr indent="0" marL="0">
              <a:buNone/>
            </a:pPr>
            <a:r>
              <a:rPr lang="en-US" sz="1200" b="1" dirty="0">
                <a:solidFill>
                  <a:srgbClr val="222222"/>
                </a:solidFill>
                <a:latin typeface="Arial" pitchFamily="34" charset="0"/>
                <a:ea typeface="Arial" pitchFamily="34" charset="-122"/>
                <a:cs typeface="Arial" pitchFamily="34" charset="-120"/>
              </a:rPr>
              <a:t>500–550 psi</a:t>
            </a:r>
            <a:endParaRPr lang="en-US" sz="1200" dirty="0"/>
          </a:p>
          <a:p>
            <a:pPr indent="0" marL="0">
              <a:buNone/>
            </a:pPr>
            <a:r>
              <a:rPr lang="en-US" sz="1200" dirty="0">
                <a:solidFill>
                  <a:srgbClr val="5E5E5E"/>
                </a:solidFill>
                <a:latin typeface="Arial" pitchFamily="34" charset="0"/>
                <a:ea typeface="Arial" pitchFamily="34" charset="-122"/>
                <a:cs typeface="Arial" pitchFamily="34" charset="-120"/>
              </a:rPr>
              <a:t>Effective maximum at the pig, after losses through our valves</a:t>
            </a:r>
            <a:endParaRPr lang="en-US" sz="1200" dirty="0"/>
          </a:p>
        </p:txBody>
      </p:sp>
      <p:sp>
        <p:nvSpPr>
          <p:cNvPr id="11" name="Text 8"/>
          <p:cNvSpPr txBox="1"/>
          <p:nvPr/>
        </p:nvSpPr>
        <p:spPr>
          <a:xfrm>
            <a:off x="4694133" y="5074920"/>
            <a:ext cx="2926080" cy="1097280"/>
          </a:xfrm>
          <a:prstGeom prst="rect">
            <a:avLst/>
          </a:prstGeom>
          <a:noFill/>
          <a:ln/>
        </p:spPr>
        <p:txBody>
          <a:bodyPr wrap="square" lIns="0" tIns="0" rIns="0" bIns="0" rtlCol="0" anchor="t"/>
          <a:lstStyle/>
          <a:p>
            <a:pPr indent="0" marL="0">
              <a:buNone/>
            </a:pPr>
            <a:r>
              <a:rPr lang="en-US" sz="1150" b="1" dirty="0">
                <a:solidFill>
                  <a:srgbClr val="222222"/>
                </a:solidFill>
                <a:latin typeface="Arial" pitchFamily="34" charset="0"/>
                <a:ea typeface="Arial" pitchFamily="34" charset="-122"/>
                <a:cs typeface="Arial" pitchFamily="34" charset="-120"/>
              </a:rPr>
              <a:t>Reading the curve  </a:t>
            </a:r>
            <a:pPr indent="0" marL="0">
              <a:buNone/>
            </a:pPr>
            <a:r>
              <a:rPr lang="en-US" sz="1150" dirty="0">
                <a:solidFill>
                  <a:srgbClr val="5E5E5E"/>
                </a:solidFill>
                <a:latin typeface="Arial" pitchFamily="34" charset="0"/>
                <a:ea typeface="Arial" pitchFamily="34" charset="-122"/>
                <a:cs typeface="Arial" pitchFamily="34" charset="-120"/>
              </a:rPr>
              <a:t>Each line is one engine speed; pressure falls as flow rises. Pigging runs well inside this envelope at 150 to 300 psi.</a:t>
            </a:r>
            <a:endParaRPr lang="en-US" sz="1150" dirty="0"/>
          </a:p>
        </p:txBody>
      </p:sp>
      <p:sp>
        <p:nvSpPr>
          <p:cNvPr id="12" name="Text 9"/>
          <p:cNvSpPr txBox="1"/>
          <p:nvPr/>
        </p:nvSpPr>
        <p:spPr>
          <a:xfrm>
            <a:off x="548640" y="6172200"/>
            <a:ext cx="457200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curve: Waterous Company, form F-2692</a:t>
            </a:r>
            <a:endParaRPr lang="en-US" sz="950" dirty="0"/>
          </a:p>
        </p:txBody>
      </p:sp>
      <p:sp>
        <p:nvSpPr>
          <p:cNvPr id="13" name="Shape 10"/>
          <p:cNvSpPr/>
          <p:nvPr/>
        </p:nvSpPr>
        <p:spPr>
          <a:xfrm>
            <a:off x="7818120" y="1965960"/>
            <a:ext cx="3822192" cy="1188720"/>
          </a:xfrm>
          <a:prstGeom prst="rect">
            <a:avLst/>
          </a:prstGeom>
          <a:solidFill>
            <a:srgbClr val="1E1E1E"/>
          </a:solidFill>
          <a:ln w="12700">
            <a:solidFill>
              <a:srgbClr val="1E1E1E"/>
            </a:solidFill>
            <a:prstDash val="solid"/>
          </a:ln>
        </p:spPr>
      </p:sp>
      <p:sp>
        <p:nvSpPr>
          <p:cNvPr id="14" name="Text 11"/>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5" name="Text 12"/>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6" name="Shape 13"/>
          <p:cNvSpPr/>
          <p:nvPr/>
        </p:nvSpPr>
        <p:spPr>
          <a:xfrm>
            <a:off x="7818120" y="3337560"/>
            <a:ext cx="3822192" cy="1188720"/>
          </a:xfrm>
          <a:prstGeom prst="rect">
            <a:avLst/>
          </a:prstGeom>
          <a:solidFill>
            <a:srgbClr val="F4F4F4"/>
          </a:solidFill>
          <a:ln w="12700">
            <a:solidFill>
              <a:srgbClr val="F4F4F4"/>
            </a:solidFill>
            <a:prstDash val="solid"/>
          </a:ln>
        </p:spPr>
      </p:sp>
      <p:sp>
        <p:nvSpPr>
          <p:cNvPr id="17" name="Text 14"/>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8" name="Text 15"/>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9" name="Shape 16"/>
          <p:cNvSpPr/>
          <p:nvPr/>
        </p:nvSpPr>
        <p:spPr>
          <a:xfrm>
            <a:off x="7818120" y="4709160"/>
            <a:ext cx="3822192" cy="1188720"/>
          </a:xfrm>
          <a:prstGeom prst="rect">
            <a:avLst/>
          </a:prstGeom>
          <a:solidFill>
            <a:srgbClr val="F4F4F4"/>
          </a:solidFill>
          <a:ln w="12700">
            <a:solidFill>
              <a:srgbClr val="F4F4F4"/>
            </a:solidFill>
            <a:prstDash val="solid"/>
          </a:ln>
        </p:spPr>
      </p:sp>
      <p:sp>
        <p:nvSpPr>
          <p:cNvPr id="20" name="Text 17"/>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21" name="Text 18"/>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22"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3"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C:\Users\Jwuts\obsidian-work\02-facilities\Valero\Texas-City-TX\pigging-capabilities-presentation\build/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Optional closed-loop filtration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Runs alongside pigging, independent of coil pressure</a:t>
            </a:r>
            <a:endParaRPr lang="en-US" sz="1500" dirty="0"/>
          </a:p>
        </p:txBody>
      </p:sp>
      <p:sp>
        <p:nvSpPr>
          <p:cNvPr id="6" name="Shape 4"/>
          <p:cNvSpPr/>
          <p:nvPr/>
        </p:nvSpPr>
        <p:spPr>
          <a:xfrm>
            <a:off x="548640" y="2240280"/>
            <a:ext cx="2011680" cy="914400"/>
          </a:xfrm>
          <a:prstGeom prst="rect">
            <a:avLst/>
          </a:prstGeom>
          <a:solidFill>
            <a:srgbClr val="1E1E1E"/>
          </a:solidFill>
          <a:ln w="12700">
            <a:solidFill>
              <a:srgbClr val="1E1E1E"/>
            </a:solidFill>
            <a:prstDash val="solid"/>
          </a:ln>
        </p:spPr>
      </p:sp>
      <p:sp>
        <p:nvSpPr>
          <p:cNvPr id="7" name="Text 5"/>
          <p:cNvSpPr txBox="1"/>
          <p:nvPr/>
        </p:nvSpPr>
        <p:spPr>
          <a:xfrm>
            <a:off x="5486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dirty tank</a:t>
            </a:r>
            <a:endParaRPr lang="en-US" sz="1400" dirty="0"/>
          </a:p>
        </p:txBody>
      </p:sp>
      <p:sp>
        <p:nvSpPr>
          <p:cNvPr id="8" name="Shape 6"/>
          <p:cNvSpPr/>
          <p:nvPr/>
        </p:nvSpPr>
        <p:spPr>
          <a:xfrm>
            <a:off x="2606040" y="2697480"/>
            <a:ext cx="411480" cy="0"/>
          </a:xfrm>
          <a:prstGeom prst="line">
            <a:avLst/>
          </a:prstGeom>
          <a:noFill/>
          <a:ln w="31750">
            <a:solidFill>
              <a:srgbClr val="8A8A8A"/>
            </a:solidFill>
            <a:prstDash val="solid"/>
            <a:tailEnd type="triangle"/>
          </a:ln>
        </p:spPr>
      </p:sp>
      <p:sp>
        <p:nvSpPr>
          <p:cNvPr id="9" name="Shape 7"/>
          <p:cNvSpPr/>
          <p:nvPr/>
        </p:nvSpPr>
        <p:spPr>
          <a:xfrm>
            <a:off x="3063240" y="2240280"/>
            <a:ext cx="2011680" cy="914400"/>
          </a:xfrm>
          <a:prstGeom prst="rect">
            <a:avLst/>
          </a:prstGeom>
          <a:solidFill>
            <a:srgbClr val="1E1E1E"/>
          </a:solidFill>
          <a:ln w="12700">
            <a:solidFill>
              <a:srgbClr val="1E1E1E"/>
            </a:solidFill>
            <a:prstDash val="solid"/>
          </a:ln>
        </p:spPr>
      </p:sp>
      <p:sp>
        <p:nvSpPr>
          <p:cNvPr id="10" name="Text 8"/>
          <p:cNvSpPr txBox="1"/>
          <p:nvPr/>
        </p:nvSpPr>
        <p:spPr>
          <a:xfrm>
            <a:off x="30632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4×3 transfer</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pump</a:t>
            </a:r>
            <a:endParaRPr lang="en-US" sz="1400" dirty="0"/>
          </a:p>
        </p:txBody>
      </p:sp>
      <p:sp>
        <p:nvSpPr>
          <p:cNvPr id="11" name="Shape 9"/>
          <p:cNvSpPr/>
          <p:nvPr/>
        </p:nvSpPr>
        <p:spPr>
          <a:xfrm>
            <a:off x="5120640" y="2697480"/>
            <a:ext cx="411480" cy="0"/>
          </a:xfrm>
          <a:prstGeom prst="line">
            <a:avLst/>
          </a:prstGeom>
          <a:noFill/>
          <a:ln w="31750">
            <a:solidFill>
              <a:srgbClr val="8A8A8A"/>
            </a:solidFill>
            <a:prstDash val="solid"/>
            <a:tailEnd type="triangle"/>
          </a:ln>
        </p:spPr>
      </p:sp>
      <p:sp>
        <p:nvSpPr>
          <p:cNvPr id="12" name="Shape 10"/>
          <p:cNvSpPr/>
          <p:nvPr/>
        </p:nvSpPr>
        <p:spPr>
          <a:xfrm>
            <a:off x="5577840" y="2240280"/>
            <a:ext cx="2011680" cy="914400"/>
          </a:xfrm>
          <a:prstGeom prst="rect">
            <a:avLst/>
          </a:prstGeom>
          <a:solidFill>
            <a:srgbClr val="FCC30A"/>
          </a:solidFill>
          <a:ln w="12700">
            <a:solidFill>
              <a:srgbClr val="FCC30A"/>
            </a:solidFill>
            <a:prstDash val="solid"/>
          </a:ln>
        </p:spPr>
      </p:sp>
      <p:sp>
        <p:nvSpPr>
          <p:cNvPr id="13" name="Text 11"/>
          <p:cNvSpPr txBox="1"/>
          <p:nvPr/>
        </p:nvSpPr>
        <p:spPr>
          <a:xfrm>
            <a:off x="5577840" y="2240280"/>
            <a:ext cx="2011680" cy="914400"/>
          </a:xfrm>
          <a:prstGeom prst="rect">
            <a:avLst/>
          </a:prstGeom>
          <a:noFill/>
          <a:ln/>
        </p:spPr>
        <p:txBody>
          <a:bodyPr wrap="square" lIns="0" tIns="0" rIns="0" bIns="0" rtlCol="0" anchor="ctr"/>
          <a:lstStyle/>
          <a:p>
            <a:pPr algn="ctr" indent="0" marL="0">
              <a:buNone/>
            </a:pPr>
            <a:r>
              <a:rPr lang="en-US" sz="1400" b="1" dirty="0">
                <a:solidFill>
                  <a:srgbClr val="1E1E1E"/>
                </a:solidFill>
                <a:latin typeface="Arial" pitchFamily="34" charset="0"/>
                <a:ea typeface="Arial" pitchFamily="34" charset="-122"/>
                <a:cs typeface="Arial" pitchFamily="34" charset="-120"/>
              </a:rPr>
              <a:t>Filter</a:t>
            </a:r>
            <a:endParaRPr lang="en-US" sz="1400" dirty="0"/>
          </a:p>
          <a:p>
            <a:pPr algn="ctr" indent="0" marL="0">
              <a:buNone/>
            </a:pPr>
            <a:r>
              <a:rPr lang="en-US" sz="1400" b="1" dirty="0">
                <a:solidFill>
                  <a:srgbClr val="1E1E1E"/>
                </a:solidFill>
                <a:latin typeface="Arial" pitchFamily="34" charset="0"/>
                <a:ea typeface="Arial" pitchFamily="34" charset="-122"/>
                <a:cs typeface="Arial" pitchFamily="34" charset="-120"/>
              </a:rPr>
              <a:t>press</a:t>
            </a:r>
            <a:endParaRPr lang="en-US" sz="1400" dirty="0"/>
          </a:p>
        </p:txBody>
      </p:sp>
      <p:sp>
        <p:nvSpPr>
          <p:cNvPr id="14" name="Shape 12"/>
          <p:cNvSpPr/>
          <p:nvPr/>
        </p:nvSpPr>
        <p:spPr>
          <a:xfrm>
            <a:off x="7635240" y="2697480"/>
            <a:ext cx="411480" cy="0"/>
          </a:xfrm>
          <a:prstGeom prst="line">
            <a:avLst/>
          </a:prstGeom>
          <a:noFill/>
          <a:ln w="31750">
            <a:solidFill>
              <a:srgbClr val="8A8A8A"/>
            </a:solidFill>
            <a:prstDash val="solid"/>
            <a:tailEnd type="triangle"/>
          </a:ln>
        </p:spPr>
      </p:sp>
      <p:sp>
        <p:nvSpPr>
          <p:cNvPr id="15" name="Shape 13"/>
          <p:cNvSpPr/>
          <p:nvPr/>
        </p:nvSpPr>
        <p:spPr>
          <a:xfrm>
            <a:off x="8092440" y="2240280"/>
            <a:ext cx="2011680" cy="914400"/>
          </a:xfrm>
          <a:prstGeom prst="rect">
            <a:avLst/>
          </a:prstGeom>
          <a:solidFill>
            <a:srgbClr val="1E1E1E"/>
          </a:solidFill>
          <a:ln w="12700">
            <a:solidFill>
              <a:srgbClr val="1E1E1E"/>
            </a:solidFill>
            <a:prstDash val="solid"/>
          </a:ln>
        </p:spPr>
      </p:sp>
      <p:sp>
        <p:nvSpPr>
          <p:cNvPr id="16" name="Text 14"/>
          <p:cNvSpPr txBox="1"/>
          <p:nvPr/>
        </p:nvSpPr>
        <p:spPr>
          <a:xfrm>
            <a:off x="80924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clean tank</a:t>
            </a:r>
            <a:endParaRPr lang="en-US" sz="1400" dirty="0"/>
          </a:p>
        </p:txBody>
      </p:sp>
      <p:sp>
        <p:nvSpPr>
          <p:cNvPr id="17" name="Shape 15"/>
          <p:cNvSpPr/>
          <p:nvPr/>
        </p:nvSpPr>
        <p:spPr>
          <a:xfrm>
            <a:off x="1554480" y="3200400"/>
            <a:ext cx="0" cy="320040"/>
          </a:xfrm>
          <a:prstGeom prst="line">
            <a:avLst/>
          </a:prstGeom>
          <a:noFill/>
          <a:ln w="31750">
            <a:solidFill>
              <a:srgbClr val="8A8A8A"/>
            </a:solidFill>
            <a:prstDash val="solid"/>
            <a:headEnd type="triangle"/>
          </a:ln>
        </p:spPr>
      </p:sp>
      <p:sp>
        <p:nvSpPr>
          <p:cNvPr id="18" name="Shape 16"/>
          <p:cNvSpPr/>
          <p:nvPr/>
        </p:nvSpPr>
        <p:spPr>
          <a:xfrm>
            <a:off x="1554480" y="3520440"/>
            <a:ext cx="7543800" cy="0"/>
          </a:xfrm>
          <a:prstGeom prst="line">
            <a:avLst/>
          </a:prstGeom>
          <a:noFill/>
          <a:ln w="31750">
            <a:solidFill>
              <a:srgbClr val="8A8A8A"/>
            </a:solidFill>
            <a:prstDash val="solid"/>
          </a:ln>
        </p:spPr>
      </p:sp>
      <p:sp>
        <p:nvSpPr>
          <p:cNvPr id="19" name="Shape 17"/>
          <p:cNvSpPr/>
          <p:nvPr/>
        </p:nvSpPr>
        <p:spPr>
          <a:xfrm>
            <a:off x="9098280" y="3200400"/>
            <a:ext cx="0" cy="320040"/>
          </a:xfrm>
          <a:prstGeom prst="line">
            <a:avLst/>
          </a:prstGeom>
          <a:noFill/>
          <a:ln w="31750">
            <a:solidFill>
              <a:srgbClr val="8A8A8A"/>
            </a:solidFill>
            <a:prstDash val="solid"/>
          </a:ln>
        </p:spPr>
      </p:sp>
      <p:sp>
        <p:nvSpPr>
          <p:cNvPr id="20" name="Text 18"/>
          <p:cNvSpPr txBox="1"/>
          <p:nvPr/>
        </p:nvSpPr>
        <p:spPr>
          <a:xfrm>
            <a:off x="2011680" y="3566160"/>
            <a:ext cx="6217920" cy="274320"/>
          </a:xfrm>
          <a:prstGeom prst="rect">
            <a:avLst/>
          </a:prstGeom>
          <a:noFill/>
          <a:ln/>
        </p:spPr>
        <p:txBody>
          <a:bodyPr wrap="square" lIns="0" tIns="0" rIns="0" bIns="0" rtlCol="0" anchor="ctr"/>
          <a:lstStyle/>
          <a:p>
            <a:pPr algn="ctr" indent="0" marL="0">
              <a:buNone/>
            </a:pPr>
            <a:r>
              <a:rPr lang="en-US" sz="1100" i="1" dirty="0">
                <a:solidFill>
                  <a:srgbClr val="5E5E5E"/>
                </a:solidFill>
                <a:latin typeface="Arial" pitchFamily="34" charset="0"/>
                <a:ea typeface="Arial" pitchFamily="34" charset="-122"/>
                <a:cs typeface="Arial" pitchFamily="34" charset="-120"/>
              </a:rPr>
              <a:t>Filtrate returns to the clean tank; pigging continues without interruption</a:t>
            </a:r>
            <a:endParaRPr lang="en-US" sz="1100" dirty="0"/>
          </a:p>
        </p:txBody>
      </p:sp>
      <p:sp>
        <p:nvSpPr>
          <p:cNvPr id="21" name="Text 19"/>
          <p:cNvSpPr txBox="1"/>
          <p:nvPr/>
        </p:nvSpPr>
        <p:spPr>
          <a:xfrm>
            <a:off x="54864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400 GPM</a:t>
            </a:r>
            <a:endParaRPr lang="en-US" sz="3000" dirty="0"/>
          </a:p>
        </p:txBody>
      </p:sp>
      <p:sp>
        <p:nvSpPr>
          <p:cNvPr id="22" name="Text 20"/>
          <p:cNvSpPr txBox="1"/>
          <p:nvPr/>
        </p:nvSpPr>
        <p:spPr>
          <a:xfrm>
            <a:off x="54864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press capacity</a:t>
            </a:r>
            <a:endParaRPr lang="en-US" sz="1200" dirty="0"/>
          </a:p>
        </p:txBody>
      </p:sp>
      <p:sp>
        <p:nvSpPr>
          <p:cNvPr id="23" name="Text 21"/>
          <p:cNvSpPr txBox="1"/>
          <p:nvPr/>
        </p:nvSpPr>
        <p:spPr>
          <a:xfrm>
            <a:off x="379476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1,243 ft²</a:t>
            </a:r>
            <a:endParaRPr lang="en-US" sz="3000" dirty="0"/>
          </a:p>
        </p:txBody>
      </p:sp>
      <p:sp>
        <p:nvSpPr>
          <p:cNvPr id="24" name="Text 22"/>
          <p:cNvSpPr txBox="1"/>
          <p:nvPr/>
        </p:nvSpPr>
        <p:spPr>
          <a:xfrm>
            <a:off x="379476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filtration area per press</a:t>
            </a:r>
            <a:endParaRPr lang="en-US" sz="1200" dirty="0"/>
          </a:p>
        </p:txBody>
      </p:sp>
      <p:sp>
        <p:nvSpPr>
          <p:cNvPr id="25" name="Text 23"/>
          <p:cNvSpPr txBox="1"/>
          <p:nvPr/>
        </p:nvSpPr>
        <p:spPr>
          <a:xfrm>
            <a:off x="704088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3</a:t>
            </a:r>
            <a:endParaRPr lang="en-US" sz="3000" dirty="0"/>
          </a:p>
        </p:txBody>
      </p:sp>
      <p:sp>
        <p:nvSpPr>
          <p:cNvPr id="26" name="Text 24"/>
          <p:cNvSpPr txBox="1"/>
          <p:nvPr/>
        </p:nvSpPr>
        <p:spPr>
          <a:xfrm>
            <a:off x="704088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trailer-mounted presses in the fleet</a:t>
            </a:r>
            <a:endParaRPr lang="en-US" sz="1200" dirty="0"/>
          </a:p>
        </p:txBody>
      </p:sp>
      <p:sp>
        <p:nvSpPr>
          <p:cNvPr id="27" name="Shape 25"/>
          <p:cNvSpPr/>
          <p:nvPr/>
        </p:nvSpPr>
        <p:spPr>
          <a:xfrm>
            <a:off x="548640" y="5303520"/>
            <a:ext cx="11091672" cy="777240"/>
          </a:xfrm>
          <a:prstGeom prst="rect">
            <a:avLst/>
          </a:prstGeom>
          <a:solidFill>
            <a:srgbClr val="F4F4F4"/>
          </a:solidFill>
          <a:ln w="12700">
            <a:solidFill>
              <a:srgbClr val="F4F4F4"/>
            </a:solidFill>
            <a:prstDash val="solid"/>
          </a:ln>
        </p:spPr>
      </p:sp>
      <p:sp>
        <p:nvSpPr>
          <p:cNvPr id="28" name="Shape 26"/>
          <p:cNvSpPr/>
          <p:nvPr/>
        </p:nvSpPr>
        <p:spPr>
          <a:xfrm>
            <a:off x="777240" y="5559552"/>
            <a:ext cx="256032" cy="256032"/>
          </a:xfrm>
          <a:prstGeom prst="ellipse">
            <a:avLst/>
          </a:prstGeom>
          <a:solidFill>
            <a:srgbClr val="FCC30A"/>
          </a:solidFill>
          <a:ln w="12700">
            <a:solidFill>
              <a:srgbClr val="FCC30A"/>
            </a:solidFill>
            <a:prstDash val="solid"/>
          </a:ln>
        </p:spPr>
      </p:sp>
      <p:sp>
        <p:nvSpPr>
          <p:cNvPr id="29" name="Text 27"/>
          <p:cNvSpPr txBox="1"/>
          <p:nvPr/>
        </p:nvSpPr>
        <p:spPr>
          <a:xfrm>
            <a:off x="11612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fresh-water demand</a:t>
            </a:r>
            <a:endParaRPr lang="en-US" sz="1250" dirty="0"/>
          </a:p>
        </p:txBody>
      </p:sp>
      <p:sp>
        <p:nvSpPr>
          <p:cNvPr id="30" name="Shape 28"/>
          <p:cNvSpPr/>
          <p:nvPr/>
        </p:nvSpPr>
        <p:spPr>
          <a:xfrm>
            <a:off x="4434840" y="5559552"/>
            <a:ext cx="256032" cy="256032"/>
          </a:xfrm>
          <a:prstGeom prst="ellipse">
            <a:avLst/>
          </a:prstGeom>
          <a:solidFill>
            <a:srgbClr val="FCC30A"/>
          </a:solidFill>
          <a:ln w="12700">
            <a:solidFill>
              <a:srgbClr val="FCC30A"/>
            </a:solidFill>
            <a:prstDash val="solid"/>
          </a:ln>
        </p:spPr>
      </p:sp>
      <p:sp>
        <p:nvSpPr>
          <p:cNvPr id="31" name="Text 29"/>
          <p:cNvSpPr txBox="1"/>
          <p:nvPr/>
        </p:nvSpPr>
        <p:spPr>
          <a:xfrm>
            <a:off x="48188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wastewater volume</a:t>
            </a:r>
            <a:endParaRPr lang="en-US" sz="1250" dirty="0"/>
          </a:p>
        </p:txBody>
      </p:sp>
      <p:sp>
        <p:nvSpPr>
          <p:cNvPr id="32" name="Shape 30"/>
          <p:cNvSpPr/>
          <p:nvPr/>
        </p:nvSpPr>
        <p:spPr>
          <a:xfrm>
            <a:off x="8092440" y="5559552"/>
            <a:ext cx="256032" cy="256032"/>
          </a:xfrm>
          <a:prstGeom prst="ellipse">
            <a:avLst/>
          </a:prstGeom>
          <a:solidFill>
            <a:srgbClr val="FCC30A"/>
          </a:solidFill>
          <a:ln w="12700">
            <a:solidFill>
              <a:srgbClr val="FCC30A"/>
            </a:solidFill>
            <a:prstDash val="solid"/>
          </a:ln>
        </p:spPr>
      </p:sp>
      <p:sp>
        <p:nvSpPr>
          <p:cNvPr id="33" name="Text 31"/>
          <p:cNvSpPr txBox="1"/>
          <p:nvPr/>
        </p:nvSpPr>
        <p:spPr>
          <a:xfrm>
            <a:off x="84764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Coke fines captured as filter cake for disposal</a:t>
            </a:r>
            <a:endParaRPr lang="en-US" sz="1250" dirty="0"/>
          </a:p>
        </p:txBody>
      </p:sp>
      <p:sp>
        <p:nvSpPr>
          <p:cNvPr id="34" name="Text 32"/>
          <p:cNvSpPr txBox="1"/>
          <p:nvPr/>
        </p:nvSpPr>
        <p:spPr>
          <a:xfrm>
            <a:off x="7589520" y="4224528"/>
            <a:ext cx="4050792" cy="457200"/>
          </a:xfrm>
          <a:prstGeom prst="rect">
            <a:avLst/>
          </a:prstGeom>
          <a:noFill/>
          <a:ln/>
        </p:spPr>
        <p:txBody>
          <a:bodyPr wrap="square" lIns="0" tIns="0" rIns="0" bIns="0" rtlCol="0" anchor="ctr"/>
          <a:lstStyle/>
          <a:p>
            <a:pPr algn="r" indent="0" marL="0">
              <a:buNone/>
            </a:pPr>
            <a:r>
              <a:rPr lang="en-US" sz="1100" i="1" dirty="0">
                <a:solidFill>
                  <a:srgbClr val="5E5E5E"/>
                </a:solidFill>
                <a:latin typeface="Arial" pitchFamily="34" charset="0"/>
                <a:ea typeface="Arial" pitchFamily="34" charset="-122"/>
                <a:cs typeface="Arial" pitchFamily="34" charset="-120"/>
              </a:rPr>
              <a:t>Optional: priced separately</a:t>
            </a:r>
            <a:endParaRPr lang="en-US" sz="1100" dirty="0"/>
          </a:p>
        </p:txBody>
      </p:sp>
      <p:sp>
        <p:nvSpPr>
          <p:cNvPr id="35" name="Text 3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6" name="Text 3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Valero</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tech stops and scrubs that exact spot</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"Black" in the return stream fades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C:\Users\Jwuts\obsidian-work\02-facilities\Valero\Texas-City-TX\pigging-capabilities-presentation\build/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Valero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Field-proven process: successful sign-offs from all of our clients and reliable first-attempt smart pig data.</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Valero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Valero</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C:\Users\Jwuts\obsidian-work\02-facilities\Valero\Texas-City-TX\pigging-capabilities-presentation\build/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2700947"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2700947"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Responsive support for Texas City</a:t>
            </a:r>
            <a:endParaRPr lang="en-US" sz="3200" dirty="0"/>
          </a:p>
        </p:txBody>
      </p:sp>
      <p:sp>
        <p:nvSpPr>
          <p:cNvPr id="8" name="Shape 4"/>
          <p:cNvSpPr/>
          <p:nvPr/>
        </p:nvSpPr>
        <p:spPr>
          <a:xfrm>
            <a:off x="9354312" y="310896"/>
            <a:ext cx="2286000" cy="566928"/>
          </a:xfrm>
          <a:prstGeom prst="roundRect">
            <a:avLst>
              <a:gd name="adj" fmla="val 16129"/>
            </a:avLst>
          </a:prstGeom>
          <a:solidFill>
            <a:srgbClr val="2B2B2B"/>
          </a:solidFill>
          <a:ln w="12700">
            <a:solidFill>
              <a:srgbClr val="FCC30A"/>
            </a:solidFill>
            <a:prstDash val="solid"/>
          </a:ln>
        </p:spPr>
      </p:sp>
      <p:sp>
        <p:nvSpPr>
          <p:cNvPr id="9" name="Text 5"/>
          <p:cNvSpPr txBox="1"/>
          <p:nvPr/>
        </p:nvSpPr>
        <p:spPr>
          <a:xfrm>
            <a:off x="9354312" y="310896"/>
            <a:ext cx="2286000" cy="566928"/>
          </a:xfrm>
          <a:prstGeom prst="rect">
            <a:avLst/>
          </a:prstGeom>
          <a:noFill/>
          <a:ln/>
        </p:spPr>
        <p:txBody>
          <a:bodyPr wrap="square" lIns="0" tIns="0" rIns="0" bIns="0" rtlCol="0" anchor="ctr"/>
          <a:lstStyle/>
          <a:p>
            <a:pPr algn="ctr" indent="0" marL="0">
              <a:buNone/>
            </a:pPr>
            <a:r>
              <a:rPr lang="en-US" sz="1100" b="1" dirty="0">
                <a:solidFill>
                  <a:srgbClr val="FCC30A"/>
                </a:solidFill>
                <a:latin typeface="Arial" pitchFamily="34" charset="0"/>
                <a:ea typeface="Arial" pitchFamily="34" charset="-122"/>
                <a:cs typeface="Arial" pitchFamily="34" charset="-120"/>
              </a:rPr>
              <a:t>Based in Deer Park, TX</a:t>
            </a:r>
            <a:endParaRPr lang="en-US" sz="1100" dirty="0"/>
          </a:p>
        </p:txBody>
      </p:sp>
      <p:sp>
        <p:nvSpPr>
          <p:cNvPr id="10" name="Text 6"/>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Our fleet stages at our Deer Park base, a short drive from Texas City</a:t>
            </a:r>
            <a:endParaRPr lang="en-US" sz="1500" dirty="0"/>
          </a:p>
        </p:txBody>
      </p:sp>
      <p:sp>
        <p:nvSpPr>
          <p:cNvPr id="11" name="Shape 7"/>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2" name="Text 8"/>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3" name="Text 9"/>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4" name="Shape 10"/>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5" name="Text 11"/>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6" name="Text 12"/>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from Deer Park to Texas City</a:t>
            </a:r>
            <a:endParaRPr lang="en-US" sz="1150" dirty="0"/>
          </a:p>
        </p:txBody>
      </p:sp>
      <p:sp>
        <p:nvSpPr>
          <p:cNvPr id="17" name="Shape 13"/>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8" name="Text 14"/>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a:t>
            </a:r>
            <a:endParaRPr lang="en-US" sz="2800" dirty="0"/>
          </a:p>
        </p:txBody>
      </p:sp>
      <p:sp>
        <p:nvSpPr>
          <p:cNvPr id="19" name="Text 15"/>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TriMax units staged at Deer Park between jobs</a:t>
            </a:r>
            <a:endParaRPr lang="en-US" sz="1150" dirty="0"/>
          </a:p>
        </p:txBody>
      </p:sp>
      <p:sp>
        <p:nvSpPr>
          <p:cNvPr id="20"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1"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Valero's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nobody in line with lids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diff.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875225"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8752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CAPABILITIES</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6" name="Shape 3"/>
          <p:cNvSpPr/>
          <p:nvPr/>
        </p:nvSpPr>
        <p:spPr>
          <a:xfrm>
            <a:off x="548640" y="1874520"/>
            <a:ext cx="3749040" cy="1965960"/>
          </a:xfrm>
          <a:prstGeom prst="rect">
            <a:avLst/>
          </a:prstGeom>
          <a:solidFill>
            <a:srgbClr val="2B2B2B"/>
          </a:solidFill>
          <a:ln w="12700">
            <a:solidFill>
              <a:srgbClr val="2B2B2B"/>
            </a:solidFill>
            <a:prstDash val="solid"/>
          </a:ln>
        </p:spPr>
      </p:sp>
      <p:sp>
        <p:nvSpPr>
          <p:cNvPr id="7" name="Shape 4"/>
          <p:cNvSpPr/>
          <p:nvPr/>
        </p:nvSpPr>
        <p:spPr>
          <a:xfrm>
            <a:off x="822960" y="2148840"/>
            <a:ext cx="658368" cy="658368"/>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9" name="Text 5"/>
          <p:cNvSpPr txBox="1"/>
          <p:nvPr/>
        </p:nvSpPr>
        <p:spPr>
          <a:xfrm>
            <a:off x="164592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Self-performed scope</a:t>
            </a:r>
            <a:endParaRPr lang="en-US" sz="1700" dirty="0"/>
          </a:p>
        </p:txBody>
      </p:sp>
      <p:sp>
        <p:nvSpPr>
          <p:cNvPr id="10" name="Text 6"/>
          <p:cNvSpPr txBox="1"/>
          <p:nvPr/>
        </p:nvSpPr>
        <p:spPr>
          <a:xfrm>
            <a:off x="82296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Pigging, decoking and hydroblasting with our own equipment and crews: one contractor, no subs</a:t>
            </a:r>
            <a:endParaRPr lang="en-US" sz="1250" dirty="0"/>
          </a:p>
        </p:txBody>
      </p:sp>
      <p:sp>
        <p:nvSpPr>
          <p:cNvPr id="11" name="Shape 7"/>
          <p:cNvSpPr/>
          <p:nvPr/>
        </p:nvSpPr>
        <p:spPr>
          <a:xfrm>
            <a:off x="4480560" y="1874520"/>
            <a:ext cx="3749040" cy="1965960"/>
          </a:xfrm>
          <a:prstGeom prst="rect">
            <a:avLst/>
          </a:prstGeom>
          <a:solidFill>
            <a:srgbClr val="2B2B2B"/>
          </a:solidFill>
          <a:ln w="12700">
            <a:solidFill>
              <a:srgbClr val="2B2B2B"/>
            </a:solidFill>
            <a:prstDash val="solid"/>
          </a:ln>
        </p:spPr>
      </p:sp>
      <p:sp>
        <p:nvSpPr>
          <p:cNvPr id="12" name="Shape 8"/>
          <p:cNvSpPr/>
          <p:nvPr/>
        </p:nvSpPr>
        <p:spPr>
          <a:xfrm>
            <a:off x="4754880" y="2148840"/>
            <a:ext cx="658368" cy="658368"/>
          </a:xfrm>
          <a:prstGeom prst="ellipse">
            <a:avLst/>
          </a:prstGeom>
          <a:solidFill>
            <a:srgbClr val="FCC30A"/>
          </a:solidFill>
          <a:ln w="12700">
            <a:solidFill>
              <a:srgbClr val="FCC30A"/>
            </a:solidFill>
            <a:prstDash val="solid"/>
          </a:ln>
        </p:spPr>
      </p:sp>
      <p:pic>
        <p:nvPicPr>
          <p:cNvPr id="13" name="Image 2" descr="preencoded.png">    </p:cNvPr>
          <p:cNvPicPr>
            <a:picLocks noChangeAspect="1"/>
          </p:cNvPicPr>
          <p:nvPr/>
        </p:nvPicPr>
        <p:blipFill>
          <a:blip r:embed="rId3"/>
          <a:stretch>
            <a:fillRect/>
          </a:stretch>
        </p:blipFill>
        <p:spPr>
          <a:xfrm>
            <a:off x="4919472" y="2313432"/>
            <a:ext cx="329184" cy="329184"/>
          </a:xfrm>
          <a:prstGeom prst="rect">
            <a:avLst/>
          </a:prstGeom>
        </p:spPr>
      </p:pic>
      <p:sp>
        <p:nvSpPr>
          <p:cNvPr id="14" name="Text 9"/>
          <p:cNvSpPr txBox="1"/>
          <p:nvPr/>
        </p:nvSpPr>
        <p:spPr>
          <a:xfrm>
            <a:off x="557784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Largest standardized fleet</a:t>
            </a:r>
            <a:endParaRPr lang="en-US" sz="1700" dirty="0"/>
          </a:p>
        </p:txBody>
      </p:sp>
      <p:sp>
        <p:nvSpPr>
          <p:cNvPr id="15" name="Text 10"/>
          <p:cNvSpPr txBox="1"/>
          <p:nvPr/>
        </p:nvSpPr>
        <p:spPr>
          <a:xfrm>
            <a:off x="475488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6 identical TriMax units, 18 engines, with a spare pump on board even on a 2-pass heater</a:t>
            </a:r>
            <a:endParaRPr lang="en-US" sz="1250" dirty="0"/>
          </a:p>
        </p:txBody>
      </p:sp>
      <p:sp>
        <p:nvSpPr>
          <p:cNvPr id="16" name="Shape 11"/>
          <p:cNvSpPr/>
          <p:nvPr/>
        </p:nvSpPr>
        <p:spPr>
          <a:xfrm>
            <a:off x="548640" y="4023360"/>
            <a:ext cx="3749040" cy="1965960"/>
          </a:xfrm>
          <a:prstGeom prst="rect">
            <a:avLst/>
          </a:prstGeom>
          <a:solidFill>
            <a:srgbClr val="2B2B2B"/>
          </a:solidFill>
          <a:ln w="12700">
            <a:solidFill>
              <a:srgbClr val="2B2B2B"/>
            </a:solidFill>
            <a:prstDash val="solid"/>
          </a:ln>
        </p:spPr>
      </p:sp>
      <p:sp>
        <p:nvSpPr>
          <p:cNvPr id="17" name="Shape 12"/>
          <p:cNvSpPr/>
          <p:nvPr/>
        </p:nvSpPr>
        <p:spPr>
          <a:xfrm>
            <a:off x="822960" y="4297680"/>
            <a:ext cx="658368" cy="658368"/>
          </a:xfrm>
          <a:prstGeom prst="ellipse">
            <a:avLst/>
          </a:prstGeom>
          <a:solidFill>
            <a:srgbClr val="FCC30A"/>
          </a:solidFill>
          <a:ln w="12700">
            <a:solidFill>
              <a:srgbClr val="FCC30A"/>
            </a:solidFill>
            <a:prstDash val="solid"/>
          </a:ln>
        </p:spPr>
      </p:sp>
      <p:pic>
        <p:nvPicPr>
          <p:cNvPr id="18"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19" name="Text 13"/>
          <p:cNvSpPr txBox="1"/>
          <p:nvPr/>
        </p:nvSpPr>
        <p:spPr>
          <a:xfrm>
            <a:off x="164592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Widest pig selection</a:t>
            </a:r>
            <a:endParaRPr lang="en-US" sz="1700" dirty="0"/>
          </a:p>
        </p:txBody>
      </p:sp>
      <p:sp>
        <p:nvSpPr>
          <p:cNvPr id="20" name="Text 14"/>
          <p:cNvSpPr txBox="1"/>
          <p:nvPr/>
        </p:nvSpPr>
        <p:spPr>
          <a:xfrm>
            <a:off x="82296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Engineered decoking pigs matched to each coil and each coke condition</a:t>
            </a:r>
            <a:endParaRPr lang="en-US" sz="1250" dirty="0"/>
          </a:p>
        </p:txBody>
      </p:sp>
      <p:sp>
        <p:nvSpPr>
          <p:cNvPr id="21" name="Shape 15"/>
          <p:cNvSpPr/>
          <p:nvPr/>
        </p:nvSpPr>
        <p:spPr>
          <a:xfrm>
            <a:off x="4480560" y="4023360"/>
            <a:ext cx="3749040" cy="1965960"/>
          </a:xfrm>
          <a:prstGeom prst="rect">
            <a:avLst/>
          </a:prstGeom>
          <a:solidFill>
            <a:srgbClr val="2B2B2B"/>
          </a:solidFill>
          <a:ln w="12700">
            <a:solidFill>
              <a:srgbClr val="2B2B2B"/>
            </a:solidFill>
            <a:prstDash val="solid"/>
          </a:ln>
        </p:spPr>
      </p:sp>
      <p:sp>
        <p:nvSpPr>
          <p:cNvPr id="22" name="Shape 16"/>
          <p:cNvSpPr/>
          <p:nvPr/>
        </p:nvSpPr>
        <p:spPr>
          <a:xfrm>
            <a:off x="4754880" y="4297680"/>
            <a:ext cx="658368" cy="658368"/>
          </a:xfrm>
          <a:prstGeom prst="ellipse">
            <a:avLst/>
          </a:prstGeom>
          <a:solidFill>
            <a:srgbClr val="FCC30A"/>
          </a:solidFill>
          <a:ln w="12700">
            <a:solidFill>
              <a:srgbClr val="FCC30A"/>
            </a:solidFill>
            <a:prstDash val="solid"/>
          </a:ln>
        </p:spPr>
      </p:sp>
      <p:pic>
        <p:nvPicPr>
          <p:cNvPr id="23" name="Image 4" descr="preencoded.png">    </p:cNvPr>
          <p:cNvPicPr>
            <a:picLocks noChangeAspect="1"/>
          </p:cNvPicPr>
          <p:nvPr/>
        </p:nvPicPr>
        <p:blipFill>
          <a:blip r:embed="rId5"/>
          <a:stretch>
            <a:fillRect/>
          </a:stretch>
        </p:blipFill>
        <p:spPr>
          <a:xfrm>
            <a:off x="4919472" y="4462272"/>
            <a:ext cx="329184" cy="329184"/>
          </a:xfrm>
          <a:prstGeom prst="rect">
            <a:avLst/>
          </a:prstGeom>
        </p:spPr>
      </p:pic>
      <p:sp>
        <p:nvSpPr>
          <p:cNvPr id="24" name="Text 17"/>
          <p:cNvSpPr txBox="1"/>
          <p:nvPr/>
        </p:nvSpPr>
        <p:spPr>
          <a:xfrm>
            <a:off x="557784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Data-driven, shared</a:t>
            </a:r>
            <a:endParaRPr lang="en-US" sz="1700" dirty="0"/>
          </a:p>
        </p:txBody>
      </p:sp>
      <p:sp>
        <p:nvSpPr>
          <p:cNvPr id="25" name="Text 18"/>
          <p:cNvSpPr txBox="1"/>
          <p:nvPr/>
        </p:nvSpPr>
        <p:spPr>
          <a:xfrm>
            <a:off x="475488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Durations built from recorded actuals; lessons learned reviewed with Valero after every job</a:t>
            </a:r>
            <a:endParaRPr lang="en-US" sz="1250" dirty="0"/>
          </a:p>
        </p:txBody>
      </p:sp>
      <p:sp>
        <p:nvSpPr>
          <p:cNvPr id="26"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7"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Valero system</a:t>
            </a:r>
            <a:endParaRPr lang="en-US" sz="3200" dirty="0"/>
          </a:p>
        </p:txBody>
      </p:sp>
      <p:pic>
        <p:nvPicPr>
          <p:cNvPr id="5" name="Image 0" descr="C:\Users\Jwuts\obsidian-work\02-facilities\Valero\Texas-City-TX\pigging-capabilities-presentation\build/img/valero_map.png">    </p:cNvPr>
          <p:cNvPicPr>
            <a:picLocks noChangeAspect="1"/>
          </p:cNvPicPr>
          <p:nvPr/>
        </p:nvPicPr>
        <p:blipFill>
          <a:blip r:embed="rId1"/>
          <a:stretch>
            <a:fillRect/>
          </a:stretch>
        </p:blipFill>
        <p:spPr>
          <a:xfrm>
            <a:off x="365760" y="1783080"/>
            <a:ext cx="6583680" cy="4247535"/>
          </a:xfrm>
          <a:prstGeom prst="rect">
            <a:avLst/>
          </a:prstGeom>
        </p:spPr>
      </p:pic>
      <p:sp>
        <p:nvSpPr>
          <p:cNvPr id="6" name="Text 3"/>
          <p:cNvSpPr txBox="1"/>
          <p:nvPr/>
        </p:nvSpPr>
        <p:spPr>
          <a:xfrm>
            <a:off x="7223760" y="1554480"/>
            <a:ext cx="1280160" cy="914400"/>
          </a:xfrm>
          <a:prstGeom prst="rect">
            <a:avLst/>
          </a:prstGeom>
          <a:noFill/>
          <a:ln/>
        </p:spPr>
        <p:txBody>
          <a:bodyPr wrap="square" lIns="0" tIns="0" rIns="0" bIns="0" rtlCol="0" anchor="ctr"/>
          <a:lstStyle/>
          <a:p>
            <a:pPr indent="0" marL="0">
              <a:buNone/>
            </a:pPr>
            <a:r>
              <a:rPr lang="en-US" sz="6000" b="1" dirty="0">
                <a:solidFill>
                  <a:srgbClr val="FCC30A"/>
                </a:solidFill>
                <a:latin typeface="Arial" pitchFamily="34" charset="0"/>
                <a:ea typeface="Arial" pitchFamily="34" charset="-122"/>
                <a:cs typeface="Arial" pitchFamily="34" charset="-120"/>
              </a:rPr>
              <a:t>14</a:t>
            </a:r>
            <a:endParaRPr lang="en-US" sz="6000" dirty="0"/>
          </a:p>
        </p:txBody>
      </p:sp>
      <p:sp>
        <p:nvSpPr>
          <p:cNvPr id="7" name="Text 4"/>
          <p:cNvSpPr txBox="1"/>
          <p:nvPr/>
        </p:nvSpPr>
        <p:spPr>
          <a:xfrm>
            <a:off x="8503920" y="1645920"/>
            <a:ext cx="315468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heaters cleaned at</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5 Valero refineries</a:t>
            </a:r>
            <a:endParaRPr lang="en-US" sz="1600" dirty="0"/>
          </a:p>
        </p:txBody>
      </p:sp>
      <p:sp>
        <p:nvSpPr>
          <p:cNvPr id="8" name="Shape 5"/>
          <p:cNvSpPr/>
          <p:nvPr/>
        </p:nvSpPr>
        <p:spPr>
          <a:xfrm>
            <a:off x="7223760" y="2697480"/>
            <a:ext cx="54864" cy="475488"/>
          </a:xfrm>
          <a:prstGeom prst="rect">
            <a:avLst/>
          </a:prstGeom>
          <a:solidFill>
            <a:srgbClr val="FFFFFF"/>
          </a:solidFill>
          <a:ln w="12700">
            <a:solidFill>
              <a:srgbClr val="FFFFFF"/>
            </a:solidFill>
            <a:prstDash val="solid"/>
          </a:ln>
        </p:spPr>
      </p:sp>
      <p:sp>
        <p:nvSpPr>
          <p:cNvPr id="9" name="Text 6"/>
          <p:cNvSpPr txBox="1"/>
          <p:nvPr/>
        </p:nvSpPr>
        <p:spPr>
          <a:xfrm>
            <a:off x="7406640" y="2679192"/>
            <a:ext cx="4206240" cy="256032"/>
          </a:xfrm>
          <a:prstGeom prst="rect">
            <a:avLst/>
          </a:prstGeom>
          <a:noFill/>
          <a:ln/>
        </p:spPr>
        <p:txBody>
          <a:bodyPr wrap="square" lIns="0" tIns="0" rIns="0" bIns="0" rtlCol="0" anchor="ctr"/>
          <a:lstStyle/>
          <a:p>
            <a:pPr indent="0" marL="0">
              <a:buNone/>
            </a:pPr>
            <a:r>
              <a:rPr lang="en-US" sz="1350" b="1" dirty="0">
                <a:solidFill>
                  <a:srgbClr val="FCC30A"/>
                </a:solidFill>
                <a:latin typeface="Arial" pitchFamily="34" charset="0"/>
                <a:ea typeface="Arial" pitchFamily="34" charset="-122"/>
                <a:cs typeface="Arial" pitchFamily="34" charset="-120"/>
              </a:rPr>
              <a:t>Texas City, TX</a:t>
            </a:r>
            <a:endParaRPr lang="en-US" sz="1350" dirty="0"/>
          </a:p>
        </p:txBody>
      </p:sp>
      <p:sp>
        <p:nvSpPr>
          <p:cNvPr id="10" name="Text 7"/>
          <p:cNvSpPr txBox="1"/>
          <p:nvPr/>
        </p:nvSpPr>
        <p:spPr>
          <a:xfrm>
            <a:off x="7406640" y="2935224"/>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Coker heater</a:t>
            </a:r>
            <a:endParaRPr lang="en-US" sz="1150" dirty="0"/>
          </a:p>
        </p:txBody>
      </p:sp>
      <p:sp>
        <p:nvSpPr>
          <p:cNvPr id="11" name="Shape 8"/>
          <p:cNvSpPr/>
          <p:nvPr/>
        </p:nvSpPr>
        <p:spPr>
          <a:xfrm>
            <a:off x="7223760" y="3319272"/>
            <a:ext cx="54864" cy="475488"/>
          </a:xfrm>
          <a:prstGeom prst="rect">
            <a:avLst/>
          </a:prstGeom>
          <a:solidFill>
            <a:srgbClr val="FCC30A"/>
          </a:solidFill>
          <a:ln w="12700">
            <a:solidFill>
              <a:srgbClr val="FCC30A"/>
            </a:solidFill>
            <a:prstDash val="solid"/>
          </a:ln>
        </p:spPr>
      </p:sp>
      <p:sp>
        <p:nvSpPr>
          <p:cNvPr id="12" name="Text 9"/>
          <p:cNvSpPr txBox="1"/>
          <p:nvPr/>
        </p:nvSpPr>
        <p:spPr>
          <a:xfrm>
            <a:off x="7406640" y="3300984"/>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Port Arthur, TX</a:t>
            </a:r>
            <a:endParaRPr lang="en-US" sz="1350" dirty="0"/>
          </a:p>
        </p:txBody>
      </p:sp>
      <p:sp>
        <p:nvSpPr>
          <p:cNvPr id="13" name="Text 10"/>
          <p:cNvSpPr txBox="1"/>
          <p:nvPr/>
        </p:nvSpPr>
        <p:spPr>
          <a:xfrm>
            <a:off x="7406640" y="3557016"/>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H-102A, H-102B, F-2000</a:t>
            </a:r>
            <a:endParaRPr lang="en-US" sz="1150" dirty="0"/>
          </a:p>
        </p:txBody>
      </p:sp>
      <p:sp>
        <p:nvSpPr>
          <p:cNvPr id="14" name="Shape 11"/>
          <p:cNvSpPr/>
          <p:nvPr/>
        </p:nvSpPr>
        <p:spPr>
          <a:xfrm>
            <a:off x="7223760" y="3941064"/>
            <a:ext cx="54864" cy="475488"/>
          </a:xfrm>
          <a:prstGeom prst="rect">
            <a:avLst/>
          </a:prstGeom>
          <a:solidFill>
            <a:srgbClr val="FCC30A"/>
          </a:solidFill>
          <a:ln w="12700">
            <a:solidFill>
              <a:srgbClr val="FCC30A"/>
            </a:solidFill>
            <a:prstDash val="solid"/>
          </a:ln>
        </p:spPr>
      </p:sp>
      <p:sp>
        <p:nvSpPr>
          <p:cNvPr id="15" name="Text 12"/>
          <p:cNvSpPr txBox="1"/>
          <p:nvPr/>
        </p:nvSpPr>
        <p:spPr>
          <a:xfrm>
            <a:off x="7406640" y="3922776"/>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Three Rivers, TX</a:t>
            </a:r>
            <a:endParaRPr lang="en-US" sz="1350" dirty="0"/>
          </a:p>
        </p:txBody>
      </p:sp>
      <p:sp>
        <p:nvSpPr>
          <p:cNvPr id="16" name="Text 13"/>
          <p:cNvSpPr txBox="1"/>
          <p:nvPr/>
        </p:nvSpPr>
        <p:spPr>
          <a:xfrm>
            <a:off x="7406640" y="4178808"/>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100-H-1, 100-H-2, H-1102, H-1105, 440-H1</a:t>
            </a:r>
            <a:endParaRPr lang="en-US" sz="1150" dirty="0"/>
          </a:p>
        </p:txBody>
      </p:sp>
      <p:sp>
        <p:nvSpPr>
          <p:cNvPr id="17" name="Shape 14"/>
          <p:cNvSpPr/>
          <p:nvPr/>
        </p:nvSpPr>
        <p:spPr>
          <a:xfrm>
            <a:off x="7223760" y="4562856"/>
            <a:ext cx="54864" cy="475488"/>
          </a:xfrm>
          <a:prstGeom prst="rect">
            <a:avLst/>
          </a:prstGeom>
          <a:solidFill>
            <a:srgbClr val="FCC30A"/>
          </a:solidFill>
          <a:ln w="12700">
            <a:solidFill>
              <a:srgbClr val="FCC30A"/>
            </a:solidFill>
            <a:prstDash val="solid"/>
          </a:ln>
        </p:spPr>
      </p:sp>
      <p:sp>
        <p:nvSpPr>
          <p:cNvPr id="18" name="Text 15"/>
          <p:cNvSpPr txBox="1"/>
          <p:nvPr/>
        </p:nvSpPr>
        <p:spPr>
          <a:xfrm>
            <a:off x="7406640" y="4544568"/>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Meraux, LA</a:t>
            </a:r>
            <a:endParaRPr lang="en-US" sz="1350" dirty="0"/>
          </a:p>
        </p:txBody>
      </p:sp>
      <p:sp>
        <p:nvSpPr>
          <p:cNvPr id="19" name="Text 16"/>
          <p:cNvSpPr txBox="1"/>
          <p:nvPr/>
        </p:nvSpPr>
        <p:spPr>
          <a:xfrm>
            <a:off x="7406640" y="4800600"/>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VU-H-001, VU-H-002</a:t>
            </a:r>
            <a:endParaRPr lang="en-US" sz="1150" dirty="0"/>
          </a:p>
        </p:txBody>
      </p:sp>
      <p:sp>
        <p:nvSpPr>
          <p:cNvPr id="20" name="Shape 17"/>
          <p:cNvSpPr/>
          <p:nvPr/>
        </p:nvSpPr>
        <p:spPr>
          <a:xfrm>
            <a:off x="7223760" y="5184648"/>
            <a:ext cx="54864" cy="475488"/>
          </a:xfrm>
          <a:prstGeom prst="rect">
            <a:avLst/>
          </a:prstGeom>
          <a:solidFill>
            <a:srgbClr val="FCC30A"/>
          </a:solidFill>
          <a:ln w="12700">
            <a:solidFill>
              <a:srgbClr val="FCC30A"/>
            </a:solidFill>
            <a:prstDash val="solid"/>
          </a:ln>
        </p:spPr>
      </p:sp>
      <p:sp>
        <p:nvSpPr>
          <p:cNvPr id="21" name="Text 18"/>
          <p:cNvSpPr txBox="1"/>
          <p:nvPr/>
        </p:nvSpPr>
        <p:spPr>
          <a:xfrm>
            <a:off x="7406640" y="5166360"/>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Wilmington, CA</a:t>
            </a:r>
            <a:endParaRPr lang="en-US" sz="1350" dirty="0"/>
          </a:p>
        </p:txBody>
      </p:sp>
      <p:sp>
        <p:nvSpPr>
          <p:cNvPr id="22" name="Text 19"/>
          <p:cNvSpPr txBox="1"/>
          <p:nvPr/>
        </p:nvSpPr>
        <p:spPr>
          <a:xfrm>
            <a:off x="7406640" y="5422392"/>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20H200, 20H2000, 31H3000</a:t>
            </a:r>
            <a:endParaRPr lang="en-US" sz="1150" dirty="0"/>
          </a:p>
        </p:txBody>
      </p:sp>
      <p:sp>
        <p:nvSpPr>
          <p:cNvPr id="23" name="Text 20"/>
          <p:cNvSpPr txBox="1"/>
          <p:nvPr/>
        </p:nvSpPr>
        <p:spPr>
          <a:xfrm>
            <a:off x="7223760" y="5897880"/>
            <a:ext cx="4434840" cy="274320"/>
          </a:xfrm>
          <a:prstGeom prst="rect">
            <a:avLst/>
          </a:prstGeom>
          <a:noFill/>
          <a:ln/>
        </p:spPr>
        <p:txBody>
          <a:bodyPr wrap="square" lIns="0" tIns="0" rIns="0" bIns="0" rtlCol="0" anchor="ctr"/>
          <a:lstStyle/>
          <a:p>
            <a:pPr indent="0" marL="0">
              <a:buNone/>
            </a:pPr>
            <a:r>
              <a:rPr lang="en-US" sz="1150" i="1" dirty="0">
                <a:solidFill>
                  <a:srgbClr val="FCC30A"/>
                </a:solidFill>
                <a:latin typeface="Arial" pitchFamily="34" charset="0"/>
                <a:ea typeface="Arial" pitchFamily="34" charset="-122"/>
                <a:cs typeface="Arial" pitchFamily="34" charset="-120"/>
              </a:rPr>
              <a:t>Coker, vacuum, crude charge and reboiler service</a:t>
            </a:r>
            <a:endParaRPr lang="en-US" sz="1150" dirty="0"/>
          </a:p>
        </p:txBody>
      </p:sp>
      <p:sp>
        <p:nvSpPr>
          <p:cNvPr id="24" name="Text 2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5" name="Text 2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Valero case study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Valero Port Arthur, TX: H-102A &amp; H-102B</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Vacuum heaters, March–April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2 heaters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18,496'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434</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pigs run</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Both 8-pass vacuum heaters pigged in triple mode, with filtration and smart pig inspection of every pass.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Every pass signed clean and cleared by smart pig before rig-out. A mid-job TriMax swap rigged in within 2 hours, with no break in pigging.</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Pass 6B: coke ring found by smart pig</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Mixed-diameter vacuum pass, 3" to 8"</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0.25"</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thick coke ring</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24 h</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dedicated pigging</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188 psi</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flow-test reduction</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Inspection found a circumferential coke ring at the inlet of a 5" tube, just before the step-up to 8".</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On mixed-diameter passes, stage pigs for every diameter and plan time at each step-up before the inspection run.</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road.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C:\Users\Jwuts\obsidian-work\02-facilities\Valero\Texas-City-TX\pigging-capabilities-presentation\build/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C:\Users\Jwuts\obsidian-work\02-facilities\Valero\Texas-City-TX\pigging-capabilities-presentation\build/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7" name="Text 2"/>
          <p:cNvSpPr txBox="1"/>
          <p:nvPr/>
        </p:nvSpPr>
        <p:spPr>
          <a:xfrm>
            <a:off x="548640" y="841248"/>
            <a:ext cx="82296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Why USA DeBusk for Texas City</a:t>
            </a:r>
            <a:endParaRPr lang="en-US" sz="3200" dirty="0"/>
          </a:p>
        </p:txBody>
      </p:sp>
      <p:sp>
        <p:nvSpPr>
          <p:cNvPr id="8" name="Shape 3"/>
          <p:cNvSpPr/>
          <p:nvPr/>
        </p:nvSpPr>
        <p:spPr>
          <a:xfrm>
            <a:off x="548640" y="1920240"/>
            <a:ext cx="502920" cy="502920"/>
          </a:xfrm>
          <a:prstGeom prst="ellipse">
            <a:avLst/>
          </a:prstGeom>
          <a:solidFill>
            <a:srgbClr val="FCC30A"/>
          </a:solidFill>
          <a:ln w="12700">
            <a:solidFill>
              <a:srgbClr val="FCC30A"/>
            </a:solidFill>
            <a:prstDash val="solid"/>
          </a:ln>
        </p:spPr>
      </p:sp>
      <p:pic>
        <p:nvPicPr>
          <p:cNvPr id="9" name="Image 3" descr="preencoded.png">    </p:cNvPr>
          <p:cNvPicPr>
            <a:picLocks noChangeAspect="1"/>
          </p:cNvPicPr>
          <p:nvPr/>
        </p:nvPicPr>
        <p:blipFill>
          <a:blip r:embed="rId4"/>
          <a:stretch>
            <a:fillRect/>
          </a:stretch>
        </p:blipFill>
        <p:spPr>
          <a:xfrm>
            <a:off x="674370" y="2045970"/>
            <a:ext cx="251460" cy="251460"/>
          </a:xfrm>
          <a:prstGeom prst="rect">
            <a:avLst/>
          </a:prstGeom>
        </p:spPr>
      </p:pic>
      <p:sp>
        <p:nvSpPr>
          <p:cNvPr id="10" name="Text 4"/>
          <p:cNvSpPr txBox="1"/>
          <p:nvPr/>
        </p:nvSpPr>
        <p:spPr>
          <a:xfrm>
            <a:off x="1234440" y="1874520"/>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at Valero</a:t>
            </a:r>
            <a:endParaRPr lang="en-US" sz="1800" dirty="0"/>
          </a:p>
        </p:txBody>
      </p:sp>
      <p:sp>
        <p:nvSpPr>
          <p:cNvPr id="11" name="Text 5"/>
          <p:cNvSpPr txBox="1"/>
          <p:nvPr/>
        </p:nvSpPr>
        <p:spPr>
          <a:xfrm>
            <a:off x="1234440" y="2203704"/>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14 heaters at 5 Valero refineries, your coker heater among them</a:t>
            </a:r>
            <a:endParaRPr lang="en-US" sz="1300" dirty="0"/>
          </a:p>
        </p:txBody>
      </p:sp>
      <p:sp>
        <p:nvSpPr>
          <p:cNvPr id="12" name="Shape 6"/>
          <p:cNvSpPr/>
          <p:nvPr/>
        </p:nvSpPr>
        <p:spPr>
          <a:xfrm>
            <a:off x="548640" y="2761488"/>
            <a:ext cx="502920" cy="502920"/>
          </a:xfrm>
          <a:prstGeom prst="ellipse">
            <a:avLst/>
          </a:prstGeom>
          <a:solidFill>
            <a:srgbClr val="FCC30A"/>
          </a:solidFill>
          <a:ln w="12700">
            <a:solidFill>
              <a:srgbClr val="FCC30A"/>
            </a:solidFill>
            <a:prstDash val="solid"/>
          </a:ln>
        </p:spPr>
      </p:sp>
      <p:pic>
        <p:nvPicPr>
          <p:cNvPr id="13" name="Image 4" descr="preencoded.png">    </p:cNvPr>
          <p:cNvPicPr>
            <a:picLocks noChangeAspect="1"/>
          </p:cNvPicPr>
          <p:nvPr/>
        </p:nvPicPr>
        <p:blipFill>
          <a:blip r:embed="rId5"/>
          <a:stretch>
            <a:fillRect/>
          </a:stretch>
        </p:blipFill>
        <p:spPr>
          <a:xfrm>
            <a:off x="674370" y="2887218"/>
            <a:ext cx="251460" cy="251460"/>
          </a:xfrm>
          <a:prstGeom prst="rect">
            <a:avLst/>
          </a:prstGeom>
        </p:spPr>
      </p:pic>
      <p:sp>
        <p:nvSpPr>
          <p:cNvPr id="14" name="Text 7"/>
          <p:cNvSpPr txBox="1"/>
          <p:nvPr/>
        </p:nvSpPr>
        <p:spPr>
          <a:xfrm>
            <a:off x="1234440" y="2715768"/>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Close by</a:t>
            </a:r>
            <a:endParaRPr lang="en-US" sz="1800" dirty="0"/>
          </a:p>
        </p:txBody>
      </p:sp>
      <p:sp>
        <p:nvSpPr>
          <p:cNvPr id="15" name="Text 8"/>
          <p:cNvSpPr txBox="1"/>
          <p:nvPr/>
        </p:nvSpPr>
        <p:spPr>
          <a:xfrm>
            <a:off x="1234440" y="3044952"/>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Fleet based in Deer Park, a short drive from Texas City</a:t>
            </a:r>
            <a:endParaRPr lang="en-US" sz="1300" dirty="0"/>
          </a:p>
        </p:txBody>
      </p:sp>
      <p:sp>
        <p:nvSpPr>
          <p:cNvPr id="16" name="Shape 9"/>
          <p:cNvSpPr/>
          <p:nvPr/>
        </p:nvSpPr>
        <p:spPr>
          <a:xfrm>
            <a:off x="548640" y="3602736"/>
            <a:ext cx="502920" cy="502920"/>
          </a:xfrm>
          <a:prstGeom prst="ellipse">
            <a:avLst/>
          </a:prstGeom>
          <a:solidFill>
            <a:srgbClr val="FCC30A"/>
          </a:solidFill>
          <a:ln w="12700">
            <a:solidFill>
              <a:srgbClr val="FCC30A"/>
            </a:solidFill>
            <a:prstDash val="solid"/>
          </a:ln>
        </p:spPr>
      </p:sp>
      <p:pic>
        <p:nvPicPr>
          <p:cNvPr id="17" name="Image 5" descr="preencoded.png">    </p:cNvPr>
          <p:cNvPicPr>
            <a:picLocks noChangeAspect="1"/>
          </p:cNvPicPr>
          <p:nvPr/>
        </p:nvPicPr>
        <p:blipFill>
          <a:blip r:embed="rId6"/>
          <a:stretch>
            <a:fillRect/>
          </a:stretch>
        </p:blipFill>
        <p:spPr>
          <a:xfrm>
            <a:off x="674370" y="3728466"/>
            <a:ext cx="251460" cy="251460"/>
          </a:xfrm>
          <a:prstGeom prst="rect">
            <a:avLst/>
          </a:prstGeom>
        </p:spPr>
      </p:pic>
      <p:sp>
        <p:nvSpPr>
          <p:cNvPr id="18" name="Text 10"/>
          <p:cNvSpPr txBox="1"/>
          <p:nvPr/>
        </p:nvSpPr>
        <p:spPr>
          <a:xfrm>
            <a:off x="1234440" y="3557016"/>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9" name="Text 11"/>
          <p:cNvSpPr txBox="1"/>
          <p:nvPr/>
        </p:nvSpPr>
        <p:spPr>
          <a:xfrm>
            <a:off x="1234440" y="3886200"/>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Triple-pass TriMax: a spare pump on every 2-pass heater</a:t>
            </a:r>
            <a:endParaRPr lang="en-US" sz="1300" dirty="0"/>
          </a:p>
        </p:txBody>
      </p:sp>
      <p:sp>
        <p:nvSpPr>
          <p:cNvPr id="20" name="Shape 12"/>
          <p:cNvSpPr/>
          <p:nvPr/>
        </p:nvSpPr>
        <p:spPr>
          <a:xfrm>
            <a:off x="548640" y="4443984"/>
            <a:ext cx="502920" cy="502920"/>
          </a:xfrm>
          <a:prstGeom prst="ellipse">
            <a:avLst/>
          </a:prstGeom>
          <a:solidFill>
            <a:srgbClr val="FCC30A"/>
          </a:solidFill>
          <a:ln w="12700">
            <a:solidFill>
              <a:srgbClr val="FCC30A"/>
            </a:solidFill>
            <a:prstDash val="solid"/>
          </a:ln>
        </p:spPr>
      </p:sp>
      <p:pic>
        <p:nvPicPr>
          <p:cNvPr id="21" name="Image 6" descr="preencoded.png">    </p:cNvPr>
          <p:cNvPicPr>
            <a:picLocks noChangeAspect="1"/>
          </p:cNvPicPr>
          <p:nvPr/>
        </p:nvPicPr>
        <p:blipFill>
          <a:blip r:embed="rId7"/>
          <a:stretch>
            <a:fillRect/>
          </a:stretch>
        </p:blipFill>
        <p:spPr>
          <a:xfrm>
            <a:off x="674370" y="4569714"/>
            <a:ext cx="251460" cy="251460"/>
          </a:xfrm>
          <a:prstGeom prst="rect">
            <a:avLst/>
          </a:prstGeom>
        </p:spPr>
      </p:pic>
      <p:sp>
        <p:nvSpPr>
          <p:cNvPr id="22" name="Text 13"/>
          <p:cNvSpPr txBox="1"/>
          <p:nvPr/>
        </p:nvSpPr>
        <p:spPr>
          <a:xfrm>
            <a:off x="1234440" y="4398264"/>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3" name="Text 14"/>
          <p:cNvSpPr txBox="1"/>
          <p:nvPr/>
        </p:nvSpPr>
        <p:spPr>
          <a:xfrm>
            <a:off x="1234440" y="4727448"/>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4-point verification and joint sign-off on every pass</a:t>
            </a:r>
            <a:endParaRPr lang="en-US" sz="1300" dirty="0"/>
          </a:p>
        </p:txBody>
      </p:sp>
      <p:sp>
        <p:nvSpPr>
          <p:cNvPr id="24" name="Shape 15"/>
          <p:cNvSpPr/>
          <p:nvPr/>
        </p:nvSpPr>
        <p:spPr>
          <a:xfrm>
            <a:off x="548640" y="5285232"/>
            <a:ext cx="502920" cy="502920"/>
          </a:xfrm>
          <a:prstGeom prst="ellipse">
            <a:avLst/>
          </a:prstGeom>
          <a:solidFill>
            <a:srgbClr val="FCC30A"/>
          </a:solidFill>
          <a:ln w="12700">
            <a:solidFill>
              <a:srgbClr val="FCC30A"/>
            </a:solidFill>
            <a:prstDash val="solid"/>
          </a:ln>
        </p:spPr>
      </p:sp>
      <p:pic>
        <p:nvPicPr>
          <p:cNvPr id="25" name="Image 7" descr="preencoded.png">    </p:cNvPr>
          <p:cNvPicPr>
            <a:picLocks noChangeAspect="1"/>
          </p:cNvPicPr>
          <p:nvPr/>
        </p:nvPicPr>
        <p:blipFill>
          <a:blip r:embed="rId8"/>
          <a:stretch>
            <a:fillRect/>
          </a:stretch>
        </p:blipFill>
        <p:spPr>
          <a:xfrm>
            <a:off x="674370" y="5410962"/>
            <a:ext cx="251460" cy="251460"/>
          </a:xfrm>
          <a:prstGeom prst="rect">
            <a:avLst/>
          </a:prstGeom>
        </p:spPr>
      </p:pic>
      <p:sp>
        <p:nvSpPr>
          <p:cNvPr id="26" name="Text 16"/>
          <p:cNvSpPr txBox="1"/>
          <p:nvPr/>
        </p:nvSpPr>
        <p:spPr>
          <a:xfrm>
            <a:off x="1234440" y="5239512"/>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7" name="Text 17"/>
          <p:cNvSpPr txBox="1"/>
          <p:nvPr/>
        </p:nvSpPr>
        <p:spPr>
          <a:xfrm>
            <a:off x="1234440" y="5568696"/>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EMR 0.48, ISNetworld A, zero fatalities in 3 years</a:t>
            </a:r>
            <a:endParaRPr lang="en-US" sz="1300" dirty="0"/>
          </a:p>
        </p:txBody>
      </p:sp>
      <p:sp>
        <p:nvSpPr>
          <p:cNvPr id="28" name="Text 1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9" name="Text 1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547208" y="3931920"/>
            <a:ext cx="1097280" cy="54864"/>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logo_white.png">    </p:cNvPr>
          <p:cNvPicPr>
            <a:picLocks noChangeAspect="1"/>
          </p:cNvPicPr>
          <p:nvPr/>
        </p:nvPicPr>
        <p:blipFill>
          <a:blip r:embed="rId1"/>
          <a:stretch>
            <a:fillRect/>
          </a:stretch>
        </p:blipFill>
        <p:spPr>
          <a:xfrm>
            <a:off x="4267048" y="1463040"/>
            <a:ext cx="3657600" cy="548097"/>
          </a:xfrm>
          <a:prstGeom prst="rect">
            <a:avLst/>
          </a:prstGeom>
        </p:spPr>
      </p:pic>
      <p:sp>
        <p:nvSpPr>
          <p:cNvPr id="4" name="Text 1"/>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2"/>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3"/>
          <p:cNvSpPr txBox="1"/>
          <p:nvPr/>
        </p:nvSpPr>
        <p:spPr>
          <a:xfrm>
            <a:off x="548640" y="4846320"/>
            <a:ext cx="11091672" cy="45720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Valero Texas City — Heater Pigging &amp; Decoking Services</dc:title>
  <dc:subject>PptxGenJS Presentation</dc:subject>
  <dc:creator>USA DeBusk</dc:creator>
  <cp:lastModifiedBy>USA DeBusk</cp:lastModifiedBy>
  <cp:revision>1</cp:revision>
  <dcterms:created xsi:type="dcterms:W3CDTF">2026-10-14T02:48:27Z</dcterms:created>
  <dcterms:modified xsi:type="dcterms:W3CDTF">2026-10-14T02:48:27Z</dcterms:modified>
</cp:coreProperties>
</file>