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Texas City team for the time. Introduce yourself (Jason Harman, Commercial Manager) and anyone attending with you.
Frame: "We're not new to Texas City: we've pigged your coker heater before. This is an overview of how we pig and decoke fired heaters, what we bring to site, and what we've done across the Valero system. About 30 minutes, then questions."
The photo is TriMax 6, one of the six identical units we'd bring to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Walk the agenda quickly: how we clean a heater, how we run the job, what we bring, how you know it's clean, safety, and our Valero track record.
Transition: "First, the services we offer a site like Texas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What we do, in one slide. We mechanically pig and decoke fired heater coils: cokers, crude and vacuum heaters, and charge and process heaters. The method is the same across all of them; what changes is the coke, the coil geometry and the metallurgy, and we plan each heater around those.
Smart pig support: we clean coils to the standard an inspection tool needs, and the TriMax's spare pump can drive the inspection pig, so the inspection doesn't need its own pumping equipment.
We work planned turnarounds and run-length decokes, and we mobilize on short notice when a heater has to come down. Closed-loop filtration is available as an option; we'll cover it in the equipment section.
Transition: "Here's how we clean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Valero witnesses the final gauge foam and signs off per pass (detail on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heater gets a pig progression plan before we mobilize; these are two examples of how it's built.
The ceiling is fixed by our sizing rule: smallest tube ID plus a quarter inch. On a 4" Sch 80 coil the ID is 3.826", so the maximum is 4.076". Where a pass changes diameter, as on many vacuum heaters, the smallest ID governs the whole pass: a pass running 3" to 8" is capped by its 2.900" tubes. Tube condition can set a lower practical ceiling, and when it does, we stop there.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We don't show up and figure out the heater on site. Every heater is planned from its drawings first.
Geometry: footage and tube IDs per pass, and where the diameter changes, set the pig progression and the duration estimate.
Metallurgy: on stainless and chrome coils we verify water quality before fill and keep galvanized hardware off the tubes.
Connections: we confirm the coil flange size and rating and match the spools and adapters to our 300# launchers and receivers before we arrive.
Bends: 180° returns, plug headers and mule ears set pig length and flexibility, not just diameter.
Access: inlet and outlet elevations get walked down so the rig layout is set before rig-in.
Service: a coker, a crude heater and a vacuum heater foul differently, and that decides which pigs we stage from day one.
If Texas City shares drawings for a heater, we'll build its plan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decoke follows the same sequence.
Plan: the heater's drawings set the pig progression, the rig layout and the duration estimate before we arrive.
Rig-in: launchers and receivers connected, filled and pressure tested before anything launches.
Pig: "in conjunction" means passes are pigged at the same time, each on its own pump and operator station, so elapsed time is one pass's time, not the sum. A TriMax runs up to three passes at once; on a heater with fewer passes, the spare pump keeps the job running if a pump goes down.
Rig-over: on heaters with more passes than pumps, we move to the next set. Larger heaters or multi-heater jobs get more than one TriMax.
Verify and rig-out: each pass is signed off with Valero, then the equipment comes out and the job book is delivered.
We run 24/7 on 12-hour day and night shifts until the heater is handed back. Duration depends on footage and on how hard and thick the deposits are, and we quote each heater from its own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standard single-rig job gets this package: one TriMax, one support unit carrying fittings, tooling and spares, two crew trucks. Bigger heaters get more rigs and more crew.
Crew: day shift is a supervisor and two operators; night shift is a supervisor and an operator; a project manager owns the job and the daily updates.
Readiness: turnover has run about 5% over the last 12 months. We hold onto people with competitive pay, ongoing training and certification, career paths, and dedicated core crews per site. For Texas City that means the same faces on your heaters job after job.
Every technician is USA DeBusk-certified, selected by heater-type experience, with training verified before mobilization. Our personnel training documents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Marshall Douglas, Director of Pigging Operations, 26 years. I'm Jason Harman, Commercial Manager, 22 years, and I'm your commercial point of contact. Travis Trenholm, Pigging Operations Manager, 15 years, runs the field operation.
Under Travis: a bench of project managers, our equipment manager and a senior field tech, led in experience by Danilo Ramirez at 33 years. On every job one project manager is the single point of contact for the work flow and daily updates to Valero.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Against a dual unit the triple raises productivity by about 50%, and on a two-pass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Final, the same engine on every pump in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Valero: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We ran it for Valero at Port Arthur.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Valero's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Valero rep to watch the final gauge foam run. It's line size or slightly over and soft enough to mark, groove or deform on any remaining coke. Valero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Valero. Flow tests before and after at the same rate give an objective comparison.
Close-out: per-pass sign-off, final pig size recorded for each pass, the job book, and a post-job review. That record is what makes the next decoke on the same heater faster.
The full QA/QC manual is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Emergency response.
Our operating base is Deer Park. Every TriMax stages there when it isn't on a job, so Texas City is about as close to our equipment as a refinery gets.
Support is 24/7: dispatch and the account manager can be reached at any hour, with on-call supervisors and crews for nights, weekends and holidays.
Response is same day for Texas City when a unit is in the yard. If the fleet is committed, we'll tell you straight away when the next unit frees up.
The crew that has worked your heaters before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Our Experience Modification Rate: 0.95 in 2024, 0.62 in 2025, 0.48 in 2026, roughly half the industry baseline and down 49% in two years. Active in ISNetworld with an A grade. No fatalities in the last three years. OSHA 300 logs are available on request.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Valero's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our safety manual and SSHASP,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crews, so one contractor covers the full scope without subs.
Fleet: we run the largest triple-pass pigging fleet in the world, and it's standardized: six identical TriMax units, 18 engines. The TriMax runs up to three passes at once; on a 2-pass heater that third pump is an on-board spare, so a pump failure doesn't stop the job, and it can also drive a smart pig. We also offer closed-loop filtration and smart-pig support, so Valero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Every return visit to a heater starts from that record, and Valero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Texas City isn't new to us: we've pigged your coker heater before. Across Valero, that's 14 heaters at five refineries.
Port Arthur: the H-102A and H-102B vacuum heaters, which are the case study on the next slide, plus F-2000. Three Rivers: the 100-H-1 and 100-H-2 crude charge heaters, the H-1102 preflash reboiler, H-1105 and 440-H1. Meraux: both vacuum unit heaters. And on the West Coast, Wilmington's 20H200 and 20H2000 vacuum heaters and the 31H3000 coker feed heater.
That covers coker, vacuum, crude charge and reboiler service. Reference contacts at any of these sites are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Valero job from this year: the H-102A and H-102B vacuum heaters at Port Arthur, March into April 2026.
Two 8-pass heaters, 16 passes, about 18,500 feet of coil with diameters running from 3" up to 8" in the same pass. Heavy pitch and resid, concentrated in the 3" tubes. We ran in triple mode with filtration, and every pass was smart-pig inspected after cleaning. We went through 434 pigs, mostly in the 3" to 5" range.
Midway through, we swapped one TriMax for another. The new unit was rigged into three passes within two hours and pigging never stopped. That's the standardized fleet paying off.
The lesson is on pass 6B. The smart pig run found a quarter-inch coke ring at the inlet of the last 5" tube, right before the step-up to 8". It took about 24 hours of dedicated pigging to break, and inspection confirmed it clear before rig-out. Pass 6B's flow test came down 188 psi. What we took from it: on mixed-diameter passes, we stage pigs for every diameter and plan time at each step-up, so the inspection run confirms the result instead of finding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"We've already pigged your coker, we know Valero's refineries, our fleet is down the road in Deer Park,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and where the answer lives:
- "How do you handle a plugged pass?" Bi-directional flow and stepwise pig sizing (slides 4–6); planning from drawings (slide 7).
- "How long would our heater take?" Depends on footage, tube IDs and fouling. Offer to build a plan and quote from the heater's drawings.
- "How fast can you get here?" Slide 17: the fleet stages at Deer Park; same day when a unit is in the yard.
- "Have you worked at Valero before?" Slides 21–22: 14 heaters at five Valero refineries, including the Texas City coker heater. Reference contacts on request.
- "Smart pig inspection?" The spare TriMax pump drives the inspection tool; Port Arthur had every pass inspected (slide 22).
- "Filtration?" Optional, priced per the Valero rate sheet.
- "Pump curves / pressure capability?" Slide 12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over_night.jpg">    </p:cNvPr>
          <p:cNvPicPr>
            <a:picLocks noChangeAspect="1"/>
          </p:cNvPicPr>
          <p:nvPr/>
        </p:nvPicPr>
        <p:blipFill>
          <a:blip r:embed="rId1"/>
          <a:stretch>
            <a:fillRect/>
          </a:stretch>
        </p:blipFill>
        <p:spPr>
          <a:xfrm>
            <a:off x="0" y="1187444"/>
            <a:ext cx="12191695" cy="5670556"/>
          </a:xfrm>
          <a:prstGeom prst="rect">
            <a:avLst/>
          </a:prstGeom>
        </p:spPr>
      </p:pic>
      <p:pic>
        <p:nvPicPr>
          <p:cNvPr id="3" name="Image 1" descr="C:\Users\Jwuts\obsidian-work\02-facilities\Valero\Texas-City-TX\pigging-capabilities-presentation\build/img/logo_white.png">    </p:cNvPr>
          <p:cNvPicPr>
            <a:picLocks noChangeAspect="1"/>
          </p:cNvPicPr>
          <p:nvPr/>
        </p:nvPicPr>
        <p:blipFill>
          <a:blip r:embed="rId2"/>
          <a:stretch>
            <a:fillRect/>
          </a:stretch>
        </p:blipFill>
        <p:spPr>
          <a:xfrm>
            <a:off x="640080" y="457200"/>
            <a:ext cx="2560320" cy="383668"/>
          </a:xfrm>
          <a:prstGeom prst="rect">
            <a:avLst/>
          </a:prstGeom>
        </p:spPr>
      </p:pic>
      <p:sp>
        <p:nvSpPr>
          <p:cNvPr id="4" name="Text 0"/>
          <p:cNvSpPr txBox="1"/>
          <p:nvPr/>
        </p:nvSpPr>
        <p:spPr>
          <a:xfrm>
            <a:off x="6858000" y="411480"/>
            <a:ext cx="4782312" cy="548640"/>
          </a:xfrm>
          <a:prstGeom prst="rect">
            <a:avLst/>
          </a:prstGeom>
          <a:noFill/>
          <a:ln/>
        </p:spPr>
        <p:txBody>
          <a:bodyPr wrap="square" lIns="0" tIns="0" rIns="0" bIns="0" rtlCol="0" anchor="t"/>
          <a:lstStyle/>
          <a:p>
            <a:pPr algn="r" indent="0" marL="0">
              <a:spcAft>
                <a:spcPts val="200"/>
              </a:spcAft>
              <a:buNone/>
            </a:pPr>
            <a:r>
              <a:rPr lang="en-US" sz="1200" b="1" dirty="0">
                <a:solidFill>
                  <a:srgbClr val="FFFFFF"/>
                </a:solidFill>
                <a:latin typeface="Arial" pitchFamily="34" charset="0"/>
                <a:ea typeface="Arial" pitchFamily="34" charset="-122"/>
                <a:cs typeface="Arial" pitchFamily="34" charset="-120"/>
              </a:rPr>
              <a:t>Presented by Jason Harman</a:t>
            </a:r>
            <a:endParaRPr lang="en-US" sz="1200" dirty="0"/>
          </a:p>
          <a:p>
            <a:pPr algn="r" indent="0" marL="0">
              <a:spcAft>
                <a:spcPts val="200"/>
              </a:spcAft>
              <a:buNone/>
            </a:pPr>
            <a:r>
              <a:rPr lang="en-US" sz="1200" dirty="0">
                <a:solidFill>
                  <a:srgbClr val="BDBDBD"/>
                </a:solidFill>
                <a:latin typeface="Arial" pitchFamily="34" charset="0"/>
                <a:ea typeface="Arial" pitchFamily="34" charset="-122"/>
                <a:cs typeface="Arial" pitchFamily="34" charset="-120"/>
              </a:rPr>
              <a:t>Commercial Manager  |  October 2026</a:t>
            </a:r>
            <a:endParaRPr lang="en-US" sz="1200" dirty="0"/>
          </a:p>
        </p:txBody>
      </p:sp>
      <p:sp>
        <p:nvSpPr>
          <p:cNvPr id="5" name="Text 1"/>
          <p:cNvSpPr txBox="1"/>
          <p:nvPr/>
        </p:nvSpPr>
        <p:spPr>
          <a:xfrm>
            <a:off x="640080" y="960120"/>
            <a:ext cx="10972800" cy="6858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Heater Pigging &amp; Decoking Services</a:t>
            </a:r>
            <a:endParaRPr lang="en-US" sz="3800" dirty="0"/>
          </a:p>
        </p:txBody>
      </p:sp>
      <p:sp>
        <p:nvSpPr>
          <p:cNvPr id="6" name="Shape 2"/>
          <p:cNvSpPr/>
          <p:nvPr/>
        </p:nvSpPr>
        <p:spPr>
          <a:xfrm>
            <a:off x="640080" y="1755648"/>
            <a:ext cx="822960" cy="54864"/>
          </a:xfrm>
          <a:prstGeom prst="rect">
            <a:avLst/>
          </a:prstGeom>
          <a:solidFill>
            <a:srgbClr val="FCC30A"/>
          </a:solidFill>
          <a:ln w="12700">
            <a:solidFill>
              <a:srgbClr val="FCC30A"/>
            </a:solidFill>
            <a:prstDash val="solid"/>
          </a:ln>
        </p:spPr>
      </p:sp>
      <p:sp>
        <p:nvSpPr>
          <p:cNvPr id="7" name="Text 3"/>
          <p:cNvSpPr txBox="1"/>
          <p:nvPr/>
        </p:nvSpPr>
        <p:spPr>
          <a:xfrm>
            <a:off x="1645920" y="1600200"/>
            <a:ext cx="7315200" cy="365760"/>
          </a:xfrm>
          <a:prstGeom prst="rect">
            <a:avLst/>
          </a:prstGeom>
          <a:noFill/>
          <a:ln/>
        </p:spPr>
        <p:txBody>
          <a:bodyPr wrap="square" lIns="0" tIns="0" rIns="0" bIns="0" rtlCol="0" anchor="ctr"/>
          <a:lstStyle/>
          <a:p>
            <a:pPr indent="0" marL="0">
              <a:buNone/>
            </a:pPr>
            <a:r>
              <a:rPr lang="en-US" sz="1800" b="1" dirty="0">
                <a:solidFill>
                  <a:srgbClr val="FCC30A"/>
                </a:solidFill>
                <a:latin typeface="Arial" pitchFamily="34" charset="0"/>
                <a:ea typeface="Arial" pitchFamily="34" charset="-122"/>
                <a:cs typeface="Arial" pitchFamily="34" charset="-120"/>
              </a:rPr>
              <a:t>Valero Texas City Refinery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CC30A"/>
          </a:solidFill>
          <a:ln w="12700">
            <a:solidFill>
              <a:srgbClr val="FCC30A"/>
            </a:solidFill>
            <a:prstDash val="solid"/>
          </a:ln>
        </p:spPr>
      </p:sp>
      <p:sp>
        <p:nvSpPr>
          <p:cNvPr id="3" name="Text 1"/>
          <p:cNvSpPr txBox="1"/>
          <p:nvPr/>
        </p:nvSpPr>
        <p:spPr>
          <a:xfrm>
            <a:off x="82296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2"/>
          <p:cNvSpPr txBox="1"/>
          <p:nvPr/>
        </p:nvSpPr>
        <p:spPr>
          <a:xfrm>
            <a:off x="82296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Heater pigging &amp; decoking at Texas City</a:t>
            </a:r>
            <a:endParaRPr lang="en-US" sz="1500" dirty="0"/>
          </a:p>
        </p:txBody>
      </p:sp>
      <p:pic>
        <p:nvPicPr>
          <p:cNvPr id="5" name="Image 0" descr="C:\Users\Jwuts\obsidian-work\02-facilities\Valero\Texas-City-TX\pigging-capabilities-presentation\build/img/logo_white.png">    </p:cNvPr>
          <p:cNvPicPr>
            <a:picLocks noChangeAspect="1"/>
          </p:cNvPicPr>
          <p:nvPr/>
        </p:nvPicPr>
        <p:blipFill>
          <a:blip r:embed="rId1"/>
          <a:stretch>
            <a:fillRect/>
          </a:stretch>
        </p:blipFill>
        <p:spPr>
          <a:xfrm>
            <a:off x="9265615" y="685800"/>
            <a:ext cx="2377440" cy="356263"/>
          </a:xfrm>
          <a:prstGeom prst="rect">
            <a:avLst/>
          </a:prstGeom>
        </p:spPr>
      </p:pic>
      <p:sp>
        <p:nvSpPr>
          <p:cNvPr id="6" name="Text 3"/>
          <p:cNvSpPr txBox="1"/>
          <p:nvPr/>
        </p:nvSpPr>
        <p:spPr>
          <a:xfrm>
            <a:off x="8229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01</a:t>
            </a:r>
            <a:endParaRPr lang="en-US" sz="3000" dirty="0"/>
          </a:p>
        </p:txBody>
      </p:sp>
      <p:sp>
        <p:nvSpPr>
          <p:cNvPr id="7" name="Text 4"/>
          <p:cNvSpPr txBox="1"/>
          <p:nvPr/>
        </p:nvSpPr>
        <p:spPr>
          <a:xfrm>
            <a:off x="16916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Pigging &amp; decoking methodology</a:t>
            </a:r>
            <a:endParaRPr lang="en-US" sz="1800" dirty="0"/>
          </a:p>
        </p:txBody>
      </p:sp>
      <p:sp>
        <p:nvSpPr>
          <p:cNvPr id="8" name="Shape 5"/>
          <p:cNvSpPr/>
          <p:nvPr/>
        </p:nvSpPr>
        <p:spPr>
          <a:xfrm>
            <a:off x="822960" y="2761488"/>
            <a:ext cx="4937760" cy="0"/>
          </a:xfrm>
          <a:prstGeom prst="line">
            <a:avLst/>
          </a:prstGeom>
          <a:noFill/>
          <a:ln w="12700">
            <a:solidFill>
              <a:srgbClr val="363636"/>
            </a:solidFill>
            <a:prstDash val="solid"/>
          </a:ln>
        </p:spPr>
      </p:sp>
      <p:sp>
        <p:nvSpPr>
          <p:cNvPr id="9" name="Text 6"/>
          <p:cNvSpPr txBox="1"/>
          <p:nvPr/>
        </p:nvSpPr>
        <p:spPr>
          <a:xfrm>
            <a:off x="8229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02</a:t>
            </a:r>
            <a:endParaRPr lang="en-US" sz="3000" dirty="0"/>
          </a:p>
        </p:txBody>
      </p:sp>
      <p:sp>
        <p:nvSpPr>
          <p:cNvPr id="10" name="Text 7"/>
          <p:cNvSpPr txBox="1"/>
          <p:nvPr/>
        </p:nvSpPr>
        <p:spPr>
          <a:xfrm>
            <a:off x="16916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Execution</a:t>
            </a:r>
            <a:endParaRPr lang="en-US" sz="1800" dirty="0"/>
          </a:p>
        </p:txBody>
      </p:sp>
      <p:sp>
        <p:nvSpPr>
          <p:cNvPr id="11" name="Shape 8"/>
          <p:cNvSpPr/>
          <p:nvPr/>
        </p:nvSpPr>
        <p:spPr>
          <a:xfrm>
            <a:off x="822960" y="3584448"/>
            <a:ext cx="4937760" cy="0"/>
          </a:xfrm>
          <a:prstGeom prst="line">
            <a:avLst/>
          </a:prstGeom>
          <a:noFill/>
          <a:ln w="12700">
            <a:solidFill>
              <a:srgbClr val="363636"/>
            </a:solidFill>
            <a:prstDash val="solid"/>
          </a:ln>
        </p:spPr>
      </p:sp>
      <p:sp>
        <p:nvSpPr>
          <p:cNvPr id="12" name="Text 9"/>
          <p:cNvSpPr txBox="1"/>
          <p:nvPr/>
        </p:nvSpPr>
        <p:spPr>
          <a:xfrm>
            <a:off x="8229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03</a:t>
            </a:r>
            <a:endParaRPr lang="en-US" sz="3000" dirty="0"/>
          </a:p>
        </p:txBody>
      </p:sp>
      <p:sp>
        <p:nvSpPr>
          <p:cNvPr id="13" name="Text 10"/>
          <p:cNvSpPr txBox="1"/>
          <p:nvPr/>
        </p:nvSpPr>
        <p:spPr>
          <a:xfrm>
            <a:off x="16916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Readiness &amp; resources</a:t>
            </a:r>
            <a:endParaRPr lang="en-US" sz="1800" dirty="0"/>
          </a:p>
        </p:txBody>
      </p:sp>
      <p:sp>
        <p:nvSpPr>
          <p:cNvPr id="14" name="Shape 11"/>
          <p:cNvSpPr/>
          <p:nvPr/>
        </p:nvSpPr>
        <p:spPr>
          <a:xfrm>
            <a:off x="822960" y="4407408"/>
            <a:ext cx="4937760" cy="0"/>
          </a:xfrm>
          <a:prstGeom prst="line">
            <a:avLst/>
          </a:prstGeom>
          <a:noFill/>
          <a:ln w="12700">
            <a:solidFill>
              <a:srgbClr val="363636"/>
            </a:solidFill>
            <a:prstDash val="solid"/>
          </a:ln>
        </p:spPr>
      </p:sp>
      <p:sp>
        <p:nvSpPr>
          <p:cNvPr id="15" name="Text 12"/>
          <p:cNvSpPr txBox="1"/>
          <p:nvPr/>
        </p:nvSpPr>
        <p:spPr>
          <a:xfrm>
            <a:off x="8229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04</a:t>
            </a:r>
            <a:endParaRPr lang="en-US" sz="3000" dirty="0"/>
          </a:p>
        </p:txBody>
      </p:sp>
      <p:sp>
        <p:nvSpPr>
          <p:cNvPr id="16" name="Text 13"/>
          <p:cNvSpPr txBox="1"/>
          <p:nvPr/>
        </p:nvSpPr>
        <p:spPr>
          <a:xfrm>
            <a:off x="16916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Equipment &amp; technology</a:t>
            </a:r>
            <a:endParaRPr lang="en-US" sz="1800" dirty="0"/>
          </a:p>
        </p:txBody>
      </p:sp>
      <p:sp>
        <p:nvSpPr>
          <p:cNvPr id="17" name="Shape 14"/>
          <p:cNvSpPr/>
          <p:nvPr/>
        </p:nvSpPr>
        <p:spPr>
          <a:xfrm>
            <a:off x="822960" y="5230368"/>
            <a:ext cx="4937760" cy="0"/>
          </a:xfrm>
          <a:prstGeom prst="line">
            <a:avLst/>
          </a:prstGeom>
          <a:noFill/>
          <a:ln w="12700">
            <a:solidFill>
              <a:srgbClr val="363636"/>
            </a:solidFill>
            <a:prstDash val="solid"/>
          </a:ln>
        </p:spPr>
      </p:sp>
      <p:sp>
        <p:nvSpPr>
          <p:cNvPr id="18" name="Text 15"/>
          <p:cNvSpPr txBox="1"/>
          <p:nvPr/>
        </p:nvSpPr>
        <p:spPr>
          <a:xfrm>
            <a:off x="8229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05</a:t>
            </a:r>
            <a:endParaRPr lang="en-US" sz="3000" dirty="0"/>
          </a:p>
        </p:txBody>
      </p:sp>
      <p:sp>
        <p:nvSpPr>
          <p:cNvPr id="19" name="Text 16"/>
          <p:cNvSpPr txBox="1"/>
          <p:nvPr/>
        </p:nvSpPr>
        <p:spPr>
          <a:xfrm>
            <a:off x="16916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Cleanliness verification &amp; QA/QC</a:t>
            </a:r>
            <a:endParaRPr lang="en-US" sz="1800" dirty="0"/>
          </a:p>
        </p:txBody>
      </p:sp>
      <p:sp>
        <p:nvSpPr>
          <p:cNvPr id="20" name="Shape 17"/>
          <p:cNvSpPr/>
          <p:nvPr/>
        </p:nvSpPr>
        <p:spPr>
          <a:xfrm>
            <a:off x="822960" y="6053328"/>
            <a:ext cx="4937760" cy="0"/>
          </a:xfrm>
          <a:prstGeom prst="line">
            <a:avLst/>
          </a:prstGeom>
          <a:noFill/>
          <a:ln w="12700">
            <a:solidFill>
              <a:srgbClr val="363636"/>
            </a:solidFill>
            <a:prstDash val="solid"/>
          </a:ln>
        </p:spPr>
      </p:sp>
      <p:sp>
        <p:nvSpPr>
          <p:cNvPr id="21" name="Text 18"/>
          <p:cNvSpPr txBox="1"/>
          <p:nvPr/>
        </p:nvSpPr>
        <p:spPr>
          <a:xfrm>
            <a:off x="6309360" y="210312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06</a:t>
            </a:r>
            <a:endParaRPr lang="en-US" sz="3000" dirty="0"/>
          </a:p>
        </p:txBody>
      </p:sp>
      <p:sp>
        <p:nvSpPr>
          <p:cNvPr id="22" name="Text 19"/>
          <p:cNvSpPr txBox="1"/>
          <p:nvPr/>
        </p:nvSpPr>
        <p:spPr>
          <a:xfrm>
            <a:off x="7178040" y="210312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Emergency response</a:t>
            </a:r>
            <a:endParaRPr lang="en-US" sz="1800" dirty="0"/>
          </a:p>
        </p:txBody>
      </p:sp>
      <p:sp>
        <p:nvSpPr>
          <p:cNvPr id="23" name="Shape 20"/>
          <p:cNvSpPr/>
          <p:nvPr/>
        </p:nvSpPr>
        <p:spPr>
          <a:xfrm>
            <a:off x="6309360" y="2761488"/>
            <a:ext cx="4937760" cy="0"/>
          </a:xfrm>
          <a:prstGeom prst="line">
            <a:avLst/>
          </a:prstGeom>
          <a:noFill/>
          <a:ln w="12700">
            <a:solidFill>
              <a:srgbClr val="363636"/>
            </a:solidFill>
            <a:prstDash val="solid"/>
          </a:ln>
        </p:spPr>
      </p:sp>
      <p:sp>
        <p:nvSpPr>
          <p:cNvPr id="24" name="Text 21"/>
          <p:cNvSpPr txBox="1"/>
          <p:nvPr/>
        </p:nvSpPr>
        <p:spPr>
          <a:xfrm>
            <a:off x="6309360" y="292608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07</a:t>
            </a:r>
            <a:endParaRPr lang="en-US" sz="3000" dirty="0"/>
          </a:p>
        </p:txBody>
      </p:sp>
      <p:sp>
        <p:nvSpPr>
          <p:cNvPr id="25" name="Text 22"/>
          <p:cNvSpPr txBox="1"/>
          <p:nvPr/>
        </p:nvSpPr>
        <p:spPr>
          <a:xfrm>
            <a:off x="7178040" y="292608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Safety &amp; risk mitigation</a:t>
            </a:r>
            <a:endParaRPr lang="en-US" sz="1800" dirty="0"/>
          </a:p>
        </p:txBody>
      </p:sp>
      <p:sp>
        <p:nvSpPr>
          <p:cNvPr id="26" name="Shape 23"/>
          <p:cNvSpPr/>
          <p:nvPr/>
        </p:nvSpPr>
        <p:spPr>
          <a:xfrm>
            <a:off x="6309360" y="3584448"/>
            <a:ext cx="4937760" cy="0"/>
          </a:xfrm>
          <a:prstGeom prst="line">
            <a:avLst/>
          </a:prstGeom>
          <a:noFill/>
          <a:ln w="12700">
            <a:solidFill>
              <a:srgbClr val="363636"/>
            </a:solidFill>
            <a:prstDash val="solid"/>
          </a:ln>
        </p:spPr>
      </p:sp>
      <p:sp>
        <p:nvSpPr>
          <p:cNvPr id="27" name="Text 24"/>
          <p:cNvSpPr txBox="1"/>
          <p:nvPr/>
        </p:nvSpPr>
        <p:spPr>
          <a:xfrm>
            <a:off x="6309360" y="374904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08</a:t>
            </a:r>
            <a:endParaRPr lang="en-US" sz="3000" dirty="0"/>
          </a:p>
        </p:txBody>
      </p:sp>
      <p:sp>
        <p:nvSpPr>
          <p:cNvPr id="28" name="Text 25"/>
          <p:cNvSpPr txBox="1"/>
          <p:nvPr/>
        </p:nvSpPr>
        <p:spPr>
          <a:xfrm>
            <a:off x="7178040" y="374904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Capabilities</a:t>
            </a:r>
            <a:endParaRPr lang="en-US" sz="1800" dirty="0"/>
          </a:p>
        </p:txBody>
      </p:sp>
      <p:sp>
        <p:nvSpPr>
          <p:cNvPr id="29" name="Shape 26"/>
          <p:cNvSpPr/>
          <p:nvPr/>
        </p:nvSpPr>
        <p:spPr>
          <a:xfrm>
            <a:off x="6309360" y="4407408"/>
            <a:ext cx="4937760" cy="0"/>
          </a:xfrm>
          <a:prstGeom prst="line">
            <a:avLst/>
          </a:prstGeom>
          <a:noFill/>
          <a:ln w="12700">
            <a:solidFill>
              <a:srgbClr val="363636"/>
            </a:solidFill>
            <a:prstDash val="solid"/>
          </a:ln>
        </p:spPr>
      </p:sp>
      <p:sp>
        <p:nvSpPr>
          <p:cNvPr id="30" name="Text 27"/>
          <p:cNvSpPr txBox="1"/>
          <p:nvPr/>
        </p:nvSpPr>
        <p:spPr>
          <a:xfrm>
            <a:off x="6309360" y="457200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09</a:t>
            </a:r>
            <a:endParaRPr lang="en-US" sz="3000" dirty="0"/>
          </a:p>
        </p:txBody>
      </p:sp>
      <p:sp>
        <p:nvSpPr>
          <p:cNvPr id="31" name="Text 28"/>
          <p:cNvSpPr txBox="1"/>
          <p:nvPr/>
        </p:nvSpPr>
        <p:spPr>
          <a:xfrm>
            <a:off x="7178040" y="457200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Valero references &amp; case study</a:t>
            </a:r>
            <a:endParaRPr lang="en-US" sz="1800" dirty="0"/>
          </a:p>
        </p:txBody>
      </p:sp>
      <p:sp>
        <p:nvSpPr>
          <p:cNvPr id="32" name="Shape 29"/>
          <p:cNvSpPr/>
          <p:nvPr/>
        </p:nvSpPr>
        <p:spPr>
          <a:xfrm>
            <a:off x="6309360" y="5230368"/>
            <a:ext cx="4937760" cy="0"/>
          </a:xfrm>
          <a:prstGeom prst="line">
            <a:avLst/>
          </a:prstGeom>
          <a:noFill/>
          <a:ln w="12700">
            <a:solidFill>
              <a:srgbClr val="363636"/>
            </a:solidFill>
            <a:prstDash val="solid"/>
          </a:ln>
        </p:spPr>
      </p:sp>
      <p:sp>
        <p:nvSpPr>
          <p:cNvPr id="33" name="Text 30"/>
          <p:cNvSpPr txBox="1"/>
          <p:nvPr/>
        </p:nvSpPr>
        <p:spPr>
          <a:xfrm>
            <a:off x="6309360" y="5394960"/>
            <a:ext cx="7772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a:t>
            </a:r>
            <a:endParaRPr lang="en-US" sz="3000" dirty="0"/>
          </a:p>
        </p:txBody>
      </p:sp>
      <p:sp>
        <p:nvSpPr>
          <p:cNvPr id="34" name="Text 31"/>
          <p:cNvSpPr txBox="1"/>
          <p:nvPr/>
        </p:nvSpPr>
        <p:spPr>
          <a:xfrm>
            <a:off x="7178040" y="5394960"/>
            <a:ext cx="4206240" cy="54864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Why USA DeBusk</a:t>
            </a:r>
            <a:endParaRPr lang="en-US" sz="1800" dirty="0"/>
          </a:p>
        </p:txBody>
      </p:sp>
      <p:sp>
        <p:nvSpPr>
          <p:cNvPr id="35" name="Shape 32"/>
          <p:cNvSpPr/>
          <p:nvPr/>
        </p:nvSpPr>
        <p:spPr>
          <a:xfrm>
            <a:off x="6309360" y="6053328"/>
            <a:ext cx="4937760" cy="0"/>
          </a:xfrm>
          <a:prstGeom prst="line">
            <a:avLst/>
          </a:prstGeom>
          <a:noFill/>
          <a:ln w="12700">
            <a:solidFill>
              <a:srgbClr val="363636"/>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ervices_heater.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192511"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19251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SERVICES</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services for Texas City</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Mechanical decoking of fired heater coils, planned or on short notice</a:t>
            </a:r>
            <a:endParaRPr lang="en-US" sz="1500" dirty="0"/>
          </a:p>
        </p:txBody>
      </p:sp>
      <p:sp>
        <p:nvSpPr>
          <p:cNvPr id="7" name="Shape 4"/>
          <p:cNvSpPr/>
          <p:nvPr/>
        </p:nvSpPr>
        <p:spPr>
          <a:xfrm>
            <a:off x="548640" y="2103120"/>
            <a:ext cx="3730752" cy="1325880"/>
          </a:xfrm>
          <a:prstGeom prst="rect">
            <a:avLst/>
          </a:prstGeom>
          <a:solidFill>
            <a:srgbClr val="F4F4F4"/>
          </a:solidFill>
          <a:ln w="12700">
            <a:solidFill>
              <a:srgbClr val="F4F4F4"/>
            </a:solidFill>
            <a:prstDash val="solid"/>
          </a:ln>
        </p:spPr>
      </p:sp>
      <p:sp>
        <p:nvSpPr>
          <p:cNvPr id="8" name="Shape 5"/>
          <p:cNvSpPr/>
          <p:nvPr/>
        </p:nvSpPr>
        <p:spPr>
          <a:xfrm>
            <a:off x="777240" y="2359152"/>
            <a:ext cx="566928" cy="566928"/>
          </a:xfrm>
          <a:prstGeom prst="ellipse">
            <a:avLst/>
          </a:prstGeom>
          <a:solidFill>
            <a:srgbClr val="1E1E1E"/>
          </a:solidFill>
          <a:ln w="12700">
            <a:solidFill>
              <a:srgbClr val="1E1E1E"/>
            </a:solidFill>
            <a:prstDash val="solid"/>
          </a:ln>
        </p:spPr>
      </p:sp>
      <p:pic>
        <p:nvPicPr>
          <p:cNvPr id="9" name="Image 1" descr="preencoded.png">    </p:cNvPr>
          <p:cNvPicPr>
            <a:picLocks noChangeAspect="1"/>
          </p:cNvPicPr>
          <p:nvPr/>
        </p:nvPicPr>
        <p:blipFill>
          <a:blip r:embed="rId2"/>
          <a:stretch>
            <a:fillRect/>
          </a:stretch>
        </p:blipFill>
        <p:spPr>
          <a:xfrm>
            <a:off x="918972" y="2500884"/>
            <a:ext cx="283464" cy="283464"/>
          </a:xfrm>
          <a:prstGeom prst="rect">
            <a:avLst/>
          </a:prstGeom>
        </p:spPr>
      </p:pic>
      <p:sp>
        <p:nvSpPr>
          <p:cNvPr id="10" name="Text 6"/>
          <p:cNvSpPr txBox="1"/>
          <p:nvPr/>
        </p:nvSpPr>
        <p:spPr>
          <a:xfrm>
            <a:off x="15087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Coker heaters</a:t>
            </a:r>
            <a:endParaRPr lang="en-US" sz="1550" dirty="0"/>
          </a:p>
        </p:txBody>
      </p:sp>
      <p:sp>
        <p:nvSpPr>
          <p:cNvPr id="11" name="Text 7"/>
          <p:cNvSpPr txBox="1"/>
          <p:nvPr/>
        </p:nvSpPr>
        <p:spPr>
          <a:xfrm>
            <a:off x="15087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Hard coke in radiant and convection coils, on run-length or turnaround cycles</a:t>
            </a:r>
            <a:endParaRPr lang="en-US" sz="1150" dirty="0"/>
          </a:p>
        </p:txBody>
      </p:sp>
      <p:sp>
        <p:nvSpPr>
          <p:cNvPr id="12" name="Shape 8"/>
          <p:cNvSpPr/>
          <p:nvPr/>
        </p:nvSpPr>
        <p:spPr>
          <a:xfrm>
            <a:off x="4434840" y="2103120"/>
            <a:ext cx="3730752" cy="1325880"/>
          </a:xfrm>
          <a:prstGeom prst="rect">
            <a:avLst/>
          </a:prstGeom>
          <a:solidFill>
            <a:srgbClr val="F4F4F4"/>
          </a:solidFill>
          <a:ln w="12700">
            <a:solidFill>
              <a:srgbClr val="F4F4F4"/>
            </a:solidFill>
            <a:prstDash val="solid"/>
          </a:ln>
        </p:spPr>
      </p:sp>
      <p:sp>
        <p:nvSpPr>
          <p:cNvPr id="13" name="Shape 9"/>
          <p:cNvSpPr/>
          <p:nvPr/>
        </p:nvSpPr>
        <p:spPr>
          <a:xfrm>
            <a:off x="4663440" y="2359152"/>
            <a:ext cx="566928" cy="566928"/>
          </a:xfrm>
          <a:prstGeom prst="ellipse">
            <a:avLst/>
          </a:prstGeom>
          <a:solidFill>
            <a:srgbClr val="1E1E1E"/>
          </a:solidFill>
          <a:ln w="12700">
            <a:solidFill>
              <a:srgbClr val="1E1E1E"/>
            </a:solidFill>
            <a:prstDash val="solid"/>
          </a:ln>
        </p:spPr>
      </p:sp>
      <p:pic>
        <p:nvPicPr>
          <p:cNvPr id="14" name="Image 2" descr="preencoded.png">    </p:cNvPr>
          <p:cNvPicPr>
            <a:picLocks noChangeAspect="1"/>
          </p:cNvPicPr>
          <p:nvPr/>
        </p:nvPicPr>
        <p:blipFill>
          <a:blip r:embed="rId3"/>
          <a:stretch>
            <a:fillRect/>
          </a:stretch>
        </p:blipFill>
        <p:spPr>
          <a:xfrm>
            <a:off x="4805172" y="2500884"/>
            <a:ext cx="283464" cy="283464"/>
          </a:xfrm>
          <a:prstGeom prst="rect">
            <a:avLst/>
          </a:prstGeom>
        </p:spPr>
      </p:pic>
      <p:sp>
        <p:nvSpPr>
          <p:cNvPr id="15" name="Text 10"/>
          <p:cNvSpPr txBox="1"/>
          <p:nvPr/>
        </p:nvSpPr>
        <p:spPr>
          <a:xfrm>
            <a:off x="5394960" y="228600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Crude &amp; vacuum heaters</a:t>
            </a:r>
            <a:endParaRPr lang="en-US" sz="1550" dirty="0"/>
          </a:p>
        </p:txBody>
      </p:sp>
      <p:sp>
        <p:nvSpPr>
          <p:cNvPr id="16" name="Text 11"/>
          <p:cNvSpPr txBox="1"/>
          <p:nvPr/>
        </p:nvSpPr>
        <p:spPr>
          <a:xfrm>
            <a:off x="5394960" y="267004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Pitch, resid and coke across mixed-diameter passes</a:t>
            </a:r>
            <a:endParaRPr lang="en-US" sz="1150" dirty="0"/>
          </a:p>
        </p:txBody>
      </p:sp>
      <p:sp>
        <p:nvSpPr>
          <p:cNvPr id="17" name="Shape 12"/>
          <p:cNvSpPr/>
          <p:nvPr/>
        </p:nvSpPr>
        <p:spPr>
          <a:xfrm>
            <a:off x="548640" y="3566160"/>
            <a:ext cx="3730752" cy="1325880"/>
          </a:xfrm>
          <a:prstGeom prst="rect">
            <a:avLst/>
          </a:prstGeom>
          <a:solidFill>
            <a:srgbClr val="F4F4F4"/>
          </a:solidFill>
          <a:ln w="12700">
            <a:solidFill>
              <a:srgbClr val="F4F4F4"/>
            </a:solidFill>
            <a:prstDash val="solid"/>
          </a:ln>
        </p:spPr>
      </p:sp>
      <p:sp>
        <p:nvSpPr>
          <p:cNvPr id="18" name="Shape 13"/>
          <p:cNvSpPr/>
          <p:nvPr/>
        </p:nvSpPr>
        <p:spPr>
          <a:xfrm>
            <a:off x="777240" y="3822192"/>
            <a:ext cx="566928" cy="566928"/>
          </a:xfrm>
          <a:prstGeom prst="ellipse">
            <a:avLst/>
          </a:prstGeom>
          <a:solidFill>
            <a:srgbClr val="1E1E1E"/>
          </a:solidFill>
          <a:ln w="12700">
            <a:solidFill>
              <a:srgbClr val="1E1E1E"/>
            </a:solidFill>
            <a:prstDash val="solid"/>
          </a:ln>
        </p:spPr>
      </p:sp>
      <p:pic>
        <p:nvPicPr>
          <p:cNvPr id="19" name="Image 3" descr="preencoded.png">    </p:cNvPr>
          <p:cNvPicPr>
            <a:picLocks noChangeAspect="1"/>
          </p:cNvPicPr>
          <p:nvPr/>
        </p:nvPicPr>
        <p:blipFill>
          <a:blip r:embed="rId4"/>
          <a:stretch>
            <a:fillRect/>
          </a:stretch>
        </p:blipFill>
        <p:spPr>
          <a:xfrm>
            <a:off x="918972" y="3963924"/>
            <a:ext cx="283464" cy="283464"/>
          </a:xfrm>
          <a:prstGeom prst="rect">
            <a:avLst/>
          </a:prstGeom>
        </p:spPr>
      </p:pic>
      <p:sp>
        <p:nvSpPr>
          <p:cNvPr id="20" name="Text 14"/>
          <p:cNvSpPr txBox="1"/>
          <p:nvPr/>
        </p:nvSpPr>
        <p:spPr>
          <a:xfrm>
            <a:off x="15087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Charge &amp; process heaters</a:t>
            </a:r>
            <a:endParaRPr lang="en-US" sz="1550" dirty="0"/>
          </a:p>
        </p:txBody>
      </p:sp>
      <p:sp>
        <p:nvSpPr>
          <p:cNvPr id="21" name="Text 15"/>
          <p:cNvSpPr txBox="1"/>
          <p:nvPr/>
        </p:nvSpPr>
        <p:spPr>
          <a:xfrm>
            <a:off x="15087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Process heater coils cleaned and verified ahead of restart or inspection</a:t>
            </a:r>
            <a:endParaRPr lang="en-US" sz="1150" dirty="0"/>
          </a:p>
        </p:txBody>
      </p:sp>
      <p:sp>
        <p:nvSpPr>
          <p:cNvPr id="22" name="Shape 16"/>
          <p:cNvSpPr/>
          <p:nvPr/>
        </p:nvSpPr>
        <p:spPr>
          <a:xfrm>
            <a:off x="4434840" y="3566160"/>
            <a:ext cx="3730752" cy="1325880"/>
          </a:xfrm>
          <a:prstGeom prst="rect">
            <a:avLst/>
          </a:prstGeom>
          <a:solidFill>
            <a:srgbClr val="F4F4F4"/>
          </a:solidFill>
          <a:ln w="12700">
            <a:solidFill>
              <a:srgbClr val="F4F4F4"/>
            </a:solidFill>
            <a:prstDash val="solid"/>
          </a:ln>
        </p:spPr>
      </p:sp>
      <p:sp>
        <p:nvSpPr>
          <p:cNvPr id="23" name="Shape 17"/>
          <p:cNvSpPr/>
          <p:nvPr/>
        </p:nvSpPr>
        <p:spPr>
          <a:xfrm>
            <a:off x="4663440" y="3822192"/>
            <a:ext cx="566928" cy="566928"/>
          </a:xfrm>
          <a:prstGeom prst="ellipse">
            <a:avLst/>
          </a:prstGeom>
          <a:solidFill>
            <a:srgbClr val="1E1E1E"/>
          </a:solidFill>
          <a:ln w="12700">
            <a:solidFill>
              <a:srgbClr val="1E1E1E"/>
            </a:solidFill>
            <a:prstDash val="solid"/>
          </a:ln>
        </p:spPr>
      </p:sp>
      <p:pic>
        <p:nvPicPr>
          <p:cNvPr id="24" name="Image 4" descr="preencoded.png">    </p:cNvPr>
          <p:cNvPicPr>
            <a:picLocks noChangeAspect="1"/>
          </p:cNvPicPr>
          <p:nvPr/>
        </p:nvPicPr>
        <p:blipFill>
          <a:blip r:embed="rId5"/>
          <a:stretch>
            <a:fillRect/>
          </a:stretch>
        </p:blipFill>
        <p:spPr>
          <a:xfrm>
            <a:off x="4805172" y="3963924"/>
            <a:ext cx="283464" cy="283464"/>
          </a:xfrm>
          <a:prstGeom prst="rect">
            <a:avLst/>
          </a:prstGeom>
        </p:spPr>
      </p:pic>
      <p:sp>
        <p:nvSpPr>
          <p:cNvPr id="25" name="Text 18"/>
          <p:cNvSpPr txBox="1"/>
          <p:nvPr/>
        </p:nvSpPr>
        <p:spPr>
          <a:xfrm>
            <a:off x="5394960" y="3749040"/>
            <a:ext cx="265176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Smart pig support</a:t>
            </a:r>
            <a:endParaRPr lang="en-US" sz="1550" dirty="0"/>
          </a:p>
        </p:txBody>
      </p:sp>
      <p:sp>
        <p:nvSpPr>
          <p:cNvPr id="26" name="Text 19"/>
          <p:cNvSpPr txBox="1"/>
          <p:nvPr/>
        </p:nvSpPr>
        <p:spPr>
          <a:xfrm>
            <a:off x="5394960" y="4133088"/>
            <a:ext cx="265176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Coils cleaned to inspection standard; spare TriMax pump drives the inspection tool</a:t>
            </a:r>
            <a:endParaRPr lang="en-US" sz="1150" dirty="0"/>
          </a:p>
        </p:txBody>
      </p:sp>
      <p:sp>
        <p:nvSpPr>
          <p:cNvPr id="27" name="Shape 20"/>
          <p:cNvSpPr/>
          <p:nvPr/>
        </p:nvSpPr>
        <p:spPr>
          <a:xfrm>
            <a:off x="548640" y="5166360"/>
            <a:ext cx="2432304" cy="1051560"/>
          </a:xfrm>
          <a:prstGeom prst="rect">
            <a:avLst/>
          </a:prstGeom>
          <a:solidFill>
            <a:srgbClr val="1E1E1E"/>
          </a:solidFill>
          <a:ln w="12700">
            <a:solidFill>
              <a:srgbClr val="1E1E1E"/>
            </a:solidFill>
            <a:prstDash val="solid"/>
          </a:ln>
        </p:spPr>
      </p:sp>
      <p:sp>
        <p:nvSpPr>
          <p:cNvPr id="28" name="Text 21"/>
          <p:cNvSpPr txBox="1"/>
          <p:nvPr/>
        </p:nvSpPr>
        <p:spPr>
          <a:xfrm>
            <a:off x="731520"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Planned</a:t>
            </a:r>
            <a:endParaRPr lang="en-US" sz="2000" dirty="0"/>
          </a:p>
        </p:txBody>
      </p:sp>
      <p:sp>
        <p:nvSpPr>
          <p:cNvPr id="29" name="Text 22"/>
          <p:cNvSpPr txBox="1"/>
          <p:nvPr/>
        </p:nvSpPr>
        <p:spPr>
          <a:xfrm>
            <a:off x="731520"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turnarounds &amp; run-length decokes</a:t>
            </a:r>
            <a:endParaRPr lang="en-US" sz="1100" dirty="0"/>
          </a:p>
        </p:txBody>
      </p:sp>
      <p:sp>
        <p:nvSpPr>
          <p:cNvPr id="30" name="Shape 23"/>
          <p:cNvSpPr/>
          <p:nvPr/>
        </p:nvSpPr>
        <p:spPr>
          <a:xfrm>
            <a:off x="3136392" y="5166360"/>
            <a:ext cx="2432304" cy="1051560"/>
          </a:xfrm>
          <a:prstGeom prst="rect">
            <a:avLst/>
          </a:prstGeom>
          <a:solidFill>
            <a:srgbClr val="1E1E1E"/>
          </a:solidFill>
          <a:ln w="12700">
            <a:solidFill>
              <a:srgbClr val="1E1E1E"/>
            </a:solidFill>
            <a:prstDash val="solid"/>
          </a:ln>
        </p:spPr>
      </p:sp>
      <p:sp>
        <p:nvSpPr>
          <p:cNvPr id="31" name="Text 24"/>
          <p:cNvSpPr txBox="1"/>
          <p:nvPr/>
        </p:nvSpPr>
        <p:spPr>
          <a:xfrm>
            <a:off x="3319272"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Short notice</a:t>
            </a:r>
            <a:endParaRPr lang="en-US" sz="2000" dirty="0"/>
          </a:p>
        </p:txBody>
      </p:sp>
      <p:sp>
        <p:nvSpPr>
          <p:cNvPr id="32" name="Text 25"/>
          <p:cNvSpPr txBox="1"/>
          <p:nvPr/>
        </p:nvSpPr>
        <p:spPr>
          <a:xfrm>
            <a:off x="3319272"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emergency mobilization</a:t>
            </a:r>
            <a:endParaRPr lang="en-US" sz="1100" dirty="0"/>
          </a:p>
        </p:txBody>
      </p:sp>
      <p:sp>
        <p:nvSpPr>
          <p:cNvPr id="33" name="Shape 26"/>
          <p:cNvSpPr/>
          <p:nvPr/>
        </p:nvSpPr>
        <p:spPr>
          <a:xfrm>
            <a:off x="5724144" y="5166360"/>
            <a:ext cx="2432304" cy="1051560"/>
          </a:xfrm>
          <a:prstGeom prst="rect">
            <a:avLst/>
          </a:prstGeom>
          <a:solidFill>
            <a:srgbClr val="1E1E1E"/>
          </a:solidFill>
          <a:ln w="12700">
            <a:solidFill>
              <a:srgbClr val="1E1E1E"/>
            </a:solidFill>
            <a:prstDash val="solid"/>
          </a:ln>
        </p:spPr>
      </p:sp>
      <p:sp>
        <p:nvSpPr>
          <p:cNvPr id="34" name="Text 27"/>
          <p:cNvSpPr txBox="1"/>
          <p:nvPr/>
        </p:nvSpPr>
        <p:spPr>
          <a:xfrm>
            <a:off x="5907024" y="5257800"/>
            <a:ext cx="2103120" cy="45720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Optional</a:t>
            </a:r>
            <a:endParaRPr lang="en-US" sz="2000" dirty="0"/>
          </a:p>
        </p:txBody>
      </p:sp>
      <p:sp>
        <p:nvSpPr>
          <p:cNvPr id="35" name="Text 28"/>
          <p:cNvSpPr txBox="1"/>
          <p:nvPr/>
        </p:nvSpPr>
        <p:spPr>
          <a:xfrm>
            <a:off x="5907024" y="5715000"/>
            <a:ext cx="2103120" cy="4114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closed-loop filtration</a:t>
            </a:r>
            <a:endParaRPr lang="en-US" sz="1100" dirty="0"/>
          </a:p>
        </p:txBody>
      </p:sp>
      <p:sp>
        <p:nvSpPr>
          <p:cNvPr id="36"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58023" y="2194560"/>
            <a:ext cx="3730752" cy="1858528"/>
          </a:xfrm>
          <a:prstGeom prst="rect">
            <a:avLst/>
          </a:prstGeom>
          <a:solidFill>
            <a:srgbClr val="FFFFFF"/>
          </a:solidFill>
          <a:ln w="12700">
            <a:solidFill>
              <a:srgbClr val="DDDDDD"/>
            </a:solidFill>
            <a:prstDash val="solid"/>
          </a:ln>
        </p:spPr>
      </p:sp>
      <p:pic>
        <p:nvPicPr>
          <p:cNvPr id="3" name="Image 0" descr="C:\Users\Jwuts\obsidian-work\02-facilities\Valero\Texas-City-TX\pigging-capabilities-presentation\build/img/pigs_lineup.jpg">    </p:cNvPr>
          <p:cNvPicPr>
            <a:picLocks noChangeAspect="1"/>
          </p:cNvPicPr>
          <p:nvPr/>
        </p:nvPicPr>
        <p:blipFill>
          <a:blip r:embed="rId1"/>
          <a:stretch>
            <a:fillRect/>
          </a:stretch>
        </p:blipFill>
        <p:spPr>
          <a:xfrm>
            <a:off x="8003743" y="2240280"/>
            <a:ext cx="3639312" cy="1767088"/>
          </a:xfrm>
          <a:prstGeom prst="rect">
            <a:avLst/>
          </a:prstGeom>
        </p:spPr>
      </p:pic>
      <p:sp>
        <p:nvSpPr>
          <p:cNvPr id="4" name="Text 1"/>
          <p:cNvSpPr txBox="1"/>
          <p:nvPr/>
        </p:nvSpPr>
        <p:spPr>
          <a:xfrm>
            <a:off x="8003743" y="4144528"/>
            <a:ext cx="3639312" cy="457200"/>
          </a:xfrm>
          <a:prstGeom prst="rect">
            <a:avLst/>
          </a:prstGeom>
          <a:noFill/>
          <a:ln/>
        </p:spPr>
        <p:txBody>
          <a:bodyPr wrap="square" lIns="0" tIns="0" rIns="0" bIns="0" rtlCol="0" anchor="t"/>
          <a:lstStyle/>
          <a:p>
            <a:pPr algn="ctr" indent="0" marL="0">
              <a:buNone/>
            </a:pPr>
            <a:r>
              <a:rPr lang="en-US" sz="1050" i="1" dirty="0">
                <a:solidFill>
                  <a:srgbClr val="5E5E5E"/>
                </a:solidFill>
                <a:latin typeface="Arial" pitchFamily="34" charset="0"/>
                <a:ea typeface="Arial" pitchFamily="34" charset="-122"/>
                <a:cs typeface="Arial" pitchFamily="34" charset="-120"/>
              </a:rPr>
              <a:t>Scraper pigs after runs: wear marks show where coke remains</a:t>
            </a:r>
            <a:endParaRPr lang="en-US" sz="1050" dirty="0"/>
          </a:p>
        </p:txBody>
      </p:sp>
      <p:sp>
        <p:nvSpPr>
          <p:cNvPr id="5" name="Shape 2"/>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7" name="Text 4"/>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8" name="Text 5"/>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9" name="Shape 6"/>
          <p:cNvSpPr/>
          <p:nvPr/>
        </p:nvSpPr>
        <p:spPr>
          <a:xfrm>
            <a:off x="795528" y="2350008"/>
            <a:ext cx="0" cy="3337560"/>
          </a:xfrm>
          <a:prstGeom prst="line">
            <a:avLst/>
          </a:prstGeom>
          <a:noFill/>
          <a:ln w="25400">
            <a:solidFill>
              <a:srgbClr val="DDDDDD"/>
            </a:solidFill>
            <a:prstDash val="solid"/>
          </a:ln>
        </p:spPr>
      </p:sp>
      <p:sp>
        <p:nvSpPr>
          <p:cNvPr id="10" name="Shape 7"/>
          <p:cNvSpPr/>
          <p:nvPr/>
        </p:nvSpPr>
        <p:spPr>
          <a:xfrm>
            <a:off x="548640" y="2103120"/>
            <a:ext cx="493776" cy="493776"/>
          </a:xfrm>
          <a:prstGeom prst="ellipse">
            <a:avLst/>
          </a:prstGeom>
          <a:solidFill>
            <a:srgbClr val="1E1E1E"/>
          </a:solidFill>
          <a:ln w="25400">
            <a:solidFill>
              <a:srgbClr val="FFFFFF"/>
            </a:solidFill>
            <a:prstDash val="solid"/>
          </a:ln>
        </p:spPr>
      </p:sp>
      <p:sp>
        <p:nvSpPr>
          <p:cNvPr id="11" name="Text 8"/>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2" name="Text 9"/>
          <p:cNvSpPr txBox="1"/>
          <p:nvPr/>
        </p:nvSpPr>
        <p:spPr>
          <a:xfrm>
            <a:off x="1280160" y="208483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3" name="Text 10"/>
          <p:cNvSpPr txBox="1"/>
          <p:nvPr/>
        </p:nvSpPr>
        <p:spPr>
          <a:xfrm>
            <a:off x="1280160" y="235915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4" name="Shape 11"/>
          <p:cNvSpPr/>
          <p:nvPr/>
        </p:nvSpPr>
        <p:spPr>
          <a:xfrm>
            <a:off x="548640" y="2770632"/>
            <a:ext cx="493776" cy="493776"/>
          </a:xfrm>
          <a:prstGeom prst="ellipse">
            <a:avLst/>
          </a:prstGeom>
          <a:solidFill>
            <a:srgbClr val="1E1E1E"/>
          </a:solidFill>
          <a:ln w="25400">
            <a:solidFill>
              <a:srgbClr val="FFFFFF"/>
            </a:solidFill>
            <a:prstDash val="solid"/>
          </a:ln>
        </p:spPr>
      </p:sp>
      <p:sp>
        <p:nvSpPr>
          <p:cNvPr id="15" name="Text 12"/>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1280160" y="2752344"/>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7" name="Text 14"/>
          <p:cNvSpPr txBox="1"/>
          <p:nvPr/>
        </p:nvSpPr>
        <p:spPr>
          <a:xfrm>
            <a:off x="1280160" y="3026664"/>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8" name="Shape 15"/>
          <p:cNvSpPr/>
          <p:nvPr/>
        </p:nvSpPr>
        <p:spPr>
          <a:xfrm>
            <a:off x="548640" y="3438144"/>
            <a:ext cx="493776" cy="493776"/>
          </a:xfrm>
          <a:prstGeom prst="ellipse">
            <a:avLst/>
          </a:prstGeom>
          <a:solidFill>
            <a:srgbClr val="1E1E1E"/>
          </a:solidFill>
          <a:ln w="25400">
            <a:solidFill>
              <a:srgbClr val="FFFFFF"/>
            </a:solidFill>
            <a:prstDash val="solid"/>
          </a:ln>
        </p:spPr>
      </p:sp>
      <p:sp>
        <p:nvSpPr>
          <p:cNvPr id="19" name="Text 16"/>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1280160" y="3419856"/>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21" name="Text 18"/>
          <p:cNvSpPr txBox="1"/>
          <p:nvPr/>
        </p:nvSpPr>
        <p:spPr>
          <a:xfrm>
            <a:off x="1280160" y="3694176"/>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2" name="Shape 19"/>
          <p:cNvSpPr/>
          <p:nvPr/>
        </p:nvSpPr>
        <p:spPr>
          <a:xfrm>
            <a:off x="548640" y="4105656"/>
            <a:ext cx="493776" cy="493776"/>
          </a:xfrm>
          <a:prstGeom prst="ellipse">
            <a:avLst/>
          </a:prstGeom>
          <a:solidFill>
            <a:srgbClr val="1E1E1E"/>
          </a:solidFill>
          <a:ln w="25400">
            <a:solidFill>
              <a:srgbClr val="FFFFFF"/>
            </a:solidFill>
            <a:prstDash val="solid"/>
          </a:ln>
        </p:spPr>
      </p:sp>
      <p:sp>
        <p:nvSpPr>
          <p:cNvPr id="23" name="Text 20"/>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4" name="Text 21"/>
          <p:cNvSpPr txBox="1"/>
          <p:nvPr/>
        </p:nvSpPr>
        <p:spPr>
          <a:xfrm>
            <a:off x="1280160" y="4087368"/>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5" name="Text 22"/>
          <p:cNvSpPr txBox="1"/>
          <p:nvPr/>
        </p:nvSpPr>
        <p:spPr>
          <a:xfrm>
            <a:off x="1280160" y="4361688"/>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6" name="Shape 23"/>
          <p:cNvSpPr/>
          <p:nvPr/>
        </p:nvSpPr>
        <p:spPr>
          <a:xfrm>
            <a:off x="548640" y="4773168"/>
            <a:ext cx="493776" cy="493776"/>
          </a:xfrm>
          <a:prstGeom prst="ellipse">
            <a:avLst/>
          </a:prstGeom>
          <a:solidFill>
            <a:srgbClr val="1E1E1E"/>
          </a:solidFill>
          <a:ln w="25400">
            <a:solidFill>
              <a:srgbClr val="FFFFFF"/>
            </a:solidFill>
            <a:prstDash val="solid"/>
          </a:ln>
        </p:spPr>
      </p:sp>
      <p:sp>
        <p:nvSpPr>
          <p:cNvPr id="27" name="Text 24"/>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1280160" y="4754880"/>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9" name="Text 26"/>
          <p:cNvSpPr txBox="1"/>
          <p:nvPr/>
        </p:nvSpPr>
        <p:spPr>
          <a:xfrm>
            <a:off x="1280160" y="5029200"/>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30" name="Shape 27"/>
          <p:cNvSpPr/>
          <p:nvPr/>
        </p:nvSpPr>
        <p:spPr>
          <a:xfrm>
            <a:off x="548640" y="5440680"/>
            <a:ext cx="493776" cy="493776"/>
          </a:xfrm>
          <a:prstGeom prst="ellipse">
            <a:avLst/>
          </a:prstGeom>
          <a:solidFill>
            <a:srgbClr val="FCC30A"/>
          </a:solidFill>
          <a:ln w="25400">
            <a:solidFill>
              <a:srgbClr val="FFFFFF"/>
            </a:solidFill>
            <a:prstDash val="solid"/>
          </a:ln>
        </p:spPr>
      </p:sp>
      <p:sp>
        <p:nvSpPr>
          <p:cNvPr id="31" name="Text 28"/>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2" name="Text 29"/>
          <p:cNvSpPr txBox="1"/>
          <p:nvPr/>
        </p:nvSpPr>
        <p:spPr>
          <a:xfrm>
            <a:off x="1280160" y="5422392"/>
            <a:ext cx="640080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3" name="Text 30"/>
          <p:cNvSpPr txBox="1"/>
          <p:nvPr/>
        </p:nvSpPr>
        <p:spPr>
          <a:xfrm>
            <a:off x="1280160" y="5696712"/>
            <a:ext cx="640080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Valero, final flow test, pass signed clean</a:t>
            </a:r>
            <a:endParaRPr lang="en-US" sz="1250" dirty="0"/>
          </a:p>
        </p:txBody>
      </p:sp>
      <p:sp>
        <p:nvSpPr>
          <p:cNvPr id="34"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5"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gauge foam run sets the starting size; the smallest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4" Sch 80 coil</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3.826"</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Example: mixed-diameter pass, 3" to 8"</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Smallest ID 2.900" governs the whole pass</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2.900"</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3.150"</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Body, durometer and studding chosen for the coil, the coke and the metallurgy</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Coil-specific controls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heater is planned from its drawings before we mobilize</a:t>
            </a:r>
            <a:endParaRPr lang="en-US" sz="1500" dirty="0"/>
          </a:p>
        </p:txBody>
      </p:sp>
      <p:sp>
        <p:nvSpPr>
          <p:cNvPr id="6" name="Shape 4"/>
          <p:cNvSpPr/>
          <p:nvPr/>
        </p:nvSpPr>
        <p:spPr>
          <a:xfrm>
            <a:off x="54864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04672" y="2359152"/>
            <a:ext cx="603504" cy="603504"/>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55548" y="2510028"/>
            <a:ext cx="301752" cy="301752"/>
          </a:xfrm>
          <a:prstGeom prst="rect">
            <a:avLst/>
          </a:prstGeom>
        </p:spPr>
      </p:pic>
      <p:sp>
        <p:nvSpPr>
          <p:cNvPr id="9" name="Text 6"/>
          <p:cNvSpPr txBox="1"/>
          <p:nvPr/>
        </p:nvSpPr>
        <p:spPr>
          <a:xfrm>
            <a:off x="155448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Tube geometry</a:t>
            </a:r>
            <a:endParaRPr lang="en-US" sz="1600" dirty="0"/>
          </a:p>
        </p:txBody>
      </p:sp>
      <p:sp>
        <p:nvSpPr>
          <p:cNvPr id="10" name="Text 7"/>
          <p:cNvSpPr txBox="1"/>
          <p:nvPr/>
        </p:nvSpPr>
        <p:spPr>
          <a:xfrm>
            <a:off x="80467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Footage, tube IDs and diameter changes per pass set the pig progression and the duration</a:t>
            </a:r>
            <a:endParaRPr lang="en-US" sz="1200" dirty="0"/>
          </a:p>
        </p:txBody>
      </p:sp>
      <p:sp>
        <p:nvSpPr>
          <p:cNvPr id="11" name="Shape 8"/>
          <p:cNvSpPr/>
          <p:nvPr/>
        </p:nvSpPr>
        <p:spPr>
          <a:xfrm>
            <a:off x="429768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53712" y="2359152"/>
            <a:ext cx="603504" cy="603504"/>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04588" y="2510028"/>
            <a:ext cx="301752" cy="301752"/>
          </a:xfrm>
          <a:prstGeom prst="rect">
            <a:avLst/>
          </a:prstGeom>
        </p:spPr>
      </p:pic>
      <p:sp>
        <p:nvSpPr>
          <p:cNvPr id="14" name="Text 10"/>
          <p:cNvSpPr txBox="1"/>
          <p:nvPr/>
        </p:nvSpPr>
        <p:spPr>
          <a:xfrm>
            <a:off x="530352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Metallurgy</a:t>
            </a:r>
            <a:endParaRPr lang="en-US" sz="1600" dirty="0"/>
          </a:p>
        </p:txBody>
      </p:sp>
      <p:sp>
        <p:nvSpPr>
          <p:cNvPr id="15" name="Text 11"/>
          <p:cNvSpPr txBox="1"/>
          <p:nvPr/>
        </p:nvSpPr>
        <p:spPr>
          <a:xfrm>
            <a:off x="455371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Stainless and chrome coils: water quality verified before fill, no galvanized contact with tubes</a:t>
            </a:r>
            <a:endParaRPr lang="en-US" sz="1200" dirty="0"/>
          </a:p>
        </p:txBody>
      </p:sp>
      <p:sp>
        <p:nvSpPr>
          <p:cNvPr id="16" name="Shape 12"/>
          <p:cNvSpPr/>
          <p:nvPr/>
        </p:nvSpPr>
        <p:spPr>
          <a:xfrm>
            <a:off x="8046720" y="21031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02752" y="2359152"/>
            <a:ext cx="603504" cy="603504"/>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53628" y="2510028"/>
            <a:ext cx="301752" cy="301752"/>
          </a:xfrm>
          <a:prstGeom prst="rect">
            <a:avLst/>
          </a:prstGeom>
        </p:spPr>
      </p:pic>
      <p:sp>
        <p:nvSpPr>
          <p:cNvPr id="19" name="Text 14"/>
          <p:cNvSpPr txBox="1"/>
          <p:nvPr/>
        </p:nvSpPr>
        <p:spPr>
          <a:xfrm>
            <a:off x="9052560" y="23774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Connections</a:t>
            </a:r>
            <a:endParaRPr lang="en-US" sz="1600" dirty="0"/>
          </a:p>
        </p:txBody>
      </p:sp>
      <p:sp>
        <p:nvSpPr>
          <p:cNvPr id="20" name="Text 15"/>
          <p:cNvSpPr txBox="1"/>
          <p:nvPr/>
        </p:nvSpPr>
        <p:spPr>
          <a:xfrm>
            <a:off x="8302752" y="30906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Coil flange size and rating confirmed; spools and adapters matched to our 300# launchers and receivers</a:t>
            </a:r>
            <a:endParaRPr lang="en-US" sz="1200" dirty="0"/>
          </a:p>
        </p:txBody>
      </p:sp>
      <p:sp>
        <p:nvSpPr>
          <p:cNvPr id="21" name="Shape 16"/>
          <p:cNvSpPr/>
          <p:nvPr/>
        </p:nvSpPr>
        <p:spPr>
          <a:xfrm>
            <a:off x="54864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2" name="Shape 17"/>
          <p:cNvSpPr/>
          <p:nvPr/>
        </p:nvSpPr>
        <p:spPr>
          <a:xfrm>
            <a:off x="804672" y="4416552"/>
            <a:ext cx="603504" cy="603504"/>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55548" y="4567428"/>
            <a:ext cx="301752" cy="301752"/>
          </a:xfrm>
          <a:prstGeom prst="rect">
            <a:avLst/>
          </a:prstGeom>
        </p:spPr>
      </p:pic>
      <p:sp>
        <p:nvSpPr>
          <p:cNvPr id="24" name="Text 18"/>
          <p:cNvSpPr txBox="1"/>
          <p:nvPr/>
        </p:nvSpPr>
        <p:spPr>
          <a:xfrm>
            <a:off x="155448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Return bends</a:t>
            </a:r>
            <a:endParaRPr lang="en-US" sz="1600" dirty="0"/>
          </a:p>
        </p:txBody>
      </p:sp>
      <p:sp>
        <p:nvSpPr>
          <p:cNvPr id="25" name="Text 19"/>
          <p:cNvSpPr txBox="1"/>
          <p:nvPr/>
        </p:nvSpPr>
        <p:spPr>
          <a:xfrm>
            <a:off x="80467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Pig length and flexibility selected for 180° returns, plug headers and mule ears</a:t>
            </a:r>
            <a:endParaRPr lang="en-US" sz="1200" dirty="0"/>
          </a:p>
        </p:txBody>
      </p:sp>
      <p:sp>
        <p:nvSpPr>
          <p:cNvPr id="26" name="Shape 20"/>
          <p:cNvSpPr/>
          <p:nvPr/>
        </p:nvSpPr>
        <p:spPr>
          <a:xfrm>
            <a:off x="429768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7" name="Shape 21"/>
          <p:cNvSpPr/>
          <p:nvPr/>
        </p:nvSpPr>
        <p:spPr>
          <a:xfrm>
            <a:off x="4553712" y="4416552"/>
            <a:ext cx="603504" cy="603504"/>
          </a:xfrm>
          <a:prstGeom prst="ellipse">
            <a:avLst/>
          </a:prstGeom>
          <a:solidFill>
            <a:srgbClr val="1E1E1E"/>
          </a:solidFill>
          <a:ln w="12700">
            <a:solidFill>
              <a:srgbClr val="1E1E1E"/>
            </a:solidFill>
            <a:prstDash val="solid"/>
          </a:ln>
        </p:spPr>
      </p:sp>
      <p:pic>
        <p:nvPicPr>
          <p:cNvPr id="28" name="Image 4" descr="preencoded.png">    </p:cNvPr>
          <p:cNvPicPr>
            <a:picLocks noChangeAspect="1"/>
          </p:cNvPicPr>
          <p:nvPr/>
        </p:nvPicPr>
        <p:blipFill>
          <a:blip r:embed="rId5"/>
          <a:stretch>
            <a:fillRect/>
          </a:stretch>
        </p:blipFill>
        <p:spPr>
          <a:xfrm>
            <a:off x="4704588" y="4567428"/>
            <a:ext cx="301752" cy="301752"/>
          </a:xfrm>
          <a:prstGeom prst="rect">
            <a:avLst/>
          </a:prstGeom>
        </p:spPr>
      </p:pic>
      <p:sp>
        <p:nvSpPr>
          <p:cNvPr id="29" name="Text 22"/>
          <p:cNvSpPr txBox="1"/>
          <p:nvPr/>
        </p:nvSpPr>
        <p:spPr>
          <a:xfrm>
            <a:off x="530352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Launcher access</a:t>
            </a:r>
            <a:endParaRPr lang="en-US" sz="1600" dirty="0"/>
          </a:p>
        </p:txBody>
      </p:sp>
      <p:sp>
        <p:nvSpPr>
          <p:cNvPr id="30" name="Text 23"/>
          <p:cNvSpPr txBox="1"/>
          <p:nvPr/>
        </p:nvSpPr>
        <p:spPr>
          <a:xfrm>
            <a:off x="455371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Inlet and outlet elevations walked down; rig layout set before rig-in</a:t>
            </a:r>
            <a:endParaRPr lang="en-US" sz="1200" dirty="0"/>
          </a:p>
        </p:txBody>
      </p:sp>
      <p:sp>
        <p:nvSpPr>
          <p:cNvPr id="31" name="Shape 24"/>
          <p:cNvSpPr/>
          <p:nvPr/>
        </p:nvSpPr>
        <p:spPr>
          <a:xfrm>
            <a:off x="8046720" y="4160520"/>
            <a:ext cx="3593592" cy="187452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32" name="Shape 25"/>
          <p:cNvSpPr/>
          <p:nvPr/>
        </p:nvSpPr>
        <p:spPr>
          <a:xfrm>
            <a:off x="8302752" y="4416552"/>
            <a:ext cx="603504" cy="603504"/>
          </a:xfrm>
          <a:prstGeom prst="ellipse">
            <a:avLst/>
          </a:prstGeom>
          <a:solidFill>
            <a:srgbClr val="1E1E1E"/>
          </a:solidFill>
          <a:ln w="12700">
            <a:solidFill>
              <a:srgbClr val="1E1E1E"/>
            </a:solidFill>
            <a:prstDash val="solid"/>
          </a:ln>
        </p:spPr>
      </p:sp>
      <p:pic>
        <p:nvPicPr>
          <p:cNvPr id="33" name="Image 5" descr="preencoded.png">    </p:cNvPr>
          <p:cNvPicPr>
            <a:picLocks noChangeAspect="1"/>
          </p:cNvPicPr>
          <p:nvPr/>
        </p:nvPicPr>
        <p:blipFill>
          <a:blip r:embed="rId6"/>
          <a:stretch>
            <a:fillRect/>
          </a:stretch>
        </p:blipFill>
        <p:spPr>
          <a:xfrm>
            <a:off x="8453628" y="4567428"/>
            <a:ext cx="301752" cy="301752"/>
          </a:xfrm>
          <a:prstGeom prst="rect">
            <a:avLst/>
          </a:prstGeom>
        </p:spPr>
      </p:pic>
      <p:sp>
        <p:nvSpPr>
          <p:cNvPr id="34" name="Text 26"/>
          <p:cNvSpPr txBox="1"/>
          <p:nvPr/>
        </p:nvSpPr>
        <p:spPr>
          <a:xfrm>
            <a:off x="9052560" y="4434840"/>
            <a:ext cx="2468880" cy="566928"/>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Coke &amp; service</a:t>
            </a:r>
            <a:endParaRPr lang="en-US" sz="1600" dirty="0"/>
          </a:p>
        </p:txBody>
      </p:sp>
      <p:sp>
        <p:nvSpPr>
          <p:cNvPr id="35" name="Text 27"/>
          <p:cNvSpPr txBox="1"/>
          <p:nvPr/>
        </p:nvSpPr>
        <p:spPr>
          <a:xfrm>
            <a:off x="8302752" y="5148072"/>
            <a:ext cx="310896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Coker, crude or vacuum service decides which pigs are staged on day one</a:t>
            </a:r>
            <a:endParaRPr lang="en-US" sz="1200" dirty="0"/>
          </a:p>
        </p:txBody>
      </p:sp>
      <p:sp>
        <p:nvSpPr>
          <p:cNvPr id="36"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7"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66992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66992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How a decoke runs</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548640" y="2240280"/>
            <a:ext cx="1757172" cy="822960"/>
          </a:xfrm>
          <a:prstGeom prst="chevron">
            <a:avLst/>
          </a:prstGeom>
          <a:solidFill>
            <a:srgbClr val="1E1E1E"/>
          </a:solidFill>
          <a:ln w="12700">
            <a:solidFill>
              <a:srgbClr val="1E1E1E"/>
            </a:solidFill>
            <a:prstDash val="solid"/>
          </a:ln>
        </p:spPr>
      </p:sp>
      <p:sp>
        <p:nvSpPr>
          <p:cNvPr id="7" name="Text 5"/>
          <p:cNvSpPr txBox="1"/>
          <p:nvPr/>
        </p:nvSpPr>
        <p:spPr>
          <a:xfrm>
            <a:off x="7772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8" name="Text 6"/>
          <p:cNvSpPr txBox="1"/>
          <p:nvPr/>
        </p:nvSpPr>
        <p:spPr>
          <a:xfrm>
            <a:off x="5943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Drawings reviewed, pig progression and rig layout set</a:t>
            </a:r>
            <a:endParaRPr lang="en-US" sz="1150" dirty="0"/>
          </a:p>
        </p:txBody>
      </p:sp>
      <p:sp>
        <p:nvSpPr>
          <p:cNvPr id="9" name="Shape 7"/>
          <p:cNvSpPr/>
          <p:nvPr/>
        </p:nvSpPr>
        <p:spPr>
          <a:xfrm>
            <a:off x="2415540" y="2240280"/>
            <a:ext cx="1757172" cy="822960"/>
          </a:xfrm>
          <a:prstGeom prst="chevron">
            <a:avLst/>
          </a:prstGeom>
          <a:solidFill>
            <a:srgbClr val="1E1E1E"/>
          </a:solidFill>
          <a:ln w="12700">
            <a:solidFill>
              <a:srgbClr val="1E1E1E"/>
            </a:solidFill>
            <a:prstDash val="solid"/>
          </a:ln>
        </p:spPr>
      </p:sp>
      <p:sp>
        <p:nvSpPr>
          <p:cNvPr id="10" name="Text 8"/>
          <p:cNvSpPr txBox="1"/>
          <p:nvPr/>
        </p:nvSpPr>
        <p:spPr>
          <a:xfrm>
            <a:off x="26441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Rig-in</a:t>
            </a:r>
            <a:endParaRPr lang="en-US" sz="1500" dirty="0"/>
          </a:p>
        </p:txBody>
      </p:sp>
      <p:sp>
        <p:nvSpPr>
          <p:cNvPr id="11" name="Text 9"/>
          <p:cNvSpPr txBox="1"/>
          <p:nvPr/>
        </p:nvSpPr>
        <p:spPr>
          <a:xfrm>
            <a:off x="24612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Launchers and receivers connected, filled and pressure tested</a:t>
            </a:r>
            <a:endParaRPr lang="en-US" sz="1150" dirty="0"/>
          </a:p>
        </p:txBody>
      </p:sp>
      <p:sp>
        <p:nvSpPr>
          <p:cNvPr id="12" name="Shape 10"/>
          <p:cNvSpPr/>
          <p:nvPr/>
        </p:nvSpPr>
        <p:spPr>
          <a:xfrm>
            <a:off x="4282440" y="2240280"/>
            <a:ext cx="1757172" cy="822960"/>
          </a:xfrm>
          <a:prstGeom prst="chevron">
            <a:avLst/>
          </a:prstGeom>
          <a:solidFill>
            <a:srgbClr val="FCC30A"/>
          </a:solidFill>
          <a:ln w="12700">
            <a:solidFill>
              <a:srgbClr val="FCC30A"/>
            </a:solidFill>
            <a:prstDash val="solid"/>
          </a:ln>
        </p:spPr>
      </p:sp>
      <p:sp>
        <p:nvSpPr>
          <p:cNvPr id="13" name="Text 11"/>
          <p:cNvSpPr txBox="1"/>
          <p:nvPr/>
        </p:nvSpPr>
        <p:spPr>
          <a:xfrm>
            <a:off x="45110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Pig</a:t>
            </a:r>
            <a:endParaRPr lang="en-US" sz="1500" dirty="0"/>
          </a:p>
        </p:txBody>
      </p:sp>
      <p:sp>
        <p:nvSpPr>
          <p:cNvPr id="14" name="Text 12"/>
          <p:cNvSpPr txBox="1"/>
          <p:nvPr/>
        </p:nvSpPr>
        <p:spPr>
          <a:xfrm>
            <a:off x="43281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Up to three passes at once per TriMax, around the clock</a:t>
            </a:r>
            <a:endParaRPr lang="en-US" sz="1150" dirty="0"/>
          </a:p>
        </p:txBody>
      </p:sp>
      <p:sp>
        <p:nvSpPr>
          <p:cNvPr id="15" name="Shape 13"/>
          <p:cNvSpPr/>
          <p:nvPr/>
        </p:nvSpPr>
        <p:spPr>
          <a:xfrm>
            <a:off x="6149340" y="2240280"/>
            <a:ext cx="1757172" cy="822960"/>
          </a:xfrm>
          <a:prstGeom prst="chevron">
            <a:avLst/>
          </a:prstGeom>
          <a:solidFill>
            <a:srgbClr val="BDBDBD"/>
          </a:solidFill>
          <a:ln w="12700">
            <a:solidFill>
              <a:srgbClr val="BDBDBD"/>
            </a:solidFill>
            <a:prstDash val="solid"/>
          </a:ln>
        </p:spPr>
      </p:sp>
      <p:sp>
        <p:nvSpPr>
          <p:cNvPr id="16" name="Text 14"/>
          <p:cNvSpPr txBox="1"/>
          <p:nvPr/>
        </p:nvSpPr>
        <p:spPr>
          <a:xfrm>
            <a:off x="6377940" y="2240280"/>
            <a:ext cx="1299972" cy="822960"/>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Rig-over</a:t>
            </a:r>
            <a:endParaRPr lang="en-US" sz="1500" dirty="0"/>
          </a:p>
        </p:txBody>
      </p:sp>
      <p:sp>
        <p:nvSpPr>
          <p:cNvPr id="17" name="Text 15"/>
          <p:cNvSpPr txBox="1"/>
          <p:nvPr/>
        </p:nvSpPr>
        <p:spPr>
          <a:xfrm>
            <a:off x="61950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Move to the next set of passes, if the heater has more</a:t>
            </a:r>
            <a:endParaRPr lang="en-US" sz="1150" dirty="0"/>
          </a:p>
        </p:txBody>
      </p:sp>
      <p:sp>
        <p:nvSpPr>
          <p:cNvPr id="18" name="Shape 16"/>
          <p:cNvSpPr/>
          <p:nvPr/>
        </p:nvSpPr>
        <p:spPr>
          <a:xfrm>
            <a:off x="8016240" y="2240280"/>
            <a:ext cx="1757172" cy="822960"/>
          </a:xfrm>
          <a:prstGeom prst="chevron">
            <a:avLst/>
          </a:prstGeom>
          <a:solidFill>
            <a:srgbClr val="1E1E1E"/>
          </a:solidFill>
          <a:ln w="12700">
            <a:solidFill>
              <a:srgbClr val="1E1E1E"/>
            </a:solidFill>
            <a:prstDash val="solid"/>
          </a:ln>
        </p:spPr>
      </p:sp>
      <p:sp>
        <p:nvSpPr>
          <p:cNvPr id="19" name="Text 17"/>
          <p:cNvSpPr txBox="1"/>
          <p:nvPr/>
        </p:nvSpPr>
        <p:spPr>
          <a:xfrm>
            <a:off x="82448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0" name="Text 18"/>
          <p:cNvSpPr txBox="1"/>
          <p:nvPr/>
        </p:nvSpPr>
        <p:spPr>
          <a:xfrm>
            <a:off x="80619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Final gauge foam and flow test, pass signed off with Valero</a:t>
            </a:r>
            <a:endParaRPr lang="en-US" sz="1150" dirty="0"/>
          </a:p>
        </p:txBody>
      </p:sp>
      <p:sp>
        <p:nvSpPr>
          <p:cNvPr id="21" name="Shape 19"/>
          <p:cNvSpPr/>
          <p:nvPr/>
        </p:nvSpPr>
        <p:spPr>
          <a:xfrm>
            <a:off x="9883140" y="2240280"/>
            <a:ext cx="1757172" cy="822960"/>
          </a:xfrm>
          <a:prstGeom prst="chevron">
            <a:avLst/>
          </a:prstGeom>
          <a:solidFill>
            <a:srgbClr val="1E1E1E"/>
          </a:solidFill>
          <a:ln w="12700">
            <a:solidFill>
              <a:srgbClr val="1E1E1E"/>
            </a:solidFill>
            <a:prstDash val="solid"/>
          </a:ln>
        </p:spPr>
      </p:sp>
      <p:sp>
        <p:nvSpPr>
          <p:cNvPr id="22" name="Text 20"/>
          <p:cNvSpPr txBox="1"/>
          <p:nvPr/>
        </p:nvSpPr>
        <p:spPr>
          <a:xfrm>
            <a:off x="10111740" y="2240280"/>
            <a:ext cx="1299972"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Rig-out</a:t>
            </a:r>
            <a:endParaRPr lang="en-US" sz="1500" dirty="0"/>
          </a:p>
        </p:txBody>
      </p:sp>
      <p:sp>
        <p:nvSpPr>
          <p:cNvPr id="23" name="Text 21"/>
          <p:cNvSpPr txBox="1"/>
          <p:nvPr/>
        </p:nvSpPr>
        <p:spPr>
          <a:xfrm>
            <a:off x="9928860" y="3200400"/>
            <a:ext cx="1665732" cy="914400"/>
          </a:xfrm>
          <a:prstGeom prst="rect">
            <a:avLst/>
          </a:prstGeom>
          <a:noFill/>
          <a:ln/>
        </p:spPr>
        <p:txBody>
          <a:bodyPr wrap="square" lIns="0" tIns="0" rIns="0" bIns="0" rtlCol="0" anchor="t"/>
          <a:lstStyle/>
          <a:p>
            <a:pPr algn="ctr" indent="0" marL="0">
              <a:buNone/>
            </a:pPr>
            <a:r>
              <a:rPr lang="en-US" sz="1150" dirty="0">
                <a:solidFill>
                  <a:srgbClr val="5E5E5E"/>
                </a:solidFill>
                <a:latin typeface="Arial" pitchFamily="34" charset="0"/>
                <a:ea typeface="Arial" pitchFamily="34" charset="-122"/>
                <a:cs typeface="Arial" pitchFamily="34" charset="-120"/>
              </a:rPr>
              <a:t>Equipment out, job book delivered</a:t>
            </a:r>
            <a:endParaRPr lang="en-US" sz="1150" dirty="0"/>
          </a:p>
        </p:txBody>
      </p:sp>
      <p:sp>
        <p:nvSpPr>
          <p:cNvPr id="24" name="Shape 22"/>
          <p:cNvSpPr/>
          <p:nvPr/>
        </p:nvSpPr>
        <p:spPr>
          <a:xfrm>
            <a:off x="548640" y="4480560"/>
            <a:ext cx="3593592" cy="1417320"/>
          </a:xfrm>
          <a:prstGeom prst="rect">
            <a:avLst/>
          </a:prstGeom>
          <a:solidFill>
            <a:srgbClr val="F4F4F4"/>
          </a:solidFill>
          <a:ln w="12700">
            <a:solidFill>
              <a:srgbClr val="F4F4F4"/>
            </a:solidFill>
            <a:prstDash val="solid"/>
          </a:ln>
        </p:spPr>
      </p:sp>
      <p:sp>
        <p:nvSpPr>
          <p:cNvPr id="25" name="Text 23"/>
          <p:cNvSpPr txBox="1"/>
          <p:nvPr/>
        </p:nvSpPr>
        <p:spPr>
          <a:xfrm>
            <a:off x="77724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24/7</a:t>
            </a:r>
            <a:endParaRPr lang="en-US" sz="3200" dirty="0"/>
          </a:p>
        </p:txBody>
      </p:sp>
      <p:sp>
        <p:nvSpPr>
          <p:cNvPr id="26" name="Text 24"/>
          <p:cNvSpPr txBox="1"/>
          <p:nvPr/>
        </p:nvSpPr>
        <p:spPr>
          <a:xfrm>
            <a:off x="77724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two 12-hour shifts until the heater is handed back</a:t>
            </a:r>
            <a:endParaRPr lang="en-US" sz="1200" dirty="0"/>
          </a:p>
        </p:txBody>
      </p:sp>
      <p:sp>
        <p:nvSpPr>
          <p:cNvPr id="27" name="Shape 25"/>
          <p:cNvSpPr/>
          <p:nvPr/>
        </p:nvSpPr>
        <p:spPr>
          <a:xfrm>
            <a:off x="4297680" y="4480560"/>
            <a:ext cx="3593592" cy="1417320"/>
          </a:xfrm>
          <a:prstGeom prst="rect">
            <a:avLst/>
          </a:prstGeom>
          <a:solidFill>
            <a:srgbClr val="F4F4F4"/>
          </a:solidFill>
          <a:ln w="12700">
            <a:solidFill>
              <a:srgbClr val="F4F4F4"/>
            </a:solidFill>
            <a:prstDash val="solid"/>
          </a:ln>
        </p:spPr>
      </p:sp>
      <p:sp>
        <p:nvSpPr>
          <p:cNvPr id="28" name="Text 26"/>
          <p:cNvSpPr txBox="1"/>
          <p:nvPr/>
        </p:nvSpPr>
        <p:spPr>
          <a:xfrm>
            <a:off x="452628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Up to 3</a:t>
            </a:r>
            <a:endParaRPr lang="en-US" sz="3200" dirty="0"/>
          </a:p>
        </p:txBody>
      </p:sp>
      <p:sp>
        <p:nvSpPr>
          <p:cNvPr id="29" name="Text 27"/>
          <p:cNvSpPr txBox="1"/>
          <p:nvPr/>
        </p:nvSpPr>
        <p:spPr>
          <a:xfrm>
            <a:off x="452628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passes pigged at once on each TriMax</a:t>
            </a:r>
            <a:endParaRPr lang="en-US" sz="1200" dirty="0"/>
          </a:p>
        </p:txBody>
      </p:sp>
      <p:sp>
        <p:nvSpPr>
          <p:cNvPr id="30" name="Shape 28"/>
          <p:cNvSpPr/>
          <p:nvPr/>
        </p:nvSpPr>
        <p:spPr>
          <a:xfrm>
            <a:off x="8046720" y="4480560"/>
            <a:ext cx="3593592" cy="1417320"/>
          </a:xfrm>
          <a:prstGeom prst="rect">
            <a:avLst/>
          </a:prstGeom>
          <a:solidFill>
            <a:srgbClr val="F4F4F4"/>
          </a:solidFill>
          <a:ln w="12700">
            <a:solidFill>
              <a:srgbClr val="F4F4F4"/>
            </a:solidFill>
            <a:prstDash val="solid"/>
          </a:ln>
        </p:spPr>
      </p:sp>
      <p:sp>
        <p:nvSpPr>
          <p:cNvPr id="31" name="Text 29"/>
          <p:cNvSpPr txBox="1"/>
          <p:nvPr/>
        </p:nvSpPr>
        <p:spPr>
          <a:xfrm>
            <a:off x="8275320" y="4572000"/>
            <a:ext cx="3200400" cy="685800"/>
          </a:xfrm>
          <a:prstGeom prst="rect">
            <a:avLst/>
          </a:prstGeom>
          <a:noFill/>
          <a:ln/>
        </p:spPr>
        <p:txBody>
          <a:bodyPr wrap="square" lIns="0" tIns="0" rIns="0" bIns="0" rtlCol="0" anchor="ctr"/>
          <a:lstStyle/>
          <a:p>
            <a:pPr indent="0" marL="0">
              <a:buNone/>
            </a:pPr>
            <a:r>
              <a:rPr lang="en-US" sz="3200" b="1" dirty="0">
                <a:solidFill>
                  <a:srgbClr val="222222"/>
                </a:solidFill>
                <a:latin typeface="Arial" pitchFamily="34" charset="0"/>
                <a:ea typeface="Arial" pitchFamily="34" charset="-122"/>
                <a:cs typeface="Arial" pitchFamily="34" charset="-120"/>
              </a:rPr>
              <a:t>2+</a:t>
            </a:r>
            <a:endParaRPr lang="en-US" sz="3200" dirty="0"/>
          </a:p>
        </p:txBody>
      </p:sp>
      <p:sp>
        <p:nvSpPr>
          <p:cNvPr id="32" name="Text 30"/>
          <p:cNvSpPr txBox="1"/>
          <p:nvPr/>
        </p:nvSpPr>
        <p:spPr>
          <a:xfrm>
            <a:off x="8275320" y="5257800"/>
            <a:ext cx="3200400" cy="50292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TriMax units on larger heaters or multi-heater jobs</a:t>
            </a:r>
            <a:endParaRPr lang="en-US" sz="1200" dirty="0"/>
          </a:p>
        </p:txBody>
      </p:sp>
      <p:sp>
        <p:nvSpPr>
          <p:cNvPr id="33"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card_ready.jpg">    </p:cNvPr>
          <p:cNvPicPr>
            <a:picLocks noChangeAspect="1"/>
          </p:cNvPicPr>
          <p:nvPr/>
        </p:nvPicPr>
        <p:blipFill>
          <a:blip r:embed="rId1"/>
          <a:stretch>
            <a:fillRect/>
          </a:stretch>
        </p:blipFill>
        <p:spPr>
          <a:xfrm>
            <a:off x="7592263" y="1783080"/>
            <a:ext cx="4050792" cy="1910917"/>
          </a:xfrm>
          <a:prstGeom prst="rect">
            <a:avLst/>
          </a:prstGeom>
        </p:spPr>
      </p:pic>
      <p:sp>
        <p:nvSpPr>
          <p:cNvPr id="3"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Crew &amp; equipment, every job</a:t>
            </a:r>
            <a:endParaRPr lang="en-US" sz="3200" dirty="0"/>
          </a:p>
        </p:txBody>
      </p:sp>
      <p:sp>
        <p:nvSpPr>
          <p:cNvPr id="6" name="Text 3"/>
          <p:cNvSpPr txBox="1"/>
          <p:nvPr/>
        </p:nvSpPr>
        <p:spPr>
          <a:xfrm>
            <a:off x="10972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5486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10972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5486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10972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5486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10972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46177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40690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46177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40690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46177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40690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46177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5486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658368" y="1892808"/>
            <a:ext cx="219456" cy="219456"/>
          </a:xfrm>
          <a:prstGeom prst="rect">
            <a:avLst/>
          </a:prstGeom>
        </p:spPr>
      </p:pic>
      <p:sp>
        <p:nvSpPr>
          <p:cNvPr id="22" name="Shape 18"/>
          <p:cNvSpPr/>
          <p:nvPr/>
        </p:nvSpPr>
        <p:spPr>
          <a:xfrm>
            <a:off x="40690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4178808" y="1892808"/>
            <a:ext cx="219456" cy="219456"/>
          </a:xfrm>
          <a:prstGeom prst="rect">
            <a:avLst/>
          </a:prstGeom>
        </p:spPr>
      </p:pic>
      <p:sp>
        <p:nvSpPr>
          <p:cNvPr id="24" name="Shape 19"/>
          <p:cNvSpPr/>
          <p:nvPr/>
        </p:nvSpPr>
        <p:spPr>
          <a:xfrm>
            <a:off x="548640" y="4617720"/>
            <a:ext cx="3593592" cy="1417320"/>
          </a:xfrm>
          <a:prstGeom prst="rect">
            <a:avLst/>
          </a:prstGeom>
          <a:solidFill>
            <a:srgbClr val="1E1E1E"/>
          </a:solidFill>
          <a:ln w="12700">
            <a:solidFill>
              <a:srgbClr val="1E1E1E"/>
            </a:solidFill>
            <a:prstDash val="solid"/>
          </a:ln>
        </p:spPr>
      </p:sp>
      <p:sp>
        <p:nvSpPr>
          <p:cNvPr id="25" name="Text 20"/>
          <p:cNvSpPr txBox="1"/>
          <p:nvPr/>
        </p:nvSpPr>
        <p:spPr>
          <a:xfrm>
            <a:off x="77724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77724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approximate crew turnover, last 12 months</a:t>
            </a:r>
            <a:endParaRPr lang="en-US" sz="1200" dirty="0"/>
          </a:p>
        </p:txBody>
      </p:sp>
      <p:sp>
        <p:nvSpPr>
          <p:cNvPr id="27" name="Shape 22"/>
          <p:cNvSpPr/>
          <p:nvPr/>
        </p:nvSpPr>
        <p:spPr>
          <a:xfrm>
            <a:off x="4297680" y="4617720"/>
            <a:ext cx="3593592" cy="1417320"/>
          </a:xfrm>
          <a:prstGeom prst="rect">
            <a:avLst/>
          </a:prstGeom>
          <a:solidFill>
            <a:srgbClr val="1E1E1E"/>
          </a:solidFill>
          <a:ln w="12700">
            <a:solidFill>
              <a:srgbClr val="1E1E1E"/>
            </a:solidFill>
            <a:prstDash val="solid"/>
          </a:ln>
        </p:spPr>
      </p:sp>
      <p:sp>
        <p:nvSpPr>
          <p:cNvPr id="28" name="Text 23"/>
          <p:cNvSpPr txBox="1"/>
          <p:nvPr/>
        </p:nvSpPr>
        <p:spPr>
          <a:xfrm>
            <a:off x="452628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452628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two 12-hour shifts</a:t>
            </a:r>
            <a:endParaRPr lang="en-US" sz="1200" dirty="0"/>
          </a:p>
        </p:txBody>
      </p:sp>
      <p:sp>
        <p:nvSpPr>
          <p:cNvPr id="30" name="Shape 25"/>
          <p:cNvSpPr/>
          <p:nvPr/>
        </p:nvSpPr>
        <p:spPr>
          <a:xfrm>
            <a:off x="8046720" y="4617720"/>
            <a:ext cx="3593592" cy="1417320"/>
          </a:xfrm>
          <a:prstGeom prst="rect">
            <a:avLst/>
          </a:prstGeom>
          <a:solidFill>
            <a:srgbClr val="1E1E1E"/>
          </a:solidFill>
          <a:ln w="12700">
            <a:solidFill>
              <a:srgbClr val="1E1E1E"/>
            </a:solidFill>
            <a:prstDash val="solid"/>
          </a:ln>
        </p:spPr>
      </p:sp>
      <p:sp>
        <p:nvSpPr>
          <p:cNvPr id="31" name="Text 26"/>
          <p:cNvSpPr txBox="1"/>
          <p:nvPr/>
        </p:nvSpPr>
        <p:spPr>
          <a:xfrm>
            <a:off x="8275320" y="4754880"/>
            <a:ext cx="310896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8275320" y="5394960"/>
            <a:ext cx="3108960" cy="54864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training verified before mobilization</a:t>
            </a:r>
            <a:endParaRPr lang="en-US" sz="1200" dirty="0"/>
          </a:p>
        </p:txBody>
      </p:sp>
      <p:sp>
        <p:nvSpPr>
          <p:cNvPr id="33" name="Text 2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Our pigging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2B2B2B"/>
          </a:solidFill>
          <a:ln w="12700">
            <a:solidFill>
              <a:srgbClr val="363636"/>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FCC30A"/>
          </a:solidFill>
          <a:ln w="12700">
            <a:solidFill>
              <a:srgbClr val="FCC30A"/>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Technician</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trimax_dusk.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C:\Users\Jwuts\obsidian-work\02-facilities\Valero\Texas-City-TX\pigging-capabilities-presentation\build/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6"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7"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8"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9" name="Image 2" descr="preencoded.png">    </p:cNvPr>
          <p:cNvPicPr>
            <a:picLocks noChangeAspect="1"/>
          </p:cNvPicPr>
          <p:nvPr/>
        </p:nvPicPr>
        <p:blipFill>
          <a:blip r:embed="rId3"/>
          <a:stretch>
            <a:fillRect/>
          </a:stretch>
        </p:blipFill>
        <p:spPr>
          <a:xfrm>
            <a:off x="690372" y="2153412"/>
            <a:ext cx="283464" cy="283464"/>
          </a:xfrm>
          <a:prstGeom prst="rect">
            <a:avLst/>
          </a:prstGeom>
        </p:spPr>
      </p:pic>
      <p:sp>
        <p:nvSpPr>
          <p:cNvPr id="10"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1"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2"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3" name="Image 3" descr="preencoded.png">    </p:cNvPr>
          <p:cNvPicPr>
            <a:picLocks noChangeAspect="1"/>
          </p:cNvPicPr>
          <p:nvPr/>
        </p:nvPicPr>
        <p:blipFill>
          <a:blip r:embed="rId4"/>
          <a:stretch>
            <a:fillRect/>
          </a:stretch>
        </p:blipFill>
        <p:spPr>
          <a:xfrm>
            <a:off x="690372" y="2884932"/>
            <a:ext cx="283464" cy="283464"/>
          </a:xfrm>
          <a:prstGeom prst="rect">
            <a:avLst/>
          </a:prstGeom>
        </p:spPr>
      </p:pic>
      <p:sp>
        <p:nvSpPr>
          <p:cNvPr id="14"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5"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6"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7" name="Image 4" descr="preencoded.png">    </p:cNvPr>
          <p:cNvPicPr>
            <a:picLocks noChangeAspect="1"/>
          </p:cNvPicPr>
          <p:nvPr/>
        </p:nvPicPr>
        <p:blipFill>
          <a:blip r:embed="rId5"/>
          <a:stretch>
            <a:fillRect/>
          </a:stretch>
        </p:blipFill>
        <p:spPr>
          <a:xfrm>
            <a:off x="690372" y="3616452"/>
            <a:ext cx="283464" cy="283464"/>
          </a:xfrm>
          <a:prstGeom prst="rect">
            <a:avLst/>
          </a:prstGeom>
        </p:spPr>
      </p:pic>
      <p:sp>
        <p:nvSpPr>
          <p:cNvPr id="18"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19"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0"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1" name="Image 5" descr="preencoded.png">    </p:cNvPr>
          <p:cNvPicPr>
            <a:picLocks noChangeAspect="1"/>
          </p:cNvPicPr>
          <p:nvPr/>
        </p:nvPicPr>
        <p:blipFill>
          <a:blip r:embed="rId6"/>
          <a:stretch>
            <a:fillRect/>
          </a:stretch>
        </p:blipFill>
        <p:spPr>
          <a:xfrm>
            <a:off x="690372" y="4347972"/>
            <a:ext cx="283464" cy="283464"/>
          </a:xfrm>
          <a:prstGeom prst="rect">
            <a:avLst/>
          </a:prstGeom>
        </p:spPr>
      </p:pic>
      <p:sp>
        <p:nvSpPr>
          <p:cNvPr id="22"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3"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4"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5" name="Image 6" descr="preencoded.png">    </p:cNvPr>
          <p:cNvPicPr>
            <a:picLocks noChangeAspect="1"/>
          </p:cNvPicPr>
          <p:nvPr/>
        </p:nvPicPr>
        <p:blipFill>
          <a:blip r:embed="rId7"/>
          <a:stretch>
            <a:fillRect/>
          </a:stretch>
        </p:blipFill>
        <p:spPr>
          <a:xfrm>
            <a:off x="690372" y="5079492"/>
            <a:ext cx="283464" cy="283464"/>
          </a:xfrm>
          <a:prstGeom prst="rect">
            <a:avLst/>
          </a:prstGeom>
        </p:spPr>
      </p:pic>
      <p:sp>
        <p:nvSpPr>
          <p:cNvPr id="26"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7"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The same engine across all 18 pumps in the fleet</a:t>
            </a:r>
            <a:endParaRPr lang="en-US" sz="1200" dirty="0"/>
          </a:p>
        </p:txBody>
      </p:sp>
      <p:sp>
        <p:nvSpPr>
          <p:cNvPr id="28"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29"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0"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1"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2" name="Shape 23"/>
          <p:cNvSpPr/>
          <p:nvPr/>
        </p:nvSpPr>
        <p:spPr>
          <a:xfrm>
            <a:off x="6309360" y="5824728"/>
            <a:ext cx="0" cy="310896"/>
          </a:xfrm>
          <a:prstGeom prst="line">
            <a:avLst/>
          </a:prstGeom>
          <a:noFill/>
          <a:ln w="19050">
            <a:solidFill>
              <a:srgbClr val="FFFFFF"/>
            </a:solidFill>
            <a:prstDash val="solid"/>
          </a:ln>
        </p:spPr>
      </p:sp>
      <p:sp>
        <p:nvSpPr>
          <p:cNvPr id="33"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4"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5"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6"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7"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8"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39"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0"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1"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C:\Users\Jwuts\obsidian-work\02-facilities\Valero\Texas-City-TX\pigging-capabilities-presentation\build/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pump curve: Waterous Company</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C:\Users\Jwuts\obsidian-work\02-facilities\Valero\Texas-City-TX\pigging-capabilities-presentation\build/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Valero</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operator works that location until it clears</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fines in the return stream taper off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C:\Users\Jwuts\obsidian-work\02-facilities\Valero\Texas-City-TX\pigging-capabilities-presentation\build/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Valero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A pass is called clean only when all four indicators agree.</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Valero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Valero</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C:\Users\Jwuts\obsidian-work\02-facilities\Valero\Texas-City-TX\pigging-capabilities-presentation\build/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2700947"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2700947"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Texas City</a:t>
            </a:r>
            <a:endParaRPr lang="en-US" sz="3200" dirty="0"/>
          </a:p>
        </p:txBody>
      </p:sp>
      <p:sp>
        <p:nvSpPr>
          <p:cNvPr id="8" name="Shape 4"/>
          <p:cNvSpPr/>
          <p:nvPr/>
        </p:nvSpPr>
        <p:spPr>
          <a:xfrm>
            <a:off x="9354312" y="310896"/>
            <a:ext cx="2286000" cy="566928"/>
          </a:xfrm>
          <a:prstGeom prst="roundRect">
            <a:avLst>
              <a:gd name="adj" fmla="val 16129"/>
            </a:avLst>
          </a:prstGeom>
          <a:solidFill>
            <a:srgbClr val="2B2B2B"/>
          </a:solidFill>
          <a:ln w="12700">
            <a:solidFill>
              <a:srgbClr val="FCC30A"/>
            </a:solidFill>
            <a:prstDash val="solid"/>
          </a:ln>
        </p:spPr>
      </p:sp>
      <p:sp>
        <p:nvSpPr>
          <p:cNvPr id="9" name="Text 5"/>
          <p:cNvSpPr txBox="1"/>
          <p:nvPr/>
        </p:nvSpPr>
        <p:spPr>
          <a:xfrm>
            <a:off x="9354312" y="310896"/>
            <a:ext cx="2286000" cy="566928"/>
          </a:xfrm>
          <a:prstGeom prst="rect">
            <a:avLst/>
          </a:prstGeom>
          <a:noFill/>
          <a:ln/>
        </p:spPr>
        <p:txBody>
          <a:bodyPr wrap="square" lIns="0" tIns="0" rIns="0" bIns="0" rtlCol="0" anchor="ctr"/>
          <a:lstStyle/>
          <a:p>
            <a:pPr algn="ctr" indent="0" marL="0">
              <a:buNone/>
            </a:pPr>
            <a:r>
              <a:rPr lang="en-US" sz="1100" b="1" dirty="0">
                <a:solidFill>
                  <a:srgbClr val="FCC30A"/>
                </a:solidFill>
                <a:latin typeface="Arial" pitchFamily="34" charset="0"/>
                <a:ea typeface="Arial" pitchFamily="34" charset="-122"/>
                <a:cs typeface="Arial" pitchFamily="34" charset="-120"/>
              </a:rPr>
              <a:t>Based in Deer Park, TX</a:t>
            </a:r>
            <a:endParaRPr lang="en-US" sz="1100" dirty="0"/>
          </a:p>
        </p:txBody>
      </p:sp>
      <p:sp>
        <p:nvSpPr>
          <p:cNvPr id="10"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Our fleet stages at our Deer Park base, a short drive from Texas City</a:t>
            </a:r>
            <a:endParaRPr lang="en-US" sz="1500" dirty="0"/>
          </a:p>
        </p:txBody>
      </p:sp>
      <p:sp>
        <p:nvSpPr>
          <p:cNvPr id="11"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2"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3"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4"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5"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6"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from Deer Park to Texas City</a:t>
            </a:r>
            <a:endParaRPr lang="en-US" sz="1150" dirty="0"/>
          </a:p>
        </p:txBody>
      </p:sp>
      <p:sp>
        <p:nvSpPr>
          <p:cNvPr id="17"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8"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a:t>
            </a:r>
            <a:endParaRPr lang="en-US" sz="2800" dirty="0"/>
          </a:p>
        </p:txBody>
      </p:sp>
      <p:sp>
        <p:nvSpPr>
          <p:cNvPr id="19"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TriMax units staged at Deer Park between jobs</a:t>
            </a:r>
            <a:endParaRPr lang="en-US" sz="1150" dirty="0"/>
          </a:p>
        </p:txBody>
      </p:sp>
      <p:sp>
        <p:nvSpPr>
          <p:cNvPr id="20"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1"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wuts\obsidian-work\02-facilities\Valero\Texas-City-TX\pigging-capabilities-presentation\build/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Valero's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 one in line with closures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7674559" y="2753487"/>
            <a:ext cx="4023360" cy="2311146"/>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card_diff.jpg">    </p:cNvPr>
          <p:cNvPicPr>
            <a:picLocks noChangeAspect="1"/>
          </p:cNvPicPr>
          <p:nvPr/>
        </p:nvPicPr>
        <p:blipFill>
          <a:blip r:embed="rId1"/>
          <a:stretch>
            <a:fillRect/>
          </a:stretch>
        </p:blipFill>
        <p:spPr>
          <a:xfrm>
            <a:off x="7729423" y="2808351"/>
            <a:ext cx="3913632" cy="2201418"/>
          </a:xfrm>
          <a:prstGeom prst="rect">
            <a:avLst/>
          </a:prstGeom>
        </p:spPr>
      </p:pic>
      <p:sp>
        <p:nvSpPr>
          <p:cNvPr id="4" name="Shape 1"/>
          <p:cNvSpPr/>
          <p:nvPr/>
        </p:nvSpPr>
        <p:spPr>
          <a:xfrm>
            <a:off x="548640" y="411480"/>
            <a:ext cx="1875225"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18752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CAPABILITIES</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7" name="Shape 4"/>
          <p:cNvSpPr/>
          <p:nvPr/>
        </p:nvSpPr>
        <p:spPr>
          <a:xfrm>
            <a:off x="548640" y="1874520"/>
            <a:ext cx="3383280" cy="1965960"/>
          </a:xfrm>
          <a:prstGeom prst="rect">
            <a:avLst/>
          </a:prstGeom>
          <a:solidFill>
            <a:srgbClr val="2B2B2B"/>
          </a:solidFill>
          <a:ln w="12700">
            <a:solidFill>
              <a:srgbClr val="2B2B2B"/>
            </a:solidFill>
            <a:prstDash val="solid"/>
          </a:ln>
        </p:spPr>
      </p:sp>
      <p:sp>
        <p:nvSpPr>
          <p:cNvPr id="8" name="Shape 5"/>
          <p:cNvSpPr/>
          <p:nvPr/>
        </p:nvSpPr>
        <p:spPr>
          <a:xfrm>
            <a:off x="822960" y="2148840"/>
            <a:ext cx="658368" cy="658368"/>
          </a:xfrm>
          <a:prstGeom prst="ellipse">
            <a:avLst/>
          </a:prstGeom>
          <a:solidFill>
            <a:srgbClr val="FCC30A"/>
          </a:solidFill>
          <a:ln w="12700">
            <a:solidFill>
              <a:srgbClr val="FCC30A"/>
            </a:solidFill>
            <a:prstDash val="solid"/>
          </a:ln>
        </p:spPr>
      </p:sp>
      <p:pic>
        <p:nvPicPr>
          <p:cNvPr id="9"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10" name="Text 6"/>
          <p:cNvSpPr txBox="1"/>
          <p:nvPr/>
        </p:nvSpPr>
        <p:spPr>
          <a:xfrm>
            <a:off x="164592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Self-performed scope</a:t>
            </a:r>
            <a:endParaRPr lang="en-US" sz="1600" dirty="0"/>
          </a:p>
        </p:txBody>
      </p:sp>
      <p:sp>
        <p:nvSpPr>
          <p:cNvPr id="11" name="Text 7"/>
          <p:cNvSpPr txBox="1"/>
          <p:nvPr/>
        </p:nvSpPr>
        <p:spPr>
          <a:xfrm>
            <a:off x="82296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Pigging, decoking and hydroblasting with our own equipment and crews: one contractor, no subcontractors</a:t>
            </a:r>
            <a:endParaRPr lang="en-US" sz="1200" dirty="0"/>
          </a:p>
        </p:txBody>
      </p:sp>
      <p:sp>
        <p:nvSpPr>
          <p:cNvPr id="12" name="Shape 8"/>
          <p:cNvSpPr/>
          <p:nvPr/>
        </p:nvSpPr>
        <p:spPr>
          <a:xfrm>
            <a:off x="4069080" y="1874520"/>
            <a:ext cx="3383280" cy="1965960"/>
          </a:xfrm>
          <a:prstGeom prst="rect">
            <a:avLst/>
          </a:prstGeom>
          <a:solidFill>
            <a:srgbClr val="2B2B2B"/>
          </a:solidFill>
          <a:ln w="12700">
            <a:solidFill>
              <a:srgbClr val="2B2B2B"/>
            </a:solidFill>
            <a:prstDash val="solid"/>
          </a:ln>
        </p:spPr>
      </p:sp>
      <p:sp>
        <p:nvSpPr>
          <p:cNvPr id="13" name="Shape 9"/>
          <p:cNvSpPr/>
          <p:nvPr/>
        </p:nvSpPr>
        <p:spPr>
          <a:xfrm>
            <a:off x="4343400" y="2148840"/>
            <a:ext cx="658368" cy="658368"/>
          </a:xfrm>
          <a:prstGeom prst="ellipse">
            <a:avLst/>
          </a:prstGeom>
          <a:solidFill>
            <a:srgbClr val="FCC30A"/>
          </a:solidFill>
          <a:ln w="12700">
            <a:solidFill>
              <a:srgbClr val="FCC30A"/>
            </a:solidFill>
            <a:prstDash val="solid"/>
          </a:ln>
        </p:spPr>
      </p:sp>
      <p:pic>
        <p:nvPicPr>
          <p:cNvPr id="14" name="Image 2" descr="preencoded.png">    </p:cNvPr>
          <p:cNvPicPr>
            <a:picLocks noChangeAspect="1"/>
          </p:cNvPicPr>
          <p:nvPr/>
        </p:nvPicPr>
        <p:blipFill>
          <a:blip r:embed="rId3"/>
          <a:stretch>
            <a:fillRect/>
          </a:stretch>
        </p:blipFill>
        <p:spPr>
          <a:xfrm>
            <a:off x="4507992" y="2313432"/>
            <a:ext cx="329184" cy="329184"/>
          </a:xfrm>
          <a:prstGeom prst="rect">
            <a:avLst/>
          </a:prstGeom>
        </p:spPr>
      </p:pic>
      <p:sp>
        <p:nvSpPr>
          <p:cNvPr id="15" name="Text 10"/>
          <p:cNvSpPr txBox="1"/>
          <p:nvPr/>
        </p:nvSpPr>
        <p:spPr>
          <a:xfrm>
            <a:off x="5166360" y="214884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Largest triple-pass fleet</a:t>
            </a:r>
            <a:endParaRPr lang="en-US" sz="1600" dirty="0"/>
          </a:p>
        </p:txBody>
      </p:sp>
      <p:sp>
        <p:nvSpPr>
          <p:cNvPr id="16" name="Text 11"/>
          <p:cNvSpPr txBox="1"/>
          <p:nvPr/>
        </p:nvSpPr>
        <p:spPr>
          <a:xfrm>
            <a:off x="4343400" y="295351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6 identical triple-pass TriMax units, 18 engines, with a spare pump on board even on a 2-pass heater</a:t>
            </a:r>
            <a:endParaRPr lang="en-US" sz="1200" dirty="0"/>
          </a:p>
        </p:txBody>
      </p:sp>
      <p:sp>
        <p:nvSpPr>
          <p:cNvPr id="17" name="Shape 12"/>
          <p:cNvSpPr/>
          <p:nvPr/>
        </p:nvSpPr>
        <p:spPr>
          <a:xfrm>
            <a:off x="548640" y="4023360"/>
            <a:ext cx="3383280" cy="1965960"/>
          </a:xfrm>
          <a:prstGeom prst="rect">
            <a:avLst/>
          </a:prstGeom>
          <a:solidFill>
            <a:srgbClr val="2B2B2B"/>
          </a:solidFill>
          <a:ln w="12700">
            <a:solidFill>
              <a:srgbClr val="2B2B2B"/>
            </a:solidFill>
            <a:prstDash val="solid"/>
          </a:ln>
        </p:spPr>
      </p:sp>
      <p:sp>
        <p:nvSpPr>
          <p:cNvPr id="18" name="Shape 13"/>
          <p:cNvSpPr/>
          <p:nvPr/>
        </p:nvSpPr>
        <p:spPr>
          <a:xfrm>
            <a:off x="822960" y="4297680"/>
            <a:ext cx="658368" cy="658368"/>
          </a:xfrm>
          <a:prstGeom prst="ellipse">
            <a:avLst/>
          </a:prstGeom>
          <a:solidFill>
            <a:srgbClr val="FCC30A"/>
          </a:solidFill>
          <a:ln w="12700">
            <a:solidFill>
              <a:srgbClr val="FCC30A"/>
            </a:solidFill>
            <a:prstDash val="solid"/>
          </a:ln>
        </p:spPr>
      </p:sp>
      <p:pic>
        <p:nvPicPr>
          <p:cNvPr id="19"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20" name="Text 14"/>
          <p:cNvSpPr txBox="1"/>
          <p:nvPr/>
        </p:nvSpPr>
        <p:spPr>
          <a:xfrm>
            <a:off x="164592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Engineered pig selection</a:t>
            </a:r>
            <a:endParaRPr lang="en-US" sz="1600" dirty="0"/>
          </a:p>
        </p:txBody>
      </p:sp>
      <p:sp>
        <p:nvSpPr>
          <p:cNvPr id="21" name="Text 15"/>
          <p:cNvSpPr txBox="1"/>
          <p:nvPr/>
        </p:nvSpPr>
        <p:spPr>
          <a:xfrm>
            <a:off x="82296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Decoking pigs matched to each coil and each coke condition</a:t>
            </a:r>
            <a:endParaRPr lang="en-US" sz="1200" dirty="0"/>
          </a:p>
        </p:txBody>
      </p:sp>
      <p:sp>
        <p:nvSpPr>
          <p:cNvPr id="22" name="Shape 16"/>
          <p:cNvSpPr/>
          <p:nvPr/>
        </p:nvSpPr>
        <p:spPr>
          <a:xfrm>
            <a:off x="4069080" y="4023360"/>
            <a:ext cx="3383280" cy="1965960"/>
          </a:xfrm>
          <a:prstGeom prst="rect">
            <a:avLst/>
          </a:prstGeom>
          <a:solidFill>
            <a:srgbClr val="2B2B2B"/>
          </a:solidFill>
          <a:ln w="12700">
            <a:solidFill>
              <a:srgbClr val="2B2B2B"/>
            </a:solidFill>
            <a:prstDash val="solid"/>
          </a:ln>
        </p:spPr>
      </p:sp>
      <p:sp>
        <p:nvSpPr>
          <p:cNvPr id="23" name="Shape 17"/>
          <p:cNvSpPr/>
          <p:nvPr/>
        </p:nvSpPr>
        <p:spPr>
          <a:xfrm>
            <a:off x="4343400" y="4297680"/>
            <a:ext cx="658368" cy="658368"/>
          </a:xfrm>
          <a:prstGeom prst="ellipse">
            <a:avLst/>
          </a:prstGeom>
          <a:solidFill>
            <a:srgbClr val="FCC30A"/>
          </a:solidFill>
          <a:ln w="12700">
            <a:solidFill>
              <a:srgbClr val="FCC30A"/>
            </a:solidFill>
            <a:prstDash val="solid"/>
          </a:ln>
        </p:spPr>
      </p:sp>
      <p:pic>
        <p:nvPicPr>
          <p:cNvPr id="24" name="Image 4" descr="preencoded.png">    </p:cNvPr>
          <p:cNvPicPr>
            <a:picLocks noChangeAspect="1"/>
          </p:cNvPicPr>
          <p:nvPr/>
        </p:nvPicPr>
        <p:blipFill>
          <a:blip r:embed="rId5"/>
          <a:stretch>
            <a:fillRect/>
          </a:stretch>
        </p:blipFill>
        <p:spPr>
          <a:xfrm>
            <a:off x="4507992" y="4462272"/>
            <a:ext cx="329184" cy="329184"/>
          </a:xfrm>
          <a:prstGeom prst="rect">
            <a:avLst/>
          </a:prstGeom>
        </p:spPr>
      </p:pic>
      <p:sp>
        <p:nvSpPr>
          <p:cNvPr id="25" name="Text 18"/>
          <p:cNvSpPr txBox="1"/>
          <p:nvPr/>
        </p:nvSpPr>
        <p:spPr>
          <a:xfrm>
            <a:off x="5166360" y="4297680"/>
            <a:ext cx="219456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Data-driven, shared</a:t>
            </a:r>
            <a:endParaRPr lang="en-US" sz="1600" dirty="0"/>
          </a:p>
        </p:txBody>
      </p:sp>
      <p:sp>
        <p:nvSpPr>
          <p:cNvPr id="26" name="Text 19"/>
          <p:cNvSpPr txBox="1"/>
          <p:nvPr/>
        </p:nvSpPr>
        <p:spPr>
          <a:xfrm>
            <a:off x="4343400" y="5102352"/>
            <a:ext cx="2926080" cy="82296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Durations built from recorded actuals; lessons learned reviewed with Valero after every job</a:t>
            </a:r>
            <a:endParaRPr lang="en-US" sz="1200" dirty="0"/>
          </a:p>
        </p:txBody>
      </p:sp>
      <p:sp>
        <p:nvSpPr>
          <p:cNvPr id="27" name="Text 2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Valero system</a:t>
            </a:r>
            <a:endParaRPr lang="en-US" sz="3200" dirty="0"/>
          </a:p>
        </p:txBody>
      </p:sp>
      <p:pic>
        <p:nvPicPr>
          <p:cNvPr id="5" name="Image 0" descr="C:\Users\Jwuts\obsidian-work\02-facilities\Valero\Texas-City-TX\pigging-capabilities-presentation\build/img/valero_map.png">    </p:cNvPr>
          <p:cNvPicPr>
            <a:picLocks noChangeAspect="1"/>
          </p:cNvPicPr>
          <p:nvPr/>
        </p:nvPicPr>
        <p:blipFill>
          <a:blip r:embed="rId1"/>
          <a:stretch>
            <a:fillRect/>
          </a:stretch>
        </p:blipFill>
        <p:spPr>
          <a:xfrm>
            <a:off x="365760" y="1783080"/>
            <a:ext cx="6583680" cy="4247535"/>
          </a:xfrm>
          <a:prstGeom prst="rect">
            <a:avLst/>
          </a:prstGeom>
        </p:spPr>
      </p:pic>
      <p:sp>
        <p:nvSpPr>
          <p:cNvPr id="6" name="Text 3"/>
          <p:cNvSpPr txBox="1"/>
          <p:nvPr/>
        </p:nvSpPr>
        <p:spPr>
          <a:xfrm>
            <a:off x="7223760" y="1554480"/>
            <a:ext cx="1280160" cy="914400"/>
          </a:xfrm>
          <a:prstGeom prst="rect">
            <a:avLst/>
          </a:prstGeom>
          <a:noFill/>
          <a:ln/>
        </p:spPr>
        <p:txBody>
          <a:bodyPr wrap="square" lIns="0" tIns="0" rIns="0" bIns="0" rtlCol="0" anchor="ctr"/>
          <a:lstStyle/>
          <a:p>
            <a:pPr indent="0" marL="0">
              <a:buNone/>
            </a:pPr>
            <a:r>
              <a:rPr lang="en-US" sz="6000" b="1" dirty="0">
                <a:solidFill>
                  <a:srgbClr val="FCC30A"/>
                </a:solidFill>
                <a:latin typeface="Arial" pitchFamily="34" charset="0"/>
                <a:ea typeface="Arial" pitchFamily="34" charset="-122"/>
                <a:cs typeface="Arial" pitchFamily="34" charset="-120"/>
              </a:rPr>
              <a:t>14</a:t>
            </a:r>
            <a:endParaRPr lang="en-US" sz="6000" dirty="0"/>
          </a:p>
        </p:txBody>
      </p:sp>
      <p:sp>
        <p:nvSpPr>
          <p:cNvPr id="7" name="Text 4"/>
          <p:cNvSpPr txBox="1"/>
          <p:nvPr/>
        </p:nvSpPr>
        <p:spPr>
          <a:xfrm>
            <a:off x="8503920" y="1645920"/>
            <a:ext cx="315468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heaters cleaned at</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5 Valero refineries</a:t>
            </a:r>
            <a:endParaRPr lang="en-US" sz="1600" dirty="0"/>
          </a:p>
        </p:txBody>
      </p:sp>
      <p:sp>
        <p:nvSpPr>
          <p:cNvPr id="8" name="Shape 5"/>
          <p:cNvSpPr/>
          <p:nvPr/>
        </p:nvSpPr>
        <p:spPr>
          <a:xfrm>
            <a:off x="7223760" y="2697480"/>
            <a:ext cx="54864" cy="475488"/>
          </a:xfrm>
          <a:prstGeom prst="rect">
            <a:avLst/>
          </a:prstGeom>
          <a:solidFill>
            <a:srgbClr val="FFFFFF"/>
          </a:solidFill>
          <a:ln w="12700">
            <a:solidFill>
              <a:srgbClr val="FFFFFF"/>
            </a:solidFill>
            <a:prstDash val="solid"/>
          </a:ln>
        </p:spPr>
      </p:sp>
      <p:sp>
        <p:nvSpPr>
          <p:cNvPr id="9" name="Text 6"/>
          <p:cNvSpPr txBox="1"/>
          <p:nvPr/>
        </p:nvSpPr>
        <p:spPr>
          <a:xfrm>
            <a:off x="7406640" y="2679192"/>
            <a:ext cx="4206240" cy="256032"/>
          </a:xfrm>
          <a:prstGeom prst="rect">
            <a:avLst/>
          </a:prstGeom>
          <a:noFill/>
          <a:ln/>
        </p:spPr>
        <p:txBody>
          <a:bodyPr wrap="square" lIns="0" tIns="0" rIns="0" bIns="0" rtlCol="0" anchor="ctr"/>
          <a:lstStyle/>
          <a:p>
            <a:pPr indent="0" marL="0">
              <a:buNone/>
            </a:pPr>
            <a:r>
              <a:rPr lang="en-US" sz="1350" b="1" dirty="0">
                <a:solidFill>
                  <a:srgbClr val="FCC30A"/>
                </a:solidFill>
                <a:latin typeface="Arial" pitchFamily="34" charset="0"/>
                <a:ea typeface="Arial" pitchFamily="34" charset="-122"/>
                <a:cs typeface="Arial" pitchFamily="34" charset="-120"/>
              </a:rPr>
              <a:t>Texas City, TX</a:t>
            </a:r>
            <a:endParaRPr lang="en-US" sz="1350" dirty="0"/>
          </a:p>
        </p:txBody>
      </p:sp>
      <p:sp>
        <p:nvSpPr>
          <p:cNvPr id="10" name="Text 7"/>
          <p:cNvSpPr txBox="1"/>
          <p:nvPr/>
        </p:nvSpPr>
        <p:spPr>
          <a:xfrm>
            <a:off x="7406640" y="2935224"/>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Coker heater</a:t>
            </a:r>
            <a:endParaRPr lang="en-US" sz="1150" dirty="0"/>
          </a:p>
        </p:txBody>
      </p:sp>
      <p:sp>
        <p:nvSpPr>
          <p:cNvPr id="11" name="Shape 8"/>
          <p:cNvSpPr/>
          <p:nvPr/>
        </p:nvSpPr>
        <p:spPr>
          <a:xfrm>
            <a:off x="7223760" y="3319272"/>
            <a:ext cx="54864" cy="475488"/>
          </a:xfrm>
          <a:prstGeom prst="rect">
            <a:avLst/>
          </a:prstGeom>
          <a:solidFill>
            <a:srgbClr val="FCC30A"/>
          </a:solidFill>
          <a:ln w="12700">
            <a:solidFill>
              <a:srgbClr val="FCC30A"/>
            </a:solidFill>
            <a:prstDash val="solid"/>
          </a:ln>
        </p:spPr>
      </p:sp>
      <p:sp>
        <p:nvSpPr>
          <p:cNvPr id="12" name="Text 9"/>
          <p:cNvSpPr txBox="1"/>
          <p:nvPr/>
        </p:nvSpPr>
        <p:spPr>
          <a:xfrm>
            <a:off x="7406640" y="3300984"/>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Port Arthur, TX</a:t>
            </a:r>
            <a:endParaRPr lang="en-US" sz="1350" dirty="0"/>
          </a:p>
        </p:txBody>
      </p:sp>
      <p:sp>
        <p:nvSpPr>
          <p:cNvPr id="13" name="Text 10"/>
          <p:cNvSpPr txBox="1"/>
          <p:nvPr/>
        </p:nvSpPr>
        <p:spPr>
          <a:xfrm>
            <a:off x="7406640" y="3557016"/>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H-102A, H-102B, F-2000</a:t>
            </a:r>
            <a:endParaRPr lang="en-US" sz="1150" dirty="0"/>
          </a:p>
        </p:txBody>
      </p:sp>
      <p:sp>
        <p:nvSpPr>
          <p:cNvPr id="14" name="Shape 11"/>
          <p:cNvSpPr/>
          <p:nvPr/>
        </p:nvSpPr>
        <p:spPr>
          <a:xfrm>
            <a:off x="7223760" y="3941064"/>
            <a:ext cx="54864" cy="475488"/>
          </a:xfrm>
          <a:prstGeom prst="rect">
            <a:avLst/>
          </a:prstGeom>
          <a:solidFill>
            <a:srgbClr val="FCC30A"/>
          </a:solidFill>
          <a:ln w="12700">
            <a:solidFill>
              <a:srgbClr val="FCC30A"/>
            </a:solidFill>
            <a:prstDash val="solid"/>
          </a:ln>
        </p:spPr>
      </p:sp>
      <p:sp>
        <p:nvSpPr>
          <p:cNvPr id="15" name="Text 12"/>
          <p:cNvSpPr txBox="1"/>
          <p:nvPr/>
        </p:nvSpPr>
        <p:spPr>
          <a:xfrm>
            <a:off x="7406640" y="3922776"/>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Three Rivers, TX</a:t>
            </a:r>
            <a:endParaRPr lang="en-US" sz="1350" dirty="0"/>
          </a:p>
        </p:txBody>
      </p:sp>
      <p:sp>
        <p:nvSpPr>
          <p:cNvPr id="16" name="Text 13"/>
          <p:cNvSpPr txBox="1"/>
          <p:nvPr/>
        </p:nvSpPr>
        <p:spPr>
          <a:xfrm>
            <a:off x="7406640" y="4178808"/>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100-H-1, 100-H-2, H-1102, H-1105, 440-H1</a:t>
            </a:r>
            <a:endParaRPr lang="en-US" sz="1150" dirty="0"/>
          </a:p>
        </p:txBody>
      </p:sp>
      <p:sp>
        <p:nvSpPr>
          <p:cNvPr id="17" name="Shape 14"/>
          <p:cNvSpPr/>
          <p:nvPr/>
        </p:nvSpPr>
        <p:spPr>
          <a:xfrm>
            <a:off x="7223760" y="4562856"/>
            <a:ext cx="54864" cy="475488"/>
          </a:xfrm>
          <a:prstGeom prst="rect">
            <a:avLst/>
          </a:prstGeom>
          <a:solidFill>
            <a:srgbClr val="FCC30A"/>
          </a:solidFill>
          <a:ln w="12700">
            <a:solidFill>
              <a:srgbClr val="FCC30A"/>
            </a:solidFill>
            <a:prstDash val="solid"/>
          </a:ln>
        </p:spPr>
      </p:sp>
      <p:sp>
        <p:nvSpPr>
          <p:cNvPr id="18" name="Text 15"/>
          <p:cNvSpPr txBox="1"/>
          <p:nvPr/>
        </p:nvSpPr>
        <p:spPr>
          <a:xfrm>
            <a:off x="7406640" y="4544568"/>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Meraux, LA</a:t>
            </a:r>
            <a:endParaRPr lang="en-US" sz="1350" dirty="0"/>
          </a:p>
        </p:txBody>
      </p:sp>
      <p:sp>
        <p:nvSpPr>
          <p:cNvPr id="19" name="Text 16"/>
          <p:cNvSpPr txBox="1"/>
          <p:nvPr/>
        </p:nvSpPr>
        <p:spPr>
          <a:xfrm>
            <a:off x="7406640" y="4800600"/>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VU-H-001, VU-H-002</a:t>
            </a:r>
            <a:endParaRPr lang="en-US" sz="1150" dirty="0"/>
          </a:p>
        </p:txBody>
      </p:sp>
      <p:sp>
        <p:nvSpPr>
          <p:cNvPr id="20" name="Shape 17"/>
          <p:cNvSpPr/>
          <p:nvPr/>
        </p:nvSpPr>
        <p:spPr>
          <a:xfrm>
            <a:off x="7223760" y="5184648"/>
            <a:ext cx="54864" cy="475488"/>
          </a:xfrm>
          <a:prstGeom prst="rect">
            <a:avLst/>
          </a:prstGeom>
          <a:solidFill>
            <a:srgbClr val="FCC30A"/>
          </a:solidFill>
          <a:ln w="12700">
            <a:solidFill>
              <a:srgbClr val="FCC30A"/>
            </a:solidFill>
            <a:prstDash val="solid"/>
          </a:ln>
        </p:spPr>
      </p:sp>
      <p:sp>
        <p:nvSpPr>
          <p:cNvPr id="21" name="Text 18"/>
          <p:cNvSpPr txBox="1"/>
          <p:nvPr/>
        </p:nvSpPr>
        <p:spPr>
          <a:xfrm>
            <a:off x="7406640" y="5166360"/>
            <a:ext cx="4206240" cy="256032"/>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Wilmington, CA</a:t>
            </a:r>
            <a:endParaRPr lang="en-US" sz="1350" dirty="0"/>
          </a:p>
        </p:txBody>
      </p:sp>
      <p:sp>
        <p:nvSpPr>
          <p:cNvPr id="22" name="Text 19"/>
          <p:cNvSpPr txBox="1"/>
          <p:nvPr/>
        </p:nvSpPr>
        <p:spPr>
          <a:xfrm>
            <a:off x="7406640" y="5422392"/>
            <a:ext cx="4206240" cy="237744"/>
          </a:xfrm>
          <a:prstGeom prst="rect">
            <a:avLst/>
          </a:prstGeom>
          <a:noFill/>
          <a:ln/>
        </p:spPr>
        <p:txBody>
          <a:bodyPr wrap="square" lIns="0" tIns="0" rIns="0" bIns="0" rtlCol="0" anchor="ctr"/>
          <a:lstStyle/>
          <a:p>
            <a:pPr indent="0" marL="0">
              <a:buNone/>
            </a:pPr>
            <a:r>
              <a:rPr lang="en-US" sz="1150" dirty="0">
                <a:solidFill>
                  <a:srgbClr val="BDBDBD"/>
                </a:solidFill>
                <a:latin typeface="Arial" pitchFamily="34" charset="0"/>
                <a:ea typeface="Arial" pitchFamily="34" charset="-122"/>
                <a:cs typeface="Arial" pitchFamily="34" charset="-120"/>
              </a:rPr>
              <a:t>20H200, 20H2000, 31H3000</a:t>
            </a:r>
            <a:endParaRPr lang="en-US" sz="1150" dirty="0"/>
          </a:p>
        </p:txBody>
      </p:sp>
      <p:sp>
        <p:nvSpPr>
          <p:cNvPr id="23" name="Text 20"/>
          <p:cNvSpPr txBox="1"/>
          <p:nvPr/>
        </p:nvSpPr>
        <p:spPr>
          <a:xfrm>
            <a:off x="7223760" y="5897880"/>
            <a:ext cx="4434840" cy="274320"/>
          </a:xfrm>
          <a:prstGeom prst="rect">
            <a:avLst/>
          </a:prstGeom>
          <a:noFill/>
          <a:ln/>
        </p:spPr>
        <p:txBody>
          <a:bodyPr wrap="square" lIns="0" tIns="0" rIns="0" bIns="0" rtlCol="0" anchor="ctr"/>
          <a:lstStyle/>
          <a:p>
            <a:pPr indent="0" marL="0">
              <a:buNone/>
            </a:pPr>
            <a:r>
              <a:rPr lang="en-US" sz="1150" i="1" dirty="0">
                <a:solidFill>
                  <a:srgbClr val="FCC30A"/>
                </a:solidFill>
                <a:latin typeface="Arial" pitchFamily="34" charset="0"/>
                <a:ea typeface="Arial" pitchFamily="34" charset="-122"/>
                <a:cs typeface="Arial" pitchFamily="34" charset="-120"/>
              </a:rPr>
              <a:t>Coker, vacuum, crude charge and reboiler service</a:t>
            </a:r>
            <a:endParaRPr lang="en-US" sz="1150" dirty="0"/>
          </a:p>
        </p:txBody>
      </p:sp>
      <p:sp>
        <p:nvSpPr>
          <p:cNvPr id="24" name="Text 2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5" name="Text 2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9983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9983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Valero case study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Valero Port Arthur, TX: H-102A &amp; H-102B</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Vacuum heaters, March–April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2 heaters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18,496'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434</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pigs run</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Both 8-pass vacuum heaters pigged three passes at a time, with filtration and smart pig inspection of every pass.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Every pass signed clean and cleared by smart pig before rig-out. A replacement TriMax was rigged in mid-job within 2 hours, with no break in pigging.</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Pass 6B: coke ring found by smart pig</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Mixed-diameter vacuum pass, 3" to 8"</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0.25"</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thick coke ring</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24 h</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dedicated pigging</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188 psi</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flow-test reduction</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Inspection found a circumferential coke ring at the inlet of a 5" tube, just before the step-up to 8".</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On mixed-diameter passes, stage pigs for every diameter and plan time at each step-up before the inspection run.</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918911" y="1956816"/>
            <a:ext cx="5779008" cy="3298698"/>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why_road.jpg">    </p:cNvPr>
          <p:cNvPicPr>
            <a:picLocks noChangeAspect="1"/>
          </p:cNvPicPr>
          <p:nvPr/>
        </p:nvPicPr>
        <p:blipFill>
          <a:blip r:embed="rId1"/>
          <a:stretch>
            <a:fillRect/>
          </a:stretch>
        </p:blipFill>
        <p:spPr>
          <a:xfrm>
            <a:off x="5973775" y="2011680"/>
            <a:ext cx="5669280" cy="3188970"/>
          </a:xfrm>
          <a:prstGeom prst="rect">
            <a:avLst/>
          </a:prstGeom>
        </p:spPr>
      </p:pic>
      <p:sp>
        <p:nvSpPr>
          <p:cNvPr id="4" name="Shape 1"/>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2"/>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Why USA DeBusk for Texas City</a:t>
            </a:r>
            <a:endParaRPr lang="en-US" sz="3200" dirty="0"/>
          </a:p>
        </p:txBody>
      </p:sp>
      <p:sp>
        <p:nvSpPr>
          <p:cNvPr id="7" name="Shape 4"/>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674370" y="2045970"/>
            <a:ext cx="251460" cy="251460"/>
          </a:xfrm>
          <a:prstGeom prst="rect">
            <a:avLst/>
          </a:prstGeom>
        </p:spPr>
      </p:pic>
      <p:sp>
        <p:nvSpPr>
          <p:cNvPr id="9" name="Text 5"/>
          <p:cNvSpPr txBox="1"/>
          <p:nvPr/>
        </p:nvSpPr>
        <p:spPr>
          <a:xfrm>
            <a:off x="1234440" y="1874520"/>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at Valero</a:t>
            </a:r>
            <a:endParaRPr lang="en-US" sz="1800" dirty="0"/>
          </a:p>
        </p:txBody>
      </p:sp>
      <p:sp>
        <p:nvSpPr>
          <p:cNvPr id="10" name="Text 6"/>
          <p:cNvSpPr txBox="1"/>
          <p:nvPr/>
        </p:nvSpPr>
        <p:spPr>
          <a:xfrm>
            <a:off x="1234440" y="2203704"/>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14 heaters at 5 Valero refineries, your coker heater among them</a:t>
            </a:r>
            <a:endParaRPr lang="en-US" sz="1200" dirty="0"/>
          </a:p>
        </p:txBody>
      </p:sp>
      <p:sp>
        <p:nvSpPr>
          <p:cNvPr id="11" name="Shape 7"/>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2" descr="preencoded.png">    </p:cNvPr>
          <p:cNvPicPr>
            <a:picLocks noChangeAspect="1"/>
          </p:cNvPicPr>
          <p:nvPr/>
        </p:nvPicPr>
        <p:blipFill>
          <a:blip r:embed="rId3"/>
          <a:stretch>
            <a:fillRect/>
          </a:stretch>
        </p:blipFill>
        <p:spPr>
          <a:xfrm>
            <a:off x="674370" y="2887218"/>
            <a:ext cx="251460" cy="251460"/>
          </a:xfrm>
          <a:prstGeom prst="rect">
            <a:avLst/>
          </a:prstGeom>
        </p:spPr>
      </p:pic>
      <p:sp>
        <p:nvSpPr>
          <p:cNvPr id="13" name="Text 8"/>
          <p:cNvSpPr txBox="1"/>
          <p:nvPr/>
        </p:nvSpPr>
        <p:spPr>
          <a:xfrm>
            <a:off x="1234440" y="2715768"/>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Local</a:t>
            </a:r>
            <a:endParaRPr lang="en-US" sz="1800" dirty="0"/>
          </a:p>
        </p:txBody>
      </p:sp>
      <p:sp>
        <p:nvSpPr>
          <p:cNvPr id="14" name="Text 9"/>
          <p:cNvSpPr txBox="1"/>
          <p:nvPr/>
        </p:nvSpPr>
        <p:spPr>
          <a:xfrm>
            <a:off x="1234440" y="3044952"/>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Fleet based in Deer Park, a short drive from Texas City</a:t>
            </a:r>
            <a:endParaRPr lang="en-US" sz="1200" dirty="0"/>
          </a:p>
        </p:txBody>
      </p:sp>
      <p:sp>
        <p:nvSpPr>
          <p:cNvPr id="15" name="Shape 10"/>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3" descr="preencoded.png">    </p:cNvPr>
          <p:cNvPicPr>
            <a:picLocks noChangeAspect="1"/>
          </p:cNvPicPr>
          <p:nvPr/>
        </p:nvPicPr>
        <p:blipFill>
          <a:blip r:embed="rId4"/>
          <a:stretch>
            <a:fillRect/>
          </a:stretch>
        </p:blipFill>
        <p:spPr>
          <a:xfrm>
            <a:off x="674370" y="3728466"/>
            <a:ext cx="251460" cy="251460"/>
          </a:xfrm>
          <a:prstGeom prst="rect">
            <a:avLst/>
          </a:prstGeom>
        </p:spPr>
      </p:pic>
      <p:sp>
        <p:nvSpPr>
          <p:cNvPr id="17" name="Text 11"/>
          <p:cNvSpPr txBox="1"/>
          <p:nvPr/>
        </p:nvSpPr>
        <p:spPr>
          <a:xfrm>
            <a:off x="1234440" y="3557016"/>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2"/>
          <p:cNvSpPr txBox="1"/>
          <p:nvPr/>
        </p:nvSpPr>
        <p:spPr>
          <a:xfrm>
            <a:off x="1234440" y="3886200"/>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Triple-pass TriMax: a spare pump on every 2-pass heater</a:t>
            </a:r>
            <a:endParaRPr lang="en-US" sz="1200" dirty="0"/>
          </a:p>
        </p:txBody>
      </p:sp>
      <p:sp>
        <p:nvSpPr>
          <p:cNvPr id="19" name="Shape 13"/>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4" descr="preencoded.png">    </p:cNvPr>
          <p:cNvPicPr>
            <a:picLocks noChangeAspect="1"/>
          </p:cNvPicPr>
          <p:nvPr/>
        </p:nvPicPr>
        <p:blipFill>
          <a:blip r:embed="rId5"/>
          <a:stretch>
            <a:fillRect/>
          </a:stretch>
        </p:blipFill>
        <p:spPr>
          <a:xfrm>
            <a:off x="674370" y="4569714"/>
            <a:ext cx="251460" cy="251460"/>
          </a:xfrm>
          <a:prstGeom prst="rect">
            <a:avLst/>
          </a:prstGeom>
        </p:spPr>
      </p:pic>
      <p:sp>
        <p:nvSpPr>
          <p:cNvPr id="21" name="Text 14"/>
          <p:cNvSpPr txBox="1"/>
          <p:nvPr/>
        </p:nvSpPr>
        <p:spPr>
          <a:xfrm>
            <a:off x="1234440" y="4398264"/>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5"/>
          <p:cNvSpPr txBox="1"/>
          <p:nvPr/>
        </p:nvSpPr>
        <p:spPr>
          <a:xfrm>
            <a:off x="1234440" y="4727448"/>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4-point verification and joint sign-off on every pass</a:t>
            </a:r>
            <a:endParaRPr lang="en-US" sz="1200" dirty="0"/>
          </a:p>
        </p:txBody>
      </p:sp>
      <p:sp>
        <p:nvSpPr>
          <p:cNvPr id="23" name="Shape 16"/>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5" descr="preencoded.png">    </p:cNvPr>
          <p:cNvPicPr>
            <a:picLocks noChangeAspect="1"/>
          </p:cNvPicPr>
          <p:nvPr/>
        </p:nvPicPr>
        <p:blipFill>
          <a:blip r:embed="rId6"/>
          <a:stretch>
            <a:fillRect/>
          </a:stretch>
        </p:blipFill>
        <p:spPr>
          <a:xfrm>
            <a:off x="674370" y="5410962"/>
            <a:ext cx="251460" cy="251460"/>
          </a:xfrm>
          <a:prstGeom prst="rect">
            <a:avLst/>
          </a:prstGeom>
        </p:spPr>
      </p:pic>
      <p:sp>
        <p:nvSpPr>
          <p:cNvPr id="25" name="Text 17"/>
          <p:cNvSpPr txBox="1"/>
          <p:nvPr/>
        </p:nvSpPr>
        <p:spPr>
          <a:xfrm>
            <a:off x="1234440" y="5239512"/>
            <a:ext cx="448056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8"/>
          <p:cNvSpPr txBox="1"/>
          <p:nvPr/>
        </p:nvSpPr>
        <p:spPr>
          <a:xfrm>
            <a:off x="1234440" y="5568696"/>
            <a:ext cx="4480560" cy="457200"/>
          </a:xfrm>
          <a:prstGeom prst="rect">
            <a:avLst/>
          </a:prstGeom>
          <a:noFill/>
          <a:ln/>
        </p:spPr>
        <p:txBody>
          <a:bodyPr wrap="square" lIns="0" tIns="0" rIns="0" bIns="0" rtlCol="0" anchor="t"/>
          <a:lstStyle/>
          <a:p>
            <a:pPr indent="0" marL="0">
              <a:buNone/>
            </a:pPr>
            <a:r>
              <a:rPr lang="en-US" sz="1200" dirty="0">
                <a:solidFill>
                  <a:srgbClr val="BDBDBD"/>
                </a:solidFill>
                <a:latin typeface="Arial" pitchFamily="34" charset="0"/>
                <a:ea typeface="Arial" pitchFamily="34" charset="-122"/>
                <a:cs typeface="Arial" pitchFamily="34" charset="-120"/>
              </a:rPr>
              <a:t>EMR 0.48, ISNetworld A, zero fatalities in 3 years</a:t>
            </a:r>
            <a:endParaRPr lang="en-US" sz="1200" dirty="0"/>
          </a:p>
        </p:txBody>
      </p:sp>
      <p:sp>
        <p:nvSpPr>
          <p:cNvPr id="27"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Valero Texas City  |  Heater Pigging &amp; Decoking Services</a:t>
            </a:r>
            <a:endParaRPr lang="en-US" sz="900" dirty="0"/>
          </a:p>
        </p:txBody>
      </p:sp>
      <p:sp>
        <p:nvSpPr>
          <p:cNvPr id="28"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547208" y="3931920"/>
            <a:ext cx="1097280" cy="54864"/>
          </a:xfrm>
          <a:prstGeom prst="rect">
            <a:avLst/>
          </a:prstGeom>
          <a:solidFill>
            <a:srgbClr val="FCC30A"/>
          </a:solidFill>
          <a:ln w="12700">
            <a:solidFill>
              <a:srgbClr val="FCC30A"/>
            </a:solidFill>
            <a:prstDash val="solid"/>
          </a:ln>
        </p:spPr>
      </p:sp>
      <p:pic>
        <p:nvPicPr>
          <p:cNvPr id="3" name="Image 0" descr="C:\Users\Jwuts\obsidian-work\02-facilities\Valero\Texas-City-TX\pigging-capabilities-presentation\build/img/logo_white.png">    </p:cNvPr>
          <p:cNvPicPr>
            <a:picLocks noChangeAspect="1"/>
          </p:cNvPicPr>
          <p:nvPr/>
        </p:nvPicPr>
        <p:blipFill>
          <a:blip r:embed="rId1"/>
          <a:stretch>
            <a:fillRect/>
          </a:stretch>
        </p:blipFill>
        <p:spPr>
          <a:xfrm>
            <a:off x="4267048" y="1463040"/>
            <a:ext cx="3657600" cy="548097"/>
          </a:xfrm>
          <a:prstGeom prst="rect">
            <a:avLst/>
          </a:prstGeom>
        </p:spPr>
      </p:pic>
      <p:sp>
        <p:nvSpPr>
          <p:cNvPr id="4" name="Text 1"/>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Valero Texas City — Heater Pigging &amp; Decoking Services</dc:title>
  <dc:subject>PptxGenJS Presentation</dc:subject>
  <dc:creator>USA DeBusk</dc:creator>
  <cp:lastModifiedBy>USA DeBusk</cp:lastModifiedBy>
  <cp:revision>1</cp:revision>
  <dcterms:created xsi:type="dcterms:W3CDTF">2026-10-14T03:26:06Z</dcterms:created>
  <dcterms:modified xsi:type="dcterms:W3CDTF">2026-10-14T03:26:06Z</dcterms:modified>
</cp:coreProperties>
</file>