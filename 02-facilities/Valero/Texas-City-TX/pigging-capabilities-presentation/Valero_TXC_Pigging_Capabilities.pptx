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4 staged at a refinery, the same equipment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which are the case study on the next slide, plus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14 heaters at five Valero refineries, including the Texas City coker heater.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trimax.jpg">    </p:cNvPr>
          <p:cNvPicPr>
            <a:picLocks noChangeAspect="1"/>
          </p:cNvPicPr>
          <p:nvPr/>
        </p:nvPicPr>
        <p:blipFill>
          <a:blip r:embed="rId1"/>
          <a:stretch>
            <a:fillRect/>
          </a:stretch>
        </p:blipFill>
        <p:spPr>
          <a:xfrm>
            <a:off x="4572000" y="0"/>
            <a:ext cx="7619695" cy="6858000"/>
          </a:xfrm>
          <a:prstGeom prst="rect">
            <a:avLst/>
          </a:prstGeom>
        </p:spPr>
      </p:pic>
      <p:sp>
        <p:nvSpPr>
          <p:cNvPr id="3" name="Shape 0"/>
          <p:cNvSpPr/>
          <p:nvPr/>
        </p:nvSpPr>
        <p:spPr>
          <a:xfrm>
            <a:off x="640080" y="1920240"/>
            <a:ext cx="822960" cy="64008"/>
          </a:xfrm>
          <a:prstGeom prst="rect">
            <a:avLst/>
          </a:prstGeom>
          <a:solidFill>
            <a:srgbClr val="FCC30A"/>
          </a:solidFill>
          <a:ln w="12700">
            <a:solidFill>
              <a:srgbClr val="FCC30A"/>
            </a:solidFill>
            <a:prstDash val="solid"/>
          </a:ln>
        </p:spPr>
      </p:sp>
      <p:pic>
        <p:nvPicPr>
          <p:cNvPr id="4"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594360"/>
            <a:ext cx="3108960" cy="465883"/>
          </a:xfrm>
          <a:prstGeom prst="rect">
            <a:avLst/>
          </a:prstGeom>
        </p:spPr>
      </p:pic>
      <p:sp>
        <p:nvSpPr>
          <p:cNvPr id="5" name="Text 1"/>
          <p:cNvSpPr txBox="1"/>
          <p:nvPr/>
        </p:nvSpPr>
        <p:spPr>
          <a:xfrm>
            <a:off x="640080" y="2148840"/>
            <a:ext cx="3840480" cy="19202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Heater Pigging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&amp; Decoking</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Services</a:t>
            </a:r>
            <a:endParaRPr lang="en-US" sz="3800" dirty="0"/>
          </a:p>
        </p:txBody>
      </p:sp>
      <p:sp>
        <p:nvSpPr>
          <p:cNvPr id="6" name="Text 2"/>
          <p:cNvSpPr txBox="1"/>
          <p:nvPr/>
        </p:nvSpPr>
        <p:spPr>
          <a:xfrm>
            <a:off x="640080" y="4114800"/>
            <a:ext cx="3840480" cy="41148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
        <p:nvSpPr>
          <p:cNvPr id="7" name="Text 3"/>
          <p:cNvSpPr txBox="1"/>
          <p:nvPr/>
        </p:nvSpPr>
        <p:spPr>
          <a:xfrm>
            <a:off x="640080" y="4526280"/>
            <a:ext cx="3840480" cy="548640"/>
          </a:xfrm>
          <a:prstGeom prst="rect">
            <a:avLst/>
          </a:prstGeom>
          <a:noFill/>
          <a:ln/>
        </p:spPr>
        <p:txBody>
          <a:bodyPr wrap="square" lIns="0" tIns="0" rIns="0" bIns="0" rtlCol="0" anchor="t"/>
          <a:lstStyle/>
          <a:p>
            <a:pPr indent="0" marL="0">
              <a:buNone/>
            </a:pPr>
            <a:r>
              <a:rPr lang="en-US" sz="1400" dirty="0">
                <a:solidFill>
                  <a:srgbClr val="BDBDBD"/>
                </a:solidFill>
                <a:latin typeface="Arial" pitchFamily="34" charset="0"/>
                <a:ea typeface="Arial" pitchFamily="34" charset="-122"/>
                <a:cs typeface="Arial" pitchFamily="34" charset="-120"/>
              </a:rPr>
              <a:t>Mechanical pigging &amp; decoking for fired heaters</a:t>
            </a:r>
            <a:endParaRPr lang="en-US" sz="1400" dirty="0"/>
          </a:p>
        </p:txBody>
      </p:sp>
      <p:sp>
        <p:nvSpPr>
          <p:cNvPr id="8" name="Text 4"/>
          <p:cNvSpPr txBox="1"/>
          <p:nvPr/>
        </p:nvSpPr>
        <p:spPr>
          <a:xfrm>
            <a:off x="640080" y="5349240"/>
            <a:ext cx="384048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Jason Harman</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Commercial Manager</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 &amp; case study</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ervices_heater.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8023" y="2194560"/>
            <a:ext cx="3730752" cy="1858528"/>
          </a:xfrm>
          <a:prstGeom prst="rect">
            <a:avLst/>
          </a:prstGeom>
          <a:solidFill>
            <a:srgbClr val="FFFFFF"/>
          </a:solidFill>
          <a:ln w="12700">
            <a:solidFill>
              <a:srgbClr val="DDDDDD"/>
            </a:solidFill>
            <a:prstDash val="solid"/>
          </a:ln>
        </p:spPr>
      </p:sp>
      <p:pic>
        <p:nvPicPr>
          <p:cNvPr id="3" name="Image 0" descr="C:\Users\Jwuts\obsidian-work\02-facilities\Valero\Texas-City-TX\pigging-capabilities-presentation\build/img/pigs_lineup.jpg">    </p:cNvPr>
          <p:cNvPicPr>
            <a:picLocks noChangeAspect="1"/>
          </p:cNvPicPr>
          <p:nvPr/>
        </p:nvPicPr>
        <p:blipFill>
          <a:blip r:embed="rId1"/>
          <a:stretch>
            <a:fillRect/>
          </a:stretch>
        </p:blipFill>
        <p:spPr>
          <a:xfrm>
            <a:off x="8003743" y="2240280"/>
            <a:ext cx="3639312" cy="1767088"/>
          </a:xfrm>
          <a:prstGeom prst="rect">
            <a:avLst/>
          </a:prstGeom>
        </p:spPr>
      </p:pic>
      <p:sp>
        <p:nvSpPr>
          <p:cNvPr id="4" name="Text 1"/>
          <p:cNvSpPr txBox="1"/>
          <p:nvPr/>
        </p:nvSpPr>
        <p:spPr>
          <a:xfrm>
            <a:off x="8003743" y="4144528"/>
            <a:ext cx="3639312" cy="457200"/>
          </a:xfrm>
          <a:prstGeom prst="rect">
            <a:avLst/>
          </a:prstGeom>
          <a:noFill/>
          <a:ln/>
        </p:spPr>
        <p:txBody>
          <a:bodyPr wrap="square" lIns="0" tIns="0" rIns="0" bIns="0" rtlCol="0" anchor="t"/>
          <a:lstStyle/>
          <a:p>
            <a:pPr algn="ctr" indent="0" marL="0">
              <a:buNone/>
            </a:pPr>
            <a:r>
              <a:rPr lang="en-US" sz="1050" i="1" dirty="0">
                <a:solidFill>
                  <a:srgbClr val="5E5E5E"/>
                </a:solidFill>
                <a:latin typeface="Arial" pitchFamily="34" charset="0"/>
                <a:ea typeface="Arial" pitchFamily="34" charset="-122"/>
                <a:cs typeface="Arial" pitchFamily="34" charset="-120"/>
              </a:rPr>
              <a:t>Scraper pigs after runs: wear marks show where coke remains</a:t>
            </a:r>
            <a:endParaRPr lang="en-US" sz="1050" dirty="0"/>
          </a:p>
        </p:txBody>
      </p:sp>
      <p:sp>
        <p:nvSpPr>
          <p:cNvPr id="5" name="Shape 2"/>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7" name="Text 4"/>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8" name="Text 5"/>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9" name="Shape 6"/>
          <p:cNvSpPr/>
          <p:nvPr/>
        </p:nvSpPr>
        <p:spPr>
          <a:xfrm>
            <a:off x="795528" y="2350008"/>
            <a:ext cx="0" cy="3337560"/>
          </a:xfrm>
          <a:prstGeom prst="line">
            <a:avLst/>
          </a:prstGeom>
          <a:noFill/>
          <a:ln w="25400">
            <a:solidFill>
              <a:srgbClr val="DDDDDD"/>
            </a:solidFill>
            <a:prstDash val="solid"/>
          </a:ln>
        </p:spPr>
      </p:sp>
      <p:sp>
        <p:nvSpPr>
          <p:cNvPr id="10" name="Shape 7"/>
          <p:cNvSpPr/>
          <p:nvPr/>
        </p:nvSpPr>
        <p:spPr>
          <a:xfrm>
            <a:off x="548640" y="2103120"/>
            <a:ext cx="493776" cy="493776"/>
          </a:xfrm>
          <a:prstGeom prst="ellipse">
            <a:avLst/>
          </a:prstGeom>
          <a:solidFill>
            <a:srgbClr val="1E1E1E"/>
          </a:solidFill>
          <a:ln w="25400">
            <a:solidFill>
              <a:srgbClr val="FFFFFF"/>
            </a:solidFill>
            <a:prstDash val="solid"/>
          </a:ln>
        </p:spPr>
      </p:sp>
      <p:sp>
        <p:nvSpPr>
          <p:cNvPr id="11" name="Text 8"/>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2" name="Text 9"/>
          <p:cNvSpPr txBox="1"/>
          <p:nvPr/>
        </p:nvSpPr>
        <p:spPr>
          <a:xfrm>
            <a:off x="1280160" y="208483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3" name="Text 10"/>
          <p:cNvSpPr txBox="1"/>
          <p:nvPr/>
        </p:nvSpPr>
        <p:spPr>
          <a:xfrm>
            <a:off x="1280160" y="235915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4" name="Shape 11"/>
          <p:cNvSpPr/>
          <p:nvPr/>
        </p:nvSpPr>
        <p:spPr>
          <a:xfrm>
            <a:off x="548640" y="2770632"/>
            <a:ext cx="493776" cy="493776"/>
          </a:xfrm>
          <a:prstGeom prst="ellipse">
            <a:avLst/>
          </a:prstGeom>
          <a:solidFill>
            <a:srgbClr val="1E1E1E"/>
          </a:solidFill>
          <a:ln w="25400">
            <a:solidFill>
              <a:srgbClr val="FFFFFF"/>
            </a:solidFill>
            <a:prstDash val="solid"/>
          </a:ln>
        </p:spPr>
      </p:sp>
      <p:sp>
        <p:nvSpPr>
          <p:cNvPr id="15" name="Text 12"/>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1280160" y="2752344"/>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7" name="Text 14"/>
          <p:cNvSpPr txBox="1"/>
          <p:nvPr/>
        </p:nvSpPr>
        <p:spPr>
          <a:xfrm>
            <a:off x="1280160" y="3026664"/>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8" name="Shape 15"/>
          <p:cNvSpPr/>
          <p:nvPr/>
        </p:nvSpPr>
        <p:spPr>
          <a:xfrm>
            <a:off x="548640" y="3438144"/>
            <a:ext cx="493776" cy="493776"/>
          </a:xfrm>
          <a:prstGeom prst="ellipse">
            <a:avLst/>
          </a:prstGeom>
          <a:solidFill>
            <a:srgbClr val="1E1E1E"/>
          </a:solidFill>
          <a:ln w="25400">
            <a:solidFill>
              <a:srgbClr val="FFFFFF"/>
            </a:solidFill>
            <a:prstDash val="solid"/>
          </a:ln>
        </p:spPr>
      </p:sp>
      <p:sp>
        <p:nvSpPr>
          <p:cNvPr id="19" name="Text 16"/>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1280160" y="3419856"/>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21" name="Text 18"/>
          <p:cNvSpPr txBox="1"/>
          <p:nvPr/>
        </p:nvSpPr>
        <p:spPr>
          <a:xfrm>
            <a:off x="1280160" y="3694176"/>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2" name="Shape 19"/>
          <p:cNvSpPr/>
          <p:nvPr/>
        </p:nvSpPr>
        <p:spPr>
          <a:xfrm>
            <a:off x="548640" y="4105656"/>
            <a:ext cx="493776" cy="493776"/>
          </a:xfrm>
          <a:prstGeom prst="ellipse">
            <a:avLst/>
          </a:prstGeom>
          <a:solidFill>
            <a:srgbClr val="1E1E1E"/>
          </a:solidFill>
          <a:ln w="25400">
            <a:solidFill>
              <a:srgbClr val="FFFFFF"/>
            </a:solidFill>
            <a:prstDash val="solid"/>
          </a:ln>
        </p:spPr>
      </p:sp>
      <p:sp>
        <p:nvSpPr>
          <p:cNvPr id="23" name="Text 20"/>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4" name="Text 21"/>
          <p:cNvSpPr txBox="1"/>
          <p:nvPr/>
        </p:nvSpPr>
        <p:spPr>
          <a:xfrm>
            <a:off x="1280160" y="4087368"/>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5" name="Text 22"/>
          <p:cNvSpPr txBox="1"/>
          <p:nvPr/>
        </p:nvSpPr>
        <p:spPr>
          <a:xfrm>
            <a:off x="1280160" y="4361688"/>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6" name="Shape 23"/>
          <p:cNvSpPr/>
          <p:nvPr/>
        </p:nvSpPr>
        <p:spPr>
          <a:xfrm>
            <a:off x="548640" y="4773168"/>
            <a:ext cx="493776" cy="493776"/>
          </a:xfrm>
          <a:prstGeom prst="ellipse">
            <a:avLst/>
          </a:prstGeom>
          <a:solidFill>
            <a:srgbClr val="1E1E1E"/>
          </a:solidFill>
          <a:ln w="25400">
            <a:solidFill>
              <a:srgbClr val="FFFFFF"/>
            </a:solidFill>
            <a:prstDash val="solid"/>
          </a:ln>
        </p:spPr>
      </p:sp>
      <p:sp>
        <p:nvSpPr>
          <p:cNvPr id="27" name="Text 24"/>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1280160" y="4754880"/>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9" name="Text 26"/>
          <p:cNvSpPr txBox="1"/>
          <p:nvPr/>
        </p:nvSpPr>
        <p:spPr>
          <a:xfrm>
            <a:off x="1280160" y="5029200"/>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30" name="Shape 27"/>
          <p:cNvSpPr/>
          <p:nvPr/>
        </p:nvSpPr>
        <p:spPr>
          <a:xfrm>
            <a:off x="548640" y="5440680"/>
            <a:ext cx="493776" cy="493776"/>
          </a:xfrm>
          <a:prstGeom prst="ellipse">
            <a:avLst/>
          </a:prstGeom>
          <a:solidFill>
            <a:srgbClr val="FCC30A"/>
          </a:solidFill>
          <a:ln w="25400">
            <a:solidFill>
              <a:srgbClr val="FFFFFF"/>
            </a:solidFill>
            <a:prstDash val="solid"/>
          </a:ln>
        </p:spPr>
      </p:sp>
      <p:sp>
        <p:nvSpPr>
          <p:cNvPr id="31" name="Text 28"/>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2" name="Text 29"/>
          <p:cNvSpPr txBox="1"/>
          <p:nvPr/>
        </p:nvSpPr>
        <p:spPr>
          <a:xfrm>
            <a:off x="1280160" y="542239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3" name="Text 30"/>
          <p:cNvSpPr txBox="1"/>
          <p:nvPr/>
        </p:nvSpPr>
        <p:spPr>
          <a:xfrm>
            <a:off x="1280160" y="569671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4"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5"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sets the pig set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ard_ready.jpg">    </p:cNvPr>
          <p:cNvPicPr>
            <a:picLocks noChangeAspect="1"/>
          </p:cNvPicPr>
          <p:nvPr/>
        </p:nvPicPr>
        <p:blipFill>
          <a:blip r:embed="rId1"/>
          <a:stretch>
            <a:fillRect/>
          </a:stretch>
        </p:blipFill>
        <p:spPr>
          <a:xfrm>
            <a:off x="7592263" y="1783080"/>
            <a:ext cx="4050792" cy="1910917"/>
          </a:xfrm>
          <a:prstGeom prst="rect">
            <a:avLst/>
          </a:prstGeom>
        </p:spPr>
      </p:pic>
      <p:sp>
        <p:nvSpPr>
          <p:cNvPr id="3"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Crew &amp; equipment, every job</a:t>
            </a:r>
            <a:endParaRPr lang="en-US" sz="3200" dirty="0"/>
          </a:p>
        </p:txBody>
      </p:sp>
      <p:sp>
        <p:nvSpPr>
          <p:cNvPr id="6" name="Text 3"/>
          <p:cNvSpPr txBox="1"/>
          <p:nvPr/>
        </p:nvSpPr>
        <p:spPr>
          <a:xfrm>
            <a:off x="10972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5486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10972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5486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10972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5486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10972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46177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40690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46177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40690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46177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40690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46177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5486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658368" y="1892808"/>
            <a:ext cx="219456" cy="219456"/>
          </a:xfrm>
          <a:prstGeom prst="rect">
            <a:avLst/>
          </a:prstGeom>
        </p:spPr>
      </p:pic>
      <p:sp>
        <p:nvSpPr>
          <p:cNvPr id="22" name="Shape 18"/>
          <p:cNvSpPr/>
          <p:nvPr/>
        </p:nvSpPr>
        <p:spPr>
          <a:xfrm>
            <a:off x="40690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4178808" y="1892808"/>
            <a:ext cx="219456" cy="219456"/>
          </a:xfrm>
          <a:prstGeom prst="rect">
            <a:avLst/>
          </a:prstGeom>
        </p:spPr>
      </p:pic>
      <p:sp>
        <p:nvSpPr>
          <p:cNvPr id="24" name="Shape 19"/>
          <p:cNvSpPr/>
          <p:nvPr/>
        </p:nvSpPr>
        <p:spPr>
          <a:xfrm>
            <a:off x="548640" y="4617720"/>
            <a:ext cx="3593592" cy="1417320"/>
          </a:xfrm>
          <a:prstGeom prst="rect">
            <a:avLst/>
          </a:prstGeom>
          <a:solidFill>
            <a:srgbClr val="1E1E1E"/>
          </a:solidFill>
          <a:ln w="12700">
            <a:solidFill>
              <a:srgbClr val="1E1E1E"/>
            </a:solidFill>
            <a:prstDash val="solid"/>
          </a:ln>
        </p:spPr>
      </p:sp>
      <p:sp>
        <p:nvSpPr>
          <p:cNvPr id="25" name="Text 20"/>
          <p:cNvSpPr txBox="1"/>
          <p:nvPr/>
        </p:nvSpPr>
        <p:spPr>
          <a:xfrm>
            <a:off x="77724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77724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crew turnover, last 12 months</a:t>
            </a:r>
            <a:endParaRPr lang="en-US" sz="1200" dirty="0"/>
          </a:p>
        </p:txBody>
      </p:sp>
      <p:sp>
        <p:nvSpPr>
          <p:cNvPr id="27" name="Shape 22"/>
          <p:cNvSpPr/>
          <p:nvPr/>
        </p:nvSpPr>
        <p:spPr>
          <a:xfrm>
            <a:off x="4297680" y="4617720"/>
            <a:ext cx="3593592" cy="1417320"/>
          </a:xfrm>
          <a:prstGeom prst="rect">
            <a:avLst/>
          </a:prstGeom>
          <a:solidFill>
            <a:srgbClr val="1E1E1E"/>
          </a:solidFill>
          <a:ln w="12700">
            <a:solidFill>
              <a:srgbClr val="1E1E1E"/>
            </a:solidFill>
            <a:prstDash val="solid"/>
          </a:ln>
        </p:spPr>
      </p:sp>
      <p:sp>
        <p:nvSpPr>
          <p:cNvPr id="28" name="Text 23"/>
          <p:cNvSpPr txBox="1"/>
          <p:nvPr/>
        </p:nvSpPr>
        <p:spPr>
          <a:xfrm>
            <a:off x="452628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452628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two 12-hour shifts</a:t>
            </a:r>
            <a:endParaRPr lang="en-US" sz="1200" dirty="0"/>
          </a:p>
        </p:txBody>
      </p:sp>
      <p:sp>
        <p:nvSpPr>
          <p:cNvPr id="30" name="Shape 25"/>
          <p:cNvSpPr/>
          <p:nvPr/>
        </p:nvSpPr>
        <p:spPr>
          <a:xfrm>
            <a:off x="8046720" y="4617720"/>
            <a:ext cx="3593592" cy="1417320"/>
          </a:xfrm>
          <a:prstGeom prst="rect">
            <a:avLst/>
          </a:prstGeom>
          <a:solidFill>
            <a:srgbClr val="1E1E1E"/>
          </a:solidFill>
          <a:ln w="12700">
            <a:solidFill>
              <a:srgbClr val="1E1E1E"/>
            </a:solidFill>
            <a:prstDash val="solid"/>
          </a:ln>
        </p:spPr>
      </p:sp>
      <p:sp>
        <p:nvSpPr>
          <p:cNvPr id="31" name="Text 26"/>
          <p:cNvSpPr txBox="1"/>
          <p:nvPr/>
        </p:nvSpPr>
        <p:spPr>
          <a:xfrm>
            <a:off x="827532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827532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training verified before mobilization</a:t>
            </a:r>
            <a:endParaRPr lang="en-US" sz="1200" dirty="0"/>
          </a:p>
        </p:txBody>
      </p:sp>
      <p:sp>
        <p:nvSpPr>
          <p:cNvPr id="33"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 Waterous Company, form F-2692</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7674559" y="2753487"/>
            <a:ext cx="4023360" cy="2311146"/>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card_diff.jpg">    </p:cNvPr>
          <p:cNvPicPr>
            <a:picLocks noChangeAspect="1"/>
          </p:cNvPicPr>
          <p:nvPr/>
        </p:nvPicPr>
        <p:blipFill>
          <a:blip r:embed="rId1"/>
          <a:stretch>
            <a:fillRect/>
          </a:stretch>
        </p:blipFill>
        <p:spPr>
          <a:xfrm>
            <a:off x="7729423" y="2808351"/>
            <a:ext cx="3913632" cy="2201418"/>
          </a:xfrm>
          <a:prstGeom prst="rect">
            <a:avLst/>
          </a:prstGeom>
        </p:spPr>
      </p:pic>
      <p:sp>
        <p:nvSpPr>
          <p:cNvPr id="4" name="Shape 1"/>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7" name="Shape 4"/>
          <p:cNvSpPr/>
          <p:nvPr/>
        </p:nvSpPr>
        <p:spPr>
          <a:xfrm>
            <a:off x="548640" y="1874520"/>
            <a:ext cx="3383280" cy="1965960"/>
          </a:xfrm>
          <a:prstGeom prst="rect">
            <a:avLst/>
          </a:prstGeom>
          <a:solidFill>
            <a:srgbClr val="2B2B2B"/>
          </a:solidFill>
          <a:ln w="12700">
            <a:solidFill>
              <a:srgbClr val="2B2B2B"/>
            </a:solidFill>
            <a:prstDash val="solid"/>
          </a:ln>
        </p:spPr>
      </p:sp>
      <p:sp>
        <p:nvSpPr>
          <p:cNvPr id="8" name="Shape 5"/>
          <p:cNvSpPr/>
          <p:nvPr/>
        </p:nvSpPr>
        <p:spPr>
          <a:xfrm>
            <a:off x="822960" y="2148840"/>
            <a:ext cx="658368" cy="658368"/>
          </a:xfrm>
          <a:prstGeom prst="ellipse">
            <a:avLst/>
          </a:prstGeom>
          <a:solidFill>
            <a:srgbClr val="FCC30A"/>
          </a:solidFill>
          <a:ln w="12700">
            <a:solidFill>
              <a:srgbClr val="FCC30A"/>
            </a:solidFill>
            <a:prstDash val="solid"/>
          </a:ln>
        </p:spPr>
      </p:sp>
      <p:pic>
        <p:nvPicPr>
          <p:cNvPr id="9"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10" name="Text 6"/>
          <p:cNvSpPr txBox="1"/>
          <p:nvPr/>
        </p:nvSpPr>
        <p:spPr>
          <a:xfrm>
            <a:off x="164592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Self-performed scope</a:t>
            </a:r>
            <a:endParaRPr lang="en-US" sz="1600" dirty="0"/>
          </a:p>
        </p:txBody>
      </p:sp>
      <p:sp>
        <p:nvSpPr>
          <p:cNvPr id="11" name="Text 7"/>
          <p:cNvSpPr txBox="1"/>
          <p:nvPr/>
        </p:nvSpPr>
        <p:spPr>
          <a:xfrm>
            <a:off x="82296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Pigging, decoking and hydroblasting with our own equipment and crews: one contractor, no subs</a:t>
            </a:r>
            <a:endParaRPr lang="en-US" sz="1200" dirty="0"/>
          </a:p>
        </p:txBody>
      </p:sp>
      <p:sp>
        <p:nvSpPr>
          <p:cNvPr id="12" name="Shape 8"/>
          <p:cNvSpPr/>
          <p:nvPr/>
        </p:nvSpPr>
        <p:spPr>
          <a:xfrm>
            <a:off x="4069080" y="1874520"/>
            <a:ext cx="3383280" cy="1965960"/>
          </a:xfrm>
          <a:prstGeom prst="rect">
            <a:avLst/>
          </a:prstGeom>
          <a:solidFill>
            <a:srgbClr val="2B2B2B"/>
          </a:solidFill>
          <a:ln w="12700">
            <a:solidFill>
              <a:srgbClr val="2B2B2B"/>
            </a:solidFill>
            <a:prstDash val="solid"/>
          </a:ln>
        </p:spPr>
      </p:sp>
      <p:sp>
        <p:nvSpPr>
          <p:cNvPr id="13" name="Shape 9"/>
          <p:cNvSpPr/>
          <p:nvPr/>
        </p:nvSpPr>
        <p:spPr>
          <a:xfrm>
            <a:off x="4343400" y="2148840"/>
            <a:ext cx="658368" cy="658368"/>
          </a:xfrm>
          <a:prstGeom prst="ellipse">
            <a:avLst/>
          </a:prstGeom>
          <a:solidFill>
            <a:srgbClr val="FCC30A"/>
          </a:solidFill>
          <a:ln w="12700">
            <a:solidFill>
              <a:srgbClr val="FCC30A"/>
            </a:solidFill>
            <a:prstDash val="solid"/>
          </a:ln>
        </p:spPr>
      </p:sp>
      <p:pic>
        <p:nvPicPr>
          <p:cNvPr id="14" name="Image 2" descr="preencoded.png">    </p:cNvPr>
          <p:cNvPicPr>
            <a:picLocks noChangeAspect="1"/>
          </p:cNvPicPr>
          <p:nvPr/>
        </p:nvPicPr>
        <p:blipFill>
          <a:blip r:embed="rId3"/>
          <a:stretch>
            <a:fillRect/>
          </a:stretch>
        </p:blipFill>
        <p:spPr>
          <a:xfrm>
            <a:off x="4507992" y="2313432"/>
            <a:ext cx="329184" cy="329184"/>
          </a:xfrm>
          <a:prstGeom prst="rect">
            <a:avLst/>
          </a:prstGeom>
        </p:spPr>
      </p:pic>
      <p:sp>
        <p:nvSpPr>
          <p:cNvPr id="15" name="Text 10"/>
          <p:cNvSpPr txBox="1"/>
          <p:nvPr/>
        </p:nvSpPr>
        <p:spPr>
          <a:xfrm>
            <a:off x="516636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Largest standardized fleet</a:t>
            </a:r>
            <a:endParaRPr lang="en-US" sz="1600" dirty="0"/>
          </a:p>
        </p:txBody>
      </p:sp>
      <p:sp>
        <p:nvSpPr>
          <p:cNvPr id="16" name="Text 11"/>
          <p:cNvSpPr txBox="1"/>
          <p:nvPr/>
        </p:nvSpPr>
        <p:spPr>
          <a:xfrm>
            <a:off x="434340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00" dirty="0"/>
          </a:p>
        </p:txBody>
      </p:sp>
      <p:sp>
        <p:nvSpPr>
          <p:cNvPr id="17" name="Shape 12"/>
          <p:cNvSpPr/>
          <p:nvPr/>
        </p:nvSpPr>
        <p:spPr>
          <a:xfrm>
            <a:off x="548640" y="4023360"/>
            <a:ext cx="3383280" cy="1965960"/>
          </a:xfrm>
          <a:prstGeom prst="rect">
            <a:avLst/>
          </a:prstGeom>
          <a:solidFill>
            <a:srgbClr val="2B2B2B"/>
          </a:solidFill>
          <a:ln w="12700">
            <a:solidFill>
              <a:srgbClr val="2B2B2B"/>
            </a:solidFill>
            <a:prstDash val="solid"/>
          </a:ln>
        </p:spPr>
      </p:sp>
      <p:sp>
        <p:nvSpPr>
          <p:cNvPr id="18" name="Shape 13"/>
          <p:cNvSpPr/>
          <p:nvPr/>
        </p:nvSpPr>
        <p:spPr>
          <a:xfrm>
            <a:off x="822960" y="4297680"/>
            <a:ext cx="658368" cy="658368"/>
          </a:xfrm>
          <a:prstGeom prst="ellipse">
            <a:avLst/>
          </a:prstGeom>
          <a:solidFill>
            <a:srgbClr val="FCC30A"/>
          </a:solidFill>
          <a:ln w="12700">
            <a:solidFill>
              <a:srgbClr val="FCC30A"/>
            </a:solidFill>
            <a:prstDash val="solid"/>
          </a:ln>
        </p:spPr>
      </p:sp>
      <p:pic>
        <p:nvPicPr>
          <p:cNvPr id="19"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20" name="Text 14"/>
          <p:cNvSpPr txBox="1"/>
          <p:nvPr/>
        </p:nvSpPr>
        <p:spPr>
          <a:xfrm>
            <a:off x="164592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Widest pig selection</a:t>
            </a:r>
            <a:endParaRPr lang="en-US" sz="1600" dirty="0"/>
          </a:p>
        </p:txBody>
      </p:sp>
      <p:sp>
        <p:nvSpPr>
          <p:cNvPr id="21" name="Text 15"/>
          <p:cNvSpPr txBox="1"/>
          <p:nvPr/>
        </p:nvSpPr>
        <p:spPr>
          <a:xfrm>
            <a:off x="82296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00" dirty="0"/>
          </a:p>
        </p:txBody>
      </p:sp>
      <p:sp>
        <p:nvSpPr>
          <p:cNvPr id="22" name="Shape 16"/>
          <p:cNvSpPr/>
          <p:nvPr/>
        </p:nvSpPr>
        <p:spPr>
          <a:xfrm>
            <a:off x="4069080" y="4023360"/>
            <a:ext cx="3383280" cy="1965960"/>
          </a:xfrm>
          <a:prstGeom prst="rect">
            <a:avLst/>
          </a:prstGeom>
          <a:solidFill>
            <a:srgbClr val="2B2B2B"/>
          </a:solidFill>
          <a:ln w="12700">
            <a:solidFill>
              <a:srgbClr val="2B2B2B"/>
            </a:solidFill>
            <a:prstDash val="solid"/>
          </a:ln>
        </p:spPr>
      </p:sp>
      <p:sp>
        <p:nvSpPr>
          <p:cNvPr id="23" name="Shape 17"/>
          <p:cNvSpPr/>
          <p:nvPr/>
        </p:nvSpPr>
        <p:spPr>
          <a:xfrm>
            <a:off x="4343400" y="4297680"/>
            <a:ext cx="658368" cy="658368"/>
          </a:xfrm>
          <a:prstGeom prst="ellipse">
            <a:avLst/>
          </a:prstGeom>
          <a:solidFill>
            <a:srgbClr val="FCC30A"/>
          </a:solidFill>
          <a:ln w="12700">
            <a:solidFill>
              <a:srgbClr val="FCC30A"/>
            </a:solidFill>
            <a:prstDash val="solid"/>
          </a:ln>
        </p:spPr>
      </p:sp>
      <p:pic>
        <p:nvPicPr>
          <p:cNvPr id="24" name="Image 4" descr="preencoded.png">    </p:cNvPr>
          <p:cNvPicPr>
            <a:picLocks noChangeAspect="1"/>
          </p:cNvPicPr>
          <p:nvPr/>
        </p:nvPicPr>
        <p:blipFill>
          <a:blip r:embed="rId5"/>
          <a:stretch>
            <a:fillRect/>
          </a:stretch>
        </p:blipFill>
        <p:spPr>
          <a:xfrm>
            <a:off x="4507992" y="4462272"/>
            <a:ext cx="329184" cy="329184"/>
          </a:xfrm>
          <a:prstGeom prst="rect">
            <a:avLst/>
          </a:prstGeom>
        </p:spPr>
      </p:pic>
      <p:sp>
        <p:nvSpPr>
          <p:cNvPr id="25" name="Text 18"/>
          <p:cNvSpPr txBox="1"/>
          <p:nvPr/>
        </p:nvSpPr>
        <p:spPr>
          <a:xfrm>
            <a:off x="516636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Data-driven, shared</a:t>
            </a:r>
            <a:endParaRPr lang="en-US" sz="1600" dirty="0"/>
          </a:p>
        </p:txBody>
      </p:sp>
      <p:sp>
        <p:nvSpPr>
          <p:cNvPr id="26" name="Text 19"/>
          <p:cNvSpPr txBox="1"/>
          <p:nvPr/>
        </p:nvSpPr>
        <p:spPr>
          <a:xfrm>
            <a:off x="434340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00" dirty="0"/>
          </a:p>
        </p:txBody>
      </p:sp>
      <p:sp>
        <p:nvSpPr>
          <p:cNvPr id="27" name="Text 2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in triple mode,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mid-job TriMax swap rigged in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918911" y="1956816"/>
            <a:ext cx="5779008" cy="3298698"/>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why_road.jpg">    </p:cNvPr>
          <p:cNvPicPr>
            <a:picLocks noChangeAspect="1"/>
          </p:cNvPicPr>
          <p:nvPr/>
        </p:nvPicPr>
        <p:blipFill>
          <a:blip r:embed="rId1"/>
          <a:stretch>
            <a:fillRect/>
          </a:stretch>
        </p:blipFill>
        <p:spPr>
          <a:xfrm>
            <a:off x="5973775" y="2011680"/>
            <a:ext cx="5669280" cy="3188970"/>
          </a:xfrm>
          <a:prstGeom prst="rect">
            <a:avLst/>
          </a:prstGeom>
        </p:spPr>
      </p:pic>
      <p:sp>
        <p:nvSpPr>
          <p:cNvPr id="4" name="Shape 1"/>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7" name="Shape 4"/>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674370" y="2045970"/>
            <a:ext cx="251460" cy="251460"/>
          </a:xfrm>
          <a:prstGeom prst="rect">
            <a:avLst/>
          </a:prstGeom>
        </p:spPr>
      </p:pic>
      <p:sp>
        <p:nvSpPr>
          <p:cNvPr id="9" name="Text 5"/>
          <p:cNvSpPr txBox="1"/>
          <p:nvPr/>
        </p:nvSpPr>
        <p:spPr>
          <a:xfrm>
            <a:off x="1234440" y="1874520"/>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0" name="Text 6"/>
          <p:cNvSpPr txBox="1"/>
          <p:nvPr/>
        </p:nvSpPr>
        <p:spPr>
          <a:xfrm>
            <a:off x="1234440" y="2203704"/>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200" dirty="0"/>
          </a:p>
        </p:txBody>
      </p:sp>
      <p:sp>
        <p:nvSpPr>
          <p:cNvPr id="11" name="Shape 7"/>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2" descr="preencoded.png">    </p:cNvPr>
          <p:cNvPicPr>
            <a:picLocks noChangeAspect="1"/>
          </p:cNvPicPr>
          <p:nvPr/>
        </p:nvPicPr>
        <p:blipFill>
          <a:blip r:embed="rId3"/>
          <a:stretch>
            <a:fillRect/>
          </a:stretch>
        </p:blipFill>
        <p:spPr>
          <a:xfrm>
            <a:off x="674370" y="2887218"/>
            <a:ext cx="251460" cy="251460"/>
          </a:xfrm>
          <a:prstGeom prst="rect">
            <a:avLst/>
          </a:prstGeom>
        </p:spPr>
      </p:pic>
      <p:sp>
        <p:nvSpPr>
          <p:cNvPr id="13" name="Text 8"/>
          <p:cNvSpPr txBox="1"/>
          <p:nvPr/>
        </p:nvSpPr>
        <p:spPr>
          <a:xfrm>
            <a:off x="1234440" y="2715768"/>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Close by</a:t>
            </a:r>
            <a:endParaRPr lang="en-US" sz="1800" dirty="0"/>
          </a:p>
        </p:txBody>
      </p:sp>
      <p:sp>
        <p:nvSpPr>
          <p:cNvPr id="14" name="Text 9"/>
          <p:cNvSpPr txBox="1"/>
          <p:nvPr/>
        </p:nvSpPr>
        <p:spPr>
          <a:xfrm>
            <a:off x="1234440" y="3044952"/>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Fleet based in Deer Park, a short drive from Texas City</a:t>
            </a:r>
            <a:endParaRPr lang="en-US" sz="1200" dirty="0"/>
          </a:p>
        </p:txBody>
      </p:sp>
      <p:sp>
        <p:nvSpPr>
          <p:cNvPr id="15" name="Shape 10"/>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3" descr="preencoded.png">    </p:cNvPr>
          <p:cNvPicPr>
            <a:picLocks noChangeAspect="1"/>
          </p:cNvPicPr>
          <p:nvPr/>
        </p:nvPicPr>
        <p:blipFill>
          <a:blip r:embed="rId4"/>
          <a:stretch>
            <a:fillRect/>
          </a:stretch>
        </p:blipFill>
        <p:spPr>
          <a:xfrm>
            <a:off x="674370" y="3728466"/>
            <a:ext cx="251460" cy="251460"/>
          </a:xfrm>
          <a:prstGeom prst="rect">
            <a:avLst/>
          </a:prstGeom>
        </p:spPr>
      </p:pic>
      <p:sp>
        <p:nvSpPr>
          <p:cNvPr id="17" name="Text 11"/>
          <p:cNvSpPr txBox="1"/>
          <p:nvPr/>
        </p:nvSpPr>
        <p:spPr>
          <a:xfrm>
            <a:off x="1234440" y="3557016"/>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2"/>
          <p:cNvSpPr txBox="1"/>
          <p:nvPr/>
        </p:nvSpPr>
        <p:spPr>
          <a:xfrm>
            <a:off x="1234440" y="3886200"/>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Triple-pass TriMax: a spare pump on every 2-pass heater</a:t>
            </a:r>
            <a:endParaRPr lang="en-US" sz="1200" dirty="0"/>
          </a:p>
        </p:txBody>
      </p:sp>
      <p:sp>
        <p:nvSpPr>
          <p:cNvPr id="19" name="Shape 13"/>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4" descr="preencoded.png">    </p:cNvPr>
          <p:cNvPicPr>
            <a:picLocks noChangeAspect="1"/>
          </p:cNvPicPr>
          <p:nvPr/>
        </p:nvPicPr>
        <p:blipFill>
          <a:blip r:embed="rId5"/>
          <a:stretch>
            <a:fillRect/>
          </a:stretch>
        </p:blipFill>
        <p:spPr>
          <a:xfrm>
            <a:off x="674370" y="4569714"/>
            <a:ext cx="251460" cy="251460"/>
          </a:xfrm>
          <a:prstGeom prst="rect">
            <a:avLst/>
          </a:prstGeom>
        </p:spPr>
      </p:pic>
      <p:sp>
        <p:nvSpPr>
          <p:cNvPr id="21" name="Text 14"/>
          <p:cNvSpPr txBox="1"/>
          <p:nvPr/>
        </p:nvSpPr>
        <p:spPr>
          <a:xfrm>
            <a:off x="1234440" y="4398264"/>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5"/>
          <p:cNvSpPr txBox="1"/>
          <p:nvPr/>
        </p:nvSpPr>
        <p:spPr>
          <a:xfrm>
            <a:off x="1234440" y="4727448"/>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4-point verification and joint sign-off on every pass</a:t>
            </a:r>
            <a:endParaRPr lang="en-US" sz="1200" dirty="0"/>
          </a:p>
        </p:txBody>
      </p:sp>
      <p:sp>
        <p:nvSpPr>
          <p:cNvPr id="23" name="Shape 16"/>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5" descr="preencoded.png">    </p:cNvPr>
          <p:cNvPicPr>
            <a:picLocks noChangeAspect="1"/>
          </p:cNvPicPr>
          <p:nvPr/>
        </p:nvPicPr>
        <p:blipFill>
          <a:blip r:embed="rId6"/>
          <a:stretch>
            <a:fillRect/>
          </a:stretch>
        </p:blipFill>
        <p:spPr>
          <a:xfrm>
            <a:off x="674370" y="5410962"/>
            <a:ext cx="251460" cy="251460"/>
          </a:xfrm>
          <a:prstGeom prst="rect">
            <a:avLst/>
          </a:prstGeom>
        </p:spPr>
      </p:pic>
      <p:sp>
        <p:nvSpPr>
          <p:cNvPr id="25" name="Text 17"/>
          <p:cNvSpPr txBox="1"/>
          <p:nvPr/>
        </p:nvSpPr>
        <p:spPr>
          <a:xfrm>
            <a:off x="1234440" y="5239512"/>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8"/>
          <p:cNvSpPr txBox="1"/>
          <p:nvPr/>
        </p:nvSpPr>
        <p:spPr>
          <a:xfrm>
            <a:off x="1234440" y="5568696"/>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EMR 0.48, ISNetworld A, zero fatalities in 3 years</a:t>
            </a:r>
            <a:endParaRPr lang="en-US" sz="1200" dirty="0"/>
          </a:p>
        </p:txBody>
      </p:sp>
      <p:sp>
        <p:nvSpPr>
          <p:cNvPr id="27"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2026-10-14T03:05:00Z</dcterms:created>
  <dcterms:modified xsi:type="dcterms:W3CDTF">2026-10-14T03:05:00Z</dcterms:modified>
</cp:coreProperties>
</file>