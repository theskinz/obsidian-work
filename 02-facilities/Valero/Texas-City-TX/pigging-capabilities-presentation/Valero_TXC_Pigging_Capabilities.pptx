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EMR</c:v>
                </c:pt>
              </c:strCache>
            </c:strRef>
          </c:tx>
          <c:spPr>
            <a:solidFill>
              <a:srgbClr val="8A8A8A"/>
            </a:solidFill>
            <a:effectLst/>
          </c:spPr>
          <c:invertIfNegative val="0"/>
          <c:dLbls>
            <c:numFmt formatCode="0.00" sourceLinked="0"/>
            <c:txPr>
              <a:bodyPr/>
              <a:lstStyle/>
              <a:p>
                <a:pPr>
                  <a:defRPr b="1" i="0" strike="noStrike" sz="20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8A8A8A"/>
              </a:solidFill>
              <a:effectLst/>
            </c:spPr>
          </c:dPt>
          <c:dPt>
            <c:idx val="1"/>
            <c:invertIfNegative val="0"/>
            <c:bubble3D val="0"/>
            <c:spPr>
              <a:solidFill>
                <a:srgbClr val="C9A00A"/>
              </a:solidFill>
              <a:effectLst/>
            </c:spPr>
          </c:dPt>
          <c:dPt>
            <c:idx val="2"/>
            <c:invertIfNegative val="0"/>
            <c:bubble3D val="0"/>
            <c:spPr>
              <a:solidFill>
                <a:srgbClr val="FCC30A"/>
              </a:solidFill>
              <a:effectLst/>
            </c:spPr>
          </c:dPt>
          <c:cat>
            <c:multiLvlStrRef>
              <c:f>Sheet1!$A$2:$A$4</c:f>
              <c:multiLvlStrCache>
                <c:ptCount val="3"/>
                <c:lvl>
                  <c:pt idx="0">
                    <c:v>2024</c:v>
                  </c:pt>
                  <c:pt idx="1">
                    <c:v>2025</c:v>
                  </c:pt>
                  <c:pt idx="2">
                    <c:v>2026</c:v>
                  </c:pt>
                </c:lvl>
              </c:multiLvlStrCache>
            </c:multiLvlStrRef>
          </c:cat>
          <c:val>
            <c:numRef>
              <c:f>Sheet1!$B$2:$B$4</c:f>
              <c:numCache>
                <c:formatCode>General</c:formatCode>
                <c:ptCount val="3"/>
                <c:pt idx="0">
                  <c:v>0.95</c:v>
                </c:pt>
                <c:pt idx="1">
                  <c:v>0.62</c:v>
                </c:pt>
                <c:pt idx="2">
                  <c:v>0.48</c:v>
                </c:pt>
              </c:numCache>
            </c:numRef>
          </c:val>
        </c:ser>
        <c:dLbls>
          <c:numFmt formatCode="0.00" sourceLinked="0"/>
          <c:txPr>
            <a:bodyPr/>
            <a:lstStyle/>
            <a:p>
              <a:pPr>
                <a:defRPr b="1" i="0" strike="noStrike" sz="2000" u="none">
                  <a:solidFill>
                    <a:srgbClr val="FFFFFF"/>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BDBDBD"/>
                </a:solidFill>
                <a:latin typeface="Arial"/>
              </a:defRPr>
            </a:pPr>
            <a:endParaRPr lang="en-US"/>
          </a:p>
        </c:txPr>
        <c:crossAx val="2094734552"/>
        <c:crosses val="autoZero"/>
        <c:auto val="1"/>
        <c:lblAlgn val="ctr"/>
        <c:noMultiLvlLbl val="1"/>
      </c:catAx>
      <c:valAx>
        <c:axId val="2094734552"/>
        <c:scaling>
          <c:orientation val="minMax"/>
          <c:max val="1.1"/>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E1E1E"/>
        </a:solidFill>
        <a:ln>
          <a:noFill/>
        </a:ln>
        <a:effectLst/>
      </c:spPr>
    </c:plotArea>
    <c:plotVisOnly val="1"/>
    <c:dispBlanksAs val="span"/>
  </c:chart>
  <c:spPr>
    <a:solidFill>
      <a:srgbClr val="1E1E1E"/>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Open: thank the Texas City team for the time. Introduce yourself (Jason Harman, Commercial Manager) and anyone attending with you.
Frame: "We're not new to Texas City: we pigged your H-57 coker heater in 2023 and again in 2024. This is an overview of how we pig and decoke fired heaters, what we bring to site, and what we've done across the Valero system. About 30 minutes, then questions."
The photo is TriMax 4 staged at a refinery, the same equipment we'd bring to Texas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min] Walk the agenda quickly: how we clean a heater, how we run the job, what we bring, how you know it's clean, safety, and our Valero track record.
Transition: "First, the services we offer a site like Texas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What we do, in one slide. We mechanically pig and decoke fired heater coils: cokers, crude and vacuum heaters, and charge and process heaters. The method is the same across all of them; what changes is the coke, the coil geometry and the metallurgy, and we plan each heater around those.
Smart pig support: we clean coils to the standard an inspection tool needs, and the TriMax's spare pump can drive the inspection pig, so the inspection doesn't need its own pumping equipment.
We work planned turnarounds and run-length decokes, and we mobilize on short notice when a heater has to come down. Closed-loop filtration is available as an option; we'll cover it in the equipment section.
Transition: "Here's how we clean a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 Walk the six steps. Emphasize "bi-directional": the TriMax reverses flow from the operator station without hose changes, so pigs work the coke from both sides. That is how we clear tight spots and plug headers.
Step 1: we fill and pressure-test the rig before anything launches.
Step 2: the baseline flow test gives an objective before/after comparison at the same rate and direction.
Step 4: pigs step up in 1/8" increments only after a clean pass at the current size. We never jump sizes on hard coke.
Step 5: the maximum oversize is capped at the smallest tube ID + 0.250". That protects the tube wall from grooving; over-cleaning is a real risk and we control it.
Step 6: Valero witnesses the final gauge foam and signs off per pass (detail on slide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Every heater gets a pig progression plan before we mobilize; these are two examples of how it's built.
The ceiling is fixed by our sizing rule: smallest tube ID plus a quarter inch. On a 4" Sch 80 coil the ID is 3.826", so the maximum is 4.076". Where a pass changes diameter, as on many vacuum heaters, the smallest ID governs the whole pass: a pass running 3" to 8" is capped by its 2.900" tubes. Tube condition can set a lower practical ceiling, and when it does, we stop there.
We don't pick a starting size in advance. The first run is a gauge foam: how it comes out of the pass tells us how much the bore is restricted, and that sets the initial pig size. From there we step up 1/8" at a time, only after a clean pass at the current size, until we reach line size and then the maximum. Wear marks on a pig show where coke remains, and we change size and appendage type from that evidence.
If asked about short-radius bends or mule ears: pig body length and flexibility are selected for the bend geometry, not just the diameter.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 pig does the work, so pig selection matters as much as the pumper.
(Presenter: this is where to talk about our supplier base and why we source rather than build.)
Walk the four cards. Bodies come soft-core or hard-core, in urethane or high-density foam, plus medium and hard foam pushers. Durometers run across a full range (for example 40, 60 and 80) so we can compress through tight bends or cut hard coke. Pigs run bald or studded: tungsten carbide, hardened steel, or stainless where the tube metallurgy calls for it. And when pig wear shows hard, heavy coke, we move to high-durometer, fully studded designs.
The photo shows new pigs: soft and hard bodies, bald and studded.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We don't show up and figure out the heater on site. Every heater is planned from its drawings first.
Geometry: footage and tube IDs per pass, and where the diameter changes, set the pig progression and the duration estimate.
Metallurgy: on stainless and chrome coils we verify water quality before fill and keep galvanized hardware off the tubes.
Connections: we confirm the coil flange size and rating and match the spools and adapters to our 300# launchers and receivers before we arrive.
Bends: 180° returns, plug headers and mule ears set pig length and flexibility, not just diameter.
Access: inlet and outlet elevations get walked down so the rig layout is set before rig-in.
Service: a coker, a crude heater and a vacuum heater foul differently, and that decides which pigs we stage from day one.
If Texas City shares drawings for a heater, we'll build its plan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Every decoke follows the same sequence.
Plan: the heater's drawings set the pig progression, the rig layout and the duration estimate before we arrive.
Rig-in: launchers and receivers connected, filled and pressure tested before anything launches.
Pig: "in conjunction" means passes are pigged at the same time, each on its own pump and operator station, so elapsed time is one pass's time, not the sum. A TriMax runs up to three passes at once; on a heater with fewer passes, the spare pump keeps the job running if a pump goes down.
Rig-over: on heaters with more passes than pumps, we move to the next set. Larger heaters or multi-heater jobs get more than one TriMax.
Verify and rig-out: each pass is signed off with Valero, then the equipment comes out and the job book is delivered.
We run 24/7 on 12-hour day and night shifts until the heater is handed back. Duration depends on footage and on how hard and thick the deposits are, and we quote each heater from its own geometry.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A standard single-rig job gets this package: one TriMax, one support unit carrying fittings, tooling and spares, two crew trucks. Bigger heaters get more rigs and more crew.
Crew: day shift is a supervisor and two operators; night shift is a supervisor and an operator; a project manager owns the job and the daily updates.
Readiness: turnover has run about 5% over the last 12 months. We hold onto people with competitive pay, ongoing training and certification, career paths, and dedicated core crews per site. For Texas City that means the same faces on your heaters job after job.
Every technician is USA DeBusk-certified, selected by heater-type experience, with training verified before mobilization. Our personnel training documents are available on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Our team brings 210 years of combined pigging and decoking experience, and the company has self-performed heater pigging for over 15 years.
Leadership: Anthony Fazio, VP Operations, 20 years; Marshall Douglas, Director of Pigging Operations, 26 years. I'm Jason Harman, Commercial Manager, 22 years, and I'm your commercial point of contact. Travis Trenholm, Pigging Operations Manager, 15 years, runs the field operation.
Under Travis: a bench of project managers, our equipment manager and a senior field tech, led in experience by Danilo Ramirez at 33 years. On every job one project manager is the single point of contact for the work flow and daily updates to Valero.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This is the core of our service, and every one of our six TriMax units is the same build: 18 identical engines, the same pumps, the same controls. Any crew can run any unit, spares fit every unit, and the procedures are the same everywhere. Three independent pump assemblies in one trailer, each with its own operator station, so three passes can run at the same time. Against a dual unit the triple raises productivity by about 50%, and on a two-pass heater the third pump is 100% spare capacity: if one pump goes down, the job doesn't stop.
The spare pump can also propel a smart pig, so inspection runs don't need extra equipment.
Each operator station has a 17" automated HMI touchscreen, and pig logs are recorded digitally (operator screen, two slides on).
Other features built into the unit: temperature-controlled pig compartments so the pigs keep their cleaning characteristics, antifoam injection, a coke transfer chute, and guided-radar tank level indicators. On-board tankage is 3,000 gal clean and 2,000 gal return.
The bar at the bottom is our operating window, 150 to 300 psi for normal pigging; the next slide shows the pump curve behind it.
Real-time sensor data feeds the operator interface, where coke shows up as a pressure spike. The technician can stop and scrub that exact spot. Flow direction reverses from the station without hose changes.
Power is a Cummins QSL9 at 333 bhp, Tier 4 Final, the same engine on every pump in the fleet.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This is the manufacturer's curve behind the pressure bar on the last slide: the Waterous pump in series operation, which is how it runs for pigging (higher pressure, lower flow). Each line is one engine speed.
Normal pigging runs 150 to 300 psi, well inside the envelope. The pump is rated to 600 psi, but after losses through our valves the realistic ceiling at the pig is 500 to 550, the gold band. Above 500 the crew works an over-pressure checklist. That margin is what lets us push through a hard spot without running the pump at its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This is the operator screen from a TriMax station, the same software every pass runs on.
Walk the numbers: (1) the trend at the bottom plots pressure ahead of the pig, pressure behind it, and flow rate. When the pig meets coke you see the spike, and that's the "sensor data" indicator in our cleanliness verification. (2) Live GPM and psi. (3) Clean and effluent tank levels from guided-radar indicators. (4) Setpoint alarms; this one shows a clean-tank-low alert. (5) Pass completion and the pig run sheet and data sheet, so the pig log builds itself. (6) Each pass has its own station: left, center, right.
The takeaway for Valero: every decision on a pass is made from live data, and the record is automatic.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Filtration is optional and priced separately. We ran it for Valero at Port Arthur.
Without filtration, supply water comes from a hydrant and the dirty tank discharges. With it, a frac tank feeds the loop: a 4×3 transfer pump moves dirty water from the TriMax through a trailer-mounted filter press, and the filtrate returns to the clean tank. It runs alongside pigging and doesn't affect coil pressure.
Each press handles 400 GPM across 1,243 square feet of filtration area, and we run three identical presses.
The benefits: far less fresh water drawn, far less wastewater to handle (thousands of gallons a shift), and the coke fines come out as filter cake for Valero's disposal. It's worth considering where water is limited or where the stainless coils call for controlled water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 How do we know a pass is clean? Four independent indicators, and the pass isn't called clean until all four agree.
1) Sensor data: live pressure data at the operator interface. Coke shows as a spike, and the technician can stop the pig and scrub that exact area.
2) Effluent: the technician watches the returns. The "black" (coke fines) in the stream fades to an unnoticeable amount as the pass cleans.
3) Pig condition: bi-directional runs leave tracking marks on the pigs (the photo shows real pigs after runs, with the wear visible). Those marks drive our size and appendage changes toward 100% removal.
4) Final gauge foam: when the interface, the water and the pigs all read clean, our shift leader invites the Valero rep to watch the final gauge foam run. It's line size or slightly over and soft enough to mark, groove or deform on any remaining coke. Valero reviews it with us and signs the pass off.
This is also why smart pig inspections after our cleans usually get good data on the first attempt.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QA/QC runs through the whole job, not just the end.
Before: walkdown, coil data check, JSA/permits/isolation, pig progression staged by heater.
During: work is documented in the job book with daily reports, pig logs and JSAs. One point of contact manages the work flow and daily updates to Valero. Flow tests before and after at the same rate give an objective comparison.
Close-out: per-pass sign-off, final pig size recorded for each pass, the job book, and a post-job review. That record is what makes the next decoke on the same heater faster.
The full QA/QC manual is available on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Emergency response.
Our operating base is Deer Park. Every TriMax stages there when it isn't on a job, so Texas City is about as close to our equipment as a refinery gets.
Support is 24/7: dispatch and the account manager can be reached at any hour, with on-call supervisors and crews for nights, weekends and holidays.
Response is same day for Texas City when a unit is in the yard. If the fleet is committed, we'll tell you straight away when the next unit frees up.
The crew that has worked your heaters before is the crew that answers an unplanned call.
The photo: a TriMax and its support unit staged in the shop, fueled and ready to roll.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Our Experience Modification Rate: 0.95 in 2024, 0.62 in 2025, 0.48 in 2026, roughly half the industry baseline and down 49% in two years. Active in ISNetworld with an A grade. No fatalities in the last three years. OSHA 300 logs are available on request.
Let the trend speak: this is a sustained improvement, not a single good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Six practices that carry most of the risk on a decoke:
JSAs and permits: job-specific JSAs, reviewed at every shift change, with daily toolbox talks.
Isolation: we don't connect until Valero's isolation and LOTO are verified.
Pressure: normal pigging is 150 to 300 psi; the pump is rated 600 but realistically tops out at 500 to 550 after valve losses, and above 500 psi the crew runs an over-pressure checklist.
Line of fire: every pig change bleeds to zero, and nobody stands in line with lids or hoses.
Hoses: tested and certified hard and flex pipe with whip checks on every connection.
PPE: FRC, hard hat, glasses or face shield, gloves, steel toes, hearing and respiratory protection as required. On stainless coils, no galvanized metal touches the tubes.
The pumper itself is engineered for safety too: retractable cam-actuated stairs, a composite work platform, LED lighting, and a self-contained design that prevents spills.
Full detail is in our safety manual and SSHASP, available on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Four differentiators, backed by more than 200 years of combined experience on our team.
Self-performed: pigging, decoking and hydroblasting with in-house equipment and crews, so one contractor covers the full scope without subs.
Fleet: we run the largest triple-pass pigging fleet in the world, and it's standardized: six identical TriMax units, 18 engines. The TriMax runs up to three passes at once; on a 2-pass heater that third pump is an on-board spare, so a pump failure doesn't stop the job, and it can also drive a smart pig. We also offer closed-loop filtration and smart-pig support, so Valero deals with one contractor.
Pigs: the widest selection of engineered decoking pigs, matched to the coil and the coke (slide 6).
Data-driven and shared: our durations are built from recorded actuals, every job produces pig logs and a job report, and lessons learned are reviewed with the client after each job. Every return visit to a heater starts from that record, and Valero sits in that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Texas City isn't new to us: we pigged your H-57 coker heater in 2023 and again in 2024. Across Valero, that's 14 heaters at five refineries.
Port Arthur: the H-102A and H-102B vacuum heaters, which are the case study on the next slide, plus F-2000. Three Rivers: the 100-H-1 and 100-H-2 crude charge heaters, the H-1102 preflash reboiler, H-1105 and 440-H1. Meraux: both vacuum unit heaters. And on the West Coast, Wilmington's 20H200 and 20H2000 vacuum heaters and the 31H3000 coker feed heater.
That covers coker, vacuum, crude charge and reboiler service. Reference contacts at any of these sites are available on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A Valero job from this year: the H-102A and H-102B vacuum heaters at Port Arthur, March into April 2026.
Two 8-pass heaters, 16 passes, about 18,500 feet of coil with diameters running from 3" up to 8" in the same pass. Heavy pitch and resid, concentrated in the 3" tubes. We ran in triple mode with filtration, and every pass was smart-pig inspected after cleaning. We went through 434 pigs, mostly in the 3" to 5" range.
Midway through, we swapped one TriMax for another. The new unit was rigged into three passes within two hours and pigging never stopped. That's the standardized fleet paying off.
The lesson is on pass 6B. The smart pig run found a quarter-inch coke ring at the inlet of the last 5" tube, right before the step-up to 8". It took about 24 hours of dedicated pigging to break, and inspection confirmed it clear before rig-out. Pass 6B's flow test came down 188 psi. What we took from it: on mixed-diameter passes, we stage pigs for every diameter and plan time at each step-up, so the inspection run confirms the result instead of finding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Close with the five reasons, then open for questions.
"We've pigged your H-57 coker twice, we know Valero's refineries, our fleet is down the road in Deer Park, the triple-pass rig carries its own spare pump, you sign off on every pass, and we do it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Likely questions and where the answer lives:
- "How do you handle a plugged pass?" Bi-directional flow and stepwise pig sizing (slides 4–6); planning from drawings (slide 7).
- "How long would our heater take?" Depends on footage, tube IDs and fouling. Offer to build a plan and quote from the heater's drawings.
- "How fast can you get here?" Slide 17: the fleet stages at Deer Park; same day when a unit is in the yard.
- "Have you worked at Valero before?" Slides 21–22: 14 heaters at five Valero refineries, including H-57 here in 2023 and 2024. Reference contacts on request.
- "Smart pig inspection?" The spare TriMax pump drives the inspection tool; Port Arthur had every pass inspected (slide 22).
- "Filtration?" Optional, priced per the Valero rate sheet.
- "Pump curves / pressure capability?" Slide 12 (Waterous CMU curves). Normal 150–300 psi; rated 600, 500–550 effective after valve losses.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image" Target="../media/image-11-2.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jp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slideLayout" Target="../slideLayouts/slideLayout1.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png"/><Relationship Id="rId3" Type="http://schemas.openxmlformats.org/officeDocument/2006/relationships/image" Target="../media/image-23-2.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slideLayout" Target="../slideLayouts/slideLayout1.xml"/><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E1E"/>
        </a:solidFill>
      </p:bgPr>
    </p:bg>
    <p:spTree>
      <p:nvGrpSpPr>
        <p:cNvPr id="1" name=""/>
        <p:cNvGrpSpPr/>
        <p:nvPr/>
      </p:nvGrpSpPr>
      <p:grpSpPr>
        <a:xfrm>
          <a:off x="0" y="0"/>
          <a:ext cx="0" cy="0"/>
          <a:chOff x="0" y="0"/>
          <a:chExt cx="0" cy="0"/>
        </a:xfrm>
      </p:grpSpPr>
      <p:pic>
        <p:nvPicPr>
          <p:cNvPr id="2" name="Image 0" descr="C:\Users\Jwuts\obsidian-work\02-facilities\Valero\Texas-City-TX\pigging-capabilities-presentation\build/img/cover_trimax.jpg">    </p:cNvPr>
          <p:cNvPicPr>
            <a:picLocks noChangeAspect="1"/>
          </p:cNvPicPr>
          <p:nvPr/>
        </p:nvPicPr>
        <p:blipFill>
          <a:blip r:embed="rId1"/>
          <a:stretch>
            <a:fillRect/>
          </a:stretch>
        </p:blipFill>
        <p:spPr>
          <a:xfrm>
            <a:off x="4572000" y="0"/>
            <a:ext cx="7619695" cy="6858000"/>
          </a:xfrm>
          <a:prstGeom prst="rect">
            <a:avLst/>
          </a:prstGeom>
        </p:spPr>
      </p:pic>
      <p:sp>
        <p:nvSpPr>
          <p:cNvPr id="3" name="Shape 0"/>
          <p:cNvSpPr/>
          <p:nvPr/>
        </p:nvSpPr>
        <p:spPr>
          <a:xfrm>
            <a:off x="640080" y="1920240"/>
            <a:ext cx="822960" cy="64008"/>
          </a:xfrm>
          <a:prstGeom prst="rect">
            <a:avLst/>
          </a:prstGeom>
          <a:solidFill>
            <a:srgbClr val="FCC30A"/>
          </a:solidFill>
          <a:ln w="12700">
            <a:solidFill>
              <a:srgbClr val="FCC30A"/>
            </a:solidFill>
            <a:prstDash val="solid"/>
          </a:ln>
        </p:spPr>
      </p:sp>
      <p:pic>
        <p:nvPicPr>
          <p:cNvPr id="4" name="Image 1" descr="C:\Users\Jwuts\obsidian-work\02-facilities\Valero\Texas-City-TX\pigging-capabilities-presentation\build/img/logo_white.png">    </p:cNvPr>
          <p:cNvPicPr>
            <a:picLocks noChangeAspect="1"/>
          </p:cNvPicPr>
          <p:nvPr/>
        </p:nvPicPr>
        <p:blipFill>
          <a:blip r:embed="rId2"/>
          <a:stretch>
            <a:fillRect/>
          </a:stretch>
        </p:blipFill>
        <p:spPr>
          <a:xfrm>
            <a:off x="640080" y="594360"/>
            <a:ext cx="3108960" cy="465883"/>
          </a:xfrm>
          <a:prstGeom prst="rect">
            <a:avLst/>
          </a:prstGeom>
        </p:spPr>
      </p:pic>
      <p:sp>
        <p:nvSpPr>
          <p:cNvPr id="5" name="Text 1"/>
          <p:cNvSpPr txBox="1"/>
          <p:nvPr/>
        </p:nvSpPr>
        <p:spPr>
          <a:xfrm>
            <a:off x="640080" y="2148840"/>
            <a:ext cx="3840480" cy="1920240"/>
          </a:xfrm>
          <a:prstGeom prst="rect">
            <a:avLst/>
          </a:prstGeom>
          <a:noFill/>
          <a:ln/>
        </p:spPr>
        <p:txBody>
          <a:bodyPr wrap="square" lIns="0" tIns="0" rIns="0" bIns="0" rtlCol="0" anchor="t"/>
          <a:lstStyle/>
          <a:p>
            <a:pPr indent="0" marL="0">
              <a:lnSpc>
                <a:spcPct val="95000"/>
              </a:lnSpc>
              <a:buNone/>
            </a:pPr>
            <a:r>
              <a:rPr lang="en-US" sz="3800" b="1" dirty="0">
                <a:solidFill>
                  <a:srgbClr val="FFFFFF"/>
                </a:solidFill>
                <a:latin typeface="Arial" pitchFamily="34" charset="0"/>
                <a:ea typeface="Arial" pitchFamily="34" charset="-122"/>
                <a:cs typeface="Arial" pitchFamily="34" charset="-120"/>
              </a:rPr>
              <a:t>Heater Pigging</a:t>
            </a:r>
            <a:endParaRPr lang="en-US" sz="3800" dirty="0"/>
          </a:p>
          <a:p>
            <a:pPr indent="0" marL="0">
              <a:lnSpc>
                <a:spcPct val="95000"/>
              </a:lnSpc>
              <a:buNone/>
            </a:pPr>
            <a:r>
              <a:rPr lang="en-US" sz="3800" b="1" dirty="0">
                <a:solidFill>
                  <a:srgbClr val="FFFFFF"/>
                </a:solidFill>
                <a:latin typeface="Arial" pitchFamily="34" charset="0"/>
                <a:ea typeface="Arial" pitchFamily="34" charset="-122"/>
                <a:cs typeface="Arial" pitchFamily="34" charset="-120"/>
              </a:rPr>
              <a:t>&amp; Decoking</a:t>
            </a:r>
            <a:endParaRPr lang="en-US" sz="3800" dirty="0"/>
          </a:p>
          <a:p>
            <a:pPr indent="0" marL="0">
              <a:lnSpc>
                <a:spcPct val="95000"/>
              </a:lnSpc>
              <a:buNone/>
            </a:pPr>
            <a:r>
              <a:rPr lang="en-US" sz="3800" b="1" dirty="0">
                <a:solidFill>
                  <a:srgbClr val="FFFFFF"/>
                </a:solidFill>
                <a:latin typeface="Arial" pitchFamily="34" charset="0"/>
                <a:ea typeface="Arial" pitchFamily="34" charset="-122"/>
                <a:cs typeface="Arial" pitchFamily="34" charset="-120"/>
              </a:rPr>
              <a:t>Services</a:t>
            </a:r>
            <a:endParaRPr lang="en-US" sz="3800" dirty="0"/>
          </a:p>
        </p:txBody>
      </p:sp>
      <p:sp>
        <p:nvSpPr>
          <p:cNvPr id="6" name="Text 2"/>
          <p:cNvSpPr txBox="1"/>
          <p:nvPr/>
        </p:nvSpPr>
        <p:spPr>
          <a:xfrm>
            <a:off x="640080" y="4114800"/>
            <a:ext cx="3840480" cy="411480"/>
          </a:xfrm>
          <a:prstGeom prst="rect">
            <a:avLst/>
          </a:prstGeom>
          <a:noFill/>
          <a:ln/>
        </p:spPr>
        <p:txBody>
          <a:bodyPr wrap="square" lIns="0" tIns="0" rIns="0" bIns="0" rtlCol="0" anchor="ctr"/>
          <a:lstStyle/>
          <a:p>
            <a:pPr indent="0" marL="0">
              <a:buNone/>
            </a:pPr>
            <a:r>
              <a:rPr lang="en-US" sz="1800" b="1" dirty="0">
                <a:solidFill>
                  <a:srgbClr val="FCC30A"/>
                </a:solidFill>
                <a:latin typeface="Arial" pitchFamily="34" charset="0"/>
                <a:ea typeface="Arial" pitchFamily="34" charset="-122"/>
                <a:cs typeface="Arial" pitchFamily="34" charset="-120"/>
              </a:rPr>
              <a:t>Valero Texas City Refinery</a:t>
            </a:r>
            <a:endParaRPr lang="en-US" sz="1800" dirty="0"/>
          </a:p>
        </p:txBody>
      </p:sp>
      <p:sp>
        <p:nvSpPr>
          <p:cNvPr id="7" name="Text 3"/>
          <p:cNvSpPr txBox="1"/>
          <p:nvPr/>
        </p:nvSpPr>
        <p:spPr>
          <a:xfrm>
            <a:off x="640080" y="4526280"/>
            <a:ext cx="3840480" cy="548640"/>
          </a:xfrm>
          <a:prstGeom prst="rect">
            <a:avLst/>
          </a:prstGeom>
          <a:noFill/>
          <a:ln/>
        </p:spPr>
        <p:txBody>
          <a:bodyPr wrap="square" lIns="0" tIns="0" rIns="0" bIns="0" rtlCol="0" anchor="t"/>
          <a:lstStyle/>
          <a:p>
            <a:pPr indent="0" marL="0">
              <a:buNone/>
            </a:pPr>
            <a:r>
              <a:rPr lang="en-US" sz="1400" dirty="0">
                <a:solidFill>
                  <a:srgbClr val="BDBDBD"/>
                </a:solidFill>
                <a:latin typeface="Arial" pitchFamily="34" charset="0"/>
                <a:ea typeface="Arial" pitchFamily="34" charset="-122"/>
                <a:cs typeface="Arial" pitchFamily="34" charset="-120"/>
              </a:rPr>
              <a:t>Mechanical pigging &amp; decoking for fired heaters</a:t>
            </a:r>
            <a:endParaRPr lang="en-US" sz="1400" dirty="0"/>
          </a:p>
        </p:txBody>
      </p:sp>
      <p:sp>
        <p:nvSpPr>
          <p:cNvPr id="8" name="Text 4"/>
          <p:cNvSpPr txBox="1"/>
          <p:nvPr/>
        </p:nvSpPr>
        <p:spPr>
          <a:xfrm>
            <a:off x="640080" y="5349240"/>
            <a:ext cx="3840480" cy="914400"/>
          </a:xfrm>
          <a:prstGeom prst="rect">
            <a:avLst/>
          </a:prstGeom>
          <a:noFill/>
          <a:ln/>
        </p:spPr>
        <p:txBody>
          <a:bodyPr wrap="square" lIns="0" tIns="0" rIns="0" bIns="0" rtlCol="0" anchor="t"/>
          <a:lstStyle/>
          <a:p>
            <a:pPr indent="0" marL="0">
              <a:spcAft>
                <a:spcPts val="200"/>
              </a:spcAft>
              <a:buNone/>
            </a:pPr>
            <a:r>
              <a:rPr lang="en-US" sz="1300" b="1" dirty="0">
                <a:solidFill>
                  <a:srgbClr val="FFFFFF"/>
                </a:solidFill>
                <a:latin typeface="Arial" pitchFamily="34" charset="0"/>
                <a:ea typeface="Arial" pitchFamily="34" charset="-122"/>
                <a:cs typeface="Arial" pitchFamily="34" charset="-120"/>
              </a:rPr>
              <a:t>Presented by Jason Harman</a:t>
            </a:r>
            <a:endParaRPr lang="en-US" sz="1300" dirty="0"/>
          </a:p>
          <a:p>
            <a:pPr indent="0" marL="0">
              <a:spcAft>
                <a:spcPts val="200"/>
              </a:spcAft>
              <a:buNone/>
            </a:pPr>
            <a:r>
              <a:rPr lang="en-US" sz="1300" dirty="0">
                <a:solidFill>
                  <a:srgbClr val="BDBDBD"/>
                </a:solidFill>
                <a:latin typeface="Arial" pitchFamily="34" charset="0"/>
                <a:ea typeface="Arial" pitchFamily="34" charset="-122"/>
                <a:cs typeface="Arial" pitchFamily="34" charset="-120"/>
              </a:rPr>
              <a:t>Commercial Manager</a:t>
            </a:r>
            <a:endParaRPr lang="en-US" sz="1300" dirty="0"/>
          </a:p>
          <a:p>
            <a:pPr indent="0" marL="0">
              <a:spcAft>
                <a:spcPts val="200"/>
              </a:spcAft>
              <a:buNone/>
            </a:pPr>
            <a:r>
              <a:rPr lang="en-US" sz="1300" dirty="0">
                <a:solidFill>
                  <a:srgbClr val="8A8A8A"/>
                </a:solidFill>
                <a:latin typeface="Arial" pitchFamily="34" charset="0"/>
                <a:ea typeface="Arial" pitchFamily="34" charset="-122"/>
                <a:cs typeface="Arial" pitchFamily="34" charset="-120"/>
              </a:rPr>
              <a:t>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CC30A"/>
          </a:solidFill>
          <a:ln w="12700">
            <a:solidFill>
              <a:srgbClr val="FCC30A"/>
            </a:solidFill>
            <a:prstDash val="solid"/>
          </a:ln>
        </p:spPr>
      </p:sp>
      <p:sp>
        <p:nvSpPr>
          <p:cNvPr id="3" name="Text 1"/>
          <p:cNvSpPr txBox="1"/>
          <p:nvPr/>
        </p:nvSpPr>
        <p:spPr>
          <a:xfrm>
            <a:off x="822960" y="548640"/>
            <a:ext cx="6400800" cy="64008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Agenda</a:t>
            </a:r>
            <a:endParaRPr lang="en-US" sz="3400" dirty="0"/>
          </a:p>
        </p:txBody>
      </p:sp>
      <p:sp>
        <p:nvSpPr>
          <p:cNvPr id="4" name="Text 2"/>
          <p:cNvSpPr txBox="1"/>
          <p:nvPr/>
        </p:nvSpPr>
        <p:spPr>
          <a:xfrm>
            <a:off x="822960" y="1188720"/>
            <a:ext cx="6858000" cy="365760"/>
          </a:xfrm>
          <a:prstGeom prst="rect">
            <a:avLst/>
          </a:prstGeom>
          <a:noFill/>
          <a:ln/>
        </p:spPr>
        <p:txBody>
          <a:bodyPr wrap="square" lIns="0" tIns="0" rIns="0" bIns="0" rtlCol="0" anchor="ctr"/>
          <a:lstStyle/>
          <a:p>
            <a:pPr indent="0" marL="0">
              <a:buNone/>
            </a:pPr>
            <a:r>
              <a:rPr lang="en-US" sz="1500" dirty="0">
                <a:solidFill>
                  <a:srgbClr val="BDBDBD"/>
                </a:solidFill>
                <a:latin typeface="Arial" pitchFamily="34" charset="0"/>
                <a:ea typeface="Arial" pitchFamily="34" charset="-122"/>
                <a:cs typeface="Arial" pitchFamily="34" charset="-120"/>
              </a:rPr>
              <a:t>Heater pigging &amp; decoking at Texas City</a:t>
            </a:r>
            <a:endParaRPr lang="en-US" sz="1500" dirty="0"/>
          </a:p>
        </p:txBody>
      </p:sp>
      <p:pic>
        <p:nvPicPr>
          <p:cNvPr id="5" name="Image 0" descr="C:\Users\Jwuts\obsidian-work\02-facilities\Valero\Texas-City-TX\pigging-capabilities-presentation\build/img/logo_white.png">    </p:cNvPr>
          <p:cNvPicPr>
            <a:picLocks noChangeAspect="1"/>
          </p:cNvPicPr>
          <p:nvPr/>
        </p:nvPicPr>
        <p:blipFill>
          <a:blip r:embed="rId1"/>
          <a:stretch>
            <a:fillRect/>
          </a:stretch>
        </p:blipFill>
        <p:spPr>
          <a:xfrm>
            <a:off x="9265615" y="685800"/>
            <a:ext cx="2377440" cy="356263"/>
          </a:xfrm>
          <a:prstGeom prst="rect">
            <a:avLst/>
          </a:prstGeom>
        </p:spPr>
      </p:pic>
      <p:sp>
        <p:nvSpPr>
          <p:cNvPr id="6" name="Text 3"/>
          <p:cNvSpPr txBox="1"/>
          <p:nvPr/>
        </p:nvSpPr>
        <p:spPr>
          <a:xfrm>
            <a:off x="822960" y="2103120"/>
            <a:ext cx="777240" cy="548640"/>
          </a:xfrm>
          <a:prstGeom prst="rect">
            <a:avLst/>
          </a:prstGeom>
          <a:noFill/>
          <a:ln/>
        </p:spPr>
        <p:txBody>
          <a:bodyPr wrap="square" lIns="0" tIns="0" rIns="0" bIns="0" rtlCol="0" anchor="ctr"/>
          <a:lstStyle/>
          <a:p>
            <a:pPr indent="0" marL="0">
              <a:buNone/>
            </a:pPr>
            <a:r>
              <a:rPr lang="en-US" sz="3000" b="1" dirty="0">
                <a:solidFill>
                  <a:srgbClr val="FCC30A"/>
                </a:solidFill>
                <a:latin typeface="Arial" pitchFamily="34" charset="0"/>
                <a:ea typeface="Arial" pitchFamily="34" charset="-122"/>
                <a:cs typeface="Arial" pitchFamily="34" charset="-120"/>
              </a:rPr>
              <a:t>01</a:t>
            </a:r>
            <a:endParaRPr lang="en-US" sz="3000" dirty="0"/>
          </a:p>
        </p:txBody>
      </p:sp>
      <p:sp>
        <p:nvSpPr>
          <p:cNvPr id="7" name="Text 4"/>
          <p:cNvSpPr txBox="1"/>
          <p:nvPr/>
        </p:nvSpPr>
        <p:spPr>
          <a:xfrm>
            <a:off x="1691640" y="2103120"/>
            <a:ext cx="4206240" cy="54864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Pigging &amp; decoking methodology</a:t>
            </a:r>
            <a:endParaRPr lang="en-US" sz="1800" dirty="0"/>
          </a:p>
        </p:txBody>
      </p:sp>
      <p:sp>
        <p:nvSpPr>
          <p:cNvPr id="8" name="Shape 5"/>
          <p:cNvSpPr/>
          <p:nvPr/>
        </p:nvSpPr>
        <p:spPr>
          <a:xfrm>
            <a:off x="822960" y="2761488"/>
            <a:ext cx="4937760" cy="0"/>
          </a:xfrm>
          <a:prstGeom prst="line">
            <a:avLst/>
          </a:prstGeom>
          <a:noFill/>
          <a:ln w="12700">
            <a:solidFill>
              <a:srgbClr val="363636"/>
            </a:solidFill>
            <a:prstDash val="solid"/>
          </a:ln>
        </p:spPr>
      </p:sp>
      <p:sp>
        <p:nvSpPr>
          <p:cNvPr id="9" name="Text 6"/>
          <p:cNvSpPr txBox="1"/>
          <p:nvPr/>
        </p:nvSpPr>
        <p:spPr>
          <a:xfrm>
            <a:off x="822960" y="2926080"/>
            <a:ext cx="777240" cy="548640"/>
          </a:xfrm>
          <a:prstGeom prst="rect">
            <a:avLst/>
          </a:prstGeom>
          <a:noFill/>
          <a:ln/>
        </p:spPr>
        <p:txBody>
          <a:bodyPr wrap="square" lIns="0" tIns="0" rIns="0" bIns="0" rtlCol="0" anchor="ctr"/>
          <a:lstStyle/>
          <a:p>
            <a:pPr indent="0" marL="0">
              <a:buNone/>
            </a:pPr>
            <a:r>
              <a:rPr lang="en-US" sz="3000" b="1" dirty="0">
                <a:solidFill>
                  <a:srgbClr val="FCC30A"/>
                </a:solidFill>
                <a:latin typeface="Arial" pitchFamily="34" charset="0"/>
                <a:ea typeface="Arial" pitchFamily="34" charset="-122"/>
                <a:cs typeface="Arial" pitchFamily="34" charset="-120"/>
              </a:rPr>
              <a:t>02</a:t>
            </a:r>
            <a:endParaRPr lang="en-US" sz="3000" dirty="0"/>
          </a:p>
        </p:txBody>
      </p:sp>
      <p:sp>
        <p:nvSpPr>
          <p:cNvPr id="10" name="Text 7"/>
          <p:cNvSpPr txBox="1"/>
          <p:nvPr/>
        </p:nvSpPr>
        <p:spPr>
          <a:xfrm>
            <a:off x="1691640" y="2926080"/>
            <a:ext cx="4206240" cy="54864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Execution</a:t>
            </a:r>
            <a:endParaRPr lang="en-US" sz="1800" dirty="0"/>
          </a:p>
        </p:txBody>
      </p:sp>
      <p:sp>
        <p:nvSpPr>
          <p:cNvPr id="11" name="Shape 8"/>
          <p:cNvSpPr/>
          <p:nvPr/>
        </p:nvSpPr>
        <p:spPr>
          <a:xfrm>
            <a:off x="822960" y="3584448"/>
            <a:ext cx="4937760" cy="0"/>
          </a:xfrm>
          <a:prstGeom prst="line">
            <a:avLst/>
          </a:prstGeom>
          <a:noFill/>
          <a:ln w="12700">
            <a:solidFill>
              <a:srgbClr val="363636"/>
            </a:solidFill>
            <a:prstDash val="solid"/>
          </a:ln>
        </p:spPr>
      </p:sp>
      <p:sp>
        <p:nvSpPr>
          <p:cNvPr id="12" name="Text 9"/>
          <p:cNvSpPr txBox="1"/>
          <p:nvPr/>
        </p:nvSpPr>
        <p:spPr>
          <a:xfrm>
            <a:off x="822960" y="3749040"/>
            <a:ext cx="777240" cy="548640"/>
          </a:xfrm>
          <a:prstGeom prst="rect">
            <a:avLst/>
          </a:prstGeom>
          <a:noFill/>
          <a:ln/>
        </p:spPr>
        <p:txBody>
          <a:bodyPr wrap="square" lIns="0" tIns="0" rIns="0" bIns="0" rtlCol="0" anchor="ctr"/>
          <a:lstStyle/>
          <a:p>
            <a:pPr indent="0" marL="0">
              <a:buNone/>
            </a:pPr>
            <a:r>
              <a:rPr lang="en-US" sz="3000" b="1" dirty="0">
                <a:solidFill>
                  <a:srgbClr val="FCC30A"/>
                </a:solidFill>
                <a:latin typeface="Arial" pitchFamily="34" charset="0"/>
                <a:ea typeface="Arial" pitchFamily="34" charset="-122"/>
                <a:cs typeface="Arial" pitchFamily="34" charset="-120"/>
              </a:rPr>
              <a:t>03</a:t>
            </a:r>
            <a:endParaRPr lang="en-US" sz="3000" dirty="0"/>
          </a:p>
        </p:txBody>
      </p:sp>
      <p:sp>
        <p:nvSpPr>
          <p:cNvPr id="13" name="Text 10"/>
          <p:cNvSpPr txBox="1"/>
          <p:nvPr/>
        </p:nvSpPr>
        <p:spPr>
          <a:xfrm>
            <a:off x="1691640" y="3749040"/>
            <a:ext cx="4206240" cy="54864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Readiness &amp; resources</a:t>
            </a:r>
            <a:endParaRPr lang="en-US" sz="1800" dirty="0"/>
          </a:p>
        </p:txBody>
      </p:sp>
      <p:sp>
        <p:nvSpPr>
          <p:cNvPr id="14" name="Shape 11"/>
          <p:cNvSpPr/>
          <p:nvPr/>
        </p:nvSpPr>
        <p:spPr>
          <a:xfrm>
            <a:off x="822960" y="4407408"/>
            <a:ext cx="4937760" cy="0"/>
          </a:xfrm>
          <a:prstGeom prst="line">
            <a:avLst/>
          </a:prstGeom>
          <a:noFill/>
          <a:ln w="12700">
            <a:solidFill>
              <a:srgbClr val="363636"/>
            </a:solidFill>
            <a:prstDash val="solid"/>
          </a:ln>
        </p:spPr>
      </p:sp>
      <p:sp>
        <p:nvSpPr>
          <p:cNvPr id="15" name="Text 12"/>
          <p:cNvSpPr txBox="1"/>
          <p:nvPr/>
        </p:nvSpPr>
        <p:spPr>
          <a:xfrm>
            <a:off x="822960" y="4572000"/>
            <a:ext cx="777240" cy="548640"/>
          </a:xfrm>
          <a:prstGeom prst="rect">
            <a:avLst/>
          </a:prstGeom>
          <a:noFill/>
          <a:ln/>
        </p:spPr>
        <p:txBody>
          <a:bodyPr wrap="square" lIns="0" tIns="0" rIns="0" bIns="0" rtlCol="0" anchor="ctr"/>
          <a:lstStyle/>
          <a:p>
            <a:pPr indent="0" marL="0">
              <a:buNone/>
            </a:pPr>
            <a:r>
              <a:rPr lang="en-US" sz="3000" b="1" dirty="0">
                <a:solidFill>
                  <a:srgbClr val="FCC30A"/>
                </a:solidFill>
                <a:latin typeface="Arial" pitchFamily="34" charset="0"/>
                <a:ea typeface="Arial" pitchFamily="34" charset="-122"/>
                <a:cs typeface="Arial" pitchFamily="34" charset="-120"/>
              </a:rPr>
              <a:t>04</a:t>
            </a:r>
            <a:endParaRPr lang="en-US" sz="3000" dirty="0"/>
          </a:p>
        </p:txBody>
      </p:sp>
      <p:sp>
        <p:nvSpPr>
          <p:cNvPr id="16" name="Text 13"/>
          <p:cNvSpPr txBox="1"/>
          <p:nvPr/>
        </p:nvSpPr>
        <p:spPr>
          <a:xfrm>
            <a:off x="1691640" y="4572000"/>
            <a:ext cx="4206240" cy="54864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Equipment &amp; technology</a:t>
            </a:r>
            <a:endParaRPr lang="en-US" sz="1800" dirty="0"/>
          </a:p>
        </p:txBody>
      </p:sp>
      <p:sp>
        <p:nvSpPr>
          <p:cNvPr id="17" name="Shape 14"/>
          <p:cNvSpPr/>
          <p:nvPr/>
        </p:nvSpPr>
        <p:spPr>
          <a:xfrm>
            <a:off x="822960" y="5230368"/>
            <a:ext cx="4937760" cy="0"/>
          </a:xfrm>
          <a:prstGeom prst="line">
            <a:avLst/>
          </a:prstGeom>
          <a:noFill/>
          <a:ln w="12700">
            <a:solidFill>
              <a:srgbClr val="363636"/>
            </a:solidFill>
            <a:prstDash val="solid"/>
          </a:ln>
        </p:spPr>
      </p:sp>
      <p:sp>
        <p:nvSpPr>
          <p:cNvPr id="18" name="Text 15"/>
          <p:cNvSpPr txBox="1"/>
          <p:nvPr/>
        </p:nvSpPr>
        <p:spPr>
          <a:xfrm>
            <a:off x="822960" y="5394960"/>
            <a:ext cx="777240" cy="548640"/>
          </a:xfrm>
          <a:prstGeom prst="rect">
            <a:avLst/>
          </a:prstGeom>
          <a:noFill/>
          <a:ln/>
        </p:spPr>
        <p:txBody>
          <a:bodyPr wrap="square" lIns="0" tIns="0" rIns="0" bIns="0" rtlCol="0" anchor="ctr"/>
          <a:lstStyle/>
          <a:p>
            <a:pPr indent="0" marL="0">
              <a:buNone/>
            </a:pPr>
            <a:r>
              <a:rPr lang="en-US" sz="3000" b="1" dirty="0">
                <a:solidFill>
                  <a:srgbClr val="FCC30A"/>
                </a:solidFill>
                <a:latin typeface="Arial" pitchFamily="34" charset="0"/>
                <a:ea typeface="Arial" pitchFamily="34" charset="-122"/>
                <a:cs typeface="Arial" pitchFamily="34" charset="-120"/>
              </a:rPr>
              <a:t>05</a:t>
            </a:r>
            <a:endParaRPr lang="en-US" sz="3000" dirty="0"/>
          </a:p>
        </p:txBody>
      </p:sp>
      <p:sp>
        <p:nvSpPr>
          <p:cNvPr id="19" name="Text 16"/>
          <p:cNvSpPr txBox="1"/>
          <p:nvPr/>
        </p:nvSpPr>
        <p:spPr>
          <a:xfrm>
            <a:off x="1691640" y="5394960"/>
            <a:ext cx="4206240" cy="54864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Cleanliness verification &amp; QA/QC</a:t>
            </a:r>
            <a:endParaRPr lang="en-US" sz="1800" dirty="0"/>
          </a:p>
        </p:txBody>
      </p:sp>
      <p:sp>
        <p:nvSpPr>
          <p:cNvPr id="20" name="Shape 17"/>
          <p:cNvSpPr/>
          <p:nvPr/>
        </p:nvSpPr>
        <p:spPr>
          <a:xfrm>
            <a:off x="822960" y="6053328"/>
            <a:ext cx="4937760" cy="0"/>
          </a:xfrm>
          <a:prstGeom prst="line">
            <a:avLst/>
          </a:prstGeom>
          <a:noFill/>
          <a:ln w="12700">
            <a:solidFill>
              <a:srgbClr val="363636"/>
            </a:solidFill>
            <a:prstDash val="solid"/>
          </a:ln>
        </p:spPr>
      </p:sp>
      <p:sp>
        <p:nvSpPr>
          <p:cNvPr id="21" name="Text 18"/>
          <p:cNvSpPr txBox="1"/>
          <p:nvPr/>
        </p:nvSpPr>
        <p:spPr>
          <a:xfrm>
            <a:off x="6309360" y="2103120"/>
            <a:ext cx="777240" cy="548640"/>
          </a:xfrm>
          <a:prstGeom prst="rect">
            <a:avLst/>
          </a:prstGeom>
          <a:noFill/>
          <a:ln/>
        </p:spPr>
        <p:txBody>
          <a:bodyPr wrap="square" lIns="0" tIns="0" rIns="0" bIns="0" rtlCol="0" anchor="ctr"/>
          <a:lstStyle/>
          <a:p>
            <a:pPr indent="0" marL="0">
              <a:buNone/>
            </a:pPr>
            <a:r>
              <a:rPr lang="en-US" sz="3000" b="1" dirty="0">
                <a:solidFill>
                  <a:srgbClr val="FCC30A"/>
                </a:solidFill>
                <a:latin typeface="Arial" pitchFamily="34" charset="0"/>
                <a:ea typeface="Arial" pitchFamily="34" charset="-122"/>
                <a:cs typeface="Arial" pitchFamily="34" charset="-120"/>
              </a:rPr>
              <a:t>06</a:t>
            </a:r>
            <a:endParaRPr lang="en-US" sz="3000" dirty="0"/>
          </a:p>
        </p:txBody>
      </p:sp>
      <p:sp>
        <p:nvSpPr>
          <p:cNvPr id="22" name="Text 19"/>
          <p:cNvSpPr txBox="1"/>
          <p:nvPr/>
        </p:nvSpPr>
        <p:spPr>
          <a:xfrm>
            <a:off x="7178040" y="2103120"/>
            <a:ext cx="4206240" cy="54864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Emergency response</a:t>
            </a:r>
            <a:endParaRPr lang="en-US" sz="1800" dirty="0"/>
          </a:p>
        </p:txBody>
      </p:sp>
      <p:sp>
        <p:nvSpPr>
          <p:cNvPr id="23" name="Shape 20"/>
          <p:cNvSpPr/>
          <p:nvPr/>
        </p:nvSpPr>
        <p:spPr>
          <a:xfrm>
            <a:off x="6309360" y="2761488"/>
            <a:ext cx="4937760" cy="0"/>
          </a:xfrm>
          <a:prstGeom prst="line">
            <a:avLst/>
          </a:prstGeom>
          <a:noFill/>
          <a:ln w="12700">
            <a:solidFill>
              <a:srgbClr val="363636"/>
            </a:solidFill>
            <a:prstDash val="solid"/>
          </a:ln>
        </p:spPr>
      </p:sp>
      <p:sp>
        <p:nvSpPr>
          <p:cNvPr id="24" name="Text 21"/>
          <p:cNvSpPr txBox="1"/>
          <p:nvPr/>
        </p:nvSpPr>
        <p:spPr>
          <a:xfrm>
            <a:off x="6309360" y="2926080"/>
            <a:ext cx="777240" cy="548640"/>
          </a:xfrm>
          <a:prstGeom prst="rect">
            <a:avLst/>
          </a:prstGeom>
          <a:noFill/>
          <a:ln/>
        </p:spPr>
        <p:txBody>
          <a:bodyPr wrap="square" lIns="0" tIns="0" rIns="0" bIns="0" rtlCol="0" anchor="ctr"/>
          <a:lstStyle/>
          <a:p>
            <a:pPr indent="0" marL="0">
              <a:buNone/>
            </a:pPr>
            <a:r>
              <a:rPr lang="en-US" sz="3000" b="1" dirty="0">
                <a:solidFill>
                  <a:srgbClr val="FCC30A"/>
                </a:solidFill>
                <a:latin typeface="Arial" pitchFamily="34" charset="0"/>
                <a:ea typeface="Arial" pitchFamily="34" charset="-122"/>
                <a:cs typeface="Arial" pitchFamily="34" charset="-120"/>
              </a:rPr>
              <a:t>07</a:t>
            </a:r>
            <a:endParaRPr lang="en-US" sz="3000" dirty="0"/>
          </a:p>
        </p:txBody>
      </p:sp>
      <p:sp>
        <p:nvSpPr>
          <p:cNvPr id="25" name="Text 22"/>
          <p:cNvSpPr txBox="1"/>
          <p:nvPr/>
        </p:nvSpPr>
        <p:spPr>
          <a:xfrm>
            <a:off x="7178040" y="2926080"/>
            <a:ext cx="4206240" cy="54864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Safety &amp; risk mitigation</a:t>
            </a:r>
            <a:endParaRPr lang="en-US" sz="1800" dirty="0"/>
          </a:p>
        </p:txBody>
      </p:sp>
      <p:sp>
        <p:nvSpPr>
          <p:cNvPr id="26" name="Shape 23"/>
          <p:cNvSpPr/>
          <p:nvPr/>
        </p:nvSpPr>
        <p:spPr>
          <a:xfrm>
            <a:off x="6309360" y="3584448"/>
            <a:ext cx="4937760" cy="0"/>
          </a:xfrm>
          <a:prstGeom prst="line">
            <a:avLst/>
          </a:prstGeom>
          <a:noFill/>
          <a:ln w="12700">
            <a:solidFill>
              <a:srgbClr val="363636"/>
            </a:solidFill>
            <a:prstDash val="solid"/>
          </a:ln>
        </p:spPr>
      </p:sp>
      <p:sp>
        <p:nvSpPr>
          <p:cNvPr id="27" name="Text 24"/>
          <p:cNvSpPr txBox="1"/>
          <p:nvPr/>
        </p:nvSpPr>
        <p:spPr>
          <a:xfrm>
            <a:off x="6309360" y="3749040"/>
            <a:ext cx="777240" cy="548640"/>
          </a:xfrm>
          <a:prstGeom prst="rect">
            <a:avLst/>
          </a:prstGeom>
          <a:noFill/>
          <a:ln/>
        </p:spPr>
        <p:txBody>
          <a:bodyPr wrap="square" lIns="0" tIns="0" rIns="0" bIns="0" rtlCol="0" anchor="ctr"/>
          <a:lstStyle/>
          <a:p>
            <a:pPr indent="0" marL="0">
              <a:buNone/>
            </a:pPr>
            <a:r>
              <a:rPr lang="en-US" sz="3000" b="1" dirty="0">
                <a:solidFill>
                  <a:srgbClr val="FCC30A"/>
                </a:solidFill>
                <a:latin typeface="Arial" pitchFamily="34" charset="0"/>
                <a:ea typeface="Arial" pitchFamily="34" charset="-122"/>
                <a:cs typeface="Arial" pitchFamily="34" charset="-120"/>
              </a:rPr>
              <a:t>08</a:t>
            </a:r>
            <a:endParaRPr lang="en-US" sz="3000" dirty="0"/>
          </a:p>
        </p:txBody>
      </p:sp>
      <p:sp>
        <p:nvSpPr>
          <p:cNvPr id="28" name="Text 25"/>
          <p:cNvSpPr txBox="1"/>
          <p:nvPr/>
        </p:nvSpPr>
        <p:spPr>
          <a:xfrm>
            <a:off x="7178040" y="3749040"/>
            <a:ext cx="4206240" cy="54864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Capabilities</a:t>
            </a:r>
            <a:endParaRPr lang="en-US" sz="1800" dirty="0"/>
          </a:p>
        </p:txBody>
      </p:sp>
      <p:sp>
        <p:nvSpPr>
          <p:cNvPr id="29" name="Shape 26"/>
          <p:cNvSpPr/>
          <p:nvPr/>
        </p:nvSpPr>
        <p:spPr>
          <a:xfrm>
            <a:off x="6309360" y="4407408"/>
            <a:ext cx="4937760" cy="0"/>
          </a:xfrm>
          <a:prstGeom prst="line">
            <a:avLst/>
          </a:prstGeom>
          <a:noFill/>
          <a:ln w="12700">
            <a:solidFill>
              <a:srgbClr val="363636"/>
            </a:solidFill>
            <a:prstDash val="solid"/>
          </a:ln>
        </p:spPr>
      </p:sp>
      <p:sp>
        <p:nvSpPr>
          <p:cNvPr id="30" name="Text 27"/>
          <p:cNvSpPr txBox="1"/>
          <p:nvPr/>
        </p:nvSpPr>
        <p:spPr>
          <a:xfrm>
            <a:off x="6309360" y="4572000"/>
            <a:ext cx="777240" cy="548640"/>
          </a:xfrm>
          <a:prstGeom prst="rect">
            <a:avLst/>
          </a:prstGeom>
          <a:noFill/>
          <a:ln/>
        </p:spPr>
        <p:txBody>
          <a:bodyPr wrap="square" lIns="0" tIns="0" rIns="0" bIns="0" rtlCol="0" anchor="ctr"/>
          <a:lstStyle/>
          <a:p>
            <a:pPr indent="0" marL="0">
              <a:buNone/>
            </a:pPr>
            <a:r>
              <a:rPr lang="en-US" sz="3000" b="1" dirty="0">
                <a:solidFill>
                  <a:srgbClr val="FCC30A"/>
                </a:solidFill>
                <a:latin typeface="Arial" pitchFamily="34" charset="0"/>
                <a:ea typeface="Arial" pitchFamily="34" charset="-122"/>
                <a:cs typeface="Arial" pitchFamily="34" charset="-120"/>
              </a:rPr>
              <a:t>09</a:t>
            </a:r>
            <a:endParaRPr lang="en-US" sz="3000" dirty="0"/>
          </a:p>
        </p:txBody>
      </p:sp>
      <p:sp>
        <p:nvSpPr>
          <p:cNvPr id="31" name="Text 28"/>
          <p:cNvSpPr txBox="1"/>
          <p:nvPr/>
        </p:nvSpPr>
        <p:spPr>
          <a:xfrm>
            <a:off x="7178040" y="4572000"/>
            <a:ext cx="4206240" cy="54864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Valero references &amp; case study</a:t>
            </a:r>
            <a:endParaRPr lang="en-US" sz="1800" dirty="0"/>
          </a:p>
        </p:txBody>
      </p:sp>
      <p:sp>
        <p:nvSpPr>
          <p:cNvPr id="32" name="Shape 29"/>
          <p:cNvSpPr/>
          <p:nvPr/>
        </p:nvSpPr>
        <p:spPr>
          <a:xfrm>
            <a:off x="6309360" y="5230368"/>
            <a:ext cx="4937760" cy="0"/>
          </a:xfrm>
          <a:prstGeom prst="line">
            <a:avLst/>
          </a:prstGeom>
          <a:noFill/>
          <a:ln w="12700">
            <a:solidFill>
              <a:srgbClr val="363636"/>
            </a:solidFill>
            <a:prstDash val="solid"/>
          </a:ln>
        </p:spPr>
      </p:sp>
      <p:sp>
        <p:nvSpPr>
          <p:cNvPr id="33" name="Text 30"/>
          <p:cNvSpPr txBox="1"/>
          <p:nvPr/>
        </p:nvSpPr>
        <p:spPr>
          <a:xfrm>
            <a:off x="6309360" y="5394960"/>
            <a:ext cx="777240" cy="548640"/>
          </a:xfrm>
          <a:prstGeom prst="rect">
            <a:avLst/>
          </a:prstGeom>
          <a:noFill/>
          <a:ln/>
        </p:spPr>
        <p:txBody>
          <a:bodyPr wrap="square" lIns="0" tIns="0" rIns="0" bIns="0" rtlCol="0" anchor="ctr"/>
          <a:lstStyle/>
          <a:p>
            <a:pPr indent="0" marL="0">
              <a:buNone/>
            </a:pPr>
            <a:r>
              <a:rPr lang="en-US" sz="3000" b="1" dirty="0">
                <a:solidFill>
                  <a:srgbClr val="FCC30A"/>
                </a:solidFill>
                <a:latin typeface="Arial" pitchFamily="34" charset="0"/>
                <a:ea typeface="Arial" pitchFamily="34" charset="-122"/>
                <a:cs typeface="Arial" pitchFamily="34" charset="-120"/>
              </a:rPr>
              <a:t>10</a:t>
            </a:r>
            <a:endParaRPr lang="en-US" sz="3000" dirty="0"/>
          </a:p>
        </p:txBody>
      </p:sp>
      <p:sp>
        <p:nvSpPr>
          <p:cNvPr id="34" name="Text 31"/>
          <p:cNvSpPr txBox="1"/>
          <p:nvPr/>
        </p:nvSpPr>
        <p:spPr>
          <a:xfrm>
            <a:off x="7178040" y="5394960"/>
            <a:ext cx="4206240" cy="54864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Why USA DeBusk</a:t>
            </a:r>
            <a:endParaRPr lang="en-US" sz="1800" dirty="0"/>
          </a:p>
        </p:txBody>
      </p:sp>
      <p:sp>
        <p:nvSpPr>
          <p:cNvPr id="35" name="Shape 32"/>
          <p:cNvSpPr/>
          <p:nvPr/>
        </p:nvSpPr>
        <p:spPr>
          <a:xfrm>
            <a:off x="6309360" y="6053328"/>
            <a:ext cx="4937760" cy="0"/>
          </a:xfrm>
          <a:prstGeom prst="line">
            <a:avLst/>
          </a:prstGeom>
          <a:noFill/>
          <a:ln w="12700">
            <a:solidFill>
              <a:srgbClr val="363636"/>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sers\Jwuts\obsidian-work\02-facilities\Valero\Texas-City-TX\pigging-capabilities-presentation\build/img/onsite_40.jpg">    </p:cNvPr>
          <p:cNvPicPr>
            <a:picLocks noChangeAspect="1"/>
          </p:cNvPicPr>
          <p:nvPr/>
        </p:nvPicPr>
        <p:blipFill>
          <a:blip r:embed="rId1"/>
          <a:stretch>
            <a:fillRect/>
          </a:stretch>
        </p:blipFill>
        <p:spPr>
          <a:xfrm>
            <a:off x="8531352" y="0"/>
            <a:ext cx="3657600" cy="6858000"/>
          </a:xfrm>
          <a:prstGeom prst="rect">
            <a:avLst/>
          </a:prstGeom>
        </p:spPr>
      </p:pic>
      <p:sp>
        <p:nvSpPr>
          <p:cNvPr id="3" name="Shape 0"/>
          <p:cNvSpPr/>
          <p:nvPr/>
        </p:nvSpPr>
        <p:spPr>
          <a:xfrm>
            <a:off x="548640" y="411480"/>
            <a:ext cx="1192511" cy="310896"/>
          </a:xfrm>
          <a:prstGeom prst="roundRect">
            <a:avLst>
              <a:gd name="adj" fmla="val 23529"/>
            </a:avLst>
          </a:prstGeom>
          <a:solidFill>
            <a:srgbClr val="FCC30A"/>
          </a:solidFill>
          <a:ln w="12700">
            <a:solidFill>
              <a:srgbClr val="FCC30A"/>
            </a:solidFill>
            <a:prstDash val="solid"/>
          </a:ln>
        </p:spPr>
      </p:sp>
      <p:sp>
        <p:nvSpPr>
          <p:cNvPr id="4" name="Text 1"/>
          <p:cNvSpPr txBox="1"/>
          <p:nvPr/>
        </p:nvSpPr>
        <p:spPr>
          <a:xfrm>
            <a:off x="548640" y="411480"/>
            <a:ext cx="1192511"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SERVICES</a:t>
            </a:r>
            <a:endParaRPr lang="en-US" sz="1050" dirty="0"/>
          </a:p>
        </p:txBody>
      </p:sp>
      <p:sp>
        <p:nvSpPr>
          <p:cNvPr id="5" name="Text 2"/>
          <p:cNvSpPr txBox="1"/>
          <p:nvPr/>
        </p:nvSpPr>
        <p:spPr>
          <a:xfrm>
            <a:off x="548640" y="841248"/>
            <a:ext cx="7680960" cy="731520"/>
          </a:xfrm>
          <a:prstGeom prst="rect">
            <a:avLst/>
          </a:prstGeom>
          <a:noFill/>
          <a:ln/>
        </p:spPr>
        <p:txBody>
          <a:bodyPr wrap="square" lIns="0" tIns="0" rIns="0" bIns="0" rtlCol="0" anchor="t"/>
          <a:lstStyle/>
          <a:p>
            <a:pPr indent="0" marL="0">
              <a:buNone/>
            </a:pPr>
            <a:r>
              <a:rPr lang="en-US" sz="3200" b="1" dirty="0">
                <a:solidFill>
                  <a:srgbClr val="222222"/>
                </a:solidFill>
                <a:latin typeface="Arial" pitchFamily="34" charset="0"/>
                <a:ea typeface="Arial" pitchFamily="34" charset="-122"/>
                <a:cs typeface="Arial" pitchFamily="34" charset="-120"/>
              </a:rPr>
              <a:t>Our services for Texas City</a:t>
            </a:r>
            <a:endParaRPr lang="en-US" sz="3200" dirty="0"/>
          </a:p>
        </p:txBody>
      </p:sp>
      <p:sp>
        <p:nvSpPr>
          <p:cNvPr id="6" name="Text 3"/>
          <p:cNvSpPr txBox="1"/>
          <p:nvPr/>
        </p:nvSpPr>
        <p:spPr>
          <a:xfrm>
            <a:off x="548640" y="1481328"/>
            <a:ext cx="7680960" cy="365760"/>
          </a:xfrm>
          <a:prstGeom prst="rect">
            <a:avLst/>
          </a:prstGeom>
          <a:noFill/>
          <a:ln/>
        </p:spPr>
        <p:txBody>
          <a:bodyPr wrap="square" lIns="0" tIns="0" rIns="0" bIns="0" rtlCol="0" anchor="t"/>
          <a:lstStyle/>
          <a:p>
            <a:pPr indent="0" marL="0">
              <a:buNone/>
            </a:pPr>
            <a:r>
              <a:rPr lang="en-US" sz="1500" dirty="0">
                <a:solidFill>
                  <a:srgbClr val="5E5E5E"/>
                </a:solidFill>
                <a:latin typeface="Arial" pitchFamily="34" charset="0"/>
                <a:ea typeface="Arial" pitchFamily="34" charset="-122"/>
                <a:cs typeface="Arial" pitchFamily="34" charset="-120"/>
              </a:rPr>
              <a:t>Mechanical decoking of fired heater coils, planned or on short notice</a:t>
            </a:r>
            <a:endParaRPr lang="en-US" sz="1500" dirty="0"/>
          </a:p>
        </p:txBody>
      </p:sp>
      <p:sp>
        <p:nvSpPr>
          <p:cNvPr id="7" name="Shape 4"/>
          <p:cNvSpPr/>
          <p:nvPr/>
        </p:nvSpPr>
        <p:spPr>
          <a:xfrm>
            <a:off x="548640" y="2103120"/>
            <a:ext cx="3730752" cy="1325880"/>
          </a:xfrm>
          <a:prstGeom prst="rect">
            <a:avLst/>
          </a:prstGeom>
          <a:solidFill>
            <a:srgbClr val="F4F4F4"/>
          </a:solidFill>
          <a:ln w="12700">
            <a:solidFill>
              <a:srgbClr val="F4F4F4"/>
            </a:solidFill>
            <a:prstDash val="solid"/>
          </a:ln>
        </p:spPr>
      </p:sp>
      <p:sp>
        <p:nvSpPr>
          <p:cNvPr id="8" name="Shape 5"/>
          <p:cNvSpPr/>
          <p:nvPr/>
        </p:nvSpPr>
        <p:spPr>
          <a:xfrm>
            <a:off x="777240" y="2359152"/>
            <a:ext cx="566928" cy="566928"/>
          </a:xfrm>
          <a:prstGeom prst="ellipse">
            <a:avLst/>
          </a:prstGeom>
          <a:solidFill>
            <a:srgbClr val="1E1E1E"/>
          </a:solidFill>
          <a:ln w="12700">
            <a:solidFill>
              <a:srgbClr val="1E1E1E"/>
            </a:solidFill>
            <a:prstDash val="solid"/>
          </a:ln>
        </p:spPr>
      </p:sp>
      <p:pic>
        <p:nvPicPr>
          <p:cNvPr id="9" name="Image 1" descr="preencoded.png">    </p:cNvPr>
          <p:cNvPicPr>
            <a:picLocks noChangeAspect="1"/>
          </p:cNvPicPr>
          <p:nvPr/>
        </p:nvPicPr>
        <p:blipFill>
          <a:blip r:embed="rId2"/>
          <a:stretch>
            <a:fillRect/>
          </a:stretch>
        </p:blipFill>
        <p:spPr>
          <a:xfrm>
            <a:off x="918972" y="2500884"/>
            <a:ext cx="283464" cy="283464"/>
          </a:xfrm>
          <a:prstGeom prst="rect">
            <a:avLst/>
          </a:prstGeom>
        </p:spPr>
      </p:pic>
      <p:sp>
        <p:nvSpPr>
          <p:cNvPr id="10" name="Text 6"/>
          <p:cNvSpPr txBox="1"/>
          <p:nvPr/>
        </p:nvSpPr>
        <p:spPr>
          <a:xfrm>
            <a:off x="1508760" y="2286000"/>
            <a:ext cx="2651760" cy="365760"/>
          </a:xfrm>
          <a:prstGeom prst="rect">
            <a:avLst/>
          </a:prstGeom>
          <a:noFill/>
          <a:ln/>
        </p:spPr>
        <p:txBody>
          <a:bodyPr wrap="square" lIns="0" tIns="0" rIns="0" bIns="0" rtlCol="0" anchor="ctr"/>
          <a:lstStyle/>
          <a:p>
            <a:pPr indent="0" marL="0">
              <a:buNone/>
            </a:pPr>
            <a:r>
              <a:rPr lang="en-US" sz="1550" b="1" dirty="0">
                <a:solidFill>
                  <a:srgbClr val="222222"/>
                </a:solidFill>
                <a:latin typeface="Arial" pitchFamily="34" charset="0"/>
                <a:ea typeface="Arial" pitchFamily="34" charset="-122"/>
                <a:cs typeface="Arial" pitchFamily="34" charset="-120"/>
              </a:rPr>
              <a:t>Coker heaters</a:t>
            </a:r>
            <a:endParaRPr lang="en-US" sz="1550" dirty="0"/>
          </a:p>
        </p:txBody>
      </p:sp>
      <p:sp>
        <p:nvSpPr>
          <p:cNvPr id="11" name="Text 7"/>
          <p:cNvSpPr txBox="1"/>
          <p:nvPr/>
        </p:nvSpPr>
        <p:spPr>
          <a:xfrm>
            <a:off x="1508760" y="2670048"/>
            <a:ext cx="2651760" cy="685800"/>
          </a:xfrm>
          <a:prstGeom prst="rect">
            <a:avLst/>
          </a:prstGeom>
          <a:noFill/>
          <a:ln/>
        </p:spPr>
        <p:txBody>
          <a:bodyPr wrap="square" lIns="0" tIns="0" rIns="0" bIns="0" rtlCol="0" anchor="t"/>
          <a:lstStyle/>
          <a:p>
            <a:pPr indent="0" marL="0">
              <a:buNone/>
            </a:pPr>
            <a:r>
              <a:rPr lang="en-US" sz="1150" dirty="0">
                <a:solidFill>
                  <a:srgbClr val="5E5E5E"/>
                </a:solidFill>
                <a:latin typeface="Arial" pitchFamily="34" charset="0"/>
                <a:ea typeface="Arial" pitchFamily="34" charset="-122"/>
                <a:cs typeface="Arial" pitchFamily="34" charset="-120"/>
              </a:rPr>
              <a:t>Hard coke in radiant and convection coils, on run-length or turnaround cycles</a:t>
            </a:r>
            <a:endParaRPr lang="en-US" sz="1150" dirty="0"/>
          </a:p>
        </p:txBody>
      </p:sp>
      <p:sp>
        <p:nvSpPr>
          <p:cNvPr id="12" name="Shape 8"/>
          <p:cNvSpPr/>
          <p:nvPr/>
        </p:nvSpPr>
        <p:spPr>
          <a:xfrm>
            <a:off x="4434840" y="2103120"/>
            <a:ext cx="3730752" cy="1325880"/>
          </a:xfrm>
          <a:prstGeom prst="rect">
            <a:avLst/>
          </a:prstGeom>
          <a:solidFill>
            <a:srgbClr val="F4F4F4"/>
          </a:solidFill>
          <a:ln w="12700">
            <a:solidFill>
              <a:srgbClr val="F4F4F4"/>
            </a:solidFill>
            <a:prstDash val="solid"/>
          </a:ln>
        </p:spPr>
      </p:sp>
      <p:sp>
        <p:nvSpPr>
          <p:cNvPr id="13" name="Shape 9"/>
          <p:cNvSpPr/>
          <p:nvPr/>
        </p:nvSpPr>
        <p:spPr>
          <a:xfrm>
            <a:off x="4663440" y="2359152"/>
            <a:ext cx="566928" cy="566928"/>
          </a:xfrm>
          <a:prstGeom prst="ellipse">
            <a:avLst/>
          </a:prstGeom>
          <a:solidFill>
            <a:srgbClr val="1E1E1E"/>
          </a:solidFill>
          <a:ln w="12700">
            <a:solidFill>
              <a:srgbClr val="1E1E1E"/>
            </a:solidFill>
            <a:prstDash val="solid"/>
          </a:ln>
        </p:spPr>
      </p:sp>
      <p:pic>
        <p:nvPicPr>
          <p:cNvPr id="14" name="Image 2" descr="preencoded.png">    </p:cNvPr>
          <p:cNvPicPr>
            <a:picLocks noChangeAspect="1"/>
          </p:cNvPicPr>
          <p:nvPr/>
        </p:nvPicPr>
        <p:blipFill>
          <a:blip r:embed="rId3"/>
          <a:stretch>
            <a:fillRect/>
          </a:stretch>
        </p:blipFill>
        <p:spPr>
          <a:xfrm>
            <a:off x="4805172" y="2500884"/>
            <a:ext cx="283464" cy="283464"/>
          </a:xfrm>
          <a:prstGeom prst="rect">
            <a:avLst/>
          </a:prstGeom>
        </p:spPr>
      </p:pic>
      <p:sp>
        <p:nvSpPr>
          <p:cNvPr id="15" name="Text 10"/>
          <p:cNvSpPr txBox="1"/>
          <p:nvPr/>
        </p:nvSpPr>
        <p:spPr>
          <a:xfrm>
            <a:off x="5394960" y="2286000"/>
            <a:ext cx="2651760" cy="365760"/>
          </a:xfrm>
          <a:prstGeom prst="rect">
            <a:avLst/>
          </a:prstGeom>
          <a:noFill/>
          <a:ln/>
        </p:spPr>
        <p:txBody>
          <a:bodyPr wrap="square" lIns="0" tIns="0" rIns="0" bIns="0" rtlCol="0" anchor="ctr"/>
          <a:lstStyle/>
          <a:p>
            <a:pPr indent="0" marL="0">
              <a:buNone/>
            </a:pPr>
            <a:r>
              <a:rPr lang="en-US" sz="1550" b="1" dirty="0">
                <a:solidFill>
                  <a:srgbClr val="222222"/>
                </a:solidFill>
                <a:latin typeface="Arial" pitchFamily="34" charset="0"/>
                <a:ea typeface="Arial" pitchFamily="34" charset="-122"/>
                <a:cs typeface="Arial" pitchFamily="34" charset="-120"/>
              </a:rPr>
              <a:t>Crude &amp; vacuum heaters</a:t>
            </a:r>
            <a:endParaRPr lang="en-US" sz="1550" dirty="0"/>
          </a:p>
        </p:txBody>
      </p:sp>
      <p:sp>
        <p:nvSpPr>
          <p:cNvPr id="16" name="Text 11"/>
          <p:cNvSpPr txBox="1"/>
          <p:nvPr/>
        </p:nvSpPr>
        <p:spPr>
          <a:xfrm>
            <a:off x="5394960" y="2670048"/>
            <a:ext cx="2651760" cy="685800"/>
          </a:xfrm>
          <a:prstGeom prst="rect">
            <a:avLst/>
          </a:prstGeom>
          <a:noFill/>
          <a:ln/>
        </p:spPr>
        <p:txBody>
          <a:bodyPr wrap="square" lIns="0" tIns="0" rIns="0" bIns="0" rtlCol="0" anchor="t"/>
          <a:lstStyle/>
          <a:p>
            <a:pPr indent="0" marL="0">
              <a:buNone/>
            </a:pPr>
            <a:r>
              <a:rPr lang="en-US" sz="1150" dirty="0">
                <a:solidFill>
                  <a:srgbClr val="5E5E5E"/>
                </a:solidFill>
                <a:latin typeface="Arial" pitchFamily="34" charset="0"/>
                <a:ea typeface="Arial" pitchFamily="34" charset="-122"/>
                <a:cs typeface="Arial" pitchFamily="34" charset="-120"/>
              </a:rPr>
              <a:t>Pitch, resid and coke across mixed-diameter passes</a:t>
            </a:r>
            <a:endParaRPr lang="en-US" sz="1150" dirty="0"/>
          </a:p>
        </p:txBody>
      </p:sp>
      <p:sp>
        <p:nvSpPr>
          <p:cNvPr id="17" name="Shape 12"/>
          <p:cNvSpPr/>
          <p:nvPr/>
        </p:nvSpPr>
        <p:spPr>
          <a:xfrm>
            <a:off x="548640" y="3566160"/>
            <a:ext cx="3730752" cy="1325880"/>
          </a:xfrm>
          <a:prstGeom prst="rect">
            <a:avLst/>
          </a:prstGeom>
          <a:solidFill>
            <a:srgbClr val="F4F4F4"/>
          </a:solidFill>
          <a:ln w="12700">
            <a:solidFill>
              <a:srgbClr val="F4F4F4"/>
            </a:solidFill>
            <a:prstDash val="solid"/>
          </a:ln>
        </p:spPr>
      </p:sp>
      <p:sp>
        <p:nvSpPr>
          <p:cNvPr id="18" name="Shape 13"/>
          <p:cNvSpPr/>
          <p:nvPr/>
        </p:nvSpPr>
        <p:spPr>
          <a:xfrm>
            <a:off x="777240" y="3822192"/>
            <a:ext cx="566928" cy="566928"/>
          </a:xfrm>
          <a:prstGeom prst="ellipse">
            <a:avLst/>
          </a:prstGeom>
          <a:solidFill>
            <a:srgbClr val="1E1E1E"/>
          </a:solidFill>
          <a:ln w="12700">
            <a:solidFill>
              <a:srgbClr val="1E1E1E"/>
            </a:solidFill>
            <a:prstDash val="solid"/>
          </a:ln>
        </p:spPr>
      </p:sp>
      <p:pic>
        <p:nvPicPr>
          <p:cNvPr id="19" name="Image 3" descr="preencoded.png">    </p:cNvPr>
          <p:cNvPicPr>
            <a:picLocks noChangeAspect="1"/>
          </p:cNvPicPr>
          <p:nvPr/>
        </p:nvPicPr>
        <p:blipFill>
          <a:blip r:embed="rId4"/>
          <a:stretch>
            <a:fillRect/>
          </a:stretch>
        </p:blipFill>
        <p:spPr>
          <a:xfrm>
            <a:off x="918972" y="3963924"/>
            <a:ext cx="283464" cy="283464"/>
          </a:xfrm>
          <a:prstGeom prst="rect">
            <a:avLst/>
          </a:prstGeom>
        </p:spPr>
      </p:pic>
      <p:sp>
        <p:nvSpPr>
          <p:cNvPr id="20" name="Text 14"/>
          <p:cNvSpPr txBox="1"/>
          <p:nvPr/>
        </p:nvSpPr>
        <p:spPr>
          <a:xfrm>
            <a:off x="1508760" y="3749040"/>
            <a:ext cx="2651760" cy="365760"/>
          </a:xfrm>
          <a:prstGeom prst="rect">
            <a:avLst/>
          </a:prstGeom>
          <a:noFill/>
          <a:ln/>
        </p:spPr>
        <p:txBody>
          <a:bodyPr wrap="square" lIns="0" tIns="0" rIns="0" bIns="0" rtlCol="0" anchor="ctr"/>
          <a:lstStyle/>
          <a:p>
            <a:pPr indent="0" marL="0">
              <a:buNone/>
            </a:pPr>
            <a:r>
              <a:rPr lang="en-US" sz="1550" b="1" dirty="0">
                <a:solidFill>
                  <a:srgbClr val="222222"/>
                </a:solidFill>
                <a:latin typeface="Arial" pitchFamily="34" charset="0"/>
                <a:ea typeface="Arial" pitchFamily="34" charset="-122"/>
                <a:cs typeface="Arial" pitchFamily="34" charset="-120"/>
              </a:rPr>
              <a:t>Charge &amp; process heaters</a:t>
            </a:r>
            <a:endParaRPr lang="en-US" sz="1550" dirty="0"/>
          </a:p>
        </p:txBody>
      </p:sp>
      <p:sp>
        <p:nvSpPr>
          <p:cNvPr id="21" name="Text 15"/>
          <p:cNvSpPr txBox="1"/>
          <p:nvPr/>
        </p:nvSpPr>
        <p:spPr>
          <a:xfrm>
            <a:off x="1508760" y="4133088"/>
            <a:ext cx="2651760" cy="685800"/>
          </a:xfrm>
          <a:prstGeom prst="rect">
            <a:avLst/>
          </a:prstGeom>
          <a:noFill/>
          <a:ln/>
        </p:spPr>
        <p:txBody>
          <a:bodyPr wrap="square" lIns="0" tIns="0" rIns="0" bIns="0" rtlCol="0" anchor="t"/>
          <a:lstStyle/>
          <a:p>
            <a:pPr indent="0" marL="0">
              <a:buNone/>
            </a:pPr>
            <a:r>
              <a:rPr lang="en-US" sz="1150" dirty="0">
                <a:solidFill>
                  <a:srgbClr val="5E5E5E"/>
                </a:solidFill>
                <a:latin typeface="Arial" pitchFamily="34" charset="0"/>
                <a:ea typeface="Arial" pitchFamily="34" charset="-122"/>
                <a:cs typeface="Arial" pitchFamily="34" charset="-120"/>
              </a:rPr>
              <a:t>Process heater coils cleaned and verified ahead of restart or inspection</a:t>
            </a:r>
            <a:endParaRPr lang="en-US" sz="1150" dirty="0"/>
          </a:p>
        </p:txBody>
      </p:sp>
      <p:sp>
        <p:nvSpPr>
          <p:cNvPr id="22" name="Shape 16"/>
          <p:cNvSpPr/>
          <p:nvPr/>
        </p:nvSpPr>
        <p:spPr>
          <a:xfrm>
            <a:off x="4434840" y="3566160"/>
            <a:ext cx="3730752" cy="1325880"/>
          </a:xfrm>
          <a:prstGeom prst="rect">
            <a:avLst/>
          </a:prstGeom>
          <a:solidFill>
            <a:srgbClr val="F4F4F4"/>
          </a:solidFill>
          <a:ln w="12700">
            <a:solidFill>
              <a:srgbClr val="F4F4F4"/>
            </a:solidFill>
            <a:prstDash val="solid"/>
          </a:ln>
        </p:spPr>
      </p:sp>
      <p:sp>
        <p:nvSpPr>
          <p:cNvPr id="23" name="Shape 17"/>
          <p:cNvSpPr/>
          <p:nvPr/>
        </p:nvSpPr>
        <p:spPr>
          <a:xfrm>
            <a:off x="4663440" y="3822192"/>
            <a:ext cx="566928" cy="566928"/>
          </a:xfrm>
          <a:prstGeom prst="ellipse">
            <a:avLst/>
          </a:prstGeom>
          <a:solidFill>
            <a:srgbClr val="1E1E1E"/>
          </a:solidFill>
          <a:ln w="12700">
            <a:solidFill>
              <a:srgbClr val="1E1E1E"/>
            </a:solidFill>
            <a:prstDash val="solid"/>
          </a:ln>
        </p:spPr>
      </p:sp>
      <p:pic>
        <p:nvPicPr>
          <p:cNvPr id="24" name="Image 4" descr="preencoded.png">    </p:cNvPr>
          <p:cNvPicPr>
            <a:picLocks noChangeAspect="1"/>
          </p:cNvPicPr>
          <p:nvPr/>
        </p:nvPicPr>
        <p:blipFill>
          <a:blip r:embed="rId5"/>
          <a:stretch>
            <a:fillRect/>
          </a:stretch>
        </p:blipFill>
        <p:spPr>
          <a:xfrm>
            <a:off x="4805172" y="3963924"/>
            <a:ext cx="283464" cy="283464"/>
          </a:xfrm>
          <a:prstGeom prst="rect">
            <a:avLst/>
          </a:prstGeom>
        </p:spPr>
      </p:pic>
      <p:sp>
        <p:nvSpPr>
          <p:cNvPr id="25" name="Text 18"/>
          <p:cNvSpPr txBox="1"/>
          <p:nvPr/>
        </p:nvSpPr>
        <p:spPr>
          <a:xfrm>
            <a:off x="5394960" y="3749040"/>
            <a:ext cx="2651760" cy="365760"/>
          </a:xfrm>
          <a:prstGeom prst="rect">
            <a:avLst/>
          </a:prstGeom>
          <a:noFill/>
          <a:ln/>
        </p:spPr>
        <p:txBody>
          <a:bodyPr wrap="square" lIns="0" tIns="0" rIns="0" bIns="0" rtlCol="0" anchor="ctr"/>
          <a:lstStyle/>
          <a:p>
            <a:pPr indent="0" marL="0">
              <a:buNone/>
            </a:pPr>
            <a:r>
              <a:rPr lang="en-US" sz="1550" b="1" dirty="0">
                <a:solidFill>
                  <a:srgbClr val="222222"/>
                </a:solidFill>
                <a:latin typeface="Arial" pitchFamily="34" charset="0"/>
                <a:ea typeface="Arial" pitchFamily="34" charset="-122"/>
                <a:cs typeface="Arial" pitchFamily="34" charset="-120"/>
              </a:rPr>
              <a:t>Smart pig support</a:t>
            </a:r>
            <a:endParaRPr lang="en-US" sz="1550" dirty="0"/>
          </a:p>
        </p:txBody>
      </p:sp>
      <p:sp>
        <p:nvSpPr>
          <p:cNvPr id="26" name="Text 19"/>
          <p:cNvSpPr txBox="1"/>
          <p:nvPr/>
        </p:nvSpPr>
        <p:spPr>
          <a:xfrm>
            <a:off x="5394960" y="4133088"/>
            <a:ext cx="2651760" cy="685800"/>
          </a:xfrm>
          <a:prstGeom prst="rect">
            <a:avLst/>
          </a:prstGeom>
          <a:noFill/>
          <a:ln/>
        </p:spPr>
        <p:txBody>
          <a:bodyPr wrap="square" lIns="0" tIns="0" rIns="0" bIns="0" rtlCol="0" anchor="t"/>
          <a:lstStyle/>
          <a:p>
            <a:pPr indent="0" marL="0">
              <a:buNone/>
            </a:pPr>
            <a:r>
              <a:rPr lang="en-US" sz="1150" dirty="0">
                <a:solidFill>
                  <a:srgbClr val="5E5E5E"/>
                </a:solidFill>
                <a:latin typeface="Arial" pitchFamily="34" charset="0"/>
                <a:ea typeface="Arial" pitchFamily="34" charset="-122"/>
                <a:cs typeface="Arial" pitchFamily="34" charset="-120"/>
              </a:rPr>
              <a:t>Coils cleaned to inspection standard; spare TriMax pump drives the inspection tool</a:t>
            </a:r>
            <a:endParaRPr lang="en-US" sz="1150" dirty="0"/>
          </a:p>
        </p:txBody>
      </p:sp>
      <p:sp>
        <p:nvSpPr>
          <p:cNvPr id="27" name="Shape 20"/>
          <p:cNvSpPr/>
          <p:nvPr/>
        </p:nvSpPr>
        <p:spPr>
          <a:xfrm>
            <a:off x="548640" y="5166360"/>
            <a:ext cx="2432304" cy="1051560"/>
          </a:xfrm>
          <a:prstGeom prst="rect">
            <a:avLst/>
          </a:prstGeom>
          <a:solidFill>
            <a:srgbClr val="1E1E1E"/>
          </a:solidFill>
          <a:ln w="12700">
            <a:solidFill>
              <a:srgbClr val="1E1E1E"/>
            </a:solidFill>
            <a:prstDash val="solid"/>
          </a:ln>
        </p:spPr>
      </p:sp>
      <p:sp>
        <p:nvSpPr>
          <p:cNvPr id="28" name="Text 21"/>
          <p:cNvSpPr txBox="1"/>
          <p:nvPr/>
        </p:nvSpPr>
        <p:spPr>
          <a:xfrm>
            <a:off x="731520" y="5257800"/>
            <a:ext cx="2103120" cy="457200"/>
          </a:xfrm>
          <a:prstGeom prst="rect">
            <a:avLst/>
          </a:prstGeom>
          <a:noFill/>
          <a:ln/>
        </p:spPr>
        <p:txBody>
          <a:bodyPr wrap="square" lIns="0" tIns="0" rIns="0" bIns="0" rtlCol="0" anchor="ctr"/>
          <a:lstStyle/>
          <a:p>
            <a:pPr indent="0" marL="0">
              <a:buNone/>
            </a:pPr>
            <a:r>
              <a:rPr lang="en-US" sz="2000" b="1" dirty="0">
                <a:solidFill>
                  <a:srgbClr val="FCC30A"/>
                </a:solidFill>
                <a:latin typeface="Arial" pitchFamily="34" charset="0"/>
                <a:ea typeface="Arial" pitchFamily="34" charset="-122"/>
                <a:cs typeface="Arial" pitchFamily="34" charset="-120"/>
              </a:rPr>
              <a:t>Planned</a:t>
            </a:r>
            <a:endParaRPr lang="en-US" sz="2000" dirty="0"/>
          </a:p>
        </p:txBody>
      </p:sp>
      <p:sp>
        <p:nvSpPr>
          <p:cNvPr id="29" name="Text 22"/>
          <p:cNvSpPr txBox="1"/>
          <p:nvPr/>
        </p:nvSpPr>
        <p:spPr>
          <a:xfrm>
            <a:off x="731520" y="5715000"/>
            <a:ext cx="2103120" cy="41148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turnarounds &amp; run-length decokes</a:t>
            </a:r>
            <a:endParaRPr lang="en-US" sz="1100" dirty="0"/>
          </a:p>
        </p:txBody>
      </p:sp>
      <p:sp>
        <p:nvSpPr>
          <p:cNvPr id="30" name="Shape 23"/>
          <p:cNvSpPr/>
          <p:nvPr/>
        </p:nvSpPr>
        <p:spPr>
          <a:xfrm>
            <a:off x="3136392" y="5166360"/>
            <a:ext cx="2432304" cy="1051560"/>
          </a:xfrm>
          <a:prstGeom prst="rect">
            <a:avLst/>
          </a:prstGeom>
          <a:solidFill>
            <a:srgbClr val="1E1E1E"/>
          </a:solidFill>
          <a:ln w="12700">
            <a:solidFill>
              <a:srgbClr val="1E1E1E"/>
            </a:solidFill>
            <a:prstDash val="solid"/>
          </a:ln>
        </p:spPr>
      </p:sp>
      <p:sp>
        <p:nvSpPr>
          <p:cNvPr id="31" name="Text 24"/>
          <p:cNvSpPr txBox="1"/>
          <p:nvPr/>
        </p:nvSpPr>
        <p:spPr>
          <a:xfrm>
            <a:off x="3319272" y="5257800"/>
            <a:ext cx="2103120" cy="457200"/>
          </a:xfrm>
          <a:prstGeom prst="rect">
            <a:avLst/>
          </a:prstGeom>
          <a:noFill/>
          <a:ln/>
        </p:spPr>
        <p:txBody>
          <a:bodyPr wrap="square" lIns="0" tIns="0" rIns="0" bIns="0" rtlCol="0" anchor="ctr"/>
          <a:lstStyle/>
          <a:p>
            <a:pPr indent="0" marL="0">
              <a:buNone/>
            </a:pPr>
            <a:r>
              <a:rPr lang="en-US" sz="2000" b="1" dirty="0">
                <a:solidFill>
                  <a:srgbClr val="FCC30A"/>
                </a:solidFill>
                <a:latin typeface="Arial" pitchFamily="34" charset="0"/>
                <a:ea typeface="Arial" pitchFamily="34" charset="-122"/>
                <a:cs typeface="Arial" pitchFamily="34" charset="-120"/>
              </a:rPr>
              <a:t>Short notice</a:t>
            </a:r>
            <a:endParaRPr lang="en-US" sz="2000" dirty="0"/>
          </a:p>
        </p:txBody>
      </p:sp>
      <p:sp>
        <p:nvSpPr>
          <p:cNvPr id="32" name="Text 25"/>
          <p:cNvSpPr txBox="1"/>
          <p:nvPr/>
        </p:nvSpPr>
        <p:spPr>
          <a:xfrm>
            <a:off x="3319272" y="5715000"/>
            <a:ext cx="2103120" cy="41148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emergency mobilization</a:t>
            </a:r>
            <a:endParaRPr lang="en-US" sz="1100" dirty="0"/>
          </a:p>
        </p:txBody>
      </p:sp>
      <p:sp>
        <p:nvSpPr>
          <p:cNvPr id="33" name="Shape 26"/>
          <p:cNvSpPr/>
          <p:nvPr/>
        </p:nvSpPr>
        <p:spPr>
          <a:xfrm>
            <a:off x="5724144" y="5166360"/>
            <a:ext cx="2432304" cy="1051560"/>
          </a:xfrm>
          <a:prstGeom prst="rect">
            <a:avLst/>
          </a:prstGeom>
          <a:solidFill>
            <a:srgbClr val="1E1E1E"/>
          </a:solidFill>
          <a:ln w="12700">
            <a:solidFill>
              <a:srgbClr val="1E1E1E"/>
            </a:solidFill>
            <a:prstDash val="solid"/>
          </a:ln>
        </p:spPr>
      </p:sp>
      <p:sp>
        <p:nvSpPr>
          <p:cNvPr id="34" name="Text 27"/>
          <p:cNvSpPr txBox="1"/>
          <p:nvPr/>
        </p:nvSpPr>
        <p:spPr>
          <a:xfrm>
            <a:off x="5907024" y="5257800"/>
            <a:ext cx="2103120" cy="457200"/>
          </a:xfrm>
          <a:prstGeom prst="rect">
            <a:avLst/>
          </a:prstGeom>
          <a:noFill/>
          <a:ln/>
        </p:spPr>
        <p:txBody>
          <a:bodyPr wrap="square" lIns="0" tIns="0" rIns="0" bIns="0" rtlCol="0" anchor="ctr"/>
          <a:lstStyle/>
          <a:p>
            <a:pPr indent="0" marL="0">
              <a:buNone/>
            </a:pPr>
            <a:r>
              <a:rPr lang="en-US" sz="2000" b="1" dirty="0">
                <a:solidFill>
                  <a:srgbClr val="FCC30A"/>
                </a:solidFill>
                <a:latin typeface="Arial" pitchFamily="34" charset="0"/>
                <a:ea typeface="Arial" pitchFamily="34" charset="-122"/>
                <a:cs typeface="Arial" pitchFamily="34" charset="-120"/>
              </a:rPr>
              <a:t>Optional</a:t>
            </a:r>
            <a:endParaRPr lang="en-US" sz="2000" dirty="0"/>
          </a:p>
        </p:txBody>
      </p:sp>
      <p:sp>
        <p:nvSpPr>
          <p:cNvPr id="35" name="Text 28"/>
          <p:cNvSpPr txBox="1"/>
          <p:nvPr/>
        </p:nvSpPr>
        <p:spPr>
          <a:xfrm>
            <a:off x="5907024" y="5715000"/>
            <a:ext cx="2103120" cy="41148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closed-loop filtration</a:t>
            </a:r>
            <a:endParaRPr lang="en-US" sz="1100" dirty="0"/>
          </a:p>
        </p:txBody>
      </p:sp>
      <p:sp>
        <p:nvSpPr>
          <p:cNvPr id="36" name="Text 29"/>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USA DeBusk  |  Valero Texas City  |  Heater Pigging &amp; Decoking Services</a:t>
            </a:r>
            <a:endParaRPr lang="en-US" sz="900" dirty="0"/>
          </a:p>
        </p:txBody>
      </p:sp>
      <p:sp>
        <p:nvSpPr>
          <p:cNvPr id="37" name="Text 30"/>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Users\Jwuts\obsidian-work\02-facilities\Valero\Texas-City-TX\pigging-capabilities-presentation\build/img/slot_method_t6.jpg">    </p:cNvPr>
          <p:cNvPicPr>
            <a:picLocks noChangeAspect="1"/>
          </p:cNvPicPr>
          <p:nvPr/>
        </p:nvPicPr>
        <p:blipFill>
          <a:blip r:embed="rId1"/>
          <a:stretch>
            <a:fillRect/>
          </a:stretch>
        </p:blipFill>
        <p:spPr>
          <a:xfrm>
            <a:off x="8531352" y="0"/>
            <a:ext cx="3657600" cy="6858000"/>
          </a:xfrm>
          <a:prstGeom prst="rect">
            <a:avLst/>
          </a:prstGeom>
        </p:spPr>
      </p:pic>
      <p:sp>
        <p:nvSpPr>
          <p:cNvPr id="3" name="Shape 0"/>
          <p:cNvSpPr/>
          <p:nvPr/>
        </p:nvSpPr>
        <p:spPr>
          <a:xfrm>
            <a:off x="548640" y="411480"/>
            <a:ext cx="1989525" cy="310896"/>
          </a:xfrm>
          <a:prstGeom prst="roundRect">
            <a:avLst>
              <a:gd name="adj" fmla="val 23529"/>
            </a:avLst>
          </a:prstGeom>
          <a:solidFill>
            <a:srgbClr val="FCC30A"/>
          </a:solidFill>
          <a:ln w="12700">
            <a:solidFill>
              <a:srgbClr val="FCC30A"/>
            </a:solidFill>
            <a:prstDash val="solid"/>
          </a:ln>
        </p:spPr>
      </p:sp>
      <p:sp>
        <p:nvSpPr>
          <p:cNvPr id="4" name="Text 1"/>
          <p:cNvSpPr txBox="1"/>
          <p:nvPr/>
        </p:nvSpPr>
        <p:spPr>
          <a:xfrm>
            <a:off x="548640" y="411480"/>
            <a:ext cx="1989525"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01   METHODOLOGY</a:t>
            </a:r>
            <a:endParaRPr lang="en-US" sz="1050" dirty="0"/>
          </a:p>
        </p:txBody>
      </p:sp>
      <p:sp>
        <p:nvSpPr>
          <p:cNvPr id="5" name="Text 2"/>
          <p:cNvSpPr txBox="1"/>
          <p:nvPr/>
        </p:nvSpPr>
        <p:spPr>
          <a:xfrm>
            <a:off x="548640" y="841248"/>
            <a:ext cx="7680960" cy="731520"/>
          </a:xfrm>
          <a:prstGeom prst="rect">
            <a:avLst/>
          </a:prstGeom>
          <a:noFill/>
          <a:ln/>
        </p:spPr>
        <p:txBody>
          <a:bodyPr wrap="square" lIns="0" tIns="0" rIns="0" bIns="0" rtlCol="0" anchor="t"/>
          <a:lstStyle/>
          <a:p>
            <a:pPr indent="0" marL="0">
              <a:buNone/>
            </a:pPr>
            <a:r>
              <a:rPr lang="en-US" sz="3200" b="1" dirty="0">
                <a:solidFill>
                  <a:srgbClr val="222222"/>
                </a:solidFill>
                <a:latin typeface="Arial" pitchFamily="34" charset="0"/>
                <a:ea typeface="Arial" pitchFamily="34" charset="-122"/>
                <a:cs typeface="Arial" pitchFamily="34" charset="-120"/>
              </a:rPr>
              <a:t>Bi-directional mechanical decoking</a:t>
            </a:r>
            <a:endParaRPr lang="en-US" sz="3200" dirty="0"/>
          </a:p>
        </p:txBody>
      </p:sp>
      <p:sp>
        <p:nvSpPr>
          <p:cNvPr id="6" name="Text 3"/>
          <p:cNvSpPr txBox="1"/>
          <p:nvPr/>
        </p:nvSpPr>
        <p:spPr>
          <a:xfrm>
            <a:off x="548640" y="1481328"/>
            <a:ext cx="7680960" cy="365760"/>
          </a:xfrm>
          <a:prstGeom prst="rect">
            <a:avLst/>
          </a:prstGeom>
          <a:noFill/>
          <a:ln/>
        </p:spPr>
        <p:txBody>
          <a:bodyPr wrap="square" lIns="0" tIns="0" rIns="0" bIns="0" rtlCol="0" anchor="t"/>
          <a:lstStyle/>
          <a:p>
            <a:pPr indent="0" marL="0">
              <a:buNone/>
            </a:pPr>
            <a:r>
              <a:rPr lang="en-US" sz="1500" dirty="0">
                <a:solidFill>
                  <a:srgbClr val="5E5E5E"/>
                </a:solidFill>
                <a:latin typeface="Arial" pitchFamily="34" charset="0"/>
                <a:ea typeface="Arial" pitchFamily="34" charset="-122"/>
                <a:cs typeface="Arial" pitchFamily="34" charset="-120"/>
              </a:rPr>
              <a:t>Every pass follows the same controlled sequence</a:t>
            </a:r>
            <a:endParaRPr lang="en-US" sz="1500" dirty="0"/>
          </a:p>
        </p:txBody>
      </p:sp>
      <p:sp>
        <p:nvSpPr>
          <p:cNvPr id="7" name="Shape 4"/>
          <p:cNvSpPr/>
          <p:nvPr/>
        </p:nvSpPr>
        <p:spPr>
          <a:xfrm>
            <a:off x="795528" y="2350008"/>
            <a:ext cx="0" cy="3337560"/>
          </a:xfrm>
          <a:prstGeom prst="line">
            <a:avLst/>
          </a:prstGeom>
          <a:noFill/>
          <a:ln w="25400">
            <a:solidFill>
              <a:srgbClr val="DDDDDD"/>
            </a:solidFill>
            <a:prstDash val="solid"/>
          </a:ln>
        </p:spPr>
      </p:sp>
      <p:sp>
        <p:nvSpPr>
          <p:cNvPr id="8" name="Shape 5"/>
          <p:cNvSpPr/>
          <p:nvPr/>
        </p:nvSpPr>
        <p:spPr>
          <a:xfrm>
            <a:off x="548640" y="2103120"/>
            <a:ext cx="493776" cy="493776"/>
          </a:xfrm>
          <a:prstGeom prst="ellipse">
            <a:avLst/>
          </a:prstGeom>
          <a:solidFill>
            <a:srgbClr val="1E1E1E"/>
          </a:solidFill>
          <a:ln w="25400">
            <a:solidFill>
              <a:srgbClr val="FFFFFF"/>
            </a:solidFill>
            <a:prstDash val="solid"/>
          </a:ln>
        </p:spPr>
      </p:sp>
      <p:sp>
        <p:nvSpPr>
          <p:cNvPr id="9" name="Text 6"/>
          <p:cNvSpPr txBox="1"/>
          <p:nvPr/>
        </p:nvSpPr>
        <p:spPr>
          <a:xfrm>
            <a:off x="548640" y="2103120"/>
            <a:ext cx="493776" cy="493776"/>
          </a:xfrm>
          <a:prstGeom prst="rect">
            <a:avLst/>
          </a:prstGeom>
          <a:noFill/>
          <a:ln/>
        </p:spPr>
        <p:txBody>
          <a:bodyPr wrap="square" lIns="0" tIns="0" rIns="0" bIns="0" rtlCol="0" anchor="ctr"/>
          <a:lstStyle/>
          <a:p>
            <a:pPr algn="ctr" indent="0" marL="0">
              <a:buNone/>
            </a:pPr>
            <a:r>
              <a:rPr lang="en-US" sz="1500" b="1" dirty="0">
                <a:solidFill>
                  <a:srgbClr val="FCC30A"/>
                </a:solidFill>
                <a:latin typeface="Arial" pitchFamily="34" charset="0"/>
                <a:ea typeface="Arial" pitchFamily="34" charset="-122"/>
                <a:cs typeface="Arial" pitchFamily="34" charset="-120"/>
              </a:rPr>
              <a:t>1</a:t>
            </a:r>
            <a:endParaRPr lang="en-US" sz="1500" dirty="0"/>
          </a:p>
        </p:txBody>
      </p:sp>
      <p:sp>
        <p:nvSpPr>
          <p:cNvPr id="10" name="Text 7"/>
          <p:cNvSpPr txBox="1"/>
          <p:nvPr/>
        </p:nvSpPr>
        <p:spPr>
          <a:xfrm>
            <a:off x="1280160" y="2084832"/>
            <a:ext cx="7040880" cy="274320"/>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Rig-in &amp; pressure test</a:t>
            </a:r>
            <a:endParaRPr lang="en-US" sz="1500" dirty="0"/>
          </a:p>
        </p:txBody>
      </p:sp>
      <p:sp>
        <p:nvSpPr>
          <p:cNvPr id="11" name="Text 8"/>
          <p:cNvSpPr txBox="1"/>
          <p:nvPr/>
        </p:nvSpPr>
        <p:spPr>
          <a:xfrm>
            <a:off x="1280160" y="2359152"/>
            <a:ext cx="7040880" cy="274320"/>
          </a:xfrm>
          <a:prstGeom prst="rect">
            <a:avLst/>
          </a:prstGeom>
          <a:noFill/>
          <a:ln/>
        </p:spPr>
        <p:txBody>
          <a:bodyPr wrap="square" lIns="0" tIns="0" rIns="0" bIns="0" rtlCol="0" anchor="ctr"/>
          <a:lstStyle/>
          <a:p>
            <a:pPr indent="0" marL="0">
              <a:buNone/>
            </a:pPr>
            <a:r>
              <a:rPr lang="en-US" sz="1250" dirty="0">
                <a:solidFill>
                  <a:srgbClr val="5E5E5E"/>
                </a:solidFill>
                <a:latin typeface="Arial" pitchFamily="34" charset="0"/>
                <a:ea typeface="Arial" pitchFamily="34" charset="-122"/>
                <a:cs typeface="Arial" pitchFamily="34" charset="-120"/>
              </a:rPr>
              <a:t>Connect 300# launchers and receivers; fill and test before any launch</a:t>
            </a:r>
            <a:endParaRPr lang="en-US" sz="1250" dirty="0"/>
          </a:p>
        </p:txBody>
      </p:sp>
      <p:sp>
        <p:nvSpPr>
          <p:cNvPr id="12" name="Shape 9"/>
          <p:cNvSpPr/>
          <p:nvPr/>
        </p:nvSpPr>
        <p:spPr>
          <a:xfrm>
            <a:off x="548640" y="2770632"/>
            <a:ext cx="493776" cy="493776"/>
          </a:xfrm>
          <a:prstGeom prst="ellipse">
            <a:avLst/>
          </a:prstGeom>
          <a:solidFill>
            <a:srgbClr val="1E1E1E"/>
          </a:solidFill>
          <a:ln w="25400">
            <a:solidFill>
              <a:srgbClr val="FFFFFF"/>
            </a:solidFill>
            <a:prstDash val="solid"/>
          </a:ln>
        </p:spPr>
      </p:sp>
      <p:sp>
        <p:nvSpPr>
          <p:cNvPr id="13" name="Text 10"/>
          <p:cNvSpPr txBox="1"/>
          <p:nvPr/>
        </p:nvSpPr>
        <p:spPr>
          <a:xfrm>
            <a:off x="548640" y="2770632"/>
            <a:ext cx="493776" cy="493776"/>
          </a:xfrm>
          <a:prstGeom prst="rect">
            <a:avLst/>
          </a:prstGeom>
          <a:noFill/>
          <a:ln/>
        </p:spPr>
        <p:txBody>
          <a:bodyPr wrap="square" lIns="0" tIns="0" rIns="0" bIns="0" rtlCol="0" anchor="ctr"/>
          <a:lstStyle/>
          <a:p>
            <a:pPr algn="ctr" indent="0" marL="0">
              <a:buNone/>
            </a:pPr>
            <a:r>
              <a:rPr lang="en-US" sz="1500" b="1" dirty="0">
                <a:solidFill>
                  <a:srgbClr val="FCC30A"/>
                </a:solidFill>
                <a:latin typeface="Arial" pitchFamily="34" charset="0"/>
                <a:ea typeface="Arial" pitchFamily="34" charset="-122"/>
                <a:cs typeface="Arial" pitchFamily="34" charset="-120"/>
              </a:rPr>
              <a:t>2</a:t>
            </a:r>
            <a:endParaRPr lang="en-US" sz="1500" dirty="0"/>
          </a:p>
        </p:txBody>
      </p:sp>
      <p:sp>
        <p:nvSpPr>
          <p:cNvPr id="14" name="Text 11"/>
          <p:cNvSpPr txBox="1"/>
          <p:nvPr/>
        </p:nvSpPr>
        <p:spPr>
          <a:xfrm>
            <a:off x="1280160" y="2752344"/>
            <a:ext cx="7040880" cy="274320"/>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Baseline flow test</a:t>
            </a:r>
            <a:endParaRPr lang="en-US" sz="1500" dirty="0"/>
          </a:p>
        </p:txBody>
      </p:sp>
      <p:sp>
        <p:nvSpPr>
          <p:cNvPr id="15" name="Text 12"/>
          <p:cNvSpPr txBox="1"/>
          <p:nvPr/>
        </p:nvSpPr>
        <p:spPr>
          <a:xfrm>
            <a:off x="1280160" y="3026664"/>
            <a:ext cx="7040880" cy="274320"/>
          </a:xfrm>
          <a:prstGeom prst="rect">
            <a:avLst/>
          </a:prstGeom>
          <a:noFill/>
          <a:ln/>
        </p:spPr>
        <p:txBody>
          <a:bodyPr wrap="square" lIns="0" tIns="0" rIns="0" bIns="0" rtlCol="0" anchor="ctr"/>
          <a:lstStyle/>
          <a:p>
            <a:pPr indent="0" marL="0">
              <a:buNone/>
            </a:pPr>
            <a:r>
              <a:rPr lang="en-US" sz="1250" dirty="0">
                <a:solidFill>
                  <a:srgbClr val="5E5E5E"/>
                </a:solidFill>
                <a:latin typeface="Arial" pitchFamily="34" charset="0"/>
                <a:ea typeface="Arial" pitchFamily="34" charset="-122"/>
                <a:cs typeface="Arial" pitchFamily="34" charset="-120"/>
              </a:rPr>
              <a:t>Record pressure at a set rate for a before-and-after comparison</a:t>
            </a:r>
            <a:endParaRPr lang="en-US" sz="1250" dirty="0"/>
          </a:p>
        </p:txBody>
      </p:sp>
      <p:sp>
        <p:nvSpPr>
          <p:cNvPr id="16" name="Shape 13"/>
          <p:cNvSpPr/>
          <p:nvPr/>
        </p:nvSpPr>
        <p:spPr>
          <a:xfrm>
            <a:off x="548640" y="3438144"/>
            <a:ext cx="493776" cy="493776"/>
          </a:xfrm>
          <a:prstGeom prst="ellipse">
            <a:avLst/>
          </a:prstGeom>
          <a:solidFill>
            <a:srgbClr val="1E1E1E"/>
          </a:solidFill>
          <a:ln w="25400">
            <a:solidFill>
              <a:srgbClr val="FFFFFF"/>
            </a:solidFill>
            <a:prstDash val="solid"/>
          </a:ln>
        </p:spPr>
      </p:sp>
      <p:sp>
        <p:nvSpPr>
          <p:cNvPr id="17" name="Text 14"/>
          <p:cNvSpPr txBox="1"/>
          <p:nvPr/>
        </p:nvSpPr>
        <p:spPr>
          <a:xfrm>
            <a:off x="548640" y="3438144"/>
            <a:ext cx="493776" cy="493776"/>
          </a:xfrm>
          <a:prstGeom prst="rect">
            <a:avLst/>
          </a:prstGeom>
          <a:noFill/>
          <a:ln/>
        </p:spPr>
        <p:txBody>
          <a:bodyPr wrap="square" lIns="0" tIns="0" rIns="0" bIns="0" rtlCol="0" anchor="ctr"/>
          <a:lstStyle/>
          <a:p>
            <a:pPr algn="ctr" indent="0" marL="0">
              <a:buNone/>
            </a:pPr>
            <a:r>
              <a:rPr lang="en-US" sz="1500" b="1" dirty="0">
                <a:solidFill>
                  <a:srgbClr val="FCC30A"/>
                </a:solidFill>
                <a:latin typeface="Arial" pitchFamily="34" charset="0"/>
                <a:ea typeface="Arial" pitchFamily="34" charset="-122"/>
                <a:cs typeface="Arial" pitchFamily="34" charset="-120"/>
              </a:rPr>
              <a:t>3</a:t>
            </a:r>
            <a:endParaRPr lang="en-US" sz="1500" dirty="0"/>
          </a:p>
        </p:txBody>
      </p:sp>
      <p:sp>
        <p:nvSpPr>
          <p:cNvPr id="18" name="Text 15"/>
          <p:cNvSpPr txBox="1"/>
          <p:nvPr/>
        </p:nvSpPr>
        <p:spPr>
          <a:xfrm>
            <a:off x="1280160" y="3419856"/>
            <a:ext cx="7040880" cy="274320"/>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Gauge foam run</a:t>
            </a:r>
            <a:endParaRPr lang="en-US" sz="1500" dirty="0"/>
          </a:p>
        </p:txBody>
      </p:sp>
      <p:sp>
        <p:nvSpPr>
          <p:cNvPr id="19" name="Text 16"/>
          <p:cNvSpPr txBox="1"/>
          <p:nvPr/>
        </p:nvSpPr>
        <p:spPr>
          <a:xfrm>
            <a:off x="1280160" y="3694176"/>
            <a:ext cx="7040880" cy="274320"/>
          </a:xfrm>
          <a:prstGeom prst="rect">
            <a:avLst/>
          </a:prstGeom>
          <a:noFill/>
          <a:ln/>
        </p:spPr>
        <p:txBody>
          <a:bodyPr wrap="square" lIns="0" tIns="0" rIns="0" bIns="0" rtlCol="0" anchor="ctr"/>
          <a:lstStyle/>
          <a:p>
            <a:pPr indent="0" marL="0">
              <a:buNone/>
            </a:pPr>
            <a:r>
              <a:rPr lang="en-US" sz="1250" dirty="0">
                <a:solidFill>
                  <a:srgbClr val="5E5E5E"/>
                </a:solidFill>
                <a:latin typeface="Arial" pitchFamily="34" charset="0"/>
                <a:ea typeface="Arial" pitchFamily="34" charset="-122"/>
                <a:cs typeface="Arial" pitchFamily="34" charset="-120"/>
              </a:rPr>
              <a:t>Proves the pass is open and sets the initial pig size</a:t>
            </a:r>
            <a:endParaRPr lang="en-US" sz="1250" dirty="0"/>
          </a:p>
        </p:txBody>
      </p:sp>
      <p:sp>
        <p:nvSpPr>
          <p:cNvPr id="20" name="Shape 17"/>
          <p:cNvSpPr/>
          <p:nvPr/>
        </p:nvSpPr>
        <p:spPr>
          <a:xfrm>
            <a:off x="548640" y="4105656"/>
            <a:ext cx="493776" cy="493776"/>
          </a:xfrm>
          <a:prstGeom prst="ellipse">
            <a:avLst/>
          </a:prstGeom>
          <a:solidFill>
            <a:srgbClr val="1E1E1E"/>
          </a:solidFill>
          <a:ln w="25400">
            <a:solidFill>
              <a:srgbClr val="FFFFFF"/>
            </a:solidFill>
            <a:prstDash val="solid"/>
          </a:ln>
        </p:spPr>
      </p:sp>
      <p:sp>
        <p:nvSpPr>
          <p:cNvPr id="21" name="Text 18"/>
          <p:cNvSpPr txBox="1"/>
          <p:nvPr/>
        </p:nvSpPr>
        <p:spPr>
          <a:xfrm>
            <a:off x="548640" y="4105656"/>
            <a:ext cx="493776" cy="493776"/>
          </a:xfrm>
          <a:prstGeom prst="rect">
            <a:avLst/>
          </a:prstGeom>
          <a:noFill/>
          <a:ln/>
        </p:spPr>
        <p:txBody>
          <a:bodyPr wrap="square" lIns="0" tIns="0" rIns="0" bIns="0" rtlCol="0" anchor="ctr"/>
          <a:lstStyle/>
          <a:p>
            <a:pPr algn="ctr" indent="0" marL="0">
              <a:buNone/>
            </a:pPr>
            <a:r>
              <a:rPr lang="en-US" sz="1500" b="1" dirty="0">
                <a:solidFill>
                  <a:srgbClr val="FCC30A"/>
                </a:solidFill>
                <a:latin typeface="Arial" pitchFamily="34" charset="0"/>
                <a:ea typeface="Arial" pitchFamily="34" charset="-122"/>
                <a:cs typeface="Arial" pitchFamily="34" charset="-120"/>
              </a:rPr>
              <a:t>4</a:t>
            </a:r>
            <a:endParaRPr lang="en-US" sz="1500" dirty="0"/>
          </a:p>
        </p:txBody>
      </p:sp>
      <p:sp>
        <p:nvSpPr>
          <p:cNvPr id="22" name="Text 19"/>
          <p:cNvSpPr txBox="1"/>
          <p:nvPr/>
        </p:nvSpPr>
        <p:spPr>
          <a:xfrm>
            <a:off x="1280160" y="4087368"/>
            <a:ext cx="7040880" cy="274320"/>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Scraper pig progression</a:t>
            </a:r>
            <a:endParaRPr lang="en-US" sz="1500" dirty="0"/>
          </a:p>
        </p:txBody>
      </p:sp>
      <p:sp>
        <p:nvSpPr>
          <p:cNvPr id="23" name="Text 20"/>
          <p:cNvSpPr txBox="1"/>
          <p:nvPr/>
        </p:nvSpPr>
        <p:spPr>
          <a:xfrm>
            <a:off x="1280160" y="4361688"/>
            <a:ext cx="7040880" cy="274320"/>
          </a:xfrm>
          <a:prstGeom prst="rect">
            <a:avLst/>
          </a:prstGeom>
          <a:noFill/>
          <a:ln/>
        </p:spPr>
        <p:txBody>
          <a:bodyPr wrap="square" lIns="0" tIns="0" rIns="0" bIns="0" rtlCol="0" anchor="ctr"/>
          <a:lstStyle/>
          <a:p>
            <a:pPr indent="0" marL="0">
              <a:buNone/>
            </a:pPr>
            <a:r>
              <a:rPr lang="en-US" sz="1250" dirty="0">
                <a:solidFill>
                  <a:srgbClr val="5E5E5E"/>
                </a:solidFill>
                <a:latin typeface="Arial" pitchFamily="34" charset="0"/>
                <a:ea typeface="Arial" pitchFamily="34" charset="-122"/>
                <a:cs typeface="Arial" pitchFamily="34" charset="-120"/>
              </a:rPr>
              <a:t>Carbide-studded pigs run in both directions, stepped up ⅛" per clean pass</a:t>
            </a:r>
            <a:endParaRPr lang="en-US" sz="1250" dirty="0"/>
          </a:p>
        </p:txBody>
      </p:sp>
      <p:sp>
        <p:nvSpPr>
          <p:cNvPr id="24" name="Shape 21"/>
          <p:cNvSpPr/>
          <p:nvPr/>
        </p:nvSpPr>
        <p:spPr>
          <a:xfrm>
            <a:off x="548640" y="4773168"/>
            <a:ext cx="493776" cy="493776"/>
          </a:xfrm>
          <a:prstGeom prst="ellipse">
            <a:avLst/>
          </a:prstGeom>
          <a:solidFill>
            <a:srgbClr val="1E1E1E"/>
          </a:solidFill>
          <a:ln w="25400">
            <a:solidFill>
              <a:srgbClr val="FFFFFF"/>
            </a:solidFill>
            <a:prstDash val="solid"/>
          </a:ln>
        </p:spPr>
      </p:sp>
      <p:sp>
        <p:nvSpPr>
          <p:cNvPr id="25" name="Text 22"/>
          <p:cNvSpPr txBox="1"/>
          <p:nvPr/>
        </p:nvSpPr>
        <p:spPr>
          <a:xfrm>
            <a:off x="548640" y="4773168"/>
            <a:ext cx="493776" cy="493776"/>
          </a:xfrm>
          <a:prstGeom prst="rect">
            <a:avLst/>
          </a:prstGeom>
          <a:noFill/>
          <a:ln/>
        </p:spPr>
        <p:txBody>
          <a:bodyPr wrap="square" lIns="0" tIns="0" rIns="0" bIns="0" rtlCol="0" anchor="ctr"/>
          <a:lstStyle/>
          <a:p>
            <a:pPr algn="ctr" indent="0" marL="0">
              <a:buNone/>
            </a:pPr>
            <a:r>
              <a:rPr lang="en-US" sz="1500" b="1" dirty="0">
                <a:solidFill>
                  <a:srgbClr val="FCC30A"/>
                </a:solidFill>
                <a:latin typeface="Arial" pitchFamily="34" charset="0"/>
                <a:ea typeface="Arial" pitchFamily="34" charset="-122"/>
                <a:cs typeface="Arial" pitchFamily="34" charset="-120"/>
              </a:rPr>
              <a:t>5</a:t>
            </a:r>
            <a:endParaRPr lang="en-US" sz="1500" dirty="0"/>
          </a:p>
        </p:txBody>
      </p:sp>
      <p:sp>
        <p:nvSpPr>
          <p:cNvPr id="26" name="Text 23"/>
          <p:cNvSpPr txBox="1"/>
          <p:nvPr/>
        </p:nvSpPr>
        <p:spPr>
          <a:xfrm>
            <a:off x="1280160" y="4754880"/>
            <a:ext cx="7040880" cy="274320"/>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Oversize polish</a:t>
            </a:r>
            <a:endParaRPr lang="en-US" sz="1500" dirty="0"/>
          </a:p>
        </p:txBody>
      </p:sp>
      <p:sp>
        <p:nvSpPr>
          <p:cNvPr id="27" name="Text 24"/>
          <p:cNvSpPr txBox="1"/>
          <p:nvPr/>
        </p:nvSpPr>
        <p:spPr>
          <a:xfrm>
            <a:off x="1280160" y="5029200"/>
            <a:ext cx="7040880" cy="274320"/>
          </a:xfrm>
          <a:prstGeom prst="rect">
            <a:avLst/>
          </a:prstGeom>
          <a:noFill/>
          <a:ln/>
        </p:spPr>
        <p:txBody>
          <a:bodyPr wrap="square" lIns="0" tIns="0" rIns="0" bIns="0" rtlCol="0" anchor="ctr"/>
          <a:lstStyle/>
          <a:p>
            <a:pPr indent="0" marL="0">
              <a:buNone/>
            </a:pPr>
            <a:r>
              <a:rPr lang="en-US" sz="1250" dirty="0">
                <a:solidFill>
                  <a:srgbClr val="5E5E5E"/>
                </a:solidFill>
                <a:latin typeface="Arial" pitchFamily="34" charset="0"/>
                <a:ea typeface="Arial" pitchFamily="34" charset="-122"/>
                <a:cs typeface="Arial" pitchFamily="34" charset="-120"/>
              </a:rPr>
              <a:t>Up to tube ID + ¼" maximum, with real-time pressure monitoring</a:t>
            </a:r>
            <a:endParaRPr lang="en-US" sz="1250" dirty="0"/>
          </a:p>
        </p:txBody>
      </p:sp>
      <p:sp>
        <p:nvSpPr>
          <p:cNvPr id="28" name="Shape 25"/>
          <p:cNvSpPr/>
          <p:nvPr/>
        </p:nvSpPr>
        <p:spPr>
          <a:xfrm>
            <a:off x="548640" y="5440680"/>
            <a:ext cx="493776" cy="493776"/>
          </a:xfrm>
          <a:prstGeom prst="ellipse">
            <a:avLst/>
          </a:prstGeom>
          <a:solidFill>
            <a:srgbClr val="FCC30A"/>
          </a:solidFill>
          <a:ln w="25400">
            <a:solidFill>
              <a:srgbClr val="FFFFFF"/>
            </a:solidFill>
            <a:prstDash val="solid"/>
          </a:ln>
        </p:spPr>
      </p:sp>
      <p:sp>
        <p:nvSpPr>
          <p:cNvPr id="29" name="Text 26"/>
          <p:cNvSpPr txBox="1"/>
          <p:nvPr/>
        </p:nvSpPr>
        <p:spPr>
          <a:xfrm>
            <a:off x="548640" y="5440680"/>
            <a:ext cx="493776" cy="493776"/>
          </a:xfrm>
          <a:prstGeom prst="rect">
            <a:avLst/>
          </a:prstGeom>
          <a:noFill/>
          <a:ln/>
        </p:spPr>
        <p:txBody>
          <a:bodyPr wrap="square" lIns="0" tIns="0" rIns="0" bIns="0" rtlCol="0" anchor="ctr"/>
          <a:lstStyle/>
          <a:p>
            <a:pPr algn="ctr" indent="0" marL="0">
              <a:buNone/>
            </a:pPr>
            <a:r>
              <a:rPr lang="en-US" sz="1500" b="1" dirty="0">
                <a:solidFill>
                  <a:srgbClr val="1E1E1E"/>
                </a:solidFill>
                <a:latin typeface="Arial" pitchFamily="34" charset="0"/>
                <a:ea typeface="Arial" pitchFamily="34" charset="-122"/>
                <a:cs typeface="Arial" pitchFamily="34" charset="-120"/>
              </a:rPr>
              <a:t>6</a:t>
            </a:r>
            <a:endParaRPr lang="en-US" sz="1500" dirty="0"/>
          </a:p>
        </p:txBody>
      </p:sp>
      <p:sp>
        <p:nvSpPr>
          <p:cNvPr id="30" name="Text 27"/>
          <p:cNvSpPr txBox="1"/>
          <p:nvPr/>
        </p:nvSpPr>
        <p:spPr>
          <a:xfrm>
            <a:off x="1280160" y="5422392"/>
            <a:ext cx="7040880" cy="274320"/>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Gauge foam &amp; sign-off</a:t>
            </a:r>
            <a:endParaRPr lang="en-US" sz="1500" dirty="0"/>
          </a:p>
        </p:txBody>
      </p:sp>
      <p:sp>
        <p:nvSpPr>
          <p:cNvPr id="31" name="Text 28"/>
          <p:cNvSpPr txBox="1"/>
          <p:nvPr/>
        </p:nvSpPr>
        <p:spPr>
          <a:xfrm>
            <a:off x="1280160" y="5696712"/>
            <a:ext cx="7040880" cy="274320"/>
          </a:xfrm>
          <a:prstGeom prst="rect">
            <a:avLst/>
          </a:prstGeom>
          <a:noFill/>
          <a:ln/>
        </p:spPr>
        <p:txBody>
          <a:bodyPr wrap="square" lIns="0" tIns="0" rIns="0" bIns="0" rtlCol="0" anchor="ctr"/>
          <a:lstStyle/>
          <a:p>
            <a:pPr indent="0" marL="0">
              <a:buNone/>
            </a:pPr>
            <a:r>
              <a:rPr lang="en-US" sz="1250" dirty="0">
                <a:solidFill>
                  <a:srgbClr val="5E5E5E"/>
                </a:solidFill>
                <a:latin typeface="Arial" pitchFamily="34" charset="0"/>
                <a:ea typeface="Arial" pitchFamily="34" charset="-122"/>
                <a:cs typeface="Arial" pitchFamily="34" charset="-120"/>
              </a:rPr>
              <a:t>Line-size foam witnessed by Valero, final flow test, pass signed clean</a:t>
            </a:r>
            <a:endParaRPr lang="en-US" sz="1250" dirty="0"/>
          </a:p>
        </p:txBody>
      </p:sp>
      <p:sp>
        <p:nvSpPr>
          <p:cNvPr id="32" name="Text 29"/>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USA DeBusk  |  Valero Texas City  |  Heater Pigging &amp; Decoking Services</a:t>
            </a:r>
            <a:endParaRPr lang="en-US" sz="900" dirty="0"/>
          </a:p>
        </p:txBody>
      </p:sp>
      <p:sp>
        <p:nvSpPr>
          <p:cNvPr id="33" name="Text 30"/>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989525" cy="310896"/>
          </a:xfrm>
          <a:prstGeom prst="roundRect">
            <a:avLst>
              <a:gd name="adj" fmla="val 23529"/>
            </a:avLst>
          </a:prstGeom>
          <a:solidFill>
            <a:srgbClr val="FCC30A"/>
          </a:solidFill>
          <a:ln w="12700">
            <a:solidFill>
              <a:srgbClr val="FCC30A"/>
            </a:solidFill>
            <a:prstDash val="solid"/>
          </a:ln>
        </p:spPr>
      </p:sp>
      <p:sp>
        <p:nvSpPr>
          <p:cNvPr id="3" name="Text 1"/>
          <p:cNvSpPr txBox="1"/>
          <p:nvPr/>
        </p:nvSpPr>
        <p:spPr>
          <a:xfrm>
            <a:off x="548640" y="411480"/>
            <a:ext cx="1989525"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01   METHODOLOGY</a:t>
            </a:r>
            <a:endParaRPr lang="en-US" sz="1050" dirty="0"/>
          </a:p>
        </p:txBody>
      </p:sp>
      <p:sp>
        <p:nvSpPr>
          <p:cNvPr id="4" name="Text 2"/>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3200" b="1" dirty="0">
                <a:solidFill>
                  <a:srgbClr val="222222"/>
                </a:solidFill>
                <a:latin typeface="Arial" pitchFamily="34" charset="0"/>
                <a:ea typeface="Arial" pitchFamily="34" charset="-122"/>
                <a:cs typeface="Arial" pitchFamily="34" charset="-120"/>
              </a:rPr>
              <a:t>Pig progression plan</a:t>
            </a:r>
            <a:endParaRPr lang="en-US" sz="3200" dirty="0"/>
          </a:p>
        </p:txBody>
      </p:sp>
      <p:sp>
        <p:nvSpPr>
          <p:cNvPr id="5" name="Text 3"/>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5E5E5E"/>
                </a:solidFill>
                <a:latin typeface="Arial" pitchFamily="34" charset="0"/>
                <a:ea typeface="Arial" pitchFamily="34" charset="-122"/>
                <a:cs typeface="Arial" pitchFamily="34" charset="-120"/>
              </a:rPr>
              <a:t>The gauge foam run sets the starting size; the smallest tube ID sets the ceiling</a:t>
            </a:r>
            <a:endParaRPr lang="en-US" sz="1500" dirty="0"/>
          </a:p>
        </p:txBody>
      </p:sp>
      <p:sp>
        <p:nvSpPr>
          <p:cNvPr id="6" name="Text 4"/>
          <p:cNvSpPr txBox="1"/>
          <p:nvPr/>
        </p:nvSpPr>
        <p:spPr>
          <a:xfrm>
            <a:off x="548640" y="2103120"/>
            <a:ext cx="5486400" cy="320040"/>
          </a:xfrm>
          <a:prstGeom prst="rect">
            <a:avLst/>
          </a:prstGeom>
          <a:noFill/>
          <a:ln/>
        </p:spPr>
        <p:txBody>
          <a:bodyPr wrap="square" lIns="0" tIns="0" rIns="0" bIns="0" rtlCol="0" anchor="ctr"/>
          <a:lstStyle/>
          <a:p>
            <a:pPr indent="0" marL="0">
              <a:buNone/>
            </a:pPr>
            <a:r>
              <a:rPr lang="en-US" sz="1600" b="1" dirty="0">
                <a:solidFill>
                  <a:srgbClr val="222222"/>
                </a:solidFill>
                <a:latin typeface="Arial" pitchFamily="34" charset="0"/>
                <a:ea typeface="Arial" pitchFamily="34" charset="-122"/>
                <a:cs typeface="Arial" pitchFamily="34" charset="-120"/>
              </a:rPr>
              <a:t>Example: 4" Sch 80 coil</a:t>
            </a:r>
            <a:endParaRPr lang="en-US" sz="1600" dirty="0"/>
          </a:p>
        </p:txBody>
      </p:sp>
      <p:sp>
        <p:nvSpPr>
          <p:cNvPr id="7" name="Text 5"/>
          <p:cNvSpPr txBox="1"/>
          <p:nvPr/>
        </p:nvSpPr>
        <p:spPr>
          <a:xfrm>
            <a:off x="548640" y="2423160"/>
            <a:ext cx="5486400" cy="274320"/>
          </a:xfrm>
          <a:prstGeom prst="rect">
            <a:avLst/>
          </a:prstGeom>
          <a:noFill/>
          <a:ln/>
        </p:spPr>
        <p:txBody>
          <a:bodyPr wrap="square" lIns="0" tIns="0" rIns="0" bIns="0" rtlCol="0" anchor="ctr"/>
          <a:lstStyle/>
          <a:p>
            <a:pPr indent="0" marL="0">
              <a:buNone/>
            </a:pPr>
            <a:r>
              <a:rPr lang="en-US" sz="1200" dirty="0">
                <a:solidFill>
                  <a:srgbClr val="5E5E5E"/>
                </a:solidFill>
                <a:latin typeface="Arial" pitchFamily="34" charset="0"/>
                <a:ea typeface="Arial" pitchFamily="34" charset="-122"/>
                <a:cs typeface="Arial" pitchFamily="34" charset="-120"/>
              </a:rPr>
              <a:t>Tube ID 3.826"</a:t>
            </a:r>
            <a:endParaRPr lang="en-US" sz="1200" dirty="0"/>
          </a:p>
        </p:txBody>
      </p:sp>
      <p:sp>
        <p:nvSpPr>
          <p:cNvPr id="8" name="Shape 6"/>
          <p:cNvSpPr/>
          <p:nvPr/>
        </p:nvSpPr>
        <p:spPr>
          <a:xfrm>
            <a:off x="548640" y="3291840"/>
            <a:ext cx="932688" cy="384048"/>
          </a:xfrm>
          <a:prstGeom prst="rect">
            <a:avLst/>
          </a:prstGeom>
          <a:solidFill>
            <a:srgbClr val="DDDDDD"/>
          </a:solidFill>
          <a:ln w="12700">
            <a:solidFill>
              <a:srgbClr val="DDDDDD"/>
            </a:solidFill>
            <a:prstDash val="solid"/>
          </a:ln>
        </p:spPr>
      </p:sp>
      <p:sp>
        <p:nvSpPr>
          <p:cNvPr id="9" name="Text 7"/>
          <p:cNvSpPr txBox="1"/>
          <p:nvPr/>
        </p:nvSpPr>
        <p:spPr>
          <a:xfrm>
            <a:off x="548640" y="3291840"/>
            <a:ext cx="932688" cy="384048"/>
          </a:xfrm>
          <a:prstGeom prst="rect">
            <a:avLst/>
          </a:prstGeom>
          <a:noFill/>
          <a:ln/>
        </p:spPr>
        <p:txBody>
          <a:bodyPr wrap="square" lIns="0" tIns="0" rIns="0" bIns="0" rtlCol="0" anchor="ctr"/>
          <a:lstStyle/>
          <a:p>
            <a:pPr algn="ctr" indent="0" marL="0">
              <a:buNone/>
            </a:pPr>
            <a:r>
              <a:rPr lang="en-US" sz="1250" b="1" dirty="0">
                <a:solidFill>
                  <a:srgbClr val="1E1E1E"/>
                </a:solidFill>
                <a:latin typeface="Arial" pitchFamily="34" charset="0"/>
                <a:ea typeface="Arial" pitchFamily="34" charset="-122"/>
                <a:cs typeface="Arial" pitchFamily="34" charset="-120"/>
              </a:rPr>
              <a:t>Gauge</a:t>
            </a:r>
            <a:endParaRPr lang="en-US" sz="1250" dirty="0"/>
          </a:p>
          <a:p>
            <a:pPr algn="ctr" indent="0" marL="0">
              <a:buNone/>
            </a:pPr>
            <a:r>
              <a:rPr lang="en-US" sz="1250" b="1" dirty="0">
                <a:solidFill>
                  <a:srgbClr val="1E1E1E"/>
                </a:solidFill>
                <a:latin typeface="Arial" pitchFamily="34" charset="0"/>
                <a:ea typeface="Arial" pitchFamily="34" charset="-122"/>
                <a:cs typeface="Arial" pitchFamily="34" charset="-120"/>
              </a:rPr>
              <a:t>foam</a:t>
            </a:r>
            <a:endParaRPr lang="en-US" sz="1250" dirty="0"/>
          </a:p>
        </p:txBody>
      </p:sp>
      <p:sp>
        <p:nvSpPr>
          <p:cNvPr id="10" name="Text 8"/>
          <p:cNvSpPr txBox="1"/>
          <p:nvPr/>
        </p:nvSpPr>
        <p:spPr>
          <a:xfrm>
            <a:off x="548640" y="3721608"/>
            <a:ext cx="932688" cy="228600"/>
          </a:xfrm>
          <a:prstGeom prst="rect">
            <a:avLst/>
          </a:prstGeom>
          <a:noFill/>
          <a:ln/>
        </p:spPr>
        <p:txBody>
          <a:bodyPr wrap="square" lIns="0" tIns="0" rIns="0" bIns="0" rtlCol="0" anchor="ctr"/>
          <a:lstStyle/>
          <a:p>
            <a:pPr algn="ctr" indent="0" marL="0">
              <a:buNone/>
            </a:pPr>
            <a:r>
              <a:rPr lang="en-US" sz="1000" dirty="0">
                <a:solidFill>
                  <a:srgbClr val="5E5E5E"/>
                </a:solidFill>
                <a:latin typeface="Arial" pitchFamily="34" charset="0"/>
                <a:ea typeface="Arial" pitchFamily="34" charset="-122"/>
                <a:cs typeface="Arial" pitchFamily="34" charset="-120"/>
              </a:rPr>
              <a:t>Run first</a:t>
            </a:r>
            <a:endParaRPr lang="en-US" sz="1000" dirty="0"/>
          </a:p>
        </p:txBody>
      </p:sp>
      <p:sp>
        <p:nvSpPr>
          <p:cNvPr id="11" name="Shape 9"/>
          <p:cNvSpPr/>
          <p:nvPr/>
        </p:nvSpPr>
        <p:spPr>
          <a:xfrm>
            <a:off x="1572768" y="3191256"/>
            <a:ext cx="932688" cy="484632"/>
          </a:xfrm>
          <a:prstGeom prst="rect">
            <a:avLst/>
          </a:prstGeom>
          <a:solidFill>
            <a:srgbClr val="1E1E1E"/>
          </a:solidFill>
          <a:ln w="12700">
            <a:solidFill>
              <a:srgbClr val="1E1E1E"/>
            </a:solidFill>
            <a:prstDash val="solid"/>
          </a:ln>
        </p:spPr>
      </p:sp>
      <p:sp>
        <p:nvSpPr>
          <p:cNvPr id="12" name="Text 10"/>
          <p:cNvSpPr txBox="1"/>
          <p:nvPr/>
        </p:nvSpPr>
        <p:spPr>
          <a:xfrm>
            <a:off x="1572768" y="3191256"/>
            <a:ext cx="932688" cy="484632"/>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Initial</a:t>
            </a:r>
            <a:endParaRPr lang="en-US" sz="1250" dirty="0"/>
          </a:p>
        </p:txBody>
      </p:sp>
      <p:sp>
        <p:nvSpPr>
          <p:cNvPr id="13" name="Text 11"/>
          <p:cNvSpPr txBox="1"/>
          <p:nvPr/>
        </p:nvSpPr>
        <p:spPr>
          <a:xfrm>
            <a:off x="1572768" y="3721608"/>
            <a:ext cx="932688" cy="228600"/>
          </a:xfrm>
          <a:prstGeom prst="rect">
            <a:avLst/>
          </a:prstGeom>
          <a:noFill/>
          <a:ln/>
        </p:spPr>
        <p:txBody>
          <a:bodyPr wrap="square" lIns="0" tIns="0" rIns="0" bIns="0" rtlCol="0" anchor="ctr"/>
          <a:lstStyle/>
          <a:p>
            <a:pPr algn="ctr" indent="0" marL="0">
              <a:buNone/>
            </a:pPr>
            <a:r>
              <a:rPr lang="en-US" sz="1000" dirty="0">
                <a:solidFill>
                  <a:srgbClr val="5E5E5E"/>
                </a:solidFill>
                <a:latin typeface="Arial" pitchFamily="34" charset="0"/>
                <a:ea typeface="Arial" pitchFamily="34" charset="-122"/>
                <a:cs typeface="Arial" pitchFamily="34" charset="-120"/>
              </a:rPr>
              <a:t>Set by foam</a:t>
            </a:r>
            <a:endParaRPr lang="en-US" sz="1000" dirty="0"/>
          </a:p>
        </p:txBody>
      </p:sp>
      <p:sp>
        <p:nvSpPr>
          <p:cNvPr id="14" name="Shape 12"/>
          <p:cNvSpPr/>
          <p:nvPr/>
        </p:nvSpPr>
        <p:spPr>
          <a:xfrm>
            <a:off x="2596896" y="3090672"/>
            <a:ext cx="932688" cy="585216"/>
          </a:xfrm>
          <a:prstGeom prst="rect">
            <a:avLst/>
          </a:prstGeom>
          <a:solidFill>
            <a:srgbClr val="1E1E1E"/>
          </a:solidFill>
          <a:ln w="12700">
            <a:solidFill>
              <a:srgbClr val="1E1E1E"/>
            </a:solidFill>
            <a:prstDash val="solid"/>
          </a:ln>
        </p:spPr>
      </p:sp>
      <p:sp>
        <p:nvSpPr>
          <p:cNvPr id="15" name="Text 13"/>
          <p:cNvSpPr txBox="1"/>
          <p:nvPr/>
        </p:nvSpPr>
        <p:spPr>
          <a:xfrm>
            <a:off x="2596896" y="3090672"/>
            <a:ext cx="932688" cy="58521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+⅛"</a:t>
            </a:r>
            <a:endParaRPr lang="en-US" sz="1250" dirty="0"/>
          </a:p>
        </p:txBody>
      </p:sp>
      <p:sp>
        <p:nvSpPr>
          <p:cNvPr id="16" name="Text 14"/>
          <p:cNvSpPr txBox="1"/>
          <p:nvPr/>
        </p:nvSpPr>
        <p:spPr>
          <a:xfrm>
            <a:off x="2596896" y="3721608"/>
            <a:ext cx="932688" cy="228600"/>
          </a:xfrm>
          <a:prstGeom prst="rect">
            <a:avLst/>
          </a:prstGeom>
          <a:noFill/>
          <a:ln/>
        </p:spPr>
        <p:txBody>
          <a:bodyPr wrap="square" lIns="0" tIns="0" rIns="0" bIns="0" rtlCol="0" anchor="ctr"/>
          <a:lstStyle/>
          <a:p>
            <a:pPr algn="ctr" indent="0" marL="0">
              <a:buNone/>
            </a:pPr>
            <a:r>
              <a:rPr lang="en-US" sz="1000" dirty="0">
                <a:solidFill>
                  <a:srgbClr val="5E5E5E"/>
                </a:solidFill>
                <a:latin typeface="Arial" pitchFamily="34" charset="0"/>
                <a:ea typeface="Arial" pitchFamily="34" charset="-122"/>
                <a:cs typeface="Arial" pitchFamily="34" charset="-120"/>
              </a:rPr>
              <a:t>Step</a:t>
            </a:r>
            <a:endParaRPr lang="en-US" sz="1000" dirty="0"/>
          </a:p>
        </p:txBody>
      </p:sp>
      <p:sp>
        <p:nvSpPr>
          <p:cNvPr id="17" name="Shape 15"/>
          <p:cNvSpPr/>
          <p:nvPr/>
        </p:nvSpPr>
        <p:spPr>
          <a:xfrm>
            <a:off x="3621024" y="2990088"/>
            <a:ext cx="932688" cy="685800"/>
          </a:xfrm>
          <a:prstGeom prst="rect">
            <a:avLst/>
          </a:prstGeom>
          <a:solidFill>
            <a:srgbClr val="1E1E1E"/>
          </a:solidFill>
          <a:ln w="12700">
            <a:solidFill>
              <a:srgbClr val="1E1E1E"/>
            </a:solidFill>
            <a:prstDash val="solid"/>
          </a:ln>
        </p:spPr>
      </p:sp>
      <p:sp>
        <p:nvSpPr>
          <p:cNvPr id="18" name="Text 16"/>
          <p:cNvSpPr txBox="1"/>
          <p:nvPr/>
        </p:nvSpPr>
        <p:spPr>
          <a:xfrm>
            <a:off x="3621024" y="2990088"/>
            <a:ext cx="932688" cy="68580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+⅛"</a:t>
            </a:r>
            <a:endParaRPr lang="en-US" sz="1250" dirty="0"/>
          </a:p>
        </p:txBody>
      </p:sp>
      <p:sp>
        <p:nvSpPr>
          <p:cNvPr id="19" name="Text 17"/>
          <p:cNvSpPr txBox="1"/>
          <p:nvPr/>
        </p:nvSpPr>
        <p:spPr>
          <a:xfrm>
            <a:off x="3621024" y="3721608"/>
            <a:ext cx="932688" cy="228600"/>
          </a:xfrm>
          <a:prstGeom prst="rect">
            <a:avLst/>
          </a:prstGeom>
          <a:noFill/>
          <a:ln/>
        </p:spPr>
        <p:txBody>
          <a:bodyPr wrap="square" lIns="0" tIns="0" rIns="0" bIns="0" rtlCol="0" anchor="ctr"/>
          <a:lstStyle/>
          <a:p>
            <a:pPr algn="ctr" indent="0" marL="0">
              <a:buNone/>
            </a:pPr>
            <a:r>
              <a:rPr lang="en-US" sz="1000" dirty="0">
                <a:solidFill>
                  <a:srgbClr val="5E5E5E"/>
                </a:solidFill>
                <a:latin typeface="Arial" pitchFamily="34" charset="0"/>
                <a:ea typeface="Arial" pitchFamily="34" charset="-122"/>
                <a:cs typeface="Arial" pitchFamily="34" charset="-120"/>
              </a:rPr>
              <a:t>Step</a:t>
            </a:r>
            <a:endParaRPr lang="en-US" sz="1000" dirty="0"/>
          </a:p>
        </p:txBody>
      </p:sp>
      <p:sp>
        <p:nvSpPr>
          <p:cNvPr id="20" name="Shape 18"/>
          <p:cNvSpPr/>
          <p:nvPr/>
        </p:nvSpPr>
        <p:spPr>
          <a:xfrm>
            <a:off x="4645152" y="2889504"/>
            <a:ext cx="932688" cy="786384"/>
          </a:xfrm>
          <a:prstGeom prst="rect">
            <a:avLst/>
          </a:prstGeom>
          <a:solidFill>
            <a:srgbClr val="1E1E1E"/>
          </a:solidFill>
          <a:ln w="12700">
            <a:solidFill>
              <a:srgbClr val="1E1E1E"/>
            </a:solidFill>
            <a:prstDash val="solid"/>
          </a:ln>
        </p:spPr>
      </p:sp>
      <p:sp>
        <p:nvSpPr>
          <p:cNvPr id="21" name="Text 19"/>
          <p:cNvSpPr txBox="1"/>
          <p:nvPr/>
        </p:nvSpPr>
        <p:spPr>
          <a:xfrm>
            <a:off x="4645152" y="2889504"/>
            <a:ext cx="932688" cy="786384"/>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+⅛"</a:t>
            </a:r>
            <a:endParaRPr lang="en-US" sz="1250" dirty="0"/>
          </a:p>
        </p:txBody>
      </p:sp>
      <p:sp>
        <p:nvSpPr>
          <p:cNvPr id="22" name="Text 20"/>
          <p:cNvSpPr txBox="1"/>
          <p:nvPr/>
        </p:nvSpPr>
        <p:spPr>
          <a:xfrm>
            <a:off x="4645152" y="3721608"/>
            <a:ext cx="932688" cy="228600"/>
          </a:xfrm>
          <a:prstGeom prst="rect">
            <a:avLst/>
          </a:prstGeom>
          <a:noFill/>
          <a:ln/>
        </p:spPr>
        <p:txBody>
          <a:bodyPr wrap="square" lIns="0" tIns="0" rIns="0" bIns="0" rtlCol="0" anchor="ctr"/>
          <a:lstStyle/>
          <a:p>
            <a:pPr algn="ctr" indent="0" marL="0">
              <a:buNone/>
            </a:pPr>
            <a:r>
              <a:rPr lang="en-US" sz="1000" dirty="0">
                <a:solidFill>
                  <a:srgbClr val="5E5E5E"/>
                </a:solidFill>
                <a:latin typeface="Arial" pitchFamily="34" charset="0"/>
                <a:ea typeface="Arial" pitchFamily="34" charset="-122"/>
                <a:cs typeface="Arial" pitchFamily="34" charset="-120"/>
              </a:rPr>
              <a:t>Step</a:t>
            </a:r>
            <a:endParaRPr lang="en-US" sz="1000" dirty="0"/>
          </a:p>
        </p:txBody>
      </p:sp>
      <p:sp>
        <p:nvSpPr>
          <p:cNvPr id="23" name="Shape 21"/>
          <p:cNvSpPr/>
          <p:nvPr/>
        </p:nvSpPr>
        <p:spPr>
          <a:xfrm>
            <a:off x="5669280" y="2788920"/>
            <a:ext cx="932688" cy="886968"/>
          </a:xfrm>
          <a:prstGeom prst="rect">
            <a:avLst/>
          </a:prstGeom>
          <a:solidFill>
            <a:srgbClr val="1E1E1E"/>
          </a:solidFill>
          <a:ln w="12700">
            <a:solidFill>
              <a:srgbClr val="1E1E1E"/>
            </a:solidFill>
            <a:prstDash val="solid"/>
          </a:ln>
        </p:spPr>
      </p:sp>
      <p:sp>
        <p:nvSpPr>
          <p:cNvPr id="24" name="Text 22"/>
          <p:cNvSpPr txBox="1"/>
          <p:nvPr/>
        </p:nvSpPr>
        <p:spPr>
          <a:xfrm>
            <a:off x="5669280" y="2788920"/>
            <a:ext cx="932688" cy="88696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3.826"</a:t>
            </a:r>
            <a:endParaRPr lang="en-US" sz="1250" dirty="0"/>
          </a:p>
        </p:txBody>
      </p:sp>
      <p:sp>
        <p:nvSpPr>
          <p:cNvPr id="25" name="Text 23"/>
          <p:cNvSpPr txBox="1"/>
          <p:nvPr/>
        </p:nvSpPr>
        <p:spPr>
          <a:xfrm>
            <a:off x="5669280" y="3721608"/>
            <a:ext cx="932688" cy="228600"/>
          </a:xfrm>
          <a:prstGeom prst="rect">
            <a:avLst/>
          </a:prstGeom>
          <a:noFill/>
          <a:ln/>
        </p:spPr>
        <p:txBody>
          <a:bodyPr wrap="square" lIns="0" tIns="0" rIns="0" bIns="0" rtlCol="0" anchor="ctr"/>
          <a:lstStyle/>
          <a:p>
            <a:pPr algn="ctr" indent="0" marL="0">
              <a:buNone/>
            </a:pPr>
            <a:r>
              <a:rPr lang="en-US" sz="1000" b="1" dirty="0">
                <a:solidFill>
                  <a:srgbClr val="222222"/>
                </a:solidFill>
                <a:latin typeface="Arial" pitchFamily="34" charset="0"/>
                <a:ea typeface="Arial" pitchFamily="34" charset="-122"/>
                <a:cs typeface="Arial" pitchFamily="34" charset="-120"/>
              </a:rPr>
              <a:t>Line size</a:t>
            </a:r>
            <a:endParaRPr lang="en-US" sz="1000" dirty="0"/>
          </a:p>
        </p:txBody>
      </p:sp>
      <p:sp>
        <p:nvSpPr>
          <p:cNvPr id="26" name="Shape 24"/>
          <p:cNvSpPr/>
          <p:nvPr/>
        </p:nvSpPr>
        <p:spPr>
          <a:xfrm>
            <a:off x="6693408" y="2688336"/>
            <a:ext cx="932688" cy="987552"/>
          </a:xfrm>
          <a:prstGeom prst="rect">
            <a:avLst/>
          </a:prstGeom>
          <a:solidFill>
            <a:srgbClr val="FCC30A"/>
          </a:solidFill>
          <a:ln w="12700">
            <a:solidFill>
              <a:srgbClr val="FCC30A"/>
            </a:solidFill>
            <a:prstDash val="solid"/>
          </a:ln>
        </p:spPr>
      </p:sp>
      <p:sp>
        <p:nvSpPr>
          <p:cNvPr id="27" name="Text 25"/>
          <p:cNvSpPr txBox="1"/>
          <p:nvPr/>
        </p:nvSpPr>
        <p:spPr>
          <a:xfrm>
            <a:off x="6693408" y="2688336"/>
            <a:ext cx="932688" cy="987552"/>
          </a:xfrm>
          <a:prstGeom prst="rect">
            <a:avLst/>
          </a:prstGeom>
          <a:noFill/>
          <a:ln/>
        </p:spPr>
        <p:txBody>
          <a:bodyPr wrap="square" lIns="0" tIns="0" rIns="0" bIns="0" rtlCol="0" anchor="ctr"/>
          <a:lstStyle/>
          <a:p>
            <a:pPr algn="ctr" indent="0" marL="0">
              <a:buNone/>
            </a:pPr>
            <a:r>
              <a:rPr lang="en-US" sz="1250" b="1" dirty="0">
                <a:solidFill>
                  <a:srgbClr val="1E1E1E"/>
                </a:solidFill>
                <a:latin typeface="Arial" pitchFamily="34" charset="0"/>
                <a:ea typeface="Arial" pitchFamily="34" charset="-122"/>
                <a:cs typeface="Arial" pitchFamily="34" charset="-120"/>
              </a:rPr>
              <a:t>4.076"</a:t>
            </a:r>
            <a:endParaRPr lang="en-US" sz="1250" dirty="0"/>
          </a:p>
        </p:txBody>
      </p:sp>
      <p:sp>
        <p:nvSpPr>
          <p:cNvPr id="28" name="Text 26"/>
          <p:cNvSpPr txBox="1"/>
          <p:nvPr/>
        </p:nvSpPr>
        <p:spPr>
          <a:xfrm>
            <a:off x="6693408" y="3721608"/>
            <a:ext cx="932688" cy="228600"/>
          </a:xfrm>
          <a:prstGeom prst="rect">
            <a:avLst/>
          </a:prstGeom>
          <a:noFill/>
          <a:ln/>
        </p:spPr>
        <p:txBody>
          <a:bodyPr wrap="square" lIns="0" tIns="0" rIns="0" bIns="0" rtlCol="0" anchor="ctr"/>
          <a:lstStyle/>
          <a:p>
            <a:pPr algn="ctr" indent="0" marL="0">
              <a:buNone/>
            </a:pPr>
            <a:r>
              <a:rPr lang="en-US" sz="1000" b="1" dirty="0">
                <a:solidFill>
                  <a:srgbClr val="222222"/>
                </a:solidFill>
                <a:latin typeface="Arial" pitchFamily="34" charset="0"/>
                <a:ea typeface="Arial" pitchFamily="34" charset="-122"/>
                <a:cs typeface="Arial" pitchFamily="34" charset="-120"/>
              </a:rPr>
              <a:t>Max</a:t>
            </a:r>
            <a:endParaRPr lang="en-US" sz="1000" dirty="0"/>
          </a:p>
        </p:txBody>
      </p:sp>
      <p:sp>
        <p:nvSpPr>
          <p:cNvPr id="29" name="Text 27"/>
          <p:cNvSpPr txBox="1"/>
          <p:nvPr/>
        </p:nvSpPr>
        <p:spPr>
          <a:xfrm>
            <a:off x="548640" y="4297680"/>
            <a:ext cx="5486400" cy="320040"/>
          </a:xfrm>
          <a:prstGeom prst="rect">
            <a:avLst/>
          </a:prstGeom>
          <a:noFill/>
          <a:ln/>
        </p:spPr>
        <p:txBody>
          <a:bodyPr wrap="square" lIns="0" tIns="0" rIns="0" bIns="0" rtlCol="0" anchor="ctr"/>
          <a:lstStyle/>
          <a:p>
            <a:pPr indent="0" marL="0">
              <a:buNone/>
            </a:pPr>
            <a:r>
              <a:rPr lang="en-US" sz="1600" b="1" dirty="0">
                <a:solidFill>
                  <a:srgbClr val="222222"/>
                </a:solidFill>
                <a:latin typeface="Arial" pitchFamily="34" charset="0"/>
                <a:ea typeface="Arial" pitchFamily="34" charset="-122"/>
                <a:cs typeface="Arial" pitchFamily="34" charset="-120"/>
              </a:rPr>
              <a:t>Example: mixed-diameter pass, 3" to 8"</a:t>
            </a:r>
            <a:endParaRPr lang="en-US" sz="1600" dirty="0"/>
          </a:p>
        </p:txBody>
      </p:sp>
      <p:sp>
        <p:nvSpPr>
          <p:cNvPr id="30" name="Text 28"/>
          <p:cNvSpPr txBox="1"/>
          <p:nvPr/>
        </p:nvSpPr>
        <p:spPr>
          <a:xfrm>
            <a:off x="548640" y="4617720"/>
            <a:ext cx="5486400" cy="274320"/>
          </a:xfrm>
          <a:prstGeom prst="rect">
            <a:avLst/>
          </a:prstGeom>
          <a:noFill/>
          <a:ln/>
        </p:spPr>
        <p:txBody>
          <a:bodyPr wrap="square" lIns="0" tIns="0" rIns="0" bIns="0" rtlCol="0" anchor="ctr"/>
          <a:lstStyle/>
          <a:p>
            <a:pPr indent="0" marL="0">
              <a:buNone/>
            </a:pPr>
            <a:r>
              <a:rPr lang="en-US" sz="1200" dirty="0">
                <a:solidFill>
                  <a:srgbClr val="5E5E5E"/>
                </a:solidFill>
                <a:latin typeface="Arial" pitchFamily="34" charset="0"/>
                <a:ea typeface="Arial" pitchFamily="34" charset="-122"/>
                <a:cs typeface="Arial" pitchFamily="34" charset="-120"/>
              </a:rPr>
              <a:t>Smallest ID 2.900" governs the whole pass</a:t>
            </a:r>
            <a:endParaRPr lang="en-US" sz="1200" dirty="0"/>
          </a:p>
        </p:txBody>
      </p:sp>
      <p:sp>
        <p:nvSpPr>
          <p:cNvPr id="31" name="Shape 29"/>
          <p:cNvSpPr/>
          <p:nvPr/>
        </p:nvSpPr>
        <p:spPr>
          <a:xfrm>
            <a:off x="548640" y="5486400"/>
            <a:ext cx="932688" cy="384048"/>
          </a:xfrm>
          <a:prstGeom prst="rect">
            <a:avLst/>
          </a:prstGeom>
          <a:solidFill>
            <a:srgbClr val="DDDDDD"/>
          </a:solidFill>
          <a:ln w="12700">
            <a:solidFill>
              <a:srgbClr val="DDDDDD"/>
            </a:solidFill>
            <a:prstDash val="solid"/>
          </a:ln>
        </p:spPr>
      </p:sp>
      <p:sp>
        <p:nvSpPr>
          <p:cNvPr id="32" name="Text 30"/>
          <p:cNvSpPr txBox="1"/>
          <p:nvPr/>
        </p:nvSpPr>
        <p:spPr>
          <a:xfrm>
            <a:off x="548640" y="5486400"/>
            <a:ext cx="932688" cy="384048"/>
          </a:xfrm>
          <a:prstGeom prst="rect">
            <a:avLst/>
          </a:prstGeom>
          <a:noFill/>
          <a:ln/>
        </p:spPr>
        <p:txBody>
          <a:bodyPr wrap="square" lIns="0" tIns="0" rIns="0" bIns="0" rtlCol="0" anchor="ctr"/>
          <a:lstStyle/>
          <a:p>
            <a:pPr algn="ctr" indent="0" marL="0">
              <a:buNone/>
            </a:pPr>
            <a:r>
              <a:rPr lang="en-US" sz="1250" b="1" dirty="0">
                <a:solidFill>
                  <a:srgbClr val="1E1E1E"/>
                </a:solidFill>
                <a:latin typeface="Arial" pitchFamily="34" charset="0"/>
                <a:ea typeface="Arial" pitchFamily="34" charset="-122"/>
                <a:cs typeface="Arial" pitchFamily="34" charset="-120"/>
              </a:rPr>
              <a:t>Gauge</a:t>
            </a:r>
            <a:endParaRPr lang="en-US" sz="1250" dirty="0"/>
          </a:p>
          <a:p>
            <a:pPr algn="ctr" indent="0" marL="0">
              <a:buNone/>
            </a:pPr>
            <a:r>
              <a:rPr lang="en-US" sz="1250" b="1" dirty="0">
                <a:solidFill>
                  <a:srgbClr val="1E1E1E"/>
                </a:solidFill>
                <a:latin typeface="Arial" pitchFamily="34" charset="0"/>
                <a:ea typeface="Arial" pitchFamily="34" charset="-122"/>
                <a:cs typeface="Arial" pitchFamily="34" charset="-120"/>
              </a:rPr>
              <a:t>foam</a:t>
            </a:r>
            <a:endParaRPr lang="en-US" sz="1250" dirty="0"/>
          </a:p>
        </p:txBody>
      </p:sp>
      <p:sp>
        <p:nvSpPr>
          <p:cNvPr id="33" name="Text 31"/>
          <p:cNvSpPr txBox="1"/>
          <p:nvPr/>
        </p:nvSpPr>
        <p:spPr>
          <a:xfrm>
            <a:off x="548640" y="5916168"/>
            <a:ext cx="932688" cy="228600"/>
          </a:xfrm>
          <a:prstGeom prst="rect">
            <a:avLst/>
          </a:prstGeom>
          <a:noFill/>
          <a:ln/>
        </p:spPr>
        <p:txBody>
          <a:bodyPr wrap="square" lIns="0" tIns="0" rIns="0" bIns="0" rtlCol="0" anchor="ctr"/>
          <a:lstStyle/>
          <a:p>
            <a:pPr algn="ctr" indent="0" marL="0">
              <a:buNone/>
            </a:pPr>
            <a:r>
              <a:rPr lang="en-US" sz="1000" dirty="0">
                <a:solidFill>
                  <a:srgbClr val="5E5E5E"/>
                </a:solidFill>
                <a:latin typeface="Arial" pitchFamily="34" charset="0"/>
                <a:ea typeface="Arial" pitchFamily="34" charset="-122"/>
                <a:cs typeface="Arial" pitchFamily="34" charset="-120"/>
              </a:rPr>
              <a:t>Run first</a:t>
            </a:r>
            <a:endParaRPr lang="en-US" sz="1000" dirty="0"/>
          </a:p>
        </p:txBody>
      </p:sp>
      <p:sp>
        <p:nvSpPr>
          <p:cNvPr id="34" name="Shape 32"/>
          <p:cNvSpPr/>
          <p:nvPr/>
        </p:nvSpPr>
        <p:spPr>
          <a:xfrm>
            <a:off x="1572768" y="5385816"/>
            <a:ext cx="932688" cy="484632"/>
          </a:xfrm>
          <a:prstGeom prst="rect">
            <a:avLst/>
          </a:prstGeom>
          <a:solidFill>
            <a:srgbClr val="1E1E1E"/>
          </a:solidFill>
          <a:ln w="12700">
            <a:solidFill>
              <a:srgbClr val="1E1E1E"/>
            </a:solidFill>
            <a:prstDash val="solid"/>
          </a:ln>
        </p:spPr>
      </p:sp>
      <p:sp>
        <p:nvSpPr>
          <p:cNvPr id="35" name="Text 33"/>
          <p:cNvSpPr txBox="1"/>
          <p:nvPr/>
        </p:nvSpPr>
        <p:spPr>
          <a:xfrm>
            <a:off x="1572768" y="5385816"/>
            <a:ext cx="932688" cy="484632"/>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Initial</a:t>
            </a:r>
            <a:endParaRPr lang="en-US" sz="1250" dirty="0"/>
          </a:p>
        </p:txBody>
      </p:sp>
      <p:sp>
        <p:nvSpPr>
          <p:cNvPr id="36" name="Text 34"/>
          <p:cNvSpPr txBox="1"/>
          <p:nvPr/>
        </p:nvSpPr>
        <p:spPr>
          <a:xfrm>
            <a:off x="1572768" y="5916168"/>
            <a:ext cx="932688" cy="228600"/>
          </a:xfrm>
          <a:prstGeom prst="rect">
            <a:avLst/>
          </a:prstGeom>
          <a:noFill/>
          <a:ln/>
        </p:spPr>
        <p:txBody>
          <a:bodyPr wrap="square" lIns="0" tIns="0" rIns="0" bIns="0" rtlCol="0" anchor="ctr"/>
          <a:lstStyle/>
          <a:p>
            <a:pPr algn="ctr" indent="0" marL="0">
              <a:buNone/>
            </a:pPr>
            <a:r>
              <a:rPr lang="en-US" sz="1000" dirty="0">
                <a:solidFill>
                  <a:srgbClr val="5E5E5E"/>
                </a:solidFill>
                <a:latin typeface="Arial" pitchFamily="34" charset="0"/>
                <a:ea typeface="Arial" pitchFamily="34" charset="-122"/>
                <a:cs typeface="Arial" pitchFamily="34" charset="-120"/>
              </a:rPr>
              <a:t>Set by foam</a:t>
            </a:r>
            <a:endParaRPr lang="en-US" sz="1000" dirty="0"/>
          </a:p>
        </p:txBody>
      </p:sp>
      <p:sp>
        <p:nvSpPr>
          <p:cNvPr id="37" name="Shape 35"/>
          <p:cNvSpPr/>
          <p:nvPr/>
        </p:nvSpPr>
        <p:spPr>
          <a:xfrm>
            <a:off x="2596896" y="5285232"/>
            <a:ext cx="932688" cy="585216"/>
          </a:xfrm>
          <a:prstGeom prst="rect">
            <a:avLst/>
          </a:prstGeom>
          <a:solidFill>
            <a:srgbClr val="1E1E1E"/>
          </a:solidFill>
          <a:ln w="12700">
            <a:solidFill>
              <a:srgbClr val="1E1E1E"/>
            </a:solidFill>
            <a:prstDash val="solid"/>
          </a:ln>
        </p:spPr>
      </p:sp>
      <p:sp>
        <p:nvSpPr>
          <p:cNvPr id="38" name="Text 36"/>
          <p:cNvSpPr txBox="1"/>
          <p:nvPr/>
        </p:nvSpPr>
        <p:spPr>
          <a:xfrm>
            <a:off x="2596896" y="5285232"/>
            <a:ext cx="932688" cy="58521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+⅛"</a:t>
            </a:r>
            <a:endParaRPr lang="en-US" sz="1250" dirty="0"/>
          </a:p>
        </p:txBody>
      </p:sp>
      <p:sp>
        <p:nvSpPr>
          <p:cNvPr id="39" name="Text 37"/>
          <p:cNvSpPr txBox="1"/>
          <p:nvPr/>
        </p:nvSpPr>
        <p:spPr>
          <a:xfrm>
            <a:off x="2596896" y="5916168"/>
            <a:ext cx="932688" cy="228600"/>
          </a:xfrm>
          <a:prstGeom prst="rect">
            <a:avLst/>
          </a:prstGeom>
          <a:noFill/>
          <a:ln/>
        </p:spPr>
        <p:txBody>
          <a:bodyPr wrap="square" lIns="0" tIns="0" rIns="0" bIns="0" rtlCol="0" anchor="ctr"/>
          <a:lstStyle/>
          <a:p>
            <a:pPr algn="ctr" indent="0" marL="0">
              <a:buNone/>
            </a:pPr>
            <a:r>
              <a:rPr lang="en-US" sz="1000" dirty="0">
                <a:solidFill>
                  <a:srgbClr val="5E5E5E"/>
                </a:solidFill>
                <a:latin typeface="Arial" pitchFamily="34" charset="0"/>
                <a:ea typeface="Arial" pitchFamily="34" charset="-122"/>
                <a:cs typeface="Arial" pitchFamily="34" charset="-120"/>
              </a:rPr>
              <a:t>Step</a:t>
            </a:r>
            <a:endParaRPr lang="en-US" sz="1000" dirty="0"/>
          </a:p>
        </p:txBody>
      </p:sp>
      <p:sp>
        <p:nvSpPr>
          <p:cNvPr id="40" name="Shape 38"/>
          <p:cNvSpPr/>
          <p:nvPr/>
        </p:nvSpPr>
        <p:spPr>
          <a:xfrm>
            <a:off x="3621024" y="5184648"/>
            <a:ext cx="932688" cy="685800"/>
          </a:xfrm>
          <a:prstGeom prst="rect">
            <a:avLst/>
          </a:prstGeom>
          <a:solidFill>
            <a:srgbClr val="1E1E1E"/>
          </a:solidFill>
          <a:ln w="12700">
            <a:solidFill>
              <a:srgbClr val="1E1E1E"/>
            </a:solidFill>
            <a:prstDash val="solid"/>
          </a:ln>
        </p:spPr>
      </p:sp>
      <p:sp>
        <p:nvSpPr>
          <p:cNvPr id="41" name="Text 39"/>
          <p:cNvSpPr txBox="1"/>
          <p:nvPr/>
        </p:nvSpPr>
        <p:spPr>
          <a:xfrm>
            <a:off x="3621024" y="5184648"/>
            <a:ext cx="932688" cy="68580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+⅛"</a:t>
            </a:r>
            <a:endParaRPr lang="en-US" sz="1250" dirty="0"/>
          </a:p>
        </p:txBody>
      </p:sp>
      <p:sp>
        <p:nvSpPr>
          <p:cNvPr id="42" name="Text 40"/>
          <p:cNvSpPr txBox="1"/>
          <p:nvPr/>
        </p:nvSpPr>
        <p:spPr>
          <a:xfrm>
            <a:off x="3621024" y="5916168"/>
            <a:ext cx="932688" cy="228600"/>
          </a:xfrm>
          <a:prstGeom prst="rect">
            <a:avLst/>
          </a:prstGeom>
          <a:noFill/>
          <a:ln/>
        </p:spPr>
        <p:txBody>
          <a:bodyPr wrap="square" lIns="0" tIns="0" rIns="0" bIns="0" rtlCol="0" anchor="ctr"/>
          <a:lstStyle/>
          <a:p>
            <a:pPr algn="ctr" indent="0" marL="0">
              <a:buNone/>
            </a:pPr>
            <a:r>
              <a:rPr lang="en-US" sz="1000" dirty="0">
                <a:solidFill>
                  <a:srgbClr val="5E5E5E"/>
                </a:solidFill>
                <a:latin typeface="Arial" pitchFamily="34" charset="0"/>
                <a:ea typeface="Arial" pitchFamily="34" charset="-122"/>
                <a:cs typeface="Arial" pitchFamily="34" charset="-120"/>
              </a:rPr>
              <a:t>Step</a:t>
            </a:r>
            <a:endParaRPr lang="en-US" sz="1000" dirty="0"/>
          </a:p>
        </p:txBody>
      </p:sp>
      <p:sp>
        <p:nvSpPr>
          <p:cNvPr id="43" name="Shape 41"/>
          <p:cNvSpPr/>
          <p:nvPr/>
        </p:nvSpPr>
        <p:spPr>
          <a:xfrm>
            <a:off x="4645152" y="5084064"/>
            <a:ext cx="932688" cy="786384"/>
          </a:xfrm>
          <a:prstGeom prst="rect">
            <a:avLst/>
          </a:prstGeom>
          <a:solidFill>
            <a:srgbClr val="1E1E1E"/>
          </a:solidFill>
          <a:ln w="12700">
            <a:solidFill>
              <a:srgbClr val="1E1E1E"/>
            </a:solidFill>
            <a:prstDash val="solid"/>
          </a:ln>
        </p:spPr>
      </p:sp>
      <p:sp>
        <p:nvSpPr>
          <p:cNvPr id="44" name="Text 42"/>
          <p:cNvSpPr txBox="1"/>
          <p:nvPr/>
        </p:nvSpPr>
        <p:spPr>
          <a:xfrm>
            <a:off x="4645152" y="5084064"/>
            <a:ext cx="932688" cy="786384"/>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+⅛"</a:t>
            </a:r>
            <a:endParaRPr lang="en-US" sz="1250" dirty="0"/>
          </a:p>
        </p:txBody>
      </p:sp>
      <p:sp>
        <p:nvSpPr>
          <p:cNvPr id="45" name="Text 43"/>
          <p:cNvSpPr txBox="1"/>
          <p:nvPr/>
        </p:nvSpPr>
        <p:spPr>
          <a:xfrm>
            <a:off x="4645152" y="5916168"/>
            <a:ext cx="932688" cy="228600"/>
          </a:xfrm>
          <a:prstGeom prst="rect">
            <a:avLst/>
          </a:prstGeom>
          <a:noFill/>
          <a:ln/>
        </p:spPr>
        <p:txBody>
          <a:bodyPr wrap="square" lIns="0" tIns="0" rIns="0" bIns="0" rtlCol="0" anchor="ctr"/>
          <a:lstStyle/>
          <a:p>
            <a:pPr algn="ctr" indent="0" marL="0">
              <a:buNone/>
            </a:pPr>
            <a:r>
              <a:rPr lang="en-US" sz="1000" dirty="0">
                <a:solidFill>
                  <a:srgbClr val="5E5E5E"/>
                </a:solidFill>
                <a:latin typeface="Arial" pitchFamily="34" charset="0"/>
                <a:ea typeface="Arial" pitchFamily="34" charset="-122"/>
                <a:cs typeface="Arial" pitchFamily="34" charset="-120"/>
              </a:rPr>
              <a:t>Step</a:t>
            </a:r>
            <a:endParaRPr lang="en-US" sz="1000" dirty="0"/>
          </a:p>
        </p:txBody>
      </p:sp>
      <p:sp>
        <p:nvSpPr>
          <p:cNvPr id="46" name="Shape 44"/>
          <p:cNvSpPr/>
          <p:nvPr/>
        </p:nvSpPr>
        <p:spPr>
          <a:xfrm>
            <a:off x="5669280" y="4983480"/>
            <a:ext cx="932688" cy="886968"/>
          </a:xfrm>
          <a:prstGeom prst="rect">
            <a:avLst/>
          </a:prstGeom>
          <a:solidFill>
            <a:srgbClr val="1E1E1E"/>
          </a:solidFill>
          <a:ln w="12700">
            <a:solidFill>
              <a:srgbClr val="1E1E1E"/>
            </a:solidFill>
            <a:prstDash val="solid"/>
          </a:ln>
        </p:spPr>
      </p:sp>
      <p:sp>
        <p:nvSpPr>
          <p:cNvPr id="47" name="Text 45"/>
          <p:cNvSpPr txBox="1"/>
          <p:nvPr/>
        </p:nvSpPr>
        <p:spPr>
          <a:xfrm>
            <a:off x="5669280" y="4983480"/>
            <a:ext cx="932688" cy="88696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2.900"</a:t>
            </a:r>
            <a:endParaRPr lang="en-US" sz="1250" dirty="0"/>
          </a:p>
        </p:txBody>
      </p:sp>
      <p:sp>
        <p:nvSpPr>
          <p:cNvPr id="48" name="Text 46"/>
          <p:cNvSpPr txBox="1"/>
          <p:nvPr/>
        </p:nvSpPr>
        <p:spPr>
          <a:xfrm>
            <a:off x="5669280" y="5916168"/>
            <a:ext cx="932688" cy="228600"/>
          </a:xfrm>
          <a:prstGeom prst="rect">
            <a:avLst/>
          </a:prstGeom>
          <a:noFill/>
          <a:ln/>
        </p:spPr>
        <p:txBody>
          <a:bodyPr wrap="square" lIns="0" tIns="0" rIns="0" bIns="0" rtlCol="0" anchor="ctr"/>
          <a:lstStyle/>
          <a:p>
            <a:pPr algn="ctr" indent="0" marL="0">
              <a:buNone/>
            </a:pPr>
            <a:r>
              <a:rPr lang="en-US" sz="1000" b="1" dirty="0">
                <a:solidFill>
                  <a:srgbClr val="222222"/>
                </a:solidFill>
                <a:latin typeface="Arial" pitchFamily="34" charset="0"/>
                <a:ea typeface="Arial" pitchFamily="34" charset="-122"/>
                <a:cs typeface="Arial" pitchFamily="34" charset="-120"/>
              </a:rPr>
              <a:t>Line size</a:t>
            </a:r>
            <a:endParaRPr lang="en-US" sz="1000" dirty="0"/>
          </a:p>
        </p:txBody>
      </p:sp>
      <p:sp>
        <p:nvSpPr>
          <p:cNvPr id="49" name="Shape 47"/>
          <p:cNvSpPr/>
          <p:nvPr/>
        </p:nvSpPr>
        <p:spPr>
          <a:xfrm>
            <a:off x="6693408" y="4882896"/>
            <a:ext cx="932688" cy="987552"/>
          </a:xfrm>
          <a:prstGeom prst="rect">
            <a:avLst/>
          </a:prstGeom>
          <a:solidFill>
            <a:srgbClr val="FCC30A"/>
          </a:solidFill>
          <a:ln w="12700">
            <a:solidFill>
              <a:srgbClr val="FCC30A"/>
            </a:solidFill>
            <a:prstDash val="solid"/>
          </a:ln>
        </p:spPr>
      </p:sp>
      <p:sp>
        <p:nvSpPr>
          <p:cNvPr id="50" name="Text 48"/>
          <p:cNvSpPr txBox="1"/>
          <p:nvPr/>
        </p:nvSpPr>
        <p:spPr>
          <a:xfrm>
            <a:off x="6693408" y="4882896"/>
            <a:ext cx="932688" cy="987552"/>
          </a:xfrm>
          <a:prstGeom prst="rect">
            <a:avLst/>
          </a:prstGeom>
          <a:noFill/>
          <a:ln/>
        </p:spPr>
        <p:txBody>
          <a:bodyPr wrap="square" lIns="0" tIns="0" rIns="0" bIns="0" rtlCol="0" anchor="ctr"/>
          <a:lstStyle/>
          <a:p>
            <a:pPr algn="ctr" indent="0" marL="0">
              <a:buNone/>
            </a:pPr>
            <a:r>
              <a:rPr lang="en-US" sz="1250" b="1" dirty="0">
                <a:solidFill>
                  <a:srgbClr val="1E1E1E"/>
                </a:solidFill>
                <a:latin typeface="Arial" pitchFamily="34" charset="0"/>
                <a:ea typeface="Arial" pitchFamily="34" charset="-122"/>
                <a:cs typeface="Arial" pitchFamily="34" charset="-120"/>
              </a:rPr>
              <a:t>3.150"</a:t>
            </a:r>
            <a:endParaRPr lang="en-US" sz="1250" dirty="0"/>
          </a:p>
        </p:txBody>
      </p:sp>
      <p:sp>
        <p:nvSpPr>
          <p:cNvPr id="51" name="Text 49"/>
          <p:cNvSpPr txBox="1"/>
          <p:nvPr/>
        </p:nvSpPr>
        <p:spPr>
          <a:xfrm>
            <a:off x="6693408" y="5916168"/>
            <a:ext cx="932688" cy="228600"/>
          </a:xfrm>
          <a:prstGeom prst="rect">
            <a:avLst/>
          </a:prstGeom>
          <a:noFill/>
          <a:ln/>
        </p:spPr>
        <p:txBody>
          <a:bodyPr wrap="square" lIns="0" tIns="0" rIns="0" bIns="0" rtlCol="0" anchor="ctr"/>
          <a:lstStyle/>
          <a:p>
            <a:pPr algn="ctr" indent="0" marL="0">
              <a:buNone/>
            </a:pPr>
            <a:r>
              <a:rPr lang="en-US" sz="1000" b="1" dirty="0">
                <a:solidFill>
                  <a:srgbClr val="222222"/>
                </a:solidFill>
                <a:latin typeface="Arial" pitchFamily="34" charset="0"/>
                <a:ea typeface="Arial" pitchFamily="34" charset="-122"/>
                <a:cs typeface="Arial" pitchFamily="34" charset="-120"/>
              </a:rPr>
              <a:t>Max</a:t>
            </a:r>
            <a:endParaRPr lang="en-US" sz="1000" dirty="0"/>
          </a:p>
        </p:txBody>
      </p:sp>
      <p:sp>
        <p:nvSpPr>
          <p:cNvPr id="52" name="Shape 50"/>
          <p:cNvSpPr/>
          <p:nvPr/>
        </p:nvSpPr>
        <p:spPr>
          <a:xfrm>
            <a:off x="8001000" y="2148840"/>
            <a:ext cx="3639312" cy="4114800"/>
          </a:xfrm>
          <a:prstGeom prst="rect">
            <a:avLst/>
          </a:prstGeom>
          <a:solidFill>
            <a:srgbClr val="1E1E1E"/>
          </a:solidFill>
          <a:ln w="12700">
            <a:solidFill>
              <a:srgbClr val="1E1E1E"/>
            </a:solidFill>
            <a:prstDash val="solid"/>
          </a:ln>
        </p:spPr>
      </p:sp>
      <p:sp>
        <p:nvSpPr>
          <p:cNvPr id="53" name="Text 51"/>
          <p:cNvSpPr txBox="1"/>
          <p:nvPr/>
        </p:nvSpPr>
        <p:spPr>
          <a:xfrm>
            <a:off x="8275320" y="2377440"/>
            <a:ext cx="3108960" cy="365760"/>
          </a:xfrm>
          <a:prstGeom prst="rect">
            <a:avLst/>
          </a:prstGeom>
          <a:noFill/>
          <a:ln/>
        </p:spPr>
        <p:txBody>
          <a:bodyPr wrap="square" lIns="0" tIns="0" rIns="0" bIns="0" rtlCol="0" anchor="ctr"/>
          <a:lstStyle/>
          <a:p>
            <a:pPr indent="0" marL="0">
              <a:buNone/>
            </a:pPr>
            <a:r>
              <a:rPr lang="en-US" sz="1600" b="1" dirty="0">
                <a:solidFill>
                  <a:srgbClr val="FCC30A"/>
                </a:solidFill>
                <a:latin typeface="Arial" pitchFamily="34" charset="0"/>
                <a:ea typeface="Arial" pitchFamily="34" charset="-122"/>
                <a:cs typeface="Arial" pitchFamily="34" charset="-120"/>
              </a:rPr>
              <a:t>The sizing rule</a:t>
            </a:r>
            <a:endParaRPr lang="en-US" sz="1600" dirty="0"/>
          </a:p>
        </p:txBody>
      </p:sp>
      <p:sp>
        <p:nvSpPr>
          <p:cNvPr id="54" name="Text 52"/>
          <p:cNvSpPr txBox="1"/>
          <p:nvPr/>
        </p:nvSpPr>
        <p:spPr>
          <a:xfrm>
            <a:off x="8275320" y="2788920"/>
            <a:ext cx="3200400" cy="64008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Max pig OD =</a:t>
            </a:r>
            <a:endParaRPr lang="en-US" sz="1600" dirty="0"/>
          </a:p>
          <a:p>
            <a:pPr indent="0" marL="0">
              <a:buNone/>
            </a:pPr>
            <a:r>
              <a:rPr lang="en-US" sz="1600" b="1" dirty="0">
                <a:solidFill>
                  <a:srgbClr val="FFFFFF"/>
                </a:solidFill>
                <a:latin typeface="Arial" pitchFamily="34" charset="0"/>
                <a:ea typeface="Arial" pitchFamily="34" charset="-122"/>
                <a:cs typeface="Arial" pitchFamily="34" charset="-120"/>
              </a:rPr>
              <a:t>smallest tube ID + 0.250"</a:t>
            </a:r>
            <a:endParaRPr lang="en-US" sz="1600" dirty="0"/>
          </a:p>
        </p:txBody>
      </p:sp>
      <p:sp>
        <p:nvSpPr>
          <p:cNvPr id="55" name="Text 53"/>
          <p:cNvSpPr txBox="1"/>
          <p:nvPr/>
        </p:nvSpPr>
        <p:spPr>
          <a:xfrm>
            <a:off x="8275320" y="3657600"/>
            <a:ext cx="3200400" cy="228600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BDBDBD"/>
                </a:solidFill>
                <a:latin typeface="Arial" pitchFamily="34" charset="0"/>
                <a:ea typeface="Arial" pitchFamily="34" charset="-122"/>
                <a:cs typeface="Arial" pitchFamily="34" charset="-120"/>
              </a:rPr>
              <a:t>Step up ⅛" after each clean pass</a:t>
            </a:r>
            <a:endParaRPr lang="en-US" sz="1300" dirty="0"/>
          </a:p>
          <a:p>
            <a:pPr marL="342900" indent="-342900">
              <a:spcAft>
                <a:spcPts val="1200"/>
              </a:spcAft>
              <a:buSzPct val="100000"/>
              <a:buChar char="•"/>
            </a:pPr>
            <a:r>
              <a:rPr lang="en-US" sz="1300" dirty="0">
                <a:solidFill>
                  <a:srgbClr val="BDBDBD"/>
                </a:solidFill>
                <a:latin typeface="Arial" pitchFamily="34" charset="0"/>
                <a:ea typeface="Arial" pitchFamily="34" charset="-122"/>
                <a:cs typeface="Arial" pitchFamily="34" charset="-120"/>
              </a:rPr>
              <a:t>Pig wear drives size &amp; appendages</a:t>
            </a:r>
            <a:endParaRPr lang="en-US" sz="1300" dirty="0"/>
          </a:p>
          <a:p>
            <a:pPr marL="342900" indent="-342900">
              <a:spcAft>
                <a:spcPts val="1200"/>
              </a:spcAft>
              <a:buSzPct val="100000"/>
              <a:buChar char="•"/>
            </a:pPr>
            <a:r>
              <a:rPr lang="en-US" sz="1300" dirty="0">
                <a:solidFill>
                  <a:srgbClr val="BDBDBD"/>
                </a:solidFill>
                <a:latin typeface="Arial" pitchFamily="34" charset="0"/>
                <a:ea typeface="Arial" pitchFamily="34" charset="-122"/>
                <a:cs typeface="Arial" pitchFamily="34" charset="-120"/>
              </a:rPr>
              <a:t>Body length set for bends &amp; mule ears</a:t>
            </a:r>
            <a:endParaRPr lang="en-US" sz="1300" dirty="0"/>
          </a:p>
          <a:p>
            <a:pPr marL="342900" indent="-342900">
              <a:spcAft>
                <a:spcPts val="1200"/>
              </a:spcAft>
              <a:buSzPct val="100000"/>
              <a:buChar char="•"/>
            </a:pPr>
            <a:r>
              <a:rPr lang="en-US" sz="1300" dirty="0">
                <a:solidFill>
                  <a:srgbClr val="BDBDBD"/>
                </a:solidFill>
                <a:latin typeface="Arial" pitchFamily="34" charset="0"/>
                <a:ea typeface="Arial" pitchFamily="34" charset="-122"/>
                <a:cs typeface="Arial" pitchFamily="34" charset="-120"/>
              </a:rPr>
              <a:t>Gauge foam sets the starting size</a:t>
            </a:r>
            <a:endParaRPr lang="en-US" sz="1300" dirty="0"/>
          </a:p>
          <a:p>
            <a:pPr marL="342900" indent="-342900">
              <a:spcAft>
                <a:spcPts val="1200"/>
              </a:spcAft>
              <a:buSzPct val="100000"/>
              <a:buChar char="•"/>
            </a:pPr>
            <a:r>
              <a:rPr lang="en-US" sz="1300" dirty="0">
                <a:solidFill>
                  <a:srgbClr val="BDBDBD"/>
                </a:solidFill>
                <a:latin typeface="Arial" pitchFamily="34" charset="0"/>
                <a:ea typeface="Arial" pitchFamily="34" charset="-122"/>
                <a:cs typeface="Arial" pitchFamily="34" charset="-120"/>
              </a:rPr>
              <a:t>Line-size foam witnessed at sign-off</a:t>
            </a:r>
            <a:endParaRPr lang="en-US" sz="1300" dirty="0"/>
          </a:p>
        </p:txBody>
      </p:sp>
      <p:sp>
        <p:nvSpPr>
          <p:cNvPr id="56" name="Text 54"/>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USA DeBusk  |  Valero Texas City  |  Heater Pigging &amp; Decoking Services</a:t>
            </a:r>
            <a:endParaRPr lang="en-US" sz="900" dirty="0"/>
          </a:p>
        </p:txBody>
      </p:sp>
      <p:sp>
        <p:nvSpPr>
          <p:cNvPr id="57" name="Text 55"/>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989525" cy="310896"/>
          </a:xfrm>
          <a:prstGeom prst="roundRect">
            <a:avLst>
              <a:gd name="adj" fmla="val 23529"/>
            </a:avLst>
          </a:prstGeom>
          <a:solidFill>
            <a:srgbClr val="FCC30A"/>
          </a:solidFill>
          <a:ln w="12700">
            <a:solidFill>
              <a:srgbClr val="FCC30A"/>
            </a:solidFill>
            <a:prstDash val="solid"/>
          </a:ln>
        </p:spPr>
      </p:sp>
      <p:sp>
        <p:nvSpPr>
          <p:cNvPr id="3" name="Text 1"/>
          <p:cNvSpPr txBox="1"/>
          <p:nvPr/>
        </p:nvSpPr>
        <p:spPr>
          <a:xfrm>
            <a:off x="548640" y="411480"/>
            <a:ext cx="1989525"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01   METHODOLOGY</a:t>
            </a:r>
            <a:endParaRPr lang="en-US" sz="1050" dirty="0"/>
          </a:p>
        </p:txBody>
      </p:sp>
      <p:sp>
        <p:nvSpPr>
          <p:cNvPr id="4" name="Text 2"/>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3200" b="1" dirty="0">
                <a:solidFill>
                  <a:srgbClr val="222222"/>
                </a:solidFill>
                <a:latin typeface="Arial" pitchFamily="34" charset="0"/>
                <a:ea typeface="Arial" pitchFamily="34" charset="-122"/>
                <a:cs typeface="Arial" pitchFamily="34" charset="-120"/>
              </a:rPr>
              <a:t>Engineered decoking pigs, matched to the coke</a:t>
            </a:r>
            <a:endParaRPr lang="en-US" sz="3200" dirty="0"/>
          </a:p>
        </p:txBody>
      </p:sp>
      <p:sp>
        <p:nvSpPr>
          <p:cNvPr id="5" name="Text 3"/>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5E5E5E"/>
                </a:solidFill>
                <a:latin typeface="Arial" pitchFamily="34" charset="0"/>
                <a:ea typeface="Arial" pitchFamily="34" charset="-122"/>
                <a:cs typeface="Arial" pitchFamily="34" charset="-120"/>
              </a:rPr>
              <a:t>The most diverse selection of engineered decoking pigs in the world</a:t>
            </a:r>
            <a:endParaRPr lang="en-US" sz="1500" dirty="0"/>
          </a:p>
        </p:txBody>
      </p:sp>
      <p:sp>
        <p:nvSpPr>
          <p:cNvPr id="6" name="Shape 4"/>
          <p:cNvSpPr/>
          <p:nvPr/>
        </p:nvSpPr>
        <p:spPr>
          <a:xfrm>
            <a:off x="548640" y="2057400"/>
            <a:ext cx="3657600" cy="4114800"/>
          </a:xfrm>
          <a:prstGeom prst="rect">
            <a:avLst/>
          </a:prstGeom>
          <a:solidFill>
            <a:srgbClr val="FFFFFF"/>
          </a:solidFill>
          <a:ln w="12700">
            <a:solidFill>
              <a:srgbClr val="DDDDDD"/>
            </a:solidFill>
            <a:prstDash val="solid"/>
          </a:ln>
        </p:spPr>
      </p:sp>
      <p:pic>
        <p:nvPicPr>
          <p:cNvPr id="7" name="Image 0" descr="C:\Users\Jwuts\obsidian-work\02-facilities\Valero\Texas-City-TX\pigging-capabilities-presentation\build/img/pigs_new.jpg">    </p:cNvPr>
          <p:cNvPicPr>
            <a:picLocks noChangeAspect="1"/>
          </p:cNvPicPr>
          <p:nvPr/>
        </p:nvPicPr>
        <p:blipFill>
          <a:blip r:embed="rId1"/>
          <a:stretch>
            <a:fillRect/>
          </a:stretch>
        </p:blipFill>
        <p:spPr>
          <a:xfrm>
            <a:off x="777240" y="2788920"/>
            <a:ext cx="3200400" cy="2085109"/>
          </a:xfrm>
          <a:prstGeom prst="rect">
            <a:avLst/>
          </a:prstGeom>
        </p:spPr>
      </p:pic>
      <p:sp>
        <p:nvSpPr>
          <p:cNvPr id="8" name="Text 5"/>
          <p:cNvSpPr txBox="1"/>
          <p:nvPr/>
        </p:nvSpPr>
        <p:spPr>
          <a:xfrm>
            <a:off x="777240" y="5577840"/>
            <a:ext cx="3200400" cy="274320"/>
          </a:xfrm>
          <a:prstGeom prst="rect">
            <a:avLst/>
          </a:prstGeom>
          <a:noFill/>
          <a:ln/>
        </p:spPr>
        <p:txBody>
          <a:bodyPr wrap="square" lIns="0" tIns="0" rIns="0" bIns="0" rtlCol="0" anchor="ctr"/>
          <a:lstStyle/>
          <a:p>
            <a:pPr algn="ctr" indent="0" marL="0">
              <a:buNone/>
            </a:pPr>
            <a:r>
              <a:rPr lang="en-US" sz="1050" i="1" dirty="0">
                <a:solidFill>
                  <a:srgbClr val="5E5E5E"/>
                </a:solidFill>
                <a:latin typeface="Arial" pitchFamily="34" charset="0"/>
                <a:ea typeface="Arial" pitchFamily="34" charset="-122"/>
                <a:cs typeface="Arial" pitchFamily="34" charset="-120"/>
              </a:rPr>
              <a:t>New engineered decoking pigs</a:t>
            </a:r>
            <a:endParaRPr lang="en-US" sz="1050" dirty="0"/>
          </a:p>
        </p:txBody>
      </p:sp>
      <p:sp>
        <p:nvSpPr>
          <p:cNvPr id="9" name="Shape 6"/>
          <p:cNvSpPr/>
          <p:nvPr/>
        </p:nvSpPr>
        <p:spPr>
          <a:xfrm>
            <a:off x="4526280" y="2057400"/>
            <a:ext cx="3456432" cy="1965960"/>
          </a:xfrm>
          <a:prstGeom prst="rect">
            <a:avLst/>
          </a:prstGeom>
          <a:solidFill>
            <a:srgbClr val="F4F4F4"/>
          </a:solidFill>
          <a:ln w="12700">
            <a:solidFill>
              <a:srgbClr val="F4F4F4"/>
            </a:solidFill>
            <a:prstDash val="solid"/>
          </a:ln>
        </p:spPr>
      </p:sp>
      <p:sp>
        <p:nvSpPr>
          <p:cNvPr id="10" name="Shape 7"/>
          <p:cNvSpPr/>
          <p:nvPr/>
        </p:nvSpPr>
        <p:spPr>
          <a:xfrm>
            <a:off x="4782312" y="2313432"/>
            <a:ext cx="603504" cy="603504"/>
          </a:xfrm>
          <a:prstGeom prst="ellipse">
            <a:avLst/>
          </a:prstGeom>
          <a:solidFill>
            <a:srgbClr val="1E1E1E"/>
          </a:solidFill>
          <a:ln w="12700">
            <a:solidFill>
              <a:srgbClr val="1E1E1E"/>
            </a:solidFill>
            <a:prstDash val="solid"/>
          </a:ln>
        </p:spPr>
      </p:sp>
      <p:pic>
        <p:nvPicPr>
          <p:cNvPr id="11" name="Image 1" descr="preencoded.png">    </p:cNvPr>
          <p:cNvPicPr>
            <a:picLocks noChangeAspect="1"/>
          </p:cNvPicPr>
          <p:nvPr/>
        </p:nvPicPr>
        <p:blipFill>
          <a:blip r:embed="rId2"/>
          <a:stretch>
            <a:fillRect/>
          </a:stretch>
        </p:blipFill>
        <p:spPr>
          <a:xfrm>
            <a:off x="4933188" y="2464308"/>
            <a:ext cx="301752" cy="301752"/>
          </a:xfrm>
          <a:prstGeom prst="rect">
            <a:avLst/>
          </a:prstGeom>
        </p:spPr>
      </p:pic>
      <p:sp>
        <p:nvSpPr>
          <p:cNvPr id="12" name="Text 8"/>
          <p:cNvSpPr txBox="1"/>
          <p:nvPr/>
        </p:nvSpPr>
        <p:spPr>
          <a:xfrm>
            <a:off x="5532120" y="2331720"/>
            <a:ext cx="2331720" cy="566928"/>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Soft-core and hard-core designs</a:t>
            </a:r>
            <a:endParaRPr lang="en-US" sz="1500" dirty="0"/>
          </a:p>
        </p:txBody>
      </p:sp>
      <p:sp>
        <p:nvSpPr>
          <p:cNvPr id="13" name="Text 9"/>
          <p:cNvSpPr txBox="1"/>
          <p:nvPr/>
        </p:nvSpPr>
        <p:spPr>
          <a:xfrm>
            <a:off x="4782312" y="3081528"/>
            <a:ext cx="2971800" cy="822960"/>
          </a:xfrm>
          <a:prstGeom prst="rect">
            <a:avLst/>
          </a:prstGeom>
          <a:noFill/>
          <a:ln/>
        </p:spPr>
        <p:txBody>
          <a:bodyPr wrap="square" lIns="0" tIns="0" rIns="0" bIns="0" rtlCol="0" anchor="t"/>
          <a:lstStyle/>
          <a:p>
            <a:pPr indent="0" marL="0">
              <a:buNone/>
            </a:pPr>
            <a:r>
              <a:rPr lang="en-US" sz="1200" dirty="0">
                <a:solidFill>
                  <a:srgbClr val="5E5E5E"/>
                </a:solidFill>
                <a:latin typeface="Arial" pitchFamily="34" charset="0"/>
                <a:ea typeface="Arial" pitchFamily="34" charset="-122"/>
                <a:cs typeface="Arial" pitchFamily="34" charset="-120"/>
              </a:rPr>
              <a:t>Urethane or high-density foam bodies, plus foam pushers for flushing and proving the pass</a:t>
            </a:r>
            <a:endParaRPr lang="en-US" sz="1200" dirty="0"/>
          </a:p>
        </p:txBody>
      </p:sp>
      <p:sp>
        <p:nvSpPr>
          <p:cNvPr id="14" name="Shape 10"/>
          <p:cNvSpPr/>
          <p:nvPr/>
        </p:nvSpPr>
        <p:spPr>
          <a:xfrm>
            <a:off x="8138160" y="2057400"/>
            <a:ext cx="3456432" cy="1965960"/>
          </a:xfrm>
          <a:prstGeom prst="rect">
            <a:avLst/>
          </a:prstGeom>
          <a:solidFill>
            <a:srgbClr val="F4F4F4"/>
          </a:solidFill>
          <a:ln w="12700">
            <a:solidFill>
              <a:srgbClr val="F4F4F4"/>
            </a:solidFill>
            <a:prstDash val="solid"/>
          </a:ln>
        </p:spPr>
      </p:sp>
      <p:sp>
        <p:nvSpPr>
          <p:cNvPr id="15" name="Shape 11"/>
          <p:cNvSpPr/>
          <p:nvPr/>
        </p:nvSpPr>
        <p:spPr>
          <a:xfrm>
            <a:off x="8394192" y="2313432"/>
            <a:ext cx="603504" cy="603504"/>
          </a:xfrm>
          <a:prstGeom prst="ellipse">
            <a:avLst/>
          </a:prstGeom>
          <a:solidFill>
            <a:srgbClr val="1E1E1E"/>
          </a:solidFill>
          <a:ln w="12700">
            <a:solidFill>
              <a:srgbClr val="1E1E1E"/>
            </a:solidFill>
            <a:prstDash val="solid"/>
          </a:ln>
        </p:spPr>
      </p:sp>
      <p:pic>
        <p:nvPicPr>
          <p:cNvPr id="16" name="Image 2" descr="preencoded.png">    </p:cNvPr>
          <p:cNvPicPr>
            <a:picLocks noChangeAspect="1"/>
          </p:cNvPicPr>
          <p:nvPr/>
        </p:nvPicPr>
        <p:blipFill>
          <a:blip r:embed="rId3"/>
          <a:stretch>
            <a:fillRect/>
          </a:stretch>
        </p:blipFill>
        <p:spPr>
          <a:xfrm>
            <a:off x="8545068" y="2464308"/>
            <a:ext cx="301752" cy="301752"/>
          </a:xfrm>
          <a:prstGeom prst="rect">
            <a:avLst/>
          </a:prstGeom>
        </p:spPr>
      </p:pic>
      <p:sp>
        <p:nvSpPr>
          <p:cNvPr id="17" name="Text 12"/>
          <p:cNvSpPr txBox="1"/>
          <p:nvPr/>
        </p:nvSpPr>
        <p:spPr>
          <a:xfrm>
            <a:off x="9144000" y="2331720"/>
            <a:ext cx="2331720" cy="566928"/>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A full range of durometers</a:t>
            </a:r>
            <a:endParaRPr lang="en-US" sz="1500" dirty="0"/>
          </a:p>
        </p:txBody>
      </p:sp>
      <p:sp>
        <p:nvSpPr>
          <p:cNvPr id="18" name="Text 13"/>
          <p:cNvSpPr txBox="1"/>
          <p:nvPr/>
        </p:nvSpPr>
        <p:spPr>
          <a:xfrm>
            <a:off x="8394192" y="3081528"/>
            <a:ext cx="2971800" cy="822960"/>
          </a:xfrm>
          <a:prstGeom prst="rect">
            <a:avLst/>
          </a:prstGeom>
          <a:noFill/>
          <a:ln/>
        </p:spPr>
        <p:txBody>
          <a:bodyPr wrap="square" lIns="0" tIns="0" rIns="0" bIns="0" rtlCol="0" anchor="t"/>
          <a:lstStyle/>
          <a:p>
            <a:pPr indent="0" marL="0">
              <a:buNone/>
            </a:pPr>
            <a:r>
              <a:rPr lang="en-US" sz="1200" dirty="0">
                <a:solidFill>
                  <a:srgbClr val="5E5E5E"/>
                </a:solidFill>
                <a:latin typeface="Arial" pitchFamily="34" charset="0"/>
                <a:ea typeface="Arial" pitchFamily="34" charset="-122"/>
                <a:cs typeface="Arial" pitchFamily="34" charset="-120"/>
              </a:rPr>
              <a:t>Soft to hard compounds, chosen to compress through tight bends or cut hard coke</a:t>
            </a:r>
            <a:endParaRPr lang="en-US" sz="1200" dirty="0"/>
          </a:p>
        </p:txBody>
      </p:sp>
      <p:sp>
        <p:nvSpPr>
          <p:cNvPr id="19" name="Shape 14"/>
          <p:cNvSpPr/>
          <p:nvPr/>
        </p:nvSpPr>
        <p:spPr>
          <a:xfrm>
            <a:off x="4526280" y="4160520"/>
            <a:ext cx="3456432" cy="1965960"/>
          </a:xfrm>
          <a:prstGeom prst="rect">
            <a:avLst/>
          </a:prstGeom>
          <a:solidFill>
            <a:srgbClr val="F4F4F4"/>
          </a:solidFill>
          <a:ln w="12700">
            <a:solidFill>
              <a:srgbClr val="F4F4F4"/>
            </a:solidFill>
            <a:prstDash val="solid"/>
          </a:ln>
        </p:spPr>
      </p:sp>
      <p:sp>
        <p:nvSpPr>
          <p:cNvPr id="20" name="Shape 15"/>
          <p:cNvSpPr/>
          <p:nvPr/>
        </p:nvSpPr>
        <p:spPr>
          <a:xfrm>
            <a:off x="4782312" y="4416552"/>
            <a:ext cx="603504" cy="603504"/>
          </a:xfrm>
          <a:prstGeom prst="ellipse">
            <a:avLst/>
          </a:prstGeom>
          <a:solidFill>
            <a:srgbClr val="1E1E1E"/>
          </a:solidFill>
          <a:ln w="12700">
            <a:solidFill>
              <a:srgbClr val="1E1E1E"/>
            </a:solidFill>
            <a:prstDash val="solid"/>
          </a:ln>
        </p:spPr>
      </p:sp>
      <p:pic>
        <p:nvPicPr>
          <p:cNvPr id="21" name="Image 3" descr="preencoded.png">    </p:cNvPr>
          <p:cNvPicPr>
            <a:picLocks noChangeAspect="1"/>
          </p:cNvPicPr>
          <p:nvPr/>
        </p:nvPicPr>
        <p:blipFill>
          <a:blip r:embed="rId4"/>
          <a:stretch>
            <a:fillRect/>
          </a:stretch>
        </p:blipFill>
        <p:spPr>
          <a:xfrm>
            <a:off x="4933188" y="4567428"/>
            <a:ext cx="301752" cy="301752"/>
          </a:xfrm>
          <a:prstGeom prst="rect">
            <a:avLst/>
          </a:prstGeom>
        </p:spPr>
      </p:pic>
      <p:sp>
        <p:nvSpPr>
          <p:cNvPr id="22" name="Text 16"/>
          <p:cNvSpPr txBox="1"/>
          <p:nvPr/>
        </p:nvSpPr>
        <p:spPr>
          <a:xfrm>
            <a:off x="5532120" y="4434840"/>
            <a:ext cx="2331720" cy="566928"/>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Bald or studded</a:t>
            </a:r>
            <a:endParaRPr lang="en-US" sz="1500" dirty="0"/>
          </a:p>
        </p:txBody>
      </p:sp>
      <p:sp>
        <p:nvSpPr>
          <p:cNvPr id="23" name="Text 17"/>
          <p:cNvSpPr txBox="1"/>
          <p:nvPr/>
        </p:nvSpPr>
        <p:spPr>
          <a:xfrm>
            <a:off x="4782312" y="5184648"/>
            <a:ext cx="2971800" cy="822960"/>
          </a:xfrm>
          <a:prstGeom prst="rect">
            <a:avLst/>
          </a:prstGeom>
          <a:noFill/>
          <a:ln/>
        </p:spPr>
        <p:txBody>
          <a:bodyPr wrap="square" lIns="0" tIns="0" rIns="0" bIns="0" rtlCol="0" anchor="t"/>
          <a:lstStyle/>
          <a:p>
            <a:pPr indent="0" marL="0">
              <a:buNone/>
            </a:pPr>
            <a:r>
              <a:rPr lang="en-US" sz="1200" dirty="0">
                <a:solidFill>
                  <a:srgbClr val="5E5E5E"/>
                </a:solidFill>
                <a:latin typeface="Arial" pitchFamily="34" charset="0"/>
                <a:ea typeface="Arial" pitchFamily="34" charset="-122"/>
                <a:cs typeface="Arial" pitchFamily="34" charset="-120"/>
              </a:rPr>
              <a:t>Tungsten carbide, hardened-steel and stainless stud options, matched to the tube metallurgy</a:t>
            </a:r>
            <a:endParaRPr lang="en-US" sz="1200" dirty="0"/>
          </a:p>
        </p:txBody>
      </p:sp>
      <p:sp>
        <p:nvSpPr>
          <p:cNvPr id="24" name="Shape 18"/>
          <p:cNvSpPr/>
          <p:nvPr/>
        </p:nvSpPr>
        <p:spPr>
          <a:xfrm>
            <a:off x="8138160" y="4160520"/>
            <a:ext cx="3456432" cy="1965960"/>
          </a:xfrm>
          <a:prstGeom prst="rect">
            <a:avLst/>
          </a:prstGeom>
          <a:solidFill>
            <a:srgbClr val="F4F4F4"/>
          </a:solidFill>
          <a:ln w="12700">
            <a:solidFill>
              <a:srgbClr val="F4F4F4"/>
            </a:solidFill>
            <a:prstDash val="solid"/>
          </a:ln>
        </p:spPr>
      </p:sp>
      <p:sp>
        <p:nvSpPr>
          <p:cNvPr id="25" name="Shape 19"/>
          <p:cNvSpPr/>
          <p:nvPr/>
        </p:nvSpPr>
        <p:spPr>
          <a:xfrm>
            <a:off x="8394192" y="4416552"/>
            <a:ext cx="603504" cy="603504"/>
          </a:xfrm>
          <a:prstGeom prst="ellipse">
            <a:avLst/>
          </a:prstGeom>
          <a:solidFill>
            <a:srgbClr val="1E1E1E"/>
          </a:solidFill>
          <a:ln w="12700">
            <a:solidFill>
              <a:srgbClr val="1E1E1E"/>
            </a:solidFill>
            <a:prstDash val="solid"/>
          </a:ln>
        </p:spPr>
      </p:sp>
      <p:pic>
        <p:nvPicPr>
          <p:cNvPr id="26" name="Image 4" descr="preencoded.png">    </p:cNvPr>
          <p:cNvPicPr>
            <a:picLocks noChangeAspect="1"/>
          </p:cNvPicPr>
          <p:nvPr/>
        </p:nvPicPr>
        <p:blipFill>
          <a:blip r:embed="rId5"/>
          <a:stretch>
            <a:fillRect/>
          </a:stretch>
        </p:blipFill>
        <p:spPr>
          <a:xfrm>
            <a:off x="8545068" y="4567428"/>
            <a:ext cx="301752" cy="301752"/>
          </a:xfrm>
          <a:prstGeom prst="rect">
            <a:avLst/>
          </a:prstGeom>
        </p:spPr>
      </p:pic>
      <p:sp>
        <p:nvSpPr>
          <p:cNvPr id="27" name="Text 20"/>
          <p:cNvSpPr txBox="1"/>
          <p:nvPr/>
        </p:nvSpPr>
        <p:spPr>
          <a:xfrm>
            <a:off x="9144000" y="4434840"/>
            <a:ext cx="2331720" cy="566928"/>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Heavy-coke designs</a:t>
            </a:r>
            <a:endParaRPr lang="en-US" sz="1500" dirty="0"/>
          </a:p>
        </p:txBody>
      </p:sp>
      <p:sp>
        <p:nvSpPr>
          <p:cNvPr id="28" name="Text 21"/>
          <p:cNvSpPr txBox="1"/>
          <p:nvPr/>
        </p:nvSpPr>
        <p:spPr>
          <a:xfrm>
            <a:off x="8394192" y="5184648"/>
            <a:ext cx="2971800" cy="822960"/>
          </a:xfrm>
          <a:prstGeom prst="rect">
            <a:avLst/>
          </a:prstGeom>
          <a:noFill/>
          <a:ln/>
        </p:spPr>
        <p:txBody>
          <a:bodyPr wrap="square" lIns="0" tIns="0" rIns="0" bIns="0" rtlCol="0" anchor="t"/>
          <a:lstStyle/>
          <a:p>
            <a:pPr indent="0" marL="0">
              <a:buNone/>
            </a:pPr>
            <a:r>
              <a:rPr lang="en-US" sz="1200" dirty="0">
                <a:solidFill>
                  <a:srgbClr val="5E5E5E"/>
                </a:solidFill>
                <a:latin typeface="Arial" pitchFamily="34" charset="0"/>
                <a:ea typeface="Arial" pitchFamily="34" charset="-122"/>
                <a:cs typeface="Arial" pitchFamily="34" charset="-120"/>
              </a:rPr>
              <a:t>High-durometer, fully studded pigs brought in when pig wear shows hard, heavy coke</a:t>
            </a:r>
            <a:endParaRPr lang="en-US" sz="1200" dirty="0"/>
          </a:p>
        </p:txBody>
      </p:sp>
      <p:sp>
        <p:nvSpPr>
          <p:cNvPr id="29" name="Text 22"/>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USA DeBusk  |  Valero Texas City  |  Heater Pigging &amp; Decoking Services</a:t>
            </a:r>
            <a:endParaRPr lang="en-US" sz="900" dirty="0"/>
          </a:p>
        </p:txBody>
      </p:sp>
      <p:sp>
        <p:nvSpPr>
          <p:cNvPr id="30" name="Text 23"/>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548640" y="411480"/>
            <a:ext cx="1989525" cy="310896"/>
          </a:xfrm>
          <a:prstGeom prst="roundRect">
            <a:avLst>
              <a:gd name="adj" fmla="val 23529"/>
            </a:avLst>
          </a:prstGeom>
          <a:solidFill>
            <a:srgbClr val="FCC30A"/>
          </a:solidFill>
          <a:ln w="12700">
            <a:solidFill>
              <a:srgbClr val="FCC30A"/>
            </a:solidFill>
            <a:prstDash val="solid"/>
          </a:ln>
        </p:spPr>
      </p:sp>
      <p:sp>
        <p:nvSpPr>
          <p:cNvPr id="3" name="Text 1"/>
          <p:cNvSpPr txBox="1"/>
          <p:nvPr/>
        </p:nvSpPr>
        <p:spPr>
          <a:xfrm>
            <a:off x="548640" y="411480"/>
            <a:ext cx="1989525"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01   METHODOLOGY</a:t>
            </a:r>
            <a:endParaRPr lang="en-US" sz="1050" dirty="0"/>
          </a:p>
        </p:txBody>
      </p:sp>
      <p:sp>
        <p:nvSpPr>
          <p:cNvPr id="4" name="Text 2"/>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3200" b="1" dirty="0">
                <a:solidFill>
                  <a:srgbClr val="222222"/>
                </a:solidFill>
                <a:latin typeface="Arial" pitchFamily="34" charset="0"/>
                <a:ea typeface="Arial" pitchFamily="34" charset="-122"/>
                <a:cs typeface="Arial" pitchFamily="34" charset="-120"/>
              </a:rPr>
              <a:t>Coil-specific controls</a:t>
            </a:r>
            <a:endParaRPr lang="en-US" sz="3200" dirty="0"/>
          </a:p>
        </p:txBody>
      </p:sp>
      <p:sp>
        <p:nvSpPr>
          <p:cNvPr id="5" name="Text 3"/>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5E5E5E"/>
                </a:solidFill>
                <a:latin typeface="Arial" pitchFamily="34" charset="0"/>
                <a:ea typeface="Arial" pitchFamily="34" charset="-122"/>
                <a:cs typeface="Arial" pitchFamily="34" charset="-120"/>
              </a:rPr>
              <a:t>Every heater is planned from its drawings before we mobilize</a:t>
            </a:r>
            <a:endParaRPr lang="en-US" sz="1500" dirty="0"/>
          </a:p>
        </p:txBody>
      </p:sp>
      <p:sp>
        <p:nvSpPr>
          <p:cNvPr id="6" name="Shape 4"/>
          <p:cNvSpPr/>
          <p:nvPr/>
        </p:nvSpPr>
        <p:spPr>
          <a:xfrm>
            <a:off x="548640" y="2103120"/>
            <a:ext cx="3593592" cy="1874520"/>
          </a:xfrm>
          <a:prstGeom prst="rect">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7" name="Shape 5"/>
          <p:cNvSpPr/>
          <p:nvPr/>
        </p:nvSpPr>
        <p:spPr>
          <a:xfrm>
            <a:off x="804672" y="2359152"/>
            <a:ext cx="603504" cy="603504"/>
          </a:xfrm>
          <a:prstGeom prst="ellipse">
            <a:avLst/>
          </a:prstGeom>
          <a:solidFill>
            <a:srgbClr val="1E1E1E"/>
          </a:solidFill>
          <a:ln w="12700">
            <a:solidFill>
              <a:srgbClr val="1E1E1E"/>
            </a:solidFill>
            <a:prstDash val="solid"/>
          </a:ln>
        </p:spPr>
      </p:sp>
      <p:pic>
        <p:nvPicPr>
          <p:cNvPr id="8" name="Image 0" descr="preencoded.png">    </p:cNvPr>
          <p:cNvPicPr>
            <a:picLocks noChangeAspect="1"/>
          </p:cNvPicPr>
          <p:nvPr/>
        </p:nvPicPr>
        <p:blipFill>
          <a:blip r:embed="rId1"/>
          <a:stretch>
            <a:fillRect/>
          </a:stretch>
        </p:blipFill>
        <p:spPr>
          <a:xfrm>
            <a:off x="955548" y="2510028"/>
            <a:ext cx="301752" cy="301752"/>
          </a:xfrm>
          <a:prstGeom prst="rect">
            <a:avLst/>
          </a:prstGeom>
        </p:spPr>
      </p:pic>
      <p:sp>
        <p:nvSpPr>
          <p:cNvPr id="9" name="Text 6"/>
          <p:cNvSpPr txBox="1"/>
          <p:nvPr/>
        </p:nvSpPr>
        <p:spPr>
          <a:xfrm>
            <a:off x="1554480" y="2377440"/>
            <a:ext cx="2468880" cy="566928"/>
          </a:xfrm>
          <a:prstGeom prst="rect">
            <a:avLst/>
          </a:prstGeom>
          <a:noFill/>
          <a:ln/>
        </p:spPr>
        <p:txBody>
          <a:bodyPr wrap="square" lIns="0" tIns="0" rIns="0" bIns="0" rtlCol="0" anchor="ctr"/>
          <a:lstStyle/>
          <a:p>
            <a:pPr indent="0" marL="0">
              <a:buNone/>
            </a:pPr>
            <a:r>
              <a:rPr lang="en-US" sz="1600" b="1" dirty="0">
                <a:solidFill>
                  <a:srgbClr val="222222"/>
                </a:solidFill>
                <a:latin typeface="Arial" pitchFamily="34" charset="0"/>
                <a:ea typeface="Arial" pitchFamily="34" charset="-122"/>
                <a:cs typeface="Arial" pitchFamily="34" charset="-120"/>
              </a:rPr>
              <a:t>Tube geometry</a:t>
            </a:r>
            <a:endParaRPr lang="en-US" sz="1600" dirty="0"/>
          </a:p>
        </p:txBody>
      </p:sp>
      <p:sp>
        <p:nvSpPr>
          <p:cNvPr id="10" name="Text 7"/>
          <p:cNvSpPr txBox="1"/>
          <p:nvPr/>
        </p:nvSpPr>
        <p:spPr>
          <a:xfrm>
            <a:off x="804672" y="3090672"/>
            <a:ext cx="3108960" cy="822960"/>
          </a:xfrm>
          <a:prstGeom prst="rect">
            <a:avLst/>
          </a:prstGeom>
          <a:noFill/>
          <a:ln/>
        </p:spPr>
        <p:txBody>
          <a:bodyPr wrap="square" lIns="0" tIns="0" rIns="0" bIns="0" rtlCol="0" anchor="t"/>
          <a:lstStyle/>
          <a:p>
            <a:pPr indent="0" marL="0">
              <a:buNone/>
            </a:pPr>
            <a:r>
              <a:rPr lang="en-US" sz="1200" dirty="0">
                <a:solidFill>
                  <a:srgbClr val="5E5E5E"/>
                </a:solidFill>
                <a:latin typeface="Arial" pitchFamily="34" charset="0"/>
                <a:ea typeface="Arial" pitchFamily="34" charset="-122"/>
                <a:cs typeface="Arial" pitchFamily="34" charset="-120"/>
              </a:rPr>
              <a:t>Footage, tube IDs and diameter changes per pass set the pig progression and the duration</a:t>
            </a:r>
            <a:endParaRPr lang="en-US" sz="1200" dirty="0"/>
          </a:p>
        </p:txBody>
      </p:sp>
      <p:sp>
        <p:nvSpPr>
          <p:cNvPr id="11" name="Shape 8"/>
          <p:cNvSpPr/>
          <p:nvPr/>
        </p:nvSpPr>
        <p:spPr>
          <a:xfrm>
            <a:off x="4297680" y="2103120"/>
            <a:ext cx="3593592" cy="1874520"/>
          </a:xfrm>
          <a:prstGeom prst="rect">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4553712" y="2359152"/>
            <a:ext cx="603504" cy="603504"/>
          </a:xfrm>
          <a:prstGeom prst="ellipse">
            <a:avLst/>
          </a:prstGeom>
          <a:solidFill>
            <a:srgbClr val="1E1E1E"/>
          </a:solidFill>
          <a:ln w="12700">
            <a:solidFill>
              <a:srgbClr val="1E1E1E"/>
            </a:solidFill>
            <a:prstDash val="solid"/>
          </a:ln>
        </p:spPr>
      </p:sp>
      <p:pic>
        <p:nvPicPr>
          <p:cNvPr id="13" name="Image 1" descr="preencoded.png">    </p:cNvPr>
          <p:cNvPicPr>
            <a:picLocks noChangeAspect="1"/>
          </p:cNvPicPr>
          <p:nvPr/>
        </p:nvPicPr>
        <p:blipFill>
          <a:blip r:embed="rId2"/>
          <a:stretch>
            <a:fillRect/>
          </a:stretch>
        </p:blipFill>
        <p:spPr>
          <a:xfrm>
            <a:off x="4704588" y="2510028"/>
            <a:ext cx="301752" cy="301752"/>
          </a:xfrm>
          <a:prstGeom prst="rect">
            <a:avLst/>
          </a:prstGeom>
        </p:spPr>
      </p:pic>
      <p:sp>
        <p:nvSpPr>
          <p:cNvPr id="14" name="Text 10"/>
          <p:cNvSpPr txBox="1"/>
          <p:nvPr/>
        </p:nvSpPr>
        <p:spPr>
          <a:xfrm>
            <a:off x="5303520" y="2377440"/>
            <a:ext cx="2468880" cy="566928"/>
          </a:xfrm>
          <a:prstGeom prst="rect">
            <a:avLst/>
          </a:prstGeom>
          <a:noFill/>
          <a:ln/>
        </p:spPr>
        <p:txBody>
          <a:bodyPr wrap="square" lIns="0" tIns="0" rIns="0" bIns="0" rtlCol="0" anchor="ctr"/>
          <a:lstStyle/>
          <a:p>
            <a:pPr indent="0" marL="0">
              <a:buNone/>
            </a:pPr>
            <a:r>
              <a:rPr lang="en-US" sz="1600" b="1" dirty="0">
                <a:solidFill>
                  <a:srgbClr val="222222"/>
                </a:solidFill>
                <a:latin typeface="Arial" pitchFamily="34" charset="0"/>
                <a:ea typeface="Arial" pitchFamily="34" charset="-122"/>
                <a:cs typeface="Arial" pitchFamily="34" charset="-120"/>
              </a:rPr>
              <a:t>Metallurgy</a:t>
            </a:r>
            <a:endParaRPr lang="en-US" sz="1600" dirty="0"/>
          </a:p>
        </p:txBody>
      </p:sp>
      <p:sp>
        <p:nvSpPr>
          <p:cNvPr id="15" name="Text 11"/>
          <p:cNvSpPr txBox="1"/>
          <p:nvPr/>
        </p:nvSpPr>
        <p:spPr>
          <a:xfrm>
            <a:off x="4553712" y="3090672"/>
            <a:ext cx="3108960" cy="822960"/>
          </a:xfrm>
          <a:prstGeom prst="rect">
            <a:avLst/>
          </a:prstGeom>
          <a:noFill/>
          <a:ln/>
        </p:spPr>
        <p:txBody>
          <a:bodyPr wrap="square" lIns="0" tIns="0" rIns="0" bIns="0" rtlCol="0" anchor="t"/>
          <a:lstStyle/>
          <a:p>
            <a:pPr indent="0" marL="0">
              <a:buNone/>
            </a:pPr>
            <a:r>
              <a:rPr lang="en-US" sz="1200" dirty="0">
                <a:solidFill>
                  <a:srgbClr val="5E5E5E"/>
                </a:solidFill>
                <a:latin typeface="Arial" pitchFamily="34" charset="0"/>
                <a:ea typeface="Arial" pitchFamily="34" charset="-122"/>
                <a:cs typeface="Arial" pitchFamily="34" charset="-120"/>
              </a:rPr>
              <a:t>Stainless and chrome coils: water quality verified before fill, no galvanized contact with tubes</a:t>
            </a:r>
            <a:endParaRPr lang="en-US" sz="1200" dirty="0"/>
          </a:p>
        </p:txBody>
      </p:sp>
      <p:sp>
        <p:nvSpPr>
          <p:cNvPr id="16" name="Shape 12"/>
          <p:cNvSpPr/>
          <p:nvPr/>
        </p:nvSpPr>
        <p:spPr>
          <a:xfrm>
            <a:off x="8046720" y="2103120"/>
            <a:ext cx="3593592" cy="1874520"/>
          </a:xfrm>
          <a:prstGeom prst="rect">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7" name="Shape 13"/>
          <p:cNvSpPr/>
          <p:nvPr/>
        </p:nvSpPr>
        <p:spPr>
          <a:xfrm>
            <a:off x="8302752" y="2359152"/>
            <a:ext cx="603504" cy="603504"/>
          </a:xfrm>
          <a:prstGeom prst="ellipse">
            <a:avLst/>
          </a:prstGeom>
          <a:solidFill>
            <a:srgbClr val="1E1E1E"/>
          </a:solidFill>
          <a:ln w="12700">
            <a:solidFill>
              <a:srgbClr val="1E1E1E"/>
            </a:solidFill>
            <a:prstDash val="solid"/>
          </a:ln>
        </p:spPr>
      </p:sp>
      <p:pic>
        <p:nvPicPr>
          <p:cNvPr id="18" name="Image 2" descr="preencoded.png">    </p:cNvPr>
          <p:cNvPicPr>
            <a:picLocks noChangeAspect="1"/>
          </p:cNvPicPr>
          <p:nvPr/>
        </p:nvPicPr>
        <p:blipFill>
          <a:blip r:embed="rId3"/>
          <a:stretch>
            <a:fillRect/>
          </a:stretch>
        </p:blipFill>
        <p:spPr>
          <a:xfrm>
            <a:off x="8453628" y="2510028"/>
            <a:ext cx="301752" cy="301752"/>
          </a:xfrm>
          <a:prstGeom prst="rect">
            <a:avLst/>
          </a:prstGeom>
        </p:spPr>
      </p:pic>
      <p:sp>
        <p:nvSpPr>
          <p:cNvPr id="19" name="Text 14"/>
          <p:cNvSpPr txBox="1"/>
          <p:nvPr/>
        </p:nvSpPr>
        <p:spPr>
          <a:xfrm>
            <a:off x="9052560" y="2377440"/>
            <a:ext cx="2468880" cy="566928"/>
          </a:xfrm>
          <a:prstGeom prst="rect">
            <a:avLst/>
          </a:prstGeom>
          <a:noFill/>
          <a:ln/>
        </p:spPr>
        <p:txBody>
          <a:bodyPr wrap="square" lIns="0" tIns="0" rIns="0" bIns="0" rtlCol="0" anchor="ctr"/>
          <a:lstStyle/>
          <a:p>
            <a:pPr indent="0" marL="0">
              <a:buNone/>
            </a:pPr>
            <a:r>
              <a:rPr lang="en-US" sz="1600" b="1" dirty="0">
                <a:solidFill>
                  <a:srgbClr val="222222"/>
                </a:solidFill>
                <a:latin typeface="Arial" pitchFamily="34" charset="0"/>
                <a:ea typeface="Arial" pitchFamily="34" charset="-122"/>
                <a:cs typeface="Arial" pitchFamily="34" charset="-120"/>
              </a:rPr>
              <a:t>Connections</a:t>
            </a:r>
            <a:endParaRPr lang="en-US" sz="1600" dirty="0"/>
          </a:p>
        </p:txBody>
      </p:sp>
      <p:sp>
        <p:nvSpPr>
          <p:cNvPr id="20" name="Text 15"/>
          <p:cNvSpPr txBox="1"/>
          <p:nvPr/>
        </p:nvSpPr>
        <p:spPr>
          <a:xfrm>
            <a:off x="8302752" y="3090672"/>
            <a:ext cx="3108960" cy="822960"/>
          </a:xfrm>
          <a:prstGeom prst="rect">
            <a:avLst/>
          </a:prstGeom>
          <a:noFill/>
          <a:ln/>
        </p:spPr>
        <p:txBody>
          <a:bodyPr wrap="square" lIns="0" tIns="0" rIns="0" bIns="0" rtlCol="0" anchor="t"/>
          <a:lstStyle/>
          <a:p>
            <a:pPr indent="0" marL="0">
              <a:buNone/>
            </a:pPr>
            <a:r>
              <a:rPr lang="en-US" sz="1200" dirty="0">
                <a:solidFill>
                  <a:srgbClr val="5E5E5E"/>
                </a:solidFill>
                <a:latin typeface="Arial" pitchFamily="34" charset="0"/>
                <a:ea typeface="Arial" pitchFamily="34" charset="-122"/>
                <a:cs typeface="Arial" pitchFamily="34" charset="-120"/>
              </a:rPr>
              <a:t>Coil flange size and rating confirmed; spools and adapters matched to our 300# launchers and receivers</a:t>
            </a:r>
            <a:endParaRPr lang="en-US" sz="1200" dirty="0"/>
          </a:p>
        </p:txBody>
      </p:sp>
      <p:sp>
        <p:nvSpPr>
          <p:cNvPr id="21" name="Shape 16"/>
          <p:cNvSpPr/>
          <p:nvPr/>
        </p:nvSpPr>
        <p:spPr>
          <a:xfrm>
            <a:off x="548640" y="4160520"/>
            <a:ext cx="3593592" cy="1874520"/>
          </a:xfrm>
          <a:prstGeom prst="rect">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22" name="Shape 17"/>
          <p:cNvSpPr/>
          <p:nvPr/>
        </p:nvSpPr>
        <p:spPr>
          <a:xfrm>
            <a:off x="804672" y="4416552"/>
            <a:ext cx="603504" cy="603504"/>
          </a:xfrm>
          <a:prstGeom prst="ellipse">
            <a:avLst/>
          </a:prstGeom>
          <a:solidFill>
            <a:srgbClr val="1E1E1E"/>
          </a:solidFill>
          <a:ln w="12700">
            <a:solidFill>
              <a:srgbClr val="1E1E1E"/>
            </a:solidFill>
            <a:prstDash val="solid"/>
          </a:ln>
        </p:spPr>
      </p:sp>
      <p:pic>
        <p:nvPicPr>
          <p:cNvPr id="23" name="Image 3" descr="preencoded.png">    </p:cNvPr>
          <p:cNvPicPr>
            <a:picLocks noChangeAspect="1"/>
          </p:cNvPicPr>
          <p:nvPr/>
        </p:nvPicPr>
        <p:blipFill>
          <a:blip r:embed="rId4"/>
          <a:stretch>
            <a:fillRect/>
          </a:stretch>
        </p:blipFill>
        <p:spPr>
          <a:xfrm>
            <a:off x="955548" y="4567428"/>
            <a:ext cx="301752" cy="301752"/>
          </a:xfrm>
          <a:prstGeom prst="rect">
            <a:avLst/>
          </a:prstGeom>
        </p:spPr>
      </p:pic>
      <p:sp>
        <p:nvSpPr>
          <p:cNvPr id="24" name="Text 18"/>
          <p:cNvSpPr txBox="1"/>
          <p:nvPr/>
        </p:nvSpPr>
        <p:spPr>
          <a:xfrm>
            <a:off x="1554480" y="4434840"/>
            <a:ext cx="2468880" cy="566928"/>
          </a:xfrm>
          <a:prstGeom prst="rect">
            <a:avLst/>
          </a:prstGeom>
          <a:noFill/>
          <a:ln/>
        </p:spPr>
        <p:txBody>
          <a:bodyPr wrap="square" lIns="0" tIns="0" rIns="0" bIns="0" rtlCol="0" anchor="ctr"/>
          <a:lstStyle/>
          <a:p>
            <a:pPr indent="0" marL="0">
              <a:buNone/>
            </a:pPr>
            <a:r>
              <a:rPr lang="en-US" sz="1600" b="1" dirty="0">
                <a:solidFill>
                  <a:srgbClr val="222222"/>
                </a:solidFill>
                <a:latin typeface="Arial" pitchFamily="34" charset="0"/>
                <a:ea typeface="Arial" pitchFamily="34" charset="-122"/>
                <a:cs typeface="Arial" pitchFamily="34" charset="-120"/>
              </a:rPr>
              <a:t>Return bends</a:t>
            </a:r>
            <a:endParaRPr lang="en-US" sz="1600" dirty="0"/>
          </a:p>
        </p:txBody>
      </p:sp>
      <p:sp>
        <p:nvSpPr>
          <p:cNvPr id="25" name="Text 19"/>
          <p:cNvSpPr txBox="1"/>
          <p:nvPr/>
        </p:nvSpPr>
        <p:spPr>
          <a:xfrm>
            <a:off x="804672" y="5148072"/>
            <a:ext cx="3108960" cy="822960"/>
          </a:xfrm>
          <a:prstGeom prst="rect">
            <a:avLst/>
          </a:prstGeom>
          <a:noFill/>
          <a:ln/>
        </p:spPr>
        <p:txBody>
          <a:bodyPr wrap="square" lIns="0" tIns="0" rIns="0" bIns="0" rtlCol="0" anchor="t"/>
          <a:lstStyle/>
          <a:p>
            <a:pPr indent="0" marL="0">
              <a:buNone/>
            </a:pPr>
            <a:r>
              <a:rPr lang="en-US" sz="1200" dirty="0">
                <a:solidFill>
                  <a:srgbClr val="5E5E5E"/>
                </a:solidFill>
                <a:latin typeface="Arial" pitchFamily="34" charset="0"/>
                <a:ea typeface="Arial" pitchFamily="34" charset="-122"/>
                <a:cs typeface="Arial" pitchFamily="34" charset="-120"/>
              </a:rPr>
              <a:t>Pig length and flexibility selected for 180° returns, plug headers and mule ears</a:t>
            </a:r>
            <a:endParaRPr lang="en-US" sz="1200" dirty="0"/>
          </a:p>
        </p:txBody>
      </p:sp>
      <p:sp>
        <p:nvSpPr>
          <p:cNvPr id="26" name="Shape 20"/>
          <p:cNvSpPr/>
          <p:nvPr/>
        </p:nvSpPr>
        <p:spPr>
          <a:xfrm>
            <a:off x="4297680" y="4160520"/>
            <a:ext cx="3593592" cy="1874520"/>
          </a:xfrm>
          <a:prstGeom prst="rect">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27" name="Shape 21"/>
          <p:cNvSpPr/>
          <p:nvPr/>
        </p:nvSpPr>
        <p:spPr>
          <a:xfrm>
            <a:off x="4553712" y="4416552"/>
            <a:ext cx="603504" cy="603504"/>
          </a:xfrm>
          <a:prstGeom prst="ellipse">
            <a:avLst/>
          </a:prstGeom>
          <a:solidFill>
            <a:srgbClr val="1E1E1E"/>
          </a:solidFill>
          <a:ln w="12700">
            <a:solidFill>
              <a:srgbClr val="1E1E1E"/>
            </a:solidFill>
            <a:prstDash val="solid"/>
          </a:ln>
        </p:spPr>
      </p:sp>
      <p:pic>
        <p:nvPicPr>
          <p:cNvPr id="28" name="Image 4" descr="preencoded.png">    </p:cNvPr>
          <p:cNvPicPr>
            <a:picLocks noChangeAspect="1"/>
          </p:cNvPicPr>
          <p:nvPr/>
        </p:nvPicPr>
        <p:blipFill>
          <a:blip r:embed="rId5"/>
          <a:stretch>
            <a:fillRect/>
          </a:stretch>
        </p:blipFill>
        <p:spPr>
          <a:xfrm>
            <a:off x="4704588" y="4567428"/>
            <a:ext cx="301752" cy="301752"/>
          </a:xfrm>
          <a:prstGeom prst="rect">
            <a:avLst/>
          </a:prstGeom>
        </p:spPr>
      </p:pic>
      <p:sp>
        <p:nvSpPr>
          <p:cNvPr id="29" name="Text 22"/>
          <p:cNvSpPr txBox="1"/>
          <p:nvPr/>
        </p:nvSpPr>
        <p:spPr>
          <a:xfrm>
            <a:off x="5303520" y="4434840"/>
            <a:ext cx="2468880" cy="566928"/>
          </a:xfrm>
          <a:prstGeom prst="rect">
            <a:avLst/>
          </a:prstGeom>
          <a:noFill/>
          <a:ln/>
        </p:spPr>
        <p:txBody>
          <a:bodyPr wrap="square" lIns="0" tIns="0" rIns="0" bIns="0" rtlCol="0" anchor="ctr"/>
          <a:lstStyle/>
          <a:p>
            <a:pPr indent="0" marL="0">
              <a:buNone/>
            </a:pPr>
            <a:r>
              <a:rPr lang="en-US" sz="1600" b="1" dirty="0">
                <a:solidFill>
                  <a:srgbClr val="222222"/>
                </a:solidFill>
                <a:latin typeface="Arial" pitchFamily="34" charset="0"/>
                <a:ea typeface="Arial" pitchFamily="34" charset="-122"/>
                <a:cs typeface="Arial" pitchFamily="34" charset="-120"/>
              </a:rPr>
              <a:t>Launcher access</a:t>
            </a:r>
            <a:endParaRPr lang="en-US" sz="1600" dirty="0"/>
          </a:p>
        </p:txBody>
      </p:sp>
      <p:sp>
        <p:nvSpPr>
          <p:cNvPr id="30" name="Text 23"/>
          <p:cNvSpPr txBox="1"/>
          <p:nvPr/>
        </p:nvSpPr>
        <p:spPr>
          <a:xfrm>
            <a:off x="4553712" y="5148072"/>
            <a:ext cx="3108960" cy="822960"/>
          </a:xfrm>
          <a:prstGeom prst="rect">
            <a:avLst/>
          </a:prstGeom>
          <a:noFill/>
          <a:ln/>
        </p:spPr>
        <p:txBody>
          <a:bodyPr wrap="square" lIns="0" tIns="0" rIns="0" bIns="0" rtlCol="0" anchor="t"/>
          <a:lstStyle/>
          <a:p>
            <a:pPr indent="0" marL="0">
              <a:buNone/>
            </a:pPr>
            <a:r>
              <a:rPr lang="en-US" sz="1200" dirty="0">
                <a:solidFill>
                  <a:srgbClr val="5E5E5E"/>
                </a:solidFill>
                <a:latin typeface="Arial" pitchFamily="34" charset="0"/>
                <a:ea typeface="Arial" pitchFamily="34" charset="-122"/>
                <a:cs typeface="Arial" pitchFamily="34" charset="-120"/>
              </a:rPr>
              <a:t>Inlet and outlet elevations walked down; rig layout set before rig-in</a:t>
            </a:r>
            <a:endParaRPr lang="en-US" sz="1200" dirty="0"/>
          </a:p>
        </p:txBody>
      </p:sp>
      <p:sp>
        <p:nvSpPr>
          <p:cNvPr id="31" name="Shape 24"/>
          <p:cNvSpPr/>
          <p:nvPr/>
        </p:nvSpPr>
        <p:spPr>
          <a:xfrm>
            <a:off x="8046720" y="4160520"/>
            <a:ext cx="3593592" cy="1874520"/>
          </a:xfrm>
          <a:prstGeom prst="rect">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32" name="Shape 25"/>
          <p:cNvSpPr/>
          <p:nvPr/>
        </p:nvSpPr>
        <p:spPr>
          <a:xfrm>
            <a:off x="8302752" y="4416552"/>
            <a:ext cx="603504" cy="603504"/>
          </a:xfrm>
          <a:prstGeom prst="ellipse">
            <a:avLst/>
          </a:prstGeom>
          <a:solidFill>
            <a:srgbClr val="1E1E1E"/>
          </a:solidFill>
          <a:ln w="12700">
            <a:solidFill>
              <a:srgbClr val="1E1E1E"/>
            </a:solidFill>
            <a:prstDash val="solid"/>
          </a:ln>
        </p:spPr>
      </p:sp>
      <p:pic>
        <p:nvPicPr>
          <p:cNvPr id="33" name="Image 5" descr="preencoded.png">    </p:cNvPr>
          <p:cNvPicPr>
            <a:picLocks noChangeAspect="1"/>
          </p:cNvPicPr>
          <p:nvPr/>
        </p:nvPicPr>
        <p:blipFill>
          <a:blip r:embed="rId6"/>
          <a:stretch>
            <a:fillRect/>
          </a:stretch>
        </p:blipFill>
        <p:spPr>
          <a:xfrm>
            <a:off x="8453628" y="4567428"/>
            <a:ext cx="301752" cy="301752"/>
          </a:xfrm>
          <a:prstGeom prst="rect">
            <a:avLst/>
          </a:prstGeom>
        </p:spPr>
      </p:pic>
      <p:sp>
        <p:nvSpPr>
          <p:cNvPr id="34" name="Text 26"/>
          <p:cNvSpPr txBox="1"/>
          <p:nvPr/>
        </p:nvSpPr>
        <p:spPr>
          <a:xfrm>
            <a:off x="9052560" y="4434840"/>
            <a:ext cx="2468880" cy="566928"/>
          </a:xfrm>
          <a:prstGeom prst="rect">
            <a:avLst/>
          </a:prstGeom>
          <a:noFill/>
          <a:ln/>
        </p:spPr>
        <p:txBody>
          <a:bodyPr wrap="square" lIns="0" tIns="0" rIns="0" bIns="0" rtlCol="0" anchor="ctr"/>
          <a:lstStyle/>
          <a:p>
            <a:pPr indent="0" marL="0">
              <a:buNone/>
            </a:pPr>
            <a:r>
              <a:rPr lang="en-US" sz="1600" b="1" dirty="0">
                <a:solidFill>
                  <a:srgbClr val="222222"/>
                </a:solidFill>
                <a:latin typeface="Arial" pitchFamily="34" charset="0"/>
                <a:ea typeface="Arial" pitchFamily="34" charset="-122"/>
                <a:cs typeface="Arial" pitchFamily="34" charset="-120"/>
              </a:rPr>
              <a:t>Coke &amp; service</a:t>
            </a:r>
            <a:endParaRPr lang="en-US" sz="1600" dirty="0"/>
          </a:p>
        </p:txBody>
      </p:sp>
      <p:sp>
        <p:nvSpPr>
          <p:cNvPr id="35" name="Text 27"/>
          <p:cNvSpPr txBox="1"/>
          <p:nvPr/>
        </p:nvSpPr>
        <p:spPr>
          <a:xfrm>
            <a:off x="8302752" y="5148072"/>
            <a:ext cx="3108960" cy="822960"/>
          </a:xfrm>
          <a:prstGeom prst="rect">
            <a:avLst/>
          </a:prstGeom>
          <a:noFill/>
          <a:ln/>
        </p:spPr>
        <p:txBody>
          <a:bodyPr wrap="square" lIns="0" tIns="0" rIns="0" bIns="0" rtlCol="0" anchor="t"/>
          <a:lstStyle/>
          <a:p>
            <a:pPr indent="0" marL="0">
              <a:buNone/>
            </a:pPr>
            <a:r>
              <a:rPr lang="en-US" sz="1200" dirty="0">
                <a:solidFill>
                  <a:srgbClr val="5E5E5E"/>
                </a:solidFill>
                <a:latin typeface="Arial" pitchFamily="34" charset="0"/>
                <a:ea typeface="Arial" pitchFamily="34" charset="-122"/>
                <a:cs typeface="Arial" pitchFamily="34" charset="-120"/>
              </a:rPr>
              <a:t>Coker, crude or vacuum service sets the pig set staged on day one</a:t>
            </a:r>
            <a:endParaRPr lang="en-US" sz="1200" dirty="0"/>
          </a:p>
        </p:txBody>
      </p:sp>
      <p:sp>
        <p:nvSpPr>
          <p:cNvPr id="36" name="Text 28"/>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USA DeBusk  |  Valero Texas City  |  Heater Pigging &amp; Decoking Services</a:t>
            </a:r>
            <a:endParaRPr lang="en-US" sz="900" dirty="0"/>
          </a:p>
        </p:txBody>
      </p:sp>
      <p:sp>
        <p:nvSpPr>
          <p:cNvPr id="37" name="Text 29"/>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669923" cy="310896"/>
          </a:xfrm>
          <a:prstGeom prst="roundRect">
            <a:avLst>
              <a:gd name="adj" fmla="val 23529"/>
            </a:avLst>
          </a:prstGeom>
          <a:solidFill>
            <a:srgbClr val="FCC30A"/>
          </a:solidFill>
          <a:ln w="12700">
            <a:solidFill>
              <a:srgbClr val="FCC30A"/>
            </a:solidFill>
            <a:prstDash val="solid"/>
          </a:ln>
        </p:spPr>
      </p:sp>
      <p:sp>
        <p:nvSpPr>
          <p:cNvPr id="3" name="Text 1"/>
          <p:cNvSpPr txBox="1"/>
          <p:nvPr/>
        </p:nvSpPr>
        <p:spPr>
          <a:xfrm>
            <a:off x="548640" y="411480"/>
            <a:ext cx="1669923"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02   EXECUTION</a:t>
            </a:r>
            <a:endParaRPr lang="en-US" sz="1050" dirty="0"/>
          </a:p>
        </p:txBody>
      </p:sp>
      <p:sp>
        <p:nvSpPr>
          <p:cNvPr id="4" name="Text 2"/>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3200" b="1" dirty="0">
                <a:solidFill>
                  <a:srgbClr val="222222"/>
                </a:solidFill>
                <a:latin typeface="Arial" pitchFamily="34" charset="0"/>
                <a:ea typeface="Arial" pitchFamily="34" charset="-122"/>
                <a:cs typeface="Arial" pitchFamily="34" charset="-120"/>
              </a:rPr>
              <a:t>How a decoke runs</a:t>
            </a:r>
            <a:endParaRPr lang="en-US" sz="3200" dirty="0"/>
          </a:p>
        </p:txBody>
      </p:sp>
      <p:sp>
        <p:nvSpPr>
          <p:cNvPr id="5" name="Text 3"/>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5E5E5E"/>
                </a:solidFill>
                <a:latin typeface="Arial" pitchFamily="34" charset="0"/>
                <a:ea typeface="Arial" pitchFamily="34" charset="-122"/>
                <a:cs typeface="Arial" pitchFamily="34" charset="-120"/>
              </a:rPr>
              <a:t>Continuous 24/7 pigging on 12-hour shifts; passes pigged in conjunction</a:t>
            </a:r>
            <a:endParaRPr lang="en-US" sz="1500" dirty="0"/>
          </a:p>
        </p:txBody>
      </p:sp>
      <p:sp>
        <p:nvSpPr>
          <p:cNvPr id="6" name="Shape 4"/>
          <p:cNvSpPr/>
          <p:nvPr/>
        </p:nvSpPr>
        <p:spPr>
          <a:xfrm>
            <a:off x="548640" y="2240280"/>
            <a:ext cx="1757172" cy="822960"/>
          </a:xfrm>
          <a:prstGeom prst="chevron">
            <a:avLst/>
          </a:prstGeom>
          <a:solidFill>
            <a:srgbClr val="1E1E1E"/>
          </a:solidFill>
          <a:ln w="12700">
            <a:solidFill>
              <a:srgbClr val="1E1E1E"/>
            </a:solidFill>
            <a:prstDash val="solid"/>
          </a:ln>
        </p:spPr>
      </p:sp>
      <p:sp>
        <p:nvSpPr>
          <p:cNvPr id="7" name="Text 5"/>
          <p:cNvSpPr txBox="1"/>
          <p:nvPr/>
        </p:nvSpPr>
        <p:spPr>
          <a:xfrm>
            <a:off x="777240" y="2240280"/>
            <a:ext cx="1299972"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Plan</a:t>
            </a:r>
            <a:endParaRPr lang="en-US" sz="1500" dirty="0"/>
          </a:p>
        </p:txBody>
      </p:sp>
      <p:sp>
        <p:nvSpPr>
          <p:cNvPr id="8" name="Text 6"/>
          <p:cNvSpPr txBox="1"/>
          <p:nvPr/>
        </p:nvSpPr>
        <p:spPr>
          <a:xfrm>
            <a:off x="594360" y="3200400"/>
            <a:ext cx="1665732" cy="914400"/>
          </a:xfrm>
          <a:prstGeom prst="rect">
            <a:avLst/>
          </a:prstGeom>
          <a:noFill/>
          <a:ln/>
        </p:spPr>
        <p:txBody>
          <a:bodyPr wrap="square" lIns="0" tIns="0" rIns="0" bIns="0" rtlCol="0" anchor="t"/>
          <a:lstStyle/>
          <a:p>
            <a:pPr algn="ctr" indent="0" marL="0">
              <a:buNone/>
            </a:pPr>
            <a:r>
              <a:rPr lang="en-US" sz="1150" dirty="0">
                <a:solidFill>
                  <a:srgbClr val="5E5E5E"/>
                </a:solidFill>
                <a:latin typeface="Arial" pitchFamily="34" charset="0"/>
                <a:ea typeface="Arial" pitchFamily="34" charset="-122"/>
                <a:cs typeface="Arial" pitchFamily="34" charset="-120"/>
              </a:rPr>
              <a:t>Drawings reviewed, pig progression and rig layout set</a:t>
            </a:r>
            <a:endParaRPr lang="en-US" sz="1150" dirty="0"/>
          </a:p>
        </p:txBody>
      </p:sp>
      <p:sp>
        <p:nvSpPr>
          <p:cNvPr id="9" name="Shape 7"/>
          <p:cNvSpPr/>
          <p:nvPr/>
        </p:nvSpPr>
        <p:spPr>
          <a:xfrm>
            <a:off x="2415540" y="2240280"/>
            <a:ext cx="1757172" cy="822960"/>
          </a:xfrm>
          <a:prstGeom prst="chevron">
            <a:avLst/>
          </a:prstGeom>
          <a:solidFill>
            <a:srgbClr val="1E1E1E"/>
          </a:solidFill>
          <a:ln w="12700">
            <a:solidFill>
              <a:srgbClr val="1E1E1E"/>
            </a:solidFill>
            <a:prstDash val="solid"/>
          </a:ln>
        </p:spPr>
      </p:sp>
      <p:sp>
        <p:nvSpPr>
          <p:cNvPr id="10" name="Text 8"/>
          <p:cNvSpPr txBox="1"/>
          <p:nvPr/>
        </p:nvSpPr>
        <p:spPr>
          <a:xfrm>
            <a:off x="2644140" y="2240280"/>
            <a:ext cx="1299972"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Rig-in</a:t>
            </a:r>
            <a:endParaRPr lang="en-US" sz="1500" dirty="0"/>
          </a:p>
        </p:txBody>
      </p:sp>
      <p:sp>
        <p:nvSpPr>
          <p:cNvPr id="11" name="Text 9"/>
          <p:cNvSpPr txBox="1"/>
          <p:nvPr/>
        </p:nvSpPr>
        <p:spPr>
          <a:xfrm>
            <a:off x="2461260" y="3200400"/>
            <a:ext cx="1665732" cy="914400"/>
          </a:xfrm>
          <a:prstGeom prst="rect">
            <a:avLst/>
          </a:prstGeom>
          <a:noFill/>
          <a:ln/>
        </p:spPr>
        <p:txBody>
          <a:bodyPr wrap="square" lIns="0" tIns="0" rIns="0" bIns="0" rtlCol="0" anchor="t"/>
          <a:lstStyle/>
          <a:p>
            <a:pPr algn="ctr" indent="0" marL="0">
              <a:buNone/>
            </a:pPr>
            <a:r>
              <a:rPr lang="en-US" sz="1150" dirty="0">
                <a:solidFill>
                  <a:srgbClr val="5E5E5E"/>
                </a:solidFill>
                <a:latin typeface="Arial" pitchFamily="34" charset="0"/>
                <a:ea typeface="Arial" pitchFamily="34" charset="-122"/>
                <a:cs typeface="Arial" pitchFamily="34" charset="-120"/>
              </a:rPr>
              <a:t>Launchers and receivers connected, filled and pressure tested</a:t>
            </a:r>
            <a:endParaRPr lang="en-US" sz="1150" dirty="0"/>
          </a:p>
        </p:txBody>
      </p:sp>
      <p:sp>
        <p:nvSpPr>
          <p:cNvPr id="12" name="Shape 10"/>
          <p:cNvSpPr/>
          <p:nvPr/>
        </p:nvSpPr>
        <p:spPr>
          <a:xfrm>
            <a:off x="4282440" y="2240280"/>
            <a:ext cx="1757172" cy="822960"/>
          </a:xfrm>
          <a:prstGeom prst="chevron">
            <a:avLst/>
          </a:prstGeom>
          <a:solidFill>
            <a:srgbClr val="FCC30A"/>
          </a:solidFill>
          <a:ln w="12700">
            <a:solidFill>
              <a:srgbClr val="FCC30A"/>
            </a:solidFill>
            <a:prstDash val="solid"/>
          </a:ln>
        </p:spPr>
      </p:sp>
      <p:sp>
        <p:nvSpPr>
          <p:cNvPr id="13" name="Text 11"/>
          <p:cNvSpPr txBox="1"/>
          <p:nvPr/>
        </p:nvSpPr>
        <p:spPr>
          <a:xfrm>
            <a:off x="4511040" y="2240280"/>
            <a:ext cx="1299972" cy="822960"/>
          </a:xfrm>
          <a:prstGeom prst="rect">
            <a:avLst/>
          </a:prstGeom>
          <a:noFill/>
          <a:ln/>
        </p:spPr>
        <p:txBody>
          <a:bodyPr wrap="square" lIns="0" tIns="0" rIns="0" bIns="0" rtlCol="0" anchor="ctr"/>
          <a:lstStyle/>
          <a:p>
            <a:pPr algn="ctr" indent="0" marL="0">
              <a:buNone/>
            </a:pPr>
            <a:r>
              <a:rPr lang="en-US" sz="1500" b="1" dirty="0">
                <a:solidFill>
                  <a:srgbClr val="1E1E1E"/>
                </a:solidFill>
                <a:latin typeface="Arial" pitchFamily="34" charset="0"/>
                <a:ea typeface="Arial" pitchFamily="34" charset="-122"/>
                <a:cs typeface="Arial" pitchFamily="34" charset="-120"/>
              </a:rPr>
              <a:t>Pig</a:t>
            </a:r>
            <a:endParaRPr lang="en-US" sz="1500" dirty="0"/>
          </a:p>
        </p:txBody>
      </p:sp>
      <p:sp>
        <p:nvSpPr>
          <p:cNvPr id="14" name="Text 12"/>
          <p:cNvSpPr txBox="1"/>
          <p:nvPr/>
        </p:nvSpPr>
        <p:spPr>
          <a:xfrm>
            <a:off x="4328160" y="3200400"/>
            <a:ext cx="1665732" cy="914400"/>
          </a:xfrm>
          <a:prstGeom prst="rect">
            <a:avLst/>
          </a:prstGeom>
          <a:noFill/>
          <a:ln/>
        </p:spPr>
        <p:txBody>
          <a:bodyPr wrap="square" lIns="0" tIns="0" rIns="0" bIns="0" rtlCol="0" anchor="t"/>
          <a:lstStyle/>
          <a:p>
            <a:pPr algn="ctr" indent="0" marL="0">
              <a:buNone/>
            </a:pPr>
            <a:r>
              <a:rPr lang="en-US" sz="1150" dirty="0">
                <a:solidFill>
                  <a:srgbClr val="5E5E5E"/>
                </a:solidFill>
                <a:latin typeface="Arial" pitchFamily="34" charset="0"/>
                <a:ea typeface="Arial" pitchFamily="34" charset="-122"/>
                <a:cs typeface="Arial" pitchFamily="34" charset="-120"/>
              </a:rPr>
              <a:t>Up to three passes at once per TriMax, around the clock</a:t>
            </a:r>
            <a:endParaRPr lang="en-US" sz="1150" dirty="0"/>
          </a:p>
        </p:txBody>
      </p:sp>
      <p:sp>
        <p:nvSpPr>
          <p:cNvPr id="15" name="Shape 13"/>
          <p:cNvSpPr/>
          <p:nvPr/>
        </p:nvSpPr>
        <p:spPr>
          <a:xfrm>
            <a:off x="6149340" y="2240280"/>
            <a:ext cx="1757172" cy="822960"/>
          </a:xfrm>
          <a:prstGeom prst="chevron">
            <a:avLst/>
          </a:prstGeom>
          <a:solidFill>
            <a:srgbClr val="BDBDBD"/>
          </a:solidFill>
          <a:ln w="12700">
            <a:solidFill>
              <a:srgbClr val="BDBDBD"/>
            </a:solidFill>
            <a:prstDash val="solid"/>
          </a:ln>
        </p:spPr>
      </p:sp>
      <p:sp>
        <p:nvSpPr>
          <p:cNvPr id="16" name="Text 14"/>
          <p:cNvSpPr txBox="1"/>
          <p:nvPr/>
        </p:nvSpPr>
        <p:spPr>
          <a:xfrm>
            <a:off x="6377940" y="2240280"/>
            <a:ext cx="1299972" cy="822960"/>
          </a:xfrm>
          <a:prstGeom prst="rect">
            <a:avLst/>
          </a:prstGeom>
          <a:noFill/>
          <a:ln/>
        </p:spPr>
        <p:txBody>
          <a:bodyPr wrap="square" lIns="0" tIns="0" rIns="0" bIns="0" rtlCol="0" anchor="ctr"/>
          <a:lstStyle/>
          <a:p>
            <a:pPr algn="ctr" indent="0" marL="0">
              <a:buNone/>
            </a:pPr>
            <a:r>
              <a:rPr lang="en-US" sz="1500" b="1" dirty="0">
                <a:solidFill>
                  <a:srgbClr val="1E1E1E"/>
                </a:solidFill>
                <a:latin typeface="Arial" pitchFamily="34" charset="0"/>
                <a:ea typeface="Arial" pitchFamily="34" charset="-122"/>
                <a:cs typeface="Arial" pitchFamily="34" charset="-120"/>
              </a:rPr>
              <a:t>Rig-over</a:t>
            </a:r>
            <a:endParaRPr lang="en-US" sz="1500" dirty="0"/>
          </a:p>
        </p:txBody>
      </p:sp>
      <p:sp>
        <p:nvSpPr>
          <p:cNvPr id="17" name="Text 15"/>
          <p:cNvSpPr txBox="1"/>
          <p:nvPr/>
        </p:nvSpPr>
        <p:spPr>
          <a:xfrm>
            <a:off x="6195060" y="3200400"/>
            <a:ext cx="1665732" cy="914400"/>
          </a:xfrm>
          <a:prstGeom prst="rect">
            <a:avLst/>
          </a:prstGeom>
          <a:noFill/>
          <a:ln/>
        </p:spPr>
        <p:txBody>
          <a:bodyPr wrap="square" lIns="0" tIns="0" rIns="0" bIns="0" rtlCol="0" anchor="t"/>
          <a:lstStyle/>
          <a:p>
            <a:pPr algn="ctr" indent="0" marL="0">
              <a:buNone/>
            </a:pPr>
            <a:r>
              <a:rPr lang="en-US" sz="1150" dirty="0">
                <a:solidFill>
                  <a:srgbClr val="5E5E5E"/>
                </a:solidFill>
                <a:latin typeface="Arial" pitchFamily="34" charset="0"/>
                <a:ea typeface="Arial" pitchFamily="34" charset="-122"/>
                <a:cs typeface="Arial" pitchFamily="34" charset="-120"/>
              </a:rPr>
              <a:t>Move to the next set of passes, if the heater has more</a:t>
            </a:r>
            <a:endParaRPr lang="en-US" sz="1150" dirty="0"/>
          </a:p>
        </p:txBody>
      </p:sp>
      <p:sp>
        <p:nvSpPr>
          <p:cNvPr id="18" name="Shape 16"/>
          <p:cNvSpPr/>
          <p:nvPr/>
        </p:nvSpPr>
        <p:spPr>
          <a:xfrm>
            <a:off x="8016240" y="2240280"/>
            <a:ext cx="1757172" cy="822960"/>
          </a:xfrm>
          <a:prstGeom prst="chevron">
            <a:avLst/>
          </a:prstGeom>
          <a:solidFill>
            <a:srgbClr val="1E1E1E"/>
          </a:solidFill>
          <a:ln w="12700">
            <a:solidFill>
              <a:srgbClr val="1E1E1E"/>
            </a:solidFill>
            <a:prstDash val="solid"/>
          </a:ln>
        </p:spPr>
      </p:sp>
      <p:sp>
        <p:nvSpPr>
          <p:cNvPr id="19" name="Text 17"/>
          <p:cNvSpPr txBox="1"/>
          <p:nvPr/>
        </p:nvSpPr>
        <p:spPr>
          <a:xfrm>
            <a:off x="8244840" y="2240280"/>
            <a:ext cx="1299972"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Verify</a:t>
            </a:r>
            <a:endParaRPr lang="en-US" sz="1500" dirty="0"/>
          </a:p>
        </p:txBody>
      </p:sp>
      <p:sp>
        <p:nvSpPr>
          <p:cNvPr id="20" name="Text 18"/>
          <p:cNvSpPr txBox="1"/>
          <p:nvPr/>
        </p:nvSpPr>
        <p:spPr>
          <a:xfrm>
            <a:off x="8061960" y="3200400"/>
            <a:ext cx="1665732" cy="914400"/>
          </a:xfrm>
          <a:prstGeom prst="rect">
            <a:avLst/>
          </a:prstGeom>
          <a:noFill/>
          <a:ln/>
        </p:spPr>
        <p:txBody>
          <a:bodyPr wrap="square" lIns="0" tIns="0" rIns="0" bIns="0" rtlCol="0" anchor="t"/>
          <a:lstStyle/>
          <a:p>
            <a:pPr algn="ctr" indent="0" marL="0">
              <a:buNone/>
            </a:pPr>
            <a:r>
              <a:rPr lang="en-US" sz="1150" dirty="0">
                <a:solidFill>
                  <a:srgbClr val="5E5E5E"/>
                </a:solidFill>
                <a:latin typeface="Arial" pitchFamily="34" charset="0"/>
                <a:ea typeface="Arial" pitchFamily="34" charset="-122"/>
                <a:cs typeface="Arial" pitchFamily="34" charset="-120"/>
              </a:rPr>
              <a:t>Final gauge foam and flow test, pass signed off with Valero</a:t>
            </a:r>
            <a:endParaRPr lang="en-US" sz="1150" dirty="0"/>
          </a:p>
        </p:txBody>
      </p:sp>
      <p:sp>
        <p:nvSpPr>
          <p:cNvPr id="21" name="Shape 19"/>
          <p:cNvSpPr/>
          <p:nvPr/>
        </p:nvSpPr>
        <p:spPr>
          <a:xfrm>
            <a:off x="9883140" y="2240280"/>
            <a:ext cx="1757172" cy="822960"/>
          </a:xfrm>
          <a:prstGeom prst="chevron">
            <a:avLst/>
          </a:prstGeom>
          <a:solidFill>
            <a:srgbClr val="1E1E1E"/>
          </a:solidFill>
          <a:ln w="12700">
            <a:solidFill>
              <a:srgbClr val="1E1E1E"/>
            </a:solidFill>
            <a:prstDash val="solid"/>
          </a:ln>
        </p:spPr>
      </p:sp>
      <p:sp>
        <p:nvSpPr>
          <p:cNvPr id="22" name="Text 20"/>
          <p:cNvSpPr txBox="1"/>
          <p:nvPr/>
        </p:nvSpPr>
        <p:spPr>
          <a:xfrm>
            <a:off x="10111740" y="2240280"/>
            <a:ext cx="1299972"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Rig-out</a:t>
            </a:r>
            <a:endParaRPr lang="en-US" sz="1500" dirty="0"/>
          </a:p>
        </p:txBody>
      </p:sp>
      <p:sp>
        <p:nvSpPr>
          <p:cNvPr id="23" name="Text 21"/>
          <p:cNvSpPr txBox="1"/>
          <p:nvPr/>
        </p:nvSpPr>
        <p:spPr>
          <a:xfrm>
            <a:off x="9928860" y="3200400"/>
            <a:ext cx="1665732" cy="914400"/>
          </a:xfrm>
          <a:prstGeom prst="rect">
            <a:avLst/>
          </a:prstGeom>
          <a:noFill/>
          <a:ln/>
        </p:spPr>
        <p:txBody>
          <a:bodyPr wrap="square" lIns="0" tIns="0" rIns="0" bIns="0" rtlCol="0" anchor="t"/>
          <a:lstStyle/>
          <a:p>
            <a:pPr algn="ctr" indent="0" marL="0">
              <a:buNone/>
            </a:pPr>
            <a:r>
              <a:rPr lang="en-US" sz="1150" dirty="0">
                <a:solidFill>
                  <a:srgbClr val="5E5E5E"/>
                </a:solidFill>
                <a:latin typeface="Arial" pitchFamily="34" charset="0"/>
                <a:ea typeface="Arial" pitchFamily="34" charset="-122"/>
                <a:cs typeface="Arial" pitchFamily="34" charset="-120"/>
              </a:rPr>
              <a:t>Equipment out, job book delivered</a:t>
            </a:r>
            <a:endParaRPr lang="en-US" sz="1150" dirty="0"/>
          </a:p>
        </p:txBody>
      </p:sp>
      <p:sp>
        <p:nvSpPr>
          <p:cNvPr id="24" name="Shape 22"/>
          <p:cNvSpPr/>
          <p:nvPr/>
        </p:nvSpPr>
        <p:spPr>
          <a:xfrm>
            <a:off x="548640" y="4480560"/>
            <a:ext cx="3593592" cy="1417320"/>
          </a:xfrm>
          <a:prstGeom prst="rect">
            <a:avLst/>
          </a:prstGeom>
          <a:solidFill>
            <a:srgbClr val="F4F4F4"/>
          </a:solidFill>
          <a:ln w="12700">
            <a:solidFill>
              <a:srgbClr val="F4F4F4"/>
            </a:solidFill>
            <a:prstDash val="solid"/>
          </a:ln>
        </p:spPr>
      </p:sp>
      <p:sp>
        <p:nvSpPr>
          <p:cNvPr id="25" name="Text 23"/>
          <p:cNvSpPr txBox="1"/>
          <p:nvPr/>
        </p:nvSpPr>
        <p:spPr>
          <a:xfrm>
            <a:off x="777240" y="4572000"/>
            <a:ext cx="3200400" cy="685800"/>
          </a:xfrm>
          <a:prstGeom prst="rect">
            <a:avLst/>
          </a:prstGeom>
          <a:noFill/>
          <a:ln/>
        </p:spPr>
        <p:txBody>
          <a:bodyPr wrap="square" lIns="0" tIns="0" rIns="0" bIns="0" rtlCol="0" anchor="ctr"/>
          <a:lstStyle/>
          <a:p>
            <a:pPr indent="0" marL="0">
              <a:buNone/>
            </a:pPr>
            <a:r>
              <a:rPr lang="en-US" sz="3200" b="1" dirty="0">
                <a:solidFill>
                  <a:srgbClr val="222222"/>
                </a:solidFill>
                <a:latin typeface="Arial" pitchFamily="34" charset="0"/>
                <a:ea typeface="Arial" pitchFamily="34" charset="-122"/>
                <a:cs typeface="Arial" pitchFamily="34" charset="-120"/>
              </a:rPr>
              <a:t>24/7</a:t>
            </a:r>
            <a:endParaRPr lang="en-US" sz="3200" dirty="0"/>
          </a:p>
        </p:txBody>
      </p:sp>
      <p:sp>
        <p:nvSpPr>
          <p:cNvPr id="26" name="Text 24"/>
          <p:cNvSpPr txBox="1"/>
          <p:nvPr/>
        </p:nvSpPr>
        <p:spPr>
          <a:xfrm>
            <a:off x="777240" y="5257800"/>
            <a:ext cx="3200400" cy="502920"/>
          </a:xfrm>
          <a:prstGeom prst="rect">
            <a:avLst/>
          </a:prstGeom>
          <a:noFill/>
          <a:ln/>
        </p:spPr>
        <p:txBody>
          <a:bodyPr wrap="square" lIns="0" tIns="0" rIns="0" bIns="0" rtlCol="0" anchor="t"/>
          <a:lstStyle/>
          <a:p>
            <a:pPr indent="0" marL="0">
              <a:buNone/>
            </a:pPr>
            <a:r>
              <a:rPr lang="en-US" sz="1200" dirty="0">
                <a:solidFill>
                  <a:srgbClr val="5E5E5E"/>
                </a:solidFill>
                <a:latin typeface="Arial" pitchFamily="34" charset="0"/>
                <a:ea typeface="Arial" pitchFamily="34" charset="-122"/>
                <a:cs typeface="Arial" pitchFamily="34" charset="-120"/>
              </a:rPr>
              <a:t>two 12-hour shifts until the heater is handed back</a:t>
            </a:r>
            <a:endParaRPr lang="en-US" sz="1200" dirty="0"/>
          </a:p>
        </p:txBody>
      </p:sp>
      <p:sp>
        <p:nvSpPr>
          <p:cNvPr id="27" name="Shape 25"/>
          <p:cNvSpPr/>
          <p:nvPr/>
        </p:nvSpPr>
        <p:spPr>
          <a:xfrm>
            <a:off x="4297680" y="4480560"/>
            <a:ext cx="3593592" cy="1417320"/>
          </a:xfrm>
          <a:prstGeom prst="rect">
            <a:avLst/>
          </a:prstGeom>
          <a:solidFill>
            <a:srgbClr val="F4F4F4"/>
          </a:solidFill>
          <a:ln w="12700">
            <a:solidFill>
              <a:srgbClr val="F4F4F4"/>
            </a:solidFill>
            <a:prstDash val="solid"/>
          </a:ln>
        </p:spPr>
      </p:sp>
      <p:sp>
        <p:nvSpPr>
          <p:cNvPr id="28" name="Text 26"/>
          <p:cNvSpPr txBox="1"/>
          <p:nvPr/>
        </p:nvSpPr>
        <p:spPr>
          <a:xfrm>
            <a:off x="4526280" y="4572000"/>
            <a:ext cx="3200400" cy="685800"/>
          </a:xfrm>
          <a:prstGeom prst="rect">
            <a:avLst/>
          </a:prstGeom>
          <a:noFill/>
          <a:ln/>
        </p:spPr>
        <p:txBody>
          <a:bodyPr wrap="square" lIns="0" tIns="0" rIns="0" bIns="0" rtlCol="0" anchor="ctr"/>
          <a:lstStyle/>
          <a:p>
            <a:pPr indent="0" marL="0">
              <a:buNone/>
            </a:pPr>
            <a:r>
              <a:rPr lang="en-US" sz="3200" b="1" dirty="0">
                <a:solidFill>
                  <a:srgbClr val="222222"/>
                </a:solidFill>
                <a:latin typeface="Arial" pitchFamily="34" charset="0"/>
                <a:ea typeface="Arial" pitchFamily="34" charset="-122"/>
                <a:cs typeface="Arial" pitchFamily="34" charset="-120"/>
              </a:rPr>
              <a:t>Up to 3</a:t>
            </a:r>
            <a:endParaRPr lang="en-US" sz="3200" dirty="0"/>
          </a:p>
        </p:txBody>
      </p:sp>
      <p:sp>
        <p:nvSpPr>
          <p:cNvPr id="29" name="Text 27"/>
          <p:cNvSpPr txBox="1"/>
          <p:nvPr/>
        </p:nvSpPr>
        <p:spPr>
          <a:xfrm>
            <a:off x="4526280" y="5257800"/>
            <a:ext cx="3200400" cy="502920"/>
          </a:xfrm>
          <a:prstGeom prst="rect">
            <a:avLst/>
          </a:prstGeom>
          <a:noFill/>
          <a:ln/>
        </p:spPr>
        <p:txBody>
          <a:bodyPr wrap="square" lIns="0" tIns="0" rIns="0" bIns="0" rtlCol="0" anchor="t"/>
          <a:lstStyle/>
          <a:p>
            <a:pPr indent="0" marL="0">
              <a:buNone/>
            </a:pPr>
            <a:r>
              <a:rPr lang="en-US" sz="1200" dirty="0">
                <a:solidFill>
                  <a:srgbClr val="5E5E5E"/>
                </a:solidFill>
                <a:latin typeface="Arial" pitchFamily="34" charset="0"/>
                <a:ea typeface="Arial" pitchFamily="34" charset="-122"/>
                <a:cs typeface="Arial" pitchFamily="34" charset="-120"/>
              </a:rPr>
              <a:t>passes pigged at once on each TriMax</a:t>
            </a:r>
            <a:endParaRPr lang="en-US" sz="1200" dirty="0"/>
          </a:p>
        </p:txBody>
      </p:sp>
      <p:sp>
        <p:nvSpPr>
          <p:cNvPr id="30" name="Shape 28"/>
          <p:cNvSpPr/>
          <p:nvPr/>
        </p:nvSpPr>
        <p:spPr>
          <a:xfrm>
            <a:off x="8046720" y="4480560"/>
            <a:ext cx="3593592" cy="1417320"/>
          </a:xfrm>
          <a:prstGeom prst="rect">
            <a:avLst/>
          </a:prstGeom>
          <a:solidFill>
            <a:srgbClr val="F4F4F4"/>
          </a:solidFill>
          <a:ln w="12700">
            <a:solidFill>
              <a:srgbClr val="F4F4F4"/>
            </a:solidFill>
            <a:prstDash val="solid"/>
          </a:ln>
        </p:spPr>
      </p:sp>
      <p:sp>
        <p:nvSpPr>
          <p:cNvPr id="31" name="Text 29"/>
          <p:cNvSpPr txBox="1"/>
          <p:nvPr/>
        </p:nvSpPr>
        <p:spPr>
          <a:xfrm>
            <a:off x="8275320" y="4572000"/>
            <a:ext cx="3200400" cy="685800"/>
          </a:xfrm>
          <a:prstGeom prst="rect">
            <a:avLst/>
          </a:prstGeom>
          <a:noFill/>
          <a:ln/>
        </p:spPr>
        <p:txBody>
          <a:bodyPr wrap="square" lIns="0" tIns="0" rIns="0" bIns="0" rtlCol="0" anchor="ctr"/>
          <a:lstStyle/>
          <a:p>
            <a:pPr indent="0" marL="0">
              <a:buNone/>
            </a:pPr>
            <a:r>
              <a:rPr lang="en-US" sz="3200" b="1" dirty="0">
                <a:solidFill>
                  <a:srgbClr val="222222"/>
                </a:solidFill>
                <a:latin typeface="Arial" pitchFamily="34" charset="0"/>
                <a:ea typeface="Arial" pitchFamily="34" charset="-122"/>
                <a:cs typeface="Arial" pitchFamily="34" charset="-120"/>
              </a:rPr>
              <a:t>2+</a:t>
            </a:r>
            <a:endParaRPr lang="en-US" sz="3200" dirty="0"/>
          </a:p>
        </p:txBody>
      </p:sp>
      <p:sp>
        <p:nvSpPr>
          <p:cNvPr id="32" name="Text 30"/>
          <p:cNvSpPr txBox="1"/>
          <p:nvPr/>
        </p:nvSpPr>
        <p:spPr>
          <a:xfrm>
            <a:off x="8275320" y="5257800"/>
            <a:ext cx="3200400" cy="502920"/>
          </a:xfrm>
          <a:prstGeom prst="rect">
            <a:avLst/>
          </a:prstGeom>
          <a:noFill/>
          <a:ln/>
        </p:spPr>
        <p:txBody>
          <a:bodyPr wrap="square" lIns="0" tIns="0" rIns="0" bIns="0" rtlCol="0" anchor="t"/>
          <a:lstStyle/>
          <a:p>
            <a:pPr indent="0" marL="0">
              <a:buNone/>
            </a:pPr>
            <a:r>
              <a:rPr lang="en-US" sz="1200" dirty="0">
                <a:solidFill>
                  <a:srgbClr val="5E5E5E"/>
                </a:solidFill>
                <a:latin typeface="Arial" pitchFamily="34" charset="0"/>
                <a:ea typeface="Arial" pitchFamily="34" charset="-122"/>
                <a:cs typeface="Arial" pitchFamily="34" charset="-120"/>
              </a:rPr>
              <a:t>TriMax units on larger heaters or multi-heater jobs</a:t>
            </a:r>
            <a:endParaRPr lang="en-US" sz="1200" dirty="0"/>
          </a:p>
        </p:txBody>
      </p:sp>
      <p:sp>
        <p:nvSpPr>
          <p:cNvPr id="33" name="Text 31"/>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USA DeBusk  |  Valero Texas City  |  Heater Pigging &amp; Decoking Services</a:t>
            </a:r>
            <a:endParaRPr lang="en-US" sz="900" dirty="0"/>
          </a:p>
        </p:txBody>
      </p:sp>
      <p:sp>
        <p:nvSpPr>
          <p:cNvPr id="34" name="Text 32"/>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C:\Users\Jwuts\obsidian-work\02-facilities\Valero\Texas-City-TX\pigging-capabilities-presentation\build/img/slot_ready.jpg">    </p:cNvPr>
          <p:cNvPicPr>
            <a:picLocks noChangeAspect="1"/>
          </p:cNvPicPr>
          <p:nvPr/>
        </p:nvPicPr>
        <p:blipFill>
          <a:blip r:embed="rId1"/>
          <a:stretch>
            <a:fillRect/>
          </a:stretch>
        </p:blipFill>
        <p:spPr>
          <a:xfrm>
            <a:off x="0" y="0"/>
            <a:ext cx="4206240" cy="6858000"/>
          </a:xfrm>
          <a:prstGeom prst="rect">
            <a:avLst/>
          </a:prstGeom>
        </p:spPr>
      </p:pic>
      <p:sp>
        <p:nvSpPr>
          <p:cNvPr id="3" name="Shape 0"/>
          <p:cNvSpPr/>
          <p:nvPr/>
        </p:nvSpPr>
        <p:spPr>
          <a:xfrm>
            <a:off x="4663440" y="411480"/>
            <a:ext cx="2913583" cy="310896"/>
          </a:xfrm>
          <a:prstGeom prst="roundRect">
            <a:avLst>
              <a:gd name="adj" fmla="val 23529"/>
            </a:avLst>
          </a:prstGeom>
          <a:solidFill>
            <a:srgbClr val="FCC30A"/>
          </a:solidFill>
          <a:ln w="12700">
            <a:solidFill>
              <a:srgbClr val="FCC30A"/>
            </a:solidFill>
            <a:prstDash val="solid"/>
          </a:ln>
        </p:spPr>
      </p:sp>
      <p:sp>
        <p:nvSpPr>
          <p:cNvPr id="4" name="Text 1"/>
          <p:cNvSpPr txBox="1"/>
          <p:nvPr/>
        </p:nvSpPr>
        <p:spPr>
          <a:xfrm>
            <a:off x="4663440" y="411480"/>
            <a:ext cx="2913583"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03   READINESS &amp; RESOURCES</a:t>
            </a:r>
            <a:endParaRPr lang="en-US" sz="1050" dirty="0"/>
          </a:p>
        </p:txBody>
      </p:sp>
      <p:sp>
        <p:nvSpPr>
          <p:cNvPr id="5" name="Text 2"/>
          <p:cNvSpPr txBox="1"/>
          <p:nvPr/>
        </p:nvSpPr>
        <p:spPr>
          <a:xfrm>
            <a:off x="4663440" y="841248"/>
            <a:ext cx="6949440" cy="731520"/>
          </a:xfrm>
          <a:prstGeom prst="rect">
            <a:avLst/>
          </a:prstGeom>
          <a:noFill/>
          <a:ln/>
        </p:spPr>
        <p:txBody>
          <a:bodyPr wrap="square" lIns="0" tIns="0" rIns="0" bIns="0" rtlCol="0" anchor="t"/>
          <a:lstStyle/>
          <a:p>
            <a:pPr indent="0" marL="0">
              <a:buNone/>
            </a:pPr>
            <a:r>
              <a:rPr lang="en-US" sz="3000" b="1" dirty="0">
                <a:solidFill>
                  <a:srgbClr val="222222"/>
                </a:solidFill>
                <a:latin typeface="Arial" pitchFamily="34" charset="0"/>
                <a:ea typeface="Arial" pitchFamily="34" charset="-122"/>
                <a:cs typeface="Arial" pitchFamily="34" charset="-120"/>
              </a:rPr>
              <a:t>Crew &amp; equipment, every job</a:t>
            </a:r>
            <a:endParaRPr lang="en-US" sz="3000" dirty="0"/>
          </a:p>
        </p:txBody>
      </p:sp>
      <p:sp>
        <p:nvSpPr>
          <p:cNvPr id="6" name="Text 3"/>
          <p:cNvSpPr txBox="1"/>
          <p:nvPr/>
        </p:nvSpPr>
        <p:spPr>
          <a:xfrm>
            <a:off x="5212080" y="1828800"/>
            <a:ext cx="2743200" cy="365760"/>
          </a:xfrm>
          <a:prstGeom prst="rect">
            <a:avLst/>
          </a:prstGeom>
          <a:noFill/>
          <a:ln/>
        </p:spPr>
        <p:txBody>
          <a:bodyPr wrap="square" lIns="0" tIns="0" rIns="0" bIns="0" rtlCol="0" anchor="ctr"/>
          <a:lstStyle/>
          <a:p>
            <a:pPr indent="0" marL="0">
              <a:buNone/>
            </a:pPr>
            <a:r>
              <a:rPr lang="en-US" sz="1600" b="1" dirty="0">
                <a:solidFill>
                  <a:srgbClr val="222222"/>
                </a:solidFill>
                <a:latin typeface="Arial" pitchFamily="34" charset="0"/>
                <a:ea typeface="Arial" pitchFamily="34" charset="-122"/>
                <a:cs typeface="Arial" pitchFamily="34" charset="-120"/>
              </a:rPr>
              <a:t>Equipment</a:t>
            </a:r>
            <a:endParaRPr lang="en-US" sz="1600" dirty="0"/>
          </a:p>
        </p:txBody>
      </p:sp>
      <p:sp>
        <p:nvSpPr>
          <p:cNvPr id="7" name="Text 4"/>
          <p:cNvSpPr txBox="1"/>
          <p:nvPr/>
        </p:nvSpPr>
        <p:spPr>
          <a:xfrm>
            <a:off x="4663440" y="2423160"/>
            <a:ext cx="502920" cy="502920"/>
          </a:xfrm>
          <a:prstGeom prst="rect">
            <a:avLst/>
          </a:prstGeom>
          <a:noFill/>
          <a:ln/>
        </p:spPr>
        <p:txBody>
          <a:bodyPr wrap="square" lIns="0" tIns="0" rIns="0" bIns="0" rtlCol="0" anchor="ctr"/>
          <a:lstStyle/>
          <a:p>
            <a:pPr indent="0" marL="0">
              <a:buNone/>
            </a:pPr>
            <a:r>
              <a:rPr lang="en-US" sz="2200" b="1" dirty="0">
                <a:solidFill>
                  <a:srgbClr val="FCC30A"/>
                </a:solidFill>
                <a:latin typeface="Arial" pitchFamily="34" charset="0"/>
                <a:ea typeface="Arial" pitchFamily="34" charset="-122"/>
                <a:cs typeface="Arial" pitchFamily="34" charset="-120"/>
              </a:rPr>
              <a:t>1</a:t>
            </a:r>
            <a:endParaRPr lang="en-US" sz="2200" dirty="0"/>
          </a:p>
        </p:txBody>
      </p:sp>
      <p:sp>
        <p:nvSpPr>
          <p:cNvPr id="8" name="Text 5"/>
          <p:cNvSpPr txBox="1"/>
          <p:nvPr/>
        </p:nvSpPr>
        <p:spPr>
          <a:xfrm>
            <a:off x="5212080" y="2423160"/>
            <a:ext cx="2743200" cy="502920"/>
          </a:xfrm>
          <a:prstGeom prst="rect">
            <a:avLst/>
          </a:prstGeom>
          <a:noFill/>
          <a:ln/>
        </p:spPr>
        <p:txBody>
          <a:bodyPr wrap="square" lIns="0" tIns="0" rIns="0" bIns="0" rtlCol="0" anchor="ctr"/>
          <a:lstStyle/>
          <a:p>
            <a:pPr indent="0" marL="0">
              <a:buNone/>
            </a:pPr>
            <a:r>
              <a:rPr lang="en-US" sz="1300" dirty="0">
                <a:solidFill>
                  <a:srgbClr val="222222"/>
                </a:solidFill>
                <a:latin typeface="Arial" pitchFamily="34" charset="0"/>
                <a:ea typeface="Arial" pitchFamily="34" charset="-122"/>
                <a:cs typeface="Arial" pitchFamily="34" charset="-120"/>
              </a:rPr>
              <a:t>TriMax triple pumper</a:t>
            </a:r>
            <a:endParaRPr lang="en-US" sz="1300" dirty="0"/>
          </a:p>
        </p:txBody>
      </p:sp>
      <p:sp>
        <p:nvSpPr>
          <p:cNvPr id="9" name="Text 6"/>
          <p:cNvSpPr txBox="1"/>
          <p:nvPr/>
        </p:nvSpPr>
        <p:spPr>
          <a:xfrm>
            <a:off x="4663440" y="3081528"/>
            <a:ext cx="502920" cy="502920"/>
          </a:xfrm>
          <a:prstGeom prst="rect">
            <a:avLst/>
          </a:prstGeom>
          <a:noFill/>
          <a:ln/>
        </p:spPr>
        <p:txBody>
          <a:bodyPr wrap="square" lIns="0" tIns="0" rIns="0" bIns="0" rtlCol="0" anchor="ctr"/>
          <a:lstStyle/>
          <a:p>
            <a:pPr indent="0" marL="0">
              <a:buNone/>
            </a:pPr>
            <a:r>
              <a:rPr lang="en-US" sz="2200" b="1" dirty="0">
                <a:solidFill>
                  <a:srgbClr val="FCC30A"/>
                </a:solidFill>
                <a:latin typeface="Arial" pitchFamily="34" charset="0"/>
                <a:ea typeface="Arial" pitchFamily="34" charset="-122"/>
                <a:cs typeface="Arial" pitchFamily="34" charset="-120"/>
              </a:rPr>
              <a:t>1</a:t>
            </a:r>
            <a:endParaRPr lang="en-US" sz="2200" dirty="0"/>
          </a:p>
        </p:txBody>
      </p:sp>
      <p:sp>
        <p:nvSpPr>
          <p:cNvPr id="10" name="Text 7"/>
          <p:cNvSpPr txBox="1"/>
          <p:nvPr/>
        </p:nvSpPr>
        <p:spPr>
          <a:xfrm>
            <a:off x="5212080" y="3081528"/>
            <a:ext cx="2743200" cy="502920"/>
          </a:xfrm>
          <a:prstGeom prst="rect">
            <a:avLst/>
          </a:prstGeom>
          <a:noFill/>
          <a:ln/>
        </p:spPr>
        <p:txBody>
          <a:bodyPr wrap="square" lIns="0" tIns="0" rIns="0" bIns="0" rtlCol="0" anchor="ctr"/>
          <a:lstStyle/>
          <a:p>
            <a:pPr indent="0" marL="0">
              <a:buNone/>
            </a:pPr>
            <a:r>
              <a:rPr lang="en-US" sz="1300" dirty="0">
                <a:solidFill>
                  <a:srgbClr val="222222"/>
                </a:solidFill>
                <a:latin typeface="Arial" pitchFamily="34" charset="0"/>
                <a:ea typeface="Arial" pitchFamily="34" charset="-122"/>
                <a:cs typeface="Arial" pitchFamily="34" charset="-120"/>
              </a:rPr>
              <a:t>Support unit: fittings, tooling, spares</a:t>
            </a:r>
            <a:endParaRPr lang="en-US" sz="1300" dirty="0"/>
          </a:p>
        </p:txBody>
      </p:sp>
      <p:sp>
        <p:nvSpPr>
          <p:cNvPr id="11" name="Text 8"/>
          <p:cNvSpPr txBox="1"/>
          <p:nvPr/>
        </p:nvSpPr>
        <p:spPr>
          <a:xfrm>
            <a:off x="4663440" y="3739896"/>
            <a:ext cx="502920" cy="502920"/>
          </a:xfrm>
          <a:prstGeom prst="rect">
            <a:avLst/>
          </a:prstGeom>
          <a:noFill/>
          <a:ln/>
        </p:spPr>
        <p:txBody>
          <a:bodyPr wrap="square" lIns="0" tIns="0" rIns="0" bIns="0" rtlCol="0" anchor="ctr"/>
          <a:lstStyle/>
          <a:p>
            <a:pPr indent="0" marL="0">
              <a:buNone/>
            </a:pPr>
            <a:r>
              <a:rPr lang="en-US" sz="2200" b="1" dirty="0">
                <a:solidFill>
                  <a:srgbClr val="FCC30A"/>
                </a:solidFill>
                <a:latin typeface="Arial" pitchFamily="34" charset="0"/>
                <a:ea typeface="Arial" pitchFamily="34" charset="-122"/>
                <a:cs typeface="Arial" pitchFamily="34" charset="-120"/>
              </a:rPr>
              <a:t>2</a:t>
            </a:r>
            <a:endParaRPr lang="en-US" sz="2200" dirty="0"/>
          </a:p>
        </p:txBody>
      </p:sp>
      <p:sp>
        <p:nvSpPr>
          <p:cNvPr id="12" name="Text 9"/>
          <p:cNvSpPr txBox="1"/>
          <p:nvPr/>
        </p:nvSpPr>
        <p:spPr>
          <a:xfrm>
            <a:off x="5212080" y="3739896"/>
            <a:ext cx="2743200" cy="502920"/>
          </a:xfrm>
          <a:prstGeom prst="rect">
            <a:avLst/>
          </a:prstGeom>
          <a:noFill/>
          <a:ln/>
        </p:spPr>
        <p:txBody>
          <a:bodyPr wrap="square" lIns="0" tIns="0" rIns="0" bIns="0" rtlCol="0" anchor="ctr"/>
          <a:lstStyle/>
          <a:p>
            <a:pPr indent="0" marL="0">
              <a:buNone/>
            </a:pPr>
            <a:r>
              <a:rPr lang="en-US" sz="1300" dirty="0">
                <a:solidFill>
                  <a:srgbClr val="222222"/>
                </a:solidFill>
                <a:latin typeface="Arial" pitchFamily="34" charset="0"/>
                <a:ea typeface="Arial" pitchFamily="34" charset="-122"/>
                <a:cs typeface="Arial" pitchFamily="34" charset="-120"/>
              </a:rPr>
              <a:t>Crew trucks</a:t>
            </a:r>
            <a:endParaRPr lang="en-US" sz="1300" dirty="0"/>
          </a:p>
        </p:txBody>
      </p:sp>
      <p:sp>
        <p:nvSpPr>
          <p:cNvPr id="13" name="Text 10"/>
          <p:cNvSpPr txBox="1"/>
          <p:nvPr/>
        </p:nvSpPr>
        <p:spPr>
          <a:xfrm>
            <a:off x="8732520" y="1828800"/>
            <a:ext cx="2743200" cy="365760"/>
          </a:xfrm>
          <a:prstGeom prst="rect">
            <a:avLst/>
          </a:prstGeom>
          <a:noFill/>
          <a:ln/>
        </p:spPr>
        <p:txBody>
          <a:bodyPr wrap="square" lIns="0" tIns="0" rIns="0" bIns="0" rtlCol="0" anchor="ctr"/>
          <a:lstStyle/>
          <a:p>
            <a:pPr indent="0" marL="0">
              <a:buNone/>
            </a:pPr>
            <a:r>
              <a:rPr lang="en-US" sz="1600" b="1" dirty="0">
                <a:solidFill>
                  <a:srgbClr val="222222"/>
                </a:solidFill>
                <a:latin typeface="Arial" pitchFamily="34" charset="0"/>
                <a:ea typeface="Arial" pitchFamily="34" charset="-122"/>
                <a:cs typeface="Arial" pitchFamily="34" charset="-120"/>
              </a:rPr>
              <a:t>Manpower</a:t>
            </a:r>
            <a:endParaRPr lang="en-US" sz="1600" dirty="0"/>
          </a:p>
        </p:txBody>
      </p:sp>
      <p:sp>
        <p:nvSpPr>
          <p:cNvPr id="14" name="Text 11"/>
          <p:cNvSpPr txBox="1"/>
          <p:nvPr/>
        </p:nvSpPr>
        <p:spPr>
          <a:xfrm>
            <a:off x="8183880" y="2423160"/>
            <a:ext cx="502920" cy="502920"/>
          </a:xfrm>
          <a:prstGeom prst="rect">
            <a:avLst/>
          </a:prstGeom>
          <a:noFill/>
          <a:ln/>
        </p:spPr>
        <p:txBody>
          <a:bodyPr wrap="square" lIns="0" tIns="0" rIns="0" bIns="0" rtlCol="0" anchor="ctr"/>
          <a:lstStyle/>
          <a:p>
            <a:pPr indent="0" marL="0">
              <a:buNone/>
            </a:pPr>
            <a:r>
              <a:rPr lang="en-US" sz="2200" b="1" dirty="0">
                <a:solidFill>
                  <a:srgbClr val="FCC30A"/>
                </a:solidFill>
                <a:latin typeface="Arial" pitchFamily="34" charset="0"/>
                <a:ea typeface="Arial" pitchFamily="34" charset="-122"/>
                <a:cs typeface="Arial" pitchFamily="34" charset="-120"/>
              </a:rPr>
              <a:t>2</a:t>
            </a:r>
            <a:endParaRPr lang="en-US" sz="2200" dirty="0"/>
          </a:p>
        </p:txBody>
      </p:sp>
      <p:sp>
        <p:nvSpPr>
          <p:cNvPr id="15" name="Text 12"/>
          <p:cNvSpPr txBox="1"/>
          <p:nvPr/>
        </p:nvSpPr>
        <p:spPr>
          <a:xfrm>
            <a:off x="8732520" y="2423160"/>
            <a:ext cx="2743200" cy="502920"/>
          </a:xfrm>
          <a:prstGeom prst="rect">
            <a:avLst/>
          </a:prstGeom>
          <a:noFill/>
          <a:ln/>
        </p:spPr>
        <p:txBody>
          <a:bodyPr wrap="square" lIns="0" tIns="0" rIns="0" bIns="0" rtlCol="0" anchor="ctr"/>
          <a:lstStyle/>
          <a:p>
            <a:pPr indent="0" marL="0">
              <a:buNone/>
            </a:pPr>
            <a:r>
              <a:rPr lang="en-US" sz="1300" dirty="0">
                <a:solidFill>
                  <a:srgbClr val="222222"/>
                </a:solidFill>
                <a:latin typeface="Arial" pitchFamily="34" charset="0"/>
                <a:ea typeface="Arial" pitchFamily="34" charset="-122"/>
                <a:cs typeface="Arial" pitchFamily="34" charset="-120"/>
              </a:rPr>
              <a:t>Supervisors: 1 day, 1 night</a:t>
            </a:r>
            <a:endParaRPr lang="en-US" sz="1300" dirty="0"/>
          </a:p>
        </p:txBody>
      </p:sp>
      <p:sp>
        <p:nvSpPr>
          <p:cNvPr id="16" name="Text 13"/>
          <p:cNvSpPr txBox="1"/>
          <p:nvPr/>
        </p:nvSpPr>
        <p:spPr>
          <a:xfrm>
            <a:off x="8183880" y="3081528"/>
            <a:ext cx="502920" cy="502920"/>
          </a:xfrm>
          <a:prstGeom prst="rect">
            <a:avLst/>
          </a:prstGeom>
          <a:noFill/>
          <a:ln/>
        </p:spPr>
        <p:txBody>
          <a:bodyPr wrap="square" lIns="0" tIns="0" rIns="0" bIns="0" rtlCol="0" anchor="ctr"/>
          <a:lstStyle/>
          <a:p>
            <a:pPr indent="0" marL="0">
              <a:buNone/>
            </a:pPr>
            <a:r>
              <a:rPr lang="en-US" sz="2200" b="1" dirty="0">
                <a:solidFill>
                  <a:srgbClr val="FCC30A"/>
                </a:solidFill>
                <a:latin typeface="Arial" pitchFamily="34" charset="0"/>
                <a:ea typeface="Arial" pitchFamily="34" charset="-122"/>
                <a:cs typeface="Arial" pitchFamily="34" charset="-120"/>
              </a:rPr>
              <a:t>3</a:t>
            </a:r>
            <a:endParaRPr lang="en-US" sz="2200" dirty="0"/>
          </a:p>
        </p:txBody>
      </p:sp>
      <p:sp>
        <p:nvSpPr>
          <p:cNvPr id="17" name="Text 14"/>
          <p:cNvSpPr txBox="1"/>
          <p:nvPr/>
        </p:nvSpPr>
        <p:spPr>
          <a:xfrm>
            <a:off x="8732520" y="3081528"/>
            <a:ext cx="2743200" cy="502920"/>
          </a:xfrm>
          <a:prstGeom prst="rect">
            <a:avLst/>
          </a:prstGeom>
          <a:noFill/>
          <a:ln/>
        </p:spPr>
        <p:txBody>
          <a:bodyPr wrap="square" lIns="0" tIns="0" rIns="0" bIns="0" rtlCol="0" anchor="ctr"/>
          <a:lstStyle/>
          <a:p>
            <a:pPr indent="0" marL="0">
              <a:buNone/>
            </a:pPr>
            <a:r>
              <a:rPr lang="en-US" sz="1300" dirty="0">
                <a:solidFill>
                  <a:srgbClr val="222222"/>
                </a:solidFill>
                <a:latin typeface="Arial" pitchFamily="34" charset="0"/>
                <a:ea typeface="Arial" pitchFamily="34" charset="-122"/>
                <a:cs typeface="Arial" pitchFamily="34" charset="-120"/>
              </a:rPr>
              <a:t>Operators: 2 day, 1 night</a:t>
            </a:r>
            <a:endParaRPr lang="en-US" sz="1300" dirty="0"/>
          </a:p>
        </p:txBody>
      </p:sp>
      <p:sp>
        <p:nvSpPr>
          <p:cNvPr id="18" name="Text 15"/>
          <p:cNvSpPr txBox="1"/>
          <p:nvPr/>
        </p:nvSpPr>
        <p:spPr>
          <a:xfrm>
            <a:off x="8183880" y="3739896"/>
            <a:ext cx="502920" cy="502920"/>
          </a:xfrm>
          <a:prstGeom prst="rect">
            <a:avLst/>
          </a:prstGeom>
          <a:noFill/>
          <a:ln/>
        </p:spPr>
        <p:txBody>
          <a:bodyPr wrap="square" lIns="0" tIns="0" rIns="0" bIns="0" rtlCol="0" anchor="ctr"/>
          <a:lstStyle/>
          <a:p>
            <a:pPr indent="0" marL="0">
              <a:buNone/>
            </a:pPr>
            <a:r>
              <a:rPr lang="en-US" sz="2200" b="1" dirty="0">
                <a:solidFill>
                  <a:srgbClr val="FCC30A"/>
                </a:solidFill>
                <a:latin typeface="Arial" pitchFamily="34" charset="0"/>
                <a:ea typeface="Arial" pitchFamily="34" charset="-122"/>
                <a:cs typeface="Arial" pitchFamily="34" charset="-120"/>
              </a:rPr>
              <a:t>1</a:t>
            </a:r>
            <a:endParaRPr lang="en-US" sz="2200" dirty="0"/>
          </a:p>
        </p:txBody>
      </p:sp>
      <p:sp>
        <p:nvSpPr>
          <p:cNvPr id="19" name="Text 16"/>
          <p:cNvSpPr txBox="1"/>
          <p:nvPr/>
        </p:nvSpPr>
        <p:spPr>
          <a:xfrm>
            <a:off x="8732520" y="3739896"/>
            <a:ext cx="2743200" cy="502920"/>
          </a:xfrm>
          <a:prstGeom prst="rect">
            <a:avLst/>
          </a:prstGeom>
          <a:noFill/>
          <a:ln/>
        </p:spPr>
        <p:txBody>
          <a:bodyPr wrap="square" lIns="0" tIns="0" rIns="0" bIns="0" rtlCol="0" anchor="ctr"/>
          <a:lstStyle/>
          <a:p>
            <a:pPr indent="0" marL="0">
              <a:buNone/>
            </a:pPr>
            <a:r>
              <a:rPr lang="en-US" sz="1300" dirty="0">
                <a:solidFill>
                  <a:srgbClr val="222222"/>
                </a:solidFill>
                <a:latin typeface="Arial" pitchFamily="34" charset="0"/>
                <a:ea typeface="Arial" pitchFamily="34" charset="-122"/>
                <a:cs typeface="Arial" pitchFamily="34" charset="-120"/>
              </a:rPr>
              <a:t>Project manager</a:t>
            </a:r>
            <a:endParaRPr lang="en-US" sz="1300" dirty="0"/>
          </a:p>
        </p:txBody>
      </p:sp>
      <p:sp>
        <p:nvSpPr>
          <p:cNvPr id="20" name="Shape 17"/>
          <p:cNvSpPr/>
          <p:nvPr/>
        </p:nvSpPr>
        <p:spPr>
          <a:xfrm>
            <a:off x="4663440" y="1783080"/>
            <a:ext cx="438912" cy="438912"/>
          </a:xfrm>
          <a:prstGeom prst="ellipse">
            <a:avLst/>
          </a:prstGeom>
          <a:solidFill>
            <a:srgbClr val="1E1E1E"/>
          </a:solidFill>
          <a:ln w="12700">
            <a:solidFill>
              <a:srgbClr val="1E1E1E"/>
            </a:solidFill>
            <a:prstDash val="solid"/>
          </a:ln>
        </p:spPr>
      </p:sp>
      <p:pic>
        <p:nvPicPr>
          <p:cNvPr id="21" name="Image 1" descr="preencoded.png">    </p:cNvPr>
          <p:cNvPicPr>
            <a:picLocks noChangeAspect="1"/>
          </p:cNvPicPr>
          <p:nvPr/>
        </p:nvPicPr>
        <p:blipFill>
          <a:blip r:embed="rId2"/>
          <a:stretch>
            <a:fillRect/>
          </a:stretch>
        </p:blipFill>
        <p:spPr>
          <a:xfrm>
            <a:off x="4773168" y="1892808"/>
            <a:ext cx="219456" cy="219456"/>
          </a:xfrm>
          <a:prstGeom prst="rect">
            <a:avLst/>
          </a:prstGeom>
        </p:spPr>
      </p:pic>
      <p:sp>
        <p:nvSpPr>
          <p:cNvPr id="22" name="Shape 18"/>
          <p:cNvSpPr/>
          <p:nvPr/>
        </p:nvSpPr>
        <p:spPr>
          <a:xfrm>
            <a:off x="8183880" y="1783080"/>
            <a:ext cx="438912" cy="438912"/>
          </a:xfrm>
          <a:prstGeom prst="ellipse">
            <a:avLst/>
          </a:prstGeom>
          <a:solidFill>
            <a:srgbClr val="1E1E1E"/>
          </a:solidFill>
          <a:ln w="12700">
            <a:solidFill>
              <a:srgbClr val="1E1E1E"/>
            </a:solidFill>
            <a:prstDash val="solid"/>
          </a:ln>
        </p:spPr>
      </p:sp>
      <p:pic>
        <p:nvPicPr>
          <p:cNvPr id="23" name="Image 2" descr="preencoded.png">    </p:cNvPr>
          <p:cNvPicPr>
            <a:picLocks noChangeAspect="1"/>
          </p:cNvPicPr>
          <p:nvPr/>
        </p:nvPicPr>
        <p:blipFill>
          <a:blip r:embed="rId3"/>
          <a:stretch>
            <a:fillRect/>
          </a:stretch>
        </p:blipFill>
        <p:spPr>
          <a:xfrm>
            <a:off x="8293608" y="1892808"/>
            <a:ext cx="219456" cy="219456"/>
          </a:xfrm>
          <a:prstGeom prst="rect">
            <a:avLst/>
          </a:prstGeom>
        </p:spPr>
      </p:pic>
      <p:sp>
        <p:nvSpPr>
          <p:cNvPr id="24" name="Shape 19"/>
          <p:cNvSpPr/>
          <p:nvPr/>
        </p:nvSpPr>
        <p:spPr>
          <a:xfrm>
            <a:off x="4663440" y="4617720"/>
            <a:ext cx="2148840" cy="1417320"/>
          </a:xfrm>
          <a:prstGeom prst="rect">
            <a:avLst/>
          </a:prstGeom>
          <a:solidFill>
            <a:srgbClr val="1E1E1E"/>
          </a:solidFill>
          <a:ln w="12700">
            <a:solidFill>
              <a:srgbClr val="1E1E1E"/>
            </a:solidFill>
            <a:prstDash val="solid"/>
          </a:ln>
        </p:spPr>
      </p:sp>
      <p:sp>
        <p:nvSpPr>
          <p:cNvPr id="25" name="Text 20"/>
          <p:cNvSpPr txBox="1"/>
          <p:nvPr/>
        </p:nvSpPr>
        <p:spPr>
          <a:xfrm>
            <a:off x="4846320" y="4754880"/>
            <a:ext cx="1828800" cy="640080"/>
          </a:xfrm>
          <a:prstGeom prst="rect">
            <a:avLst/>
          </a:prstGeom>
          <a:noFill/>
          <a:ln/>
        </p:spPr>
        <p:txBody>
          <a:bodyPr wrap="square" lIns="0" tIns="0" rIns="0" bIns="0" rtlCol="0" anchor="ctr"/>
          <a:lstStyle/>
          <a:p>
            <a:pPr indent="0" marL="0">
              <a:buNone/>
            </a:pPr>
            <a:r>
              <a:rPr lang="en-US" sz="3000" b="1" dirty="0">
                <a:solidFill>
                  <a:srgbClr val="FCC30A"/>
                </a:solidFill>
                <a:latin typeface="Arial" pitchFamily="34" charset="0"/>
                <a:ea typeface="Arial" pitchFamily="34" charset="-122"/>
                <a:cs typeface="Arial" pitchFamily="34" charset="-120"/>
              </a:rPr>
              <a:t>~5%</a:t>
            </a:r>
            <a:endParaRPr lang="en-US" sz="3000" dirty="0"/>
          </a:p>
        </p:txBody>
      </p:sp>
      <p:sp>
        <p:nvSpPr>
          <p:cNvPr id="26" name="Text 21"/>
          <p:cNvSpPr txBox="1"/>
          <p:nvPr/>
        </p:nvSpPr>
        <p:spPr>
          <a:xfrm>
            <a:off x="4846320" y="5394960"/>
            <a:ext cx="1828800" cy="548640"/>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crew turnover, last 12 months</a:t>
            </a:r>
            <a:endParaRPr lang="en-US" sz="1150" dirty="0"/>
          </a:p>
        </p:txBody>
      </p:sp>
      <p:sp>
        <p:nvSpPr>
          <p:cNvPr id="27" name="Shape 22"/>
          <p:cNvSpPr/>
          <p:nvPr/>
        </p:nvSpPr>
        <p:spPr>
          <a:xfrm>
            <a:off x="6995160" y="4617720"/>
            <a:ext cx="2148840" cy="1417320"/>
          </a:xfrm>
          <a:prstGeom prst="rect">
            <a:avLst/>
          </a:prstGeom>
          <a:solidFill>
            <a:srgbClr val="1E1E1E"/>
          </a:solidFill>
          <a:ln w="12700">
            <a:solidFill>
              <a:srgbClr val="1E1E1E"/>
            </a:solidFill>
            <a:prstDash val="solid"/>
          </a:ln>
        </p:spPr>
      </p:sp>
      <p:sp>
        <p:nvSpPr>
          <p:cNvPr id="28" name="Text 23"/>
          <p:cNvSpPr txBox="1"/>
          <p:nvPr/>
        </p:nvSpPr>
        <p:spPr>
          <a:xfrm>
            <a:off x="7178040" y="4754880"/>
            <a:ext cx="1828800" cy="640080"/>
          </a:xfrm>
          <a:prstGeom prst="rect">
            <a:avLst/>
          </a:prstGeom>
          <a:noFill/>
          <a:ln/>
        </p:spPr>
        <p:txBody>
          <a:bodyPr wrap="square" lIns="0" tIns="0" rIns="0" bIns="0" rtlCol="0" anchor="ctr"/>
          <a:lstStyle/>
          <a:p>
            <a:pPr indent="0" marL="0">
              <a:buNone/>
            </a:pPr>
            <a:r>
              <a:rPr lang="en-US" sz="3000" b="1" dirty="0">
                <a:solidFill>
                  <a:srgbClr val="FCC30A"/>
                </a:solidFill>
                <a:latin typeface="Arial" pitchFamily="34" charset="0"/>
                <a:ea typeface="Arial" pitchFamily="34" charset="-122"/>
                <a:cs typeface="Arial" pitchFamily="34" charset="-120"/>
              </a:rPr>
              <a:t>24/7</a:t>
            </a:r>
            <a:endParaRPr lang="en-US" sz="3000" dirty="0"/>
          </a:p>
        </p:txBody>
      </p:sp>
      <p:sp>
        <p:nvSpPr>
          <p:cNvPr id="29" name="Text 24"/>
          <p:cNvSpPr txBox="1"/>
          <p:nvPr/>
        </p:nvSpPr>
        <p:spPr>
          <a:xfrm>
            <a:off x="7178040" y="5394960"/>
            <a:ext cx="1828800" cy="548640"/>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two 12-hour shifts</a:t>
            </a:r>
            <a:endParaRPr lang="en-US" sz="1150" dirty="0"/>
          </a:p>
        </p:txBody>
      </p:sp>
      <p:sp>
        <p:nvSpPr>
          <p:cNvPr id="30" name="Shape 25"/>
          <p:cNvSpPr/>
          <p:nvPr/>
        </p:nvSpPr>
        <p:spPr>
          <a:xfrm>
            <a:off x="9326880" y="4617720"/>
            <a:ext cx="2148840" cy="1417320"/>
          </a:xfrm>
          <a:prstGeom prst="rect">
            <a:avLst/>
          </a:prstGeom>
          <a:solidFill>
            <a:srgbClr val="1E1E1E"/>
          </a:solidFill>
          <a:ln w="12700">
            <a:solidFill>
              <a:srgbClr val="1E1E1E"/>
            </a:solidFill>
            <a:prstDash val="solid"/>
          </a:ln>
        </p:spPr>
      </p:sp>
      <p:sp>
        <p:nvSpPr>
          <p:cNvPr id="31" name="Text 26"/>
          <p:cNvSpPr txBox="1"/>
          <p:nvPr/>
        </p:nvSpPr>
        <p:spPr>
          <a:xfrm>
            <a:off x="9509760" y="4754880"/>
            <a:ext cx="1828800" cy="640080"/>
          </a:xfrm>
          <a:prstGeom prst="rect">
            <a:avLst/>
          </a:prstGeom>
          <a:noFill/>
          <a:ln/>
        </p:spPr>
        <p:txBody>
          <a:bodyPr wrap="square" lIns="0" tIns="0" rIns="0" bIns="0" rtlCol="0" anchor="ctr"/>
          <a:lstStyle/>
          <a:p>
            <a:pPr indent="0" marL="0">
              <a:buNone/>
            </a:pPr>
            <a:r>
              <a:rPr lang="en-US" sz="3000" b="1" dirty="0">
                <a:solidFill>
                  <a:srgbClr val="FCC30A"/>
                </a:solidFill>
                <a:latin typeface="Arial" pitchFamily="34" charset="0"/>
                <a:ea typeface="Arial" pitchFamily="34" charset="-122"/>
                <a:cs typeface="Arial" pitchFamily="34" charset="-120"/>
              </a:rPr>
              <a:t>100%</a:t>
            </a:r>
            <a:endParaRPr lang="en-US" sz="3000" dirty="0"/>
          </a:p>
        </p:txBody>
      </p:sp>
      <p:sp>
        <p:nvSpPr>
          <p:cNvPr id="32" name="Text 27"/>
          <p:cNvSpPr txBox="1"/>
          <p:nvPr/>
        </p:nvSpPr>
        <p:spPr>
          <a:xfrm>
            <a:off x="9509760" y="5394960"/>
            <a:ext cx="1828800" cy="548640"/>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training verified before mobilization</a:t>
            </a:r>
            <a:endParaRPr lang="en-US" sz="1150" dirty="0"/>
          </a:p>
        </p:txBody>
      </p:sp>
      <p:sp>
        <p:nvSpPr>
          <p:cNvPr id="33" name="Text 28"/>
          <p:cNvSpPr txBox="1"/>
          <p:nvPr/>
        </p:nvSpPr>
        <p:spPr>
          <a:xfrm>
            <a:off x="4663440" y="6419088"/>
            <a:ext cx="73152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USA DeBusk  |  Valero Texas City  |  Heater Pigging &amp; Decoking Services</a:t>
            </a:r>
            <a:endParaRPr lang="en-US" sz="900" dirty="0"/>
          </a:p>
        </p:txBody>
      </p:sp>
      <p:sp>
        <p:nvSpPr>
          <p:cNvPr id="34" name="Text 29"/>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548640" y="411480"/>
            <a:ext cx="2913583" cy="310896"/>
          </a:xfrm>
          <a:prstGeom prst="roundRect">
            <a:avLst>
              <a:gd name="adj" fmla="val 23529"/>
            </a:avLst>
          </a:prstGeom>
          <a:solidFill>
            <a:srgbClr val="FCC30A"/>
          </a:solidFill>
          <a:ln w="12700">
            <a:solidFill>
              <a:srgbClr val="FCC30A"/>
            </a:solidFill>
            <a:prstDash val="solid"/>
          </a:ln>
        </p:spPr>
      </p:sp>
      <p:sp>
        <p:nvSpPr>
          <p:cNvPr id="3" name="Text 1"/>
          <p:cNvSpPr txBox="1"/>
          <p:nvPr/>
        </p:nvSpPr>
        <p:spPr>
          <a:xfrm>
            <a:off x="548640" y="411480"/>
            <a:ext cx="2913583"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03   READINESS &amp; RESOURCES</a:t>
            </a:r>
            <a:endParaRPr lang="en-US" sz="1050" dirty="0"/>
          </a:p>
        </p:txBody>
      </p:sp>
      <p:sp>
        <p:nvSpPr>
          <p:cNvPr id="4" name="Text 2"/>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Our pigging team</a:t>
            </a:r>
            <a:endParaRPr lang="en-US" sz="3200" dirty="0"/>
          </a:p>
        </p:txBody>
      </p:sp>
      <p:sp>
        <p:nvSpPr>
          <p:cNvPr id="5" name="Shape 3"/>
          <p:cNvSpPr/>
          <p:nvPr/>
        </p:nvSpPr>
        <p:spPr>
          <a:xfrm>
            <a:off x="548640" y="1737360"/>
            <a:ext cx="3017520" cy="1234440"/>
          </a:xfrm>
          <a:prstGeom prst="rect">
            <a:avLst/>
          </a:prstGeom>
          <a:solidFill>
            <a:srgbClr val="2B2B2B"/>
          </a:solidFill>
          <a:ln w="12700">
            <a:solidFill>
              <a:srgbClr val="FCC30A"/>
            </a:solidFill>
            <a:prstDash val="solid"/>
          </a:ln>
        </p:spPr>
      </p:sp>
      <p:sp>
        <p:nvSpPr>
          <p:cNvPr id="6" name="Text 4"/>
          <p:cNvSpPr txBox="1"/>
          <p:nvPr/>
        </p:nvSpPr>
        <p:spPr>
          <a:xfrm>
            <a:off x="731520" y="1828800"/>
            <a:ext cx="2651760" cy="621792"/>
          </a:xfrm>
          <a:prstGeom prst="rect">
            <a:avLst/>
          </a:prstGeom>
          <a:noFill/>
          <a:ln/>
        </p:spPr>
        <p:txBody>
          <a:bodyPr wrap="square" lIns="0" tIns="0" rIns="0" bIns="0" rtlCol="0" anchor="ctr"/>
          <a:lstStyle/>
          <a:p>
            <a:pPr indent="0" marL="0">
              <a:buNone/>
            </a:pPr>
            <a:r>
              <a:rPr lang="en-US" sz="3600" b="1" dirty="0">
                <a:solidFill>
                  <a:srgbClr val="FCC30A"/>
                </a:solidFill>
                <a:latin typeface="Arial" pitchFamily="34" charset="0"/>
                <a:ea typeface="Arial" pitchFamily="34" charset="-122"/>
                <a:cs typeface="Arial" pitchFamily="34" charset="-120"/>
              </a:rPr>
              <a:t>210</a:t>
            </a:r>
            <a:endParaRPr lang="en-US" sz="3600" dirty="0"/>
          </a:p>
        </p:txBody>
      </p:sp>
      <p:sp>
        <p:nvSpPr>
          <p:cNvPr id="7" name="Text 5"/>
          <p:cNvSpPr txBox="1"/>
          <p:nvPr/>
        </p:nvSpPr>
        <p:spPr>
          <a:xfrm>
            <a:off x="731520" y="2450592"/>
            <a:ext cx="2651760" cy="457200"/>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years of combined pigging &amp; decoking experience</a:t>
            </a:r>
            <a:endParaRPr lang="en-US" sz="1150" dirty="0"/>
          </a:p>
        </p:txBody>
      </p:sp>
      <p:sp>
        <p:nvSpPr>
          <p:cNvPr id="8" name="Shape 6"/>
          <p:cNvSpPr/>
          <p:nvPr/>
        </p:nvSpPr>
        <p:spPr>
          <a:xfrm>
            <a:off x="548640" y="3154680"/>
            <a:ext cx="3017520" cy="1234440"/>
          </a:xfrm>
          <a:prstGeom prst="rect">
            <a:avLst/>
          </a:prstGeom>
          <a:solidFill>
            <a:srgbClr val="2B2B2B"/>
          </a:solidFill>
          <a:ln w="12700">
            <a:solidFill>
              <a:srgbClr val="FCC30A"/>
            </a:solidFill>
            <a:prstDash val="solid"/>
          </a:ln>
        </p:spPr>
      </p:sp>
      <p:sp>
        <p:nvSpPr>
          <p:cNvPr id="9" name="Text 7"/>
          <p:cNvSpPr txBox="1"/>
          <p:nvPr/>
        </p:nvSpPr>
        <p:spPr>
          <a:xfrm>
            <a:off x="731520" y="3246120"/>
            <a:ext cx="2651760" cy="621792"/>
          </a:xfrm>
          <a:prstGeom prst="rect">
            <a:avLst/>
          </a:prstGeom>
          <a:noFill/>
          <a:ln/>
        </p:spPr>
        <p:txBody>
          <a:bodyPr wrap="square" lIns="0" tIns="0" rIns="0" bIns="0" rtlCol="0" anchor="ctr"/>
          <a:lstStyle/>
          <a:p>
            <a:pPr indent="0" marL="0">
              <a:buNone/>
            </a:pPr>
            <a:r>
              <a:rPr lang="en-US" sz="3600" b="1" dirty="0">
                <a:solidFill>
                  <a:srgbClr val="FCC30A"/>
                </a:solidFill>
                <a:latin typeface="Arial" pitchFamily="34" charset="0"/>
                <a:ea typeface="Arial" pitchFamily="34" charset="-122"/>
                <a:cs typeface="Arial" pitchFamily="34" charset="-120"/>
              </a:rPr>
              <a:t>15+</a:t>
            </a:r>
            <a:endParaRPr lang="en-US" sz="3600" dirty="0"/>
          </a:p>
        </p:txBody>
      </p:sp>
      <p:sp>
        <p:nvSpPr>
          <p:cNvPr id="10" name="Text 8"/>
          <p:cNvSpPr txBox="1"/>
          <p:nvPr/>
        </p:nvSpPr>
        <p:spPr>
          <a:xfrm>
            <a:off x="731520" y="3867912"/>
            <a:ext cx="2651760" cy="457200"/>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years self-performing heater pigging</a:t>
            </a:r>
            <a:endParaRPr lang="en-US" sz="1150" dirty="0"/>
          </a:p>
        </p:txBody>
      </p:sp>
      <p:sp>
        <p:nvSpPr>
          <p:cNvPr id="11" name="Shape 9"/>
          <p:cNvSpPr/>
          <p:nvPr/>
        </p:nvSpPr>
        <p:spPr>
          <a:xfrm>
            <a:off x="6355080" y="1691640"/>
            <a:ext cx="2926080" cy="658368"/>
          </a:xfrm>
          <a:prstGeom prst="rect">
            <a:avLst/>
          </a:prstGeom>
          <a:solidFill>
            <a:srgbClr val="2B2B2B"/>
          </a:solidFill>
          <a:ln w="12700">
            <a:solidFill>
              <a:srgbClr val="363636"/>
            </a:solidFill>
            <a:prstDash val="solid"/>
          </a:ln>
        </p:spPr>
      </p:sp>
      <p:sp>
        <p:nvSpPr>
          <p:cNvPr id="12" name="Text 10"/>
          <p:cNvSpPr txBox="1"/>
          <p:nvPr/>
        </p:nvSpPr>
        <p:spPr>
          <a:xfrm>
            <a:off x="6483096" y="1746504"/>
            <a:ext cx="2103120" cy="296266"/>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Anthony Fazio</a:t>
            </a:r>
            <a:endParaRPr lang="en-US" sz="1350" dirty="0"/>
          </a:p>
        </p:txBody>
      </p:sp>
      <p:sp>
        <p:nvSpPr>
          <p:cNvPr id="13" name="Text 11"/>
          <p:cNvSpPr txBox="1"/>
          <p:nvPr/>
        </p:nvSpPr>
        <p:spPr>
          <a:xfrm>
            <a:off x="6483096" y="2020824"/>
            <a:ext cx="2103120" cy="276515"/>
          </a:xfrm>
          <a:prstGeom prst="rect">
            <a:avLst/>
          </a:prstGeom>
          <a:noFill/>
          <a:ln/>
        </p:spPr>
        <p:txBody>
          <a:bodyPr wrap="square" lIns="0" tIns="0" rIns="0" bIns="0" rtlCol="0" anchor="ctr"/>
          <a:lstStyle/>
          <a:p>
            <a:pPr indent="0" marL="0">
              <a:buNone/>
            </a:pPr>
            <a:r>
              <a:rPr lang="en-US" sz="1050" dirty="0">
                <a:solidFill>
                  <a:srgbClr val="BDBDBD"/>
                </a:solidFill>
                <a:latin typeface="Arial" pitchFamily="34" charset="0"/>
                <a:ea typeface="Arial" pitchFamily="34" charset="-122"/>
                <a:cs typeface="Arial" pitchFamily="34" charset="-120"/>
              </a:rPr>
              <a:t>Vice President of Operations</a:t>
            </a:r>
            <a:endParaRPr lang="en-US" sz="1050" dirty="0"/>
          </a:p>
        </p:txBody>
      </p:sp>
      <p:sp>
        <p:nvSpPr>
          <p:cNvPr id="14" name="Text 12"/>
          <p:cNvSpPr txBox="1"/>
          <p:nvPr/>
        </p:nvSpPr>
        <p:spPr>
          <a:xfrm>
            <a:off x="8549640" y="1746504"/>
            <a:ext cx="640080" cy="296266"/>
          </a:xfrm>
          <a:prstGeom prst="rect">
            <a:avLst/>
          </a:prstGeom>
          <a:noFill/>
          <a:ln/>
        </p:spPr>
        <p:txBody>
          <a:bodyPr wrap="square" lIns="0" tIns="0" rIns="0" bIns="0" rtlCol="0" anchor="ctr"/>
          <a:lstStyle/>
          <a:p>
            <a:pPr algn="r" indent="0" marL="0">
              <a:buNone/>
            </a:pPr>
            <a:r>
              <a:rPr lang="en-US" sz="1200" b="1" dirty="0">
                <a:solidFill>
                  <a:srgbClr val="FCC30A"/>
                </a:solidFill>
                <a:latin typeface="Arial" pitchFamily="34" charset="0"/>
                <a:ea typeface="Arial" pitchFamily="34" charset="-122"/>
                <a:cs typeface="Arial" pitchFamily="34" charset="-120"/>
              </a:rPr>
              <a:t>20 yrs</a:t>
            </a:r>
            <a:endParaRPr lang="en-US" sz="1200" dirty="0"/>
          </a:p>
        </p:txBody>
      </p:sp>
      <p:sp>
        <p:nvSpPr>
          <p:cNvPr id="15" name="Shape 13"/>
          <p:cNvSpPr/>
          <p:nvPr/>
        </p:nvSpPr>
        <p:spPr>
          <a:xfrm>
            <a:off x="7818120" y="2350008"/>
            <a:ext cx="0" cy="182880"/>
          </a:xfrm>
          <a:prstGeom prst="line">
            <a:avLst/>
          </a:prstGeom>
          <a:noFill/>
          <a:ln w="15875">
            <a:solidFill>
              <a:srgbClr val="8A8A8A"/>
            </a:solidFill>
            <a:prstDash val="solid"/>
          </a:ln>
        </p:spPr>
      </p:sp>
      <p:sp>
        <p:nvSpPr>
          <p:cNvPr id="16" name="Shape 14"/>
          <p:cNvSpPr/>
          <p:nvPr/>
        </p:nvSpPr>
        <p:spPr>
          <a:xfrm>
            <a:off x="6355080" y="2532888"/>
            <a:ext cx="2926080" cy="658368"/>
          </a:xfrm>
          <a:prstGeom prst="rect">
            <a:avLst/>
          </a:prstGeom>
          <a:solidFill>
            <a:srgbClr val="2B2B2B"/>
          </a:solidFill>
          <a:ln w="12700">
            <a:solidFill>
              <a:srgbClr val="363636"/>
            </a:solidFill>
            <a:prstDash val="solid"/>
          </a:ln>
        </p:spPr>
      </p:sp>
      <p:sp>
        <p:nvSpPr>
          <p:cNvPr id="17" name="Text 15"/>
          <p:cNvSpPr txBox="1"/>
          <p:nvPr/>
        </p:nvSpPr>
        <p:spPr>
          <a:xfrm>
            <a:off x="6483096" y="2587752"/>
            <a:ext cx="2103120" cy="296266"/>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Marshall Douglas</a:t>
            </a:r>
            <a:endParaRPr lang="en-US" sz="1350" dirty="0"/>
          </a:p>
        </p:txBody>
      </p:sp>
      <p:sp>
        <p:nvSpPr>
          <p:cNvPr id="18" name="Text 16"/>
          <p:cNvSpPr txBox="1"/>
          <p:nvPr/>
        </p:nvSpPr>
        <p:spPr>
          <a:xfrm>
            <a:off x="6483096" y="2862072"/>
            <a:ext cx="2103120" cy="276515"/>
          </a:xfrm>
          <a:prstGeom prst="rect">
            <a:avLst/>
          </a:prstGeom>
          <a:noFill/>
          <a:ln/>
        </p:spPr>
        <p:txBody>
          <a:bodyPr wrap="square" lIns="0" tIns="0" rIns="0" bIns="0" rtlCol="0" anchor="ctr"/>
          <a:lstStyle/>
          <a:p>
            <a:pPr indent="0" marL="0">
              <a:buNone/>
            </a:pPr>
            <a:r>
              <a:rPr lang="en-US" sz="1050" dirty="0">
                <a:solidFill>
                  <a:srgbClr val="BDBDBD"/>
                </a:solidFill>
                <a:latin typeface="Arial" pitchFamily="34" charset="0"/>
                <a:ea typeface="Arial" pitchFamily="34" charset="-122"/>
                <a:cs typeface="Arial" pitchFamily="34" charset="-120"/>
              </a:rPr>
              <a:t>Director of Pigging Operations</a:t>
            </a:r>
            <a:endParaRPr lang="en-US" sz="1050" dirty="0"/>
          </a:p>
        </p:txBody>
      </p:sp>
      <p:sp>
        <p:nvSpPr>
          <p:cNvPr id="19" name="Text 17"/>
          <p:cNvSpPr txBox="1"/>
          <p:nvPr/>
        </p:nvSpPr>
        <p:spPr>
          <a:xfrm>
            <a:off x="8549640" y="2587752"/>
            <a:ext cx="640080" cy="296266"/>
          </a:xfrm>
          <a:prstGeom prst="rect">
            <a:avLst/>
          </a:prstGeom>
          <a:noFill/>
          <a:ln/>
        </p:spPr>
        <p:txBody>
          <a:bodyPr wrap="square" lIns="0" tIns="0" rIns="0" bIns="0" rtlCol="0" anchor="ctr"/>
          <a:lstStyle/>
          <a:p>
            <a:pPr algn="r" indent="0" marL="0">
              <a:buNone/>
            </a:pPr>
            <a:r>
              <a:rPr lang="en-US" sz="1200" b="1" dirty="0">
                <a:solidFill>
                  <a:srgbClr val="FCC30A"/>
                </a:solidFill>
                <a:latin typeface="Arial" pitchFamily="34" charset="0"/>
                <a:ea typeface="Arial" pitchFamily="34" charset="-122"/>
                <a:cs typeface="Arial" pitchFamily="34" charset="-120"/>
              </a:rPr>
              <a:t>26 yrs</a:t>
            </a:r>
            <a:endParaRPr lang="en-US" sz="1200" dirty="0"/>
          </a:p>
        </p:txBody>
      </p:sp>
      <p:sp>
        <p:nvSpPr>
          <p:cNvPr id="20" name="Shape 18"/>
          <p:cNvSpPr/>
          <p:nvPr/>
        </p:nvSpPr>
        <p:spPr>
          <a:xfrm>
            <a:off x="7818120" y="3191256"/>
            <a:ext cx="0" cy="128016"/>
          </a:xfrm>
          <a:prstGeom prst="line">
            <a:avLst/>
          </a:prstGeom>
          <a:noFill/>
          <a:ln w="15875">
            <a:solidFill>
              <a:srgbClr val="8A8A8A"/>
            </a:solidFill>
            <a:prstDash val="solid"/>
          </a:ln>
        </p:spPr>
      </p:sp>
      <p:sp>
        <p:nvSpPr>
          <p:cNvPr id="21" name="Shape 19"/>
          <p:cNvSpPr/>
          <p:nvPr/>
        </p:nvSpPr>
        <p:spPr>
          <a:xfrm>
            <a:off x="6172200" y="3319272"/>
            <a:ext cx="3291840" cy="0"/>
          </a:xfrm>
          <a:prstGeom prst="line">
            <a:avLst/>
          </a:prstGeom>
          <a:noFill/>
          <a:ln w="15875">
            <a:solidFill>
              <a:srgbClr val="8A8A8A"/>
            </a:solidFill>
            <a:prstDash val="solid"/>
          </a:ln>
        </p:spPr>
      </p:sp>
      <p:sp>
        <p:nvSpPr>
          <p:cNvPr id="22" name="Shape 20"/>
          <p:cNvSpPr/>
          <p:nvPr/>
        </p:nvSpPr>
        <p:spPr>
          <a:xfrm>
            <a:off x="6172200" y="3319272"/>
            <a:ext cx="0" cy="91440"/>
          </a:xfrm>
          <a:prstGeom prst="line">
            <a:avLst/>
          </a:prstGeom>
          <a:noFill/>
          <a:ln w="15875">
            <a:solidFill>
              <a:srgbClr val="8A8A8A"/>
            </a:solidFill>
            <a:prstDash val="solid"/>
          </a:ln>
        </p:spPr>
      </p:sp>
      <p:sp>
        <p:nvSpPr>
          <p:cNvPr id="23" name="Shape 21"/>
          <p:cNvSpPr/>
          <p:nvPr/>
        </p:nvSpPr>
        <p:spPr>
          <a:xfrm>
            <a:off x="9464040" y="3319272"/>
            <a:ext cx="0" cy="91440"/>
          </a:xfrm>
          <a:prstGeom prst="line">
            <a:avLst/>
          </a:prstGeom>
          <a:noFill/>
          <a:ln w="15875">
            <a:solidFill>
              <a:srgbClr val="8A8A8A"/>
            </a:solidFill>
            <a:prstDash val="solid"/>
          </a:ln>
        </p:spPr>
      </p:sp>
      <p:sp>
        <p:nvSpPr>
          <p:cNvPr id="24" name="Shape 22"/>
          <p:cNvSpPr/>
          <p:nvPr/>
        </p:nvSpPr>
        <p:spPr>
          <a:xfrm>
            <a:off x="4754880" y="3410712"/>
            <a:ext cx="2834640" cy="658368"/>
          </a:xfrm>
          <a:prstGeom prst="rect">
            <a:avLst/>
          </a:prstGeom>
          <a:solidFill>
            <a:srgbClr val="FCC30A"/>
          </a:solidFill>
          <a:ln w="12700">
            <a:solidFill>
              <a:srgbClr val="FCC30A"/>
            </a:solidFill>
            <a:prstDash val="solid"/>
          </a:ln>
        </p:spPr>
      </p:sp>
      <p:sp>
        <p:nvSpPr>
          <p:cNvPr id="25" name="Text 23"/>
          <p:cNvSpPr txBox="1"/>
          <p:nvPr/>
        </p:nvSpPr>
        <p:spPr>
          <a:xfrm>
            <a:off x="4882896" y="3465576"/>
            <a:ext cx="2011680" cy="296266"/>
          </a:xfrm>
          <a:prstGeom prst="rect">
            <a:avLst/>
          </a:prstGeom>
          <a:noFill/>
          <a:ln/>
        </p:spPr>
        <p:txBody>
          <a:bodyPr wrap="square" lIns="0" tIns="0" rIns="0" bIns="0" rtlCol="0" anchor="ctr"/>
          <a:lstStyle/>
          <a:p>
            <a:pPr indent="0" marL="0">
              <a:buNone/>
            </a:pPr>
            <a:r>
              <a:rPr lang="en-US" sz="1350" b="1" dirty="0">
                <a:solidFill>
                  <a:srgbClr val="1E1E1E"/>
                </a:solidFill>
                <a:latin typeface="Arial" pitchFamily="34" charset="0"/>
                <a:ea typeface="Arial" pitchFamily="34" charset="-122"/>
                <a:cs typeface="Arial" pitchFamily="34" charset="-120"/>
              </a:rPr>
              <a:t>Jason Harman</a:t>
            </a:r>
            <a:endParaRPr lang="en-US" sz="1350" dirty="0"/>
          </a:p>
        </p:txBody>
      </p:sp>
      <p:sp>
        <p:nvSpPr>
          <p:cNvPr id="26" name="Text 24"/>
          <p:cNvSpPr txBox="1"/>
          <p:nvPr/>
        </p:nvSpPr>
        <p:spPr>
          <a:xfrm>
            <a:off x="4882896" y="3739896"/>
            <a:ext cx="2011680" cy="276515"/>
          </a:xfrm>
          <a:prstGeom prst="rect">
            <a:avLst/>
          </a:prstGeom>
          <a:noFill/>
          <a:ln/>
        </p:spPr>
        <p:txBody>
          <a:bodyPr wrap="square" lIns="0" tIns="0" rIns="0" bIns="0" rtlCol="0" anchor="ctr"/>
          <a:lstStyle/>
          <a:p>
            <a:pPr indent="0" marL="0">
              <a:buNone/>
            </a:pPr>
            <a:r>
              <a:rPr lang="en-US" sz="1050" dirty="0">
                <a:solidFill>
                  <a:srgbClr val="1E1E1E"/>
                </a:solidFill>
                <a:latin typeface="Arial" pitchFamily="34" charset="0"/>
                <a:ea typeface="Arial" pitchFamily="34" charset="-122"/>
                <a:cs typeface="Arial" pitchFamily="34" charset="-120"/>
              </a:rPr>
              <a:t>Commercial Manager</a:t>
            </a:r>
            <a:endParaRPr lang="en-US" sz="1050" dirty="0"/>
          </a:p>
        </p:txBody>
      </p:sp>
      <p:sp>
        <p:nvSpPr>
          <p:cNvPr id="27" name="Text 25"/>
          <p:cNvSpPr txBox="1"/>
          <p:nvPr/>
        </p:nvSpPr>
        <p:spPr>
          <a:xfrm>
            <a:off x="6858000" y="3465576"/>
            <a:ext cx="640080" cy="296266"/>
          </a:xfrm>
          <a:prstGeom prst="rect">
            <a:avLst/>
          </a:prstGeom>
          <a:noFill/>
          <a:ln/>
        </p:spPr>
        <p:txBody>
          <a:bodyPr wrap="square" lIns="0" tIns="0" rIns="0" bIns="0" rtlCol="0" anchor="ctr"/>
          <a:lstStyle/>
          <a:p>
            <a:pPr algn="r" indent="0" marL="0">
              <a:buNone/>
            </a:pPr>
            <a:r>
              <a:rPr lang="en-US" sz="1200" b="1" dirty="0">
                <a:solidFill>
                  <a:srgbClr val="1E1E1E"/>
                </a:solidFill>
                <a:latin typeface="Arial" pitchFamily="34" charset="0"/>
                <a:ea typeface="Arial" pitchFamily="34" charset="-122"/>
                <a:cs typeface="Arial" pitchFamily="34" charset="-120"/>
              </a:rPr>
              <a:t>22 yrs</a:t>
            </a:r>
            <a:endParaRPr lang="en-US" sz="1200" dirty="0"/>
          </a:p>
        </p:txBody>
      </p:sp>
      <p:sp>
        <p:nvSpPr>
          <p:cNvPr id="28" name="Shape 26"/>
          <p:cNvSpPr/>
          <p:nvPr/>
        </p:nvSpPr>
        <p:spPr>
          <a:xfrm>
            <a:off x="8046720" y="3410712"/>
            <a:ext cx="2834640" cy="658368"/>
          </a:xfrm>
          <a:prstGeom prst="rect">
            <a:avLst/>
          </a:prstGeom>
          <a:solidFill>
            <a:srgbClr val="2B2B2B"/>
          </a:solidFill>
          <a:ln w="12700">
            <a:solidFill>
              <a:srgbClr val="363636"/>
            </a:solidFill>
            <a:prstDash val="solid"/>
          </a:ln>
        </p:spPr>
      </p:sp>
      <p:sp>
        <p:nvSpPr>
          <p:cNvPr id="29" name="Text 27"/>
          <p:cNvSpPr txBox="1"/>
          <p:nvPr/>
        </p:nvSpPr>
        <p:spPr>
          <a:xfrm>
            <a:off x="8174736" y="3465576"/>
            <a:ext cx="2011680" cy="296266"/>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Travis Trenholm</a:t>
            </a:r>
            <a:endParaRPr lang="en-US" sz="1350" dirty="0"/>
          </a:p>
        </p:txBody>
      </p:sp>
      <p:sp>
        <p:nvSpPr>
          <p:cNvPr id="30" name="Text 28"/>
          <p:cNvSpPr txBox="1"/>
          <p:nvPr/>
        </p:nvSpPr>
        <p:spPr>
          <a:xfrm>
            <a:off x="8174736" y="3739896"/>
            <a:ext cx="2011680" cy="276515"/>
          </a:xfrm>
          <a:prstGeom prst="rect">
            <a:avLst/>
          </a:prstGeom>
          <a:noFill/>
          <a:ln/>
        </p:spPr>
        <p:txBody>
          <a:bodyPr wrap="square" lIns="0" tIns="0" rIns="0" bIns="0" rtlCol="0" anchor="ctr"/>
          <a:lstStyle/>
          <a:p>
            <a:pPr indent="0" marL="0">
              <a:buNone/>
            </a:pPr>
            <a:r>
              <a:rPr lang="en-US" sz="1050" dirty="0">
                <a:solidFill>
                  <a:srgbClr val="BDBDBD"/>
                </a:solidFill>
                <a:latin typeface="Arial" pitchFamily="34" charset="0"/>
                <a:ea typeface="Arial" pitchFamily="34" charset="-122"/>
                <a:cs typeface="Arial" pitchFamily="34" charset="-120"/>
              </a:rPr>
              <a:t>Pigging Operations Manager</a:t>
            </a:r>
            <a:endParaRPr lang="en-US" sz="1050" dirty="0"/>
          </a:p>
        </p:txBody>
      </p:sp>
      <p:sp>
        <p:nvSpPr>
          <p:cNvPr id="31" name="Text 29"/>
          <p:cNvSpPr txBox="1"/>
          <p:nvPr/>
        </p:nvSpPr>
        <p:spPr>
          <a:xfrm>
            <a:off x="10149840" y="3465576"/>
            <a:ext cx="640080" cy="296266"/>
          </a:xfrm>
          <a:prstGeom prst="rect">
            <a:avLst/>
          </a:prstGeom>
          <a:noFill/>
          <a:ln/>
        </p:spPr>
        <p:txBody>
          <a:bodyPr wrap="square" lIns="0" tIns="0" rIns="0" bIns="0" rtlCol="0" anchor="ctr"/>
          <a:lstStyle/>
          <a:p>
            <a:pPr algn="r" indent="0" marL="0">
              <a:buNone/>
            </a:pPr>
            <a:r>
              <a:rPr lang="en-US" sz="1200" b="1" dirty="0">
                <a:solidFill>
                  <a:srgbClr val="FCC30A"/>
                </a:solidFill>
                <a:latin typeface="Arial" pitchFamily="34" charset="0"/>
                <a:ea typeface="Arial" pitchFamily="34" charset="-122"/>
                <a:cs typeface="Arial" pitchFamily="34" charset="-120"/>
              </a:rPr>
              <a:t>15 yrs</a:t>
            </a:r>
            <a:endParaRPr lang="en-US" sz="1200" dirty="0"/>
          </a:p>
        </p:txBody>
      </p:sp>
      <p:sp>
        <p:nvSpPr>
          <p:cNvPr id="32" name="Shape 30"/>
          <p:cNvSpPr/>
          <p:nvPr/>
        </p:nvSpPr>
        <p:spPr>
          <a:xfrm>
            <a:off x="9464040" y="4069080"/>
            <a:ext cx="0" cy="128016"/>
          </a:xfrm>
          <a:prstGeom prst="line">
            <a:avLst/>
          </a:prstGeom>
          <a:noFill/>
          <a:ln w="15875">
            <a:solidFill>
              <a:srgbClr val="8A8A8A"/>
            </a:solidFill>
            <a:prstDash val="solid"/>
          </a:ln>
        </p:spPr>
      </p:sp>
      <p:sp>
        <p:nvSpPr>
          <p:cNvPr id="33" name="Shape 31"/>
          <p:cNvSpPr/>
          <p:nvPr/>
        </p:nvSpPr>
        <p:spPr>
          <a:xfrm>
            <a:off x="4823460" y="4197096"/>
            <a:ext cx="5897880" cy="0"/>
          </a:xfrm>
          <a:prstGeom prst="line">
            <a:avLst/>
          </a:prstGeom>
          <a:noFill/>
          <a:ln w="15875">
            <a:solidFill>
              <a:srgbClr val="8A8A8A"/>
            </a:solidFill>
            <a:prstDash val="solid"/>
          </a:ln>
        </p:spPr>
      </p:sp>
      <p:sp>
        <p:nvSpPr>
          <p:cNvPr id="34" name="Shape 32"/>
          <p:cNvSpPr/>
          <p:nvPr/>
        </p:nvSpPr>
        <p:spPr>
          <a:xfrm>
            <a:off x="9464040" y="4197096"/>
            <a:ext cx="0" cy="0"/>
          </a:xfrm>
          <a:prstGeom prst="line">
            <a:avLst/>
          </a:prstGeom>
          <a:noFill/>
          <a:ln w="15875">
            <a:solidFill>
              <a:srgbClr val="8A8A8A"/>
            </a:solidFill>
            <a:prstDash val="solid"/>
          </a:ln>
        </p:spPr>
      </p:sp>
      <p:sp>
        <p:nvSpPr>
          <p:cNvPr id="35" name="Shape 33"/>
          <p:cNvSpPr/>
          <p:nvPr/>
        </p:nvSpPr>
        <p:spPr>
          <a:xfrm>
            <a:off x="4823460" y="4197096"/>
            <a:ext cx="0" cy="310896"/>
          </a:xfrm>
          <a:prstGeom prst="line">
            <a:avLst/>
          </a:prstGeom>
          <a:noFill/>
          <a:ln w="15875">
            <a:solidFill>
              <a:srgbClr val="8A8A8A"/>
            </a:solidFill>
            <a:prstDash val="solid"/>
          </a:ln>
        </p:spPr>
      </p:sp>
      <p:sp>
        <p:nvSpPr>
          <p:cNvPr id="36" name="Shape 34"/>
          <p:cNvSpPr/>
          <p:nvPr/>
        </p:nvSpPr>
        <p:spPr>
          <a:xfrm>
            <a:off x="3886200" y="4507992"/>
            <a:ext cx="1874520" cy="603504"/>
          </a:xfrm>
          <a:prstGeom prst="rect">
            <a:avLst/>
          </a:prstGeom>
          <a:solidFill>
            <a:srgbClr val="2B2B2B"/>
          </a:solidFill>
          <a:ln w="12700">
            <a:solidFill>
              <a:srgbClr val="363636"/>
            </a:solidFill>
            <a:prstDash val="solid"/>
          </a:ln>
        </p:spPr>
      </p:sp>
      <p:sp>
        <p:nvSpPr>
          <p:cNvPr id="37" name="Text 35"/>
          <p:cNvSpPr txBox="1"/>
          <p:nvPr/>
        </p:nvSpPr>
        <p:spPr>
          <a:xfrm>
            <a:off x="4014216" y="4562856"/>
            <a:ext cx="1645920" cy="271577"/>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Danilo Ramirez</a:t>
            </a:r>
            <a:endParaRPr lang="en-US" sz="1150" dirty="0"/>
          </a:p>
        </p:txBody>
      </p:sp>
      <p:sp>
        <p:nvSpPr>
          <p:cNvPr id="38" name="Text 36"/>
          <p:cNvSpPr txBox="1"/>
          <p:nvPr/>
        </p:nvSpPr>
        <p:spPr>
          <a:xfrm>
            <a:off x="4014216" y="4809744"/>
            <a:ext cx="1216152" cy="253472"/>
          </a:xfrm>
          <a:prstGeom prst="rect">
            <a:avLst/>
          </a:prstGeom>
          <a:noFill/>
          <a:ln/>
        </p:spPr>
        <p:txBody>
          <a:bodyPr wrap="square" lIns="0" tIns="0" rIns="0" bIns="0" rtlCol="0" anchor="ctr"/>
          <a:lstStyle/>
          <a:p>
            <a:pPr indent="0" marL="0">
              <a:buNone/>
            </a:pPr>
            <a:r>
              <a:rPr lang="en-US" sz="900" dirty="0">
                <a:solidFill>
                  <a:srgbClr val="BDBDBD"/>
                </a:solidFill>
                <a:latin typeface="Arial" pitchFamily="34" charset="0"/>
                <a:ea typeface="Arial" pitchFamily="34" charset="-122"/>
                <a:cs typeface="Arial" pitchFamily="34" charset="-120"/>
              </a:rPr>
              <a:t>Project Manager</a:t>
            </a:r>
            <a:endParaRPr lang="en-US" sz="900" dirty="0"/>
          </a:p>
        </p:txBody>
      </p:sp>
      <p:sp>
        <p:nvSpPr>
          <p:cNvPr id="39" name="Text 37"/>
          <p:cNvSpPr txBox="1"/>
          <p:nvPr/>
        </p:nvSpPr>
        <p:spPr>
          <a:xfrm>
            <a:off x="5193792" y="4809744"/>
            <a:ext cx="475488" cy="253472"/>
          </a:xfrm>
          <a:prstGeom prst="rect">
            <a:avLst/>
          </a:prstGeom>
          <a:noFill/>
          <a:ln/>
        </p:spPr>
        <p:txBody>
          <a:bodyPr wrap="square" lIns="0" tIns="0" rIns="0" bIns="0" rtlCol="0" anchor="ctr"/>
          <a:lstStyle/>
          <a:p>
            <a:pPr algn="r" indent="0" marL="0">
              <a:buNone/>
            </a:pPr>
            <a:r>
              <a:rPr lang="en-US" sz="1050" b="1" dirty="0">
                <a:solidFill>
                  <a:srgbClr val="FCC30A"/>
                </a:solidFill>
                <a:latin typeface="Arial" pitchFamily="34" charset="0"/>
                <a:ea typeface="Arial" pitchFamily="34" charset="-122"/>
                <a:cs typeface="Arial" pitchFamily="34" charset="-120"/>
              </a:rPr>
              <a:t>33 yrs</a:t>
            </a:r>
            <a:endParaRPr lang="en-US" sz="1050" dirty="0"/>
          </a:p>
        </p:txBody>
      </p:sp>
      <p:sp>
        <p:nvSpPr>
          <p:cNvPr id="40" name="Shape 38"/>
          <p:cNvSpPr/>
          <p:nvPr/>
        </p:nvSpPr>
        <p:spPr>
          <a:xfrm>
            <a:off x="6789420" y="4197096"/>
            <a:ext cx="0" cy="310896"/>
          </a:xfrm>
          <a:prstGeom prst="line">
            <a:avLst/>
          </a:prstGeom>
          <a:noFill/>
          <a:ln w="15875">
            <a:solidFill>
              <a:srgbClr val="8A8A8A"/>
            </a:solidFill>
            <a:prstDash val="solid"/>
          </a:ln>
        </p:spPr>
      </p:sp>
      <p:sp>
        <p:nvSpPr>
          <p:cNvPr id="41" name="Shape 39"/>
          <p:cNvSpPr/>
          <p:nvPr/>
        </p:nvSpPr>
        <p:spPr>
          <a:xfrm>
            <a:off x="5852160" y="4507992"/>
            <a:ext cx="1874520" cy="603504"/>
          </a:xfrm>
          <a:prstGeom prst="rect">
            <a:avLst/>
          </a:prstGeom>
          <a:solidFill>
            <a:srgbClr val="2B2B2B"/>
          </a:solidFill>
          <a:ln w="12700">
            <a:solidFill>
              <a:srgbClr val="363636"/>
            </a:solidFill>
            <a:prstDash val="solid"/>
          </a:ln>
        </p:spPr>
      </p:sp>
      <p:sp>
        <p:nvSpPr>
          <p:cNvPr id="42" name="Text 40"/>
          <p:cNvSpPr txBox="1"/>
          <p:nvPr/>
        </p:nvSpPr>
        <p:spPr>
          <a:xfrm>
            <a:off x="5980176" y="4562856"/>
            <a:ext cx="1645920" cy="271577"/>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Jesse Utsey</a:t>
            </a:r>
            <a:endParaRPr lang="en-US" sz="1150" dirty="0"/>
          </a:p>
        </p:txBody>
      </p:sp>
      <p:sp>
        <p:nvSpPr>
          <p:cNvPr id="43" name="Text 41"/>
          <p:cNvSpPr txBox="1"/>
          <p:nvPr/>
        </p:nvSpPr>
        <p:spPr>
          <a:xfrm>
            <a:off x="5980176" y="4809744"/>
            <a:ext cx="1216152" cy="253472"/>
          </a:xfrm>
          <a:prstGeom prst="rect">
            <a:avLst/>
          </a:prstGeom>
          <a:noFill/>
          <a:ln/>
        </p:spPr>
        <p:txBody>
          <a:bodyPr wrap="square" lIns="0" tIns="0" rIns="0" bIns="0" rtlCol="0" anchor="ctr"/>
          <a:lstStyle/>
          <a:p>
            <a:pPr indent="0" marL="0">
              <a:buNone/>
            </a:pPr>
            <a:r>
              <a:rPr lang="en-US" sz="900" dirty="0">
                <a:solidFill>
                  <a:srgbClr val="BDBDBD"/>
                </a:solidFill>
                <a:latin typeface="Arial" pitchFamily="34" charset="0"/>
                <a:ea typeface="Arial" pitchFamily="34" charset="-122"/>
                <a:cs typeface="Arial" pitchFamily="34" charset="-120"/>
              </a:rPr>
              <a:t>Project Manager</a:t>
            </a:r>
            <a:endParaRPr lang="en-US" sz="900" dirty="0"/>
          </a:p>
        </p:txBody>
      </p:sp>
      <p:sp>
        <p:nvSpPr>
          <p:cNvPr id="44" name="Text 42"/>
          <p:cNvSpPr txBox="1"/>
          <p:nvPr/>
        </p:nvSpPr>
        <p:spPr>
          <a:xfrm>
            <a:off x="7159752" y="4809744"/>
            <a:ext cx="475488" cy="253472"/>
          </a:xfrm>
          <a:prstGeom prst="rect">
            <a:avLst/>
          </a:prstGeom>
          <a:noFill/>
          <a:ln/>
        </p:spPr>
        <p:txBody>
          <a:bodyPr wrap="square" lIns="0" tIns="0" rIns="0" bIns="0" rtlCol="0" anchor="ctr"/>
          <a:lstStyle/>
          <a:p>
            <a:pPr algn="r" indent="0" marL="0">
              <a:buNone/>
            </a:pPr>
            <a:r>
              <a:rPr lang="en-US" sz="1050" b="1" dirty="0">
                <a:solidFill>
                  <a:srgbClr val="FCC30A"/>
                </a:solidFill>
                <a:latin typeface="Arial" pitchFamily="34" charset="0"/>
                <a:ea typeface="Arial" pitchFamily="34" charset="-122"/>
                <a:cs typeface="Arial" pitchFamily="34" charset="-120"/>
              </a:rPr>
              <a:t>23 yrs</a:t>
            </a:r>
            <a:endParaRPr lang="en-US" sz="1050" dirty="0"/>
          </a:p>
        </p:txBody>
      </p:sp>
      <p:sp>
        <p:nvSpPr>
          <p:cNvPr id="45" name="Shape 43"/>
          <p:cNvSpPr/>
          <p:nvPr/>
        </p:nvSpPr>
        <p:spPr>
          <a:xfrm>
            <a:off x="8755380" y="4197096"/>
            <a:ext cx="0" cy="310896"/>
          </a:xfrm>
          <a:prstGeom prst="line">
            <a:avLst/>
          </a:prstGeom>
          <a:noFill/>
          <a:ln w="15875">
            <a:solidFill>
              <a:srgbClr val="8A8A8A"/>
            </a:solidFill>
            <a:prstDash val="solid"/>
          </a:ln>
        </p:spPr>
      </p:sp>
      <p:sp>
        <p:nvSpPr>
          <p:cNvPr id="46" name="Shape 44"/>
          <p:cNvSpPr/>
          <p:nvPr/>
        </p:nvSpPr>
        <p:spPr>
          <a:xfrm>
            <a:off x="7818120" y="4507992"/>
            <a:ext cx="1874520" cy="603504"/>
          </a:xfrm>
          <a:prstGeom prst="rect">
            <a:avLst/>
          </a:prstGeom>
          <a:solidFill>
            <a:srgbClr val="2B2B2B"/>
          </a:solidFill>
          <a:ln w="12700">
            <a:solidFill>
              <a:srgbClr val="363636"/>
            </a:solidFill>
            <a:prstDash val="solid"/>
          </a:ln>
        </p:spPr>
      </p:sp>
      <p:sp>
        <p:nvSpPr>
          <p:cNvPr id="47" name="Text 45"/>
          <p:cNvSpPr txBox="1"/>
          <p:nvPr/>
        </p:nvSpPr>
        <p:spPr>
          <a:xfrm>
            <a:off x="7946136" y="4562856"/>
            <a:ext cx="1645920" cy="271577"/>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Sid Servin</a:t>
            </a:r>
            <a:endParaRPr lang="en-US" sz="1150" dirty="0"/>
          </a:p>
        </p:txBody>
      </p:sp>
      <p:sp>
        <p:nvSpPr>
          <p:cNvPr id="48" name="Text 46"/>
          <p:cNvSpPr txBox="1"/>
          <p:nvPr/>
        </p:nvSpPr>
        <p:spPr>
          <a:xfrm>
            <a:off x="7946136" y="4809744"/>
            <a:ext cx="1216152" cy="253472"/>
          </a:xfrm>
          <a:prstGeom prst="rect">
            <a:avLst/>
          </a:prstGeom>
          <a:noFill/>
          <a:ln/>
        </p:spPr>
        <p:txBody>
          <a:bodyPr wrap="square" lIns="0" tIns="0" rIns="0" bIns="0" rtlCol="0" anchor="ctr"/>
          <a:lstStyle/>
          <a:p>
            <a:pPr indent="0" marL="0">
              <a:buNone/>
            </a:pPr>
            <a:r>
              <a:rPr lang="en-US" sz="900" dirty="0">
                <a:solidFill>
                  <a:srgbClr val="BDBDBD"/>
                </a:solidFill>
                <a:latin typeface="Arial" pitchFamily="34" charset="0"/>
                <a:ea typeface="Arial" pitchFamily="34" charset="-122"/>
                <a:cs typeface="Arial" pitchFamily="34" charset="-120"/>
              </a:rPr>
              <a:t>Equipment Manager</a:t>
            </a:r>
            <a:endParaRPr lang="en-US" sz="900" dirty="0"/>
          </a:p>
        </p:txBody>
      </p:sp>
      <p:sp>
        <p:nvSpPr>
          <p:cNvPr id="49" name="Text 47"/>
          <p:cNvSpPr txBox="1"/>
          <p:nvPr/>
        </p:nvSpPr>
        <p:spPr>
          <a:xfrm>
            <a:off x="9125712" y="4809744"/>
            <a:ext cx="475488" cy="253472"/>
          </a:xfrm>
          <a:prstGeom prst="rect">
            <a:avLst/>
          </a:prstGeom>
          <a:noFill/>
          <a:ln/>
        </p:spPr>
        <p:txBody>
          <a:bodyPr wrap="square" lIns="0" tIns="0" rIns="0" bIns="0" rtlCol="0" anchor="ctr"/>
          <a:lstStyle/>
          <a:p>
            <a:pPr algn="r" indent="0" marL="0">
              <a:buNone/>
            </a:pPr>
            <a:r>
              <a:rPr lang="en-US" sz="1050" b="1" dirty="0">
                <a:solidFill>
                  <a:srgbClr val="FCC30A"/>
                </a:solidFill>
                <a:latin typeface="Arial" pitchFamily="34" charset="0"/>
                <a:ea typeface="Arial" pitchFamily="34" charset="-122"/>
                <a:cs typeface="Arial" pitchFamily="34" charset="-120"/>
              </a:rPr>
              <a:t>18 yrs</a:t>
            </a:r>
            <a:endParaRPr lang="en-US" sz="1050" dirty="0"/>
          </a:p>
        </p:txBody>
      </p:sp>
      <p:sp>
        <p:nvSpPr>
          <p:cNvPr id="50" name="Shape 48"/>
          <p:cNvSpPr/>
          <p:nvPr/>
        </p:nvSpPr>
        <p:spPr>
          <a:xfrm>
            <a:off x="10721340" y="4197096"/>
            <a:ext cx="0" cy="310896"/>
          </a:xfrm>
          <a:prstGeom prst="line">
            <a:avLst/>
          </a:prstGeom>
          <a:noFill/>
          <a:ln w="15875">
            <a:solidFill>
              <a:srgbClr val="8A8A8A"/>
            </a:solidFill>
            <a:prstDash val="solid"/>
          </a:ln>
        </p:spPr>
      </p:sp>
      <p:sp>
        <p:nvSpPr>
          <p:cNvPr id="51" name="Shape 49"/>
          <p:cNvSpPr/>
          <p:nvPr/>
        </p:nvSpPr>
        <p:spPr>
          <a:xfrm>
            <a:off x="9784080" y="4507992"/>
            <a:ext cx="1874520" cy="603504"/>
          </a:xfrm>
          <a:prstGeom prst="rect">
            <a:avLst/>
          </a:prstGeom>
          <a:solidFill>
            <a:srgbClr val="2B2B2B"/>
          </a:solidFill>
          <a:ln w="12700">
            <a:solidFill>
              <a:srgbClr val="363636"/>
            </a:solidFill>
            <a:prstDash val="solid"/>
          </a:ln>
        </p:spPr>
      </p:sp>
      <p:sp>
        <p:nvSpPr>
          <p:cNvPr id="52" name="Text 50"/>
          <p:cNvSpPr txBox="1"/>
          <p:nvPr/>
        </p:nvSpPr>
        <p:spPr>
          <a:xfrm>
            <a:off x="9912096" y="4562856"/>
            <a:ext cx="1645920" cy="271577"/>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Danny Harman</a:t>
            </a:r>
            <a:endParaRPr lang="en-US" sz="1150" dirty="0"/>
          </a:p>
        </p:txBody>
      </p:sp>
      <p:sp>
        <p:nvSpPr>
          <p:cNvPr id="53" name="Text 51"/>
          <p:cNvSpPr txBox="1"/>
          <p:nvPr/>
        </p:nvSpPr>
        <p:spPr>
          <a:xfrm>
            <a:off x="9912096" y="4809744"/>
            <a:ext cx="1216152" cy="253472"/>
          </a:xfrm>
          <a:prstGeom prst="rect">
            <a:avLst/>
          </a:prstGeom>
          <a:noFill/>
          <a:ln/>
        </p:spPr>
        <p:txBody>
          <a:bodyPr wrap="square" lIns="0" tIns="0" rIns="0" bIns="0" rtlCol="0" anchor="ctr"/>
          <a:lstStyle/>
          <a:p>
            <a:pPr indent="0" marL="0">
              <a:buNone/>
            </a:pPr>
            <a:r>
              <a:rPr lang="en-US" sz="900" dirty="0">
                <a:solidFill>
                  <a:srgbClr val="BDBDBD"/>
                </a:solidFill>
                <a:latin typeface="Arial" pitchFamily="34" charset="0"/>
                <a:ea typeface="Arial" pitchFamily="34" charset="-122"/>
                <a:cs typeface="Arial" pitchFamily="34" charset="-120"/>
              </a:rPr>
              <a:t>Field Tech</a:t>
            </a:r>
            <a:endParaRPr lang="en-US" sz="900" dirty="0"/>
          </a:p>
        </p:txBody>
      </p:sp>
      <p:sp>
        <p:nvSpPr>
          <p:cNvPr id="54" name="Text 52"/>
          <p:cNvSpPr txBox="1"/>
          <p:nvPr/>
        </p:nvSpPr>
        <p:spPr>
          <a:xfrm>
            <a:off x="11091672" y="4809744"/>
            <a:ext cx="475488" cy="253472"/>
          </a:xfrm>
          <a:prstGeom prst="rect">
            <a:avLst/>
          </a:prstGeom>
          <a:noFill/>
          <a:ln/>
        </p:spPr>
        <p:txBody>
          <a:bodyPr wrap="square" lIns="0" tIns="0" rIns="0" bIns="0" rtlCol="0" anchor="ctr"/>
          <a:lstStyle/>
          <a:p>
            <a:pPr algn="r" indent="0" marL="0">
              <a:buNone/>
            </a:pPr>
            <a:r>
              <a:rPr lang="en-US" sz="1050" b="1" dirty="0">
                <a:solidFill>
                  <a:srgbClr val="FCC30A"/>
                </a:solidFill>
                <a:latin typeface="Arial" pitchFamily="34" charset="0"/>
                <a:ea typeface="Arial" pitchFamily="34" charset="-122"/>
                <a:cs typeface="Arial" pitchFamily="34" charset="-120"/>
              </a:rPr>
              <a:t>25 yrs</a:t>
            </a:r>
            <a:endParaRPr lang="en-US" sz="1050" dirty="0"/>
          </a:p>
        </p:txBody>
      </p:sp>
      <p:sp>
        <p:nvSpPr>
          <p:cNvPr id="55" name="Shape 53"/>
          <p:cNvSpPr/>
          <p:nvPr/>
        </p:nvSpPr>
        <p:spPr>
          <a:xfrm>
            <a:off x="3886200" y="5221224"/>
            <a:ext cx="1874520" cy="603504"/>
          </a:xfrm>
          <a:prstGeom prst="rect">
            <a:avLst/>
          </a:prstGeom>
          <a:solidFill>
            <a:srgbClr val="2B2B2B"/>
          </a:solidFill>
          <a:ln w="12700">
            <a:solidFill>
              <a:srgbClr val="363636"/>
            </a:solidFill>
            <a:prstDash val="solid"/>
          </a:ln>
        </p:spPr>
      </p:sp>
      <p:sp>
        <p:nvSpPr>
          <p:cNvPr id="56" name="Text 54"/>
          <p:cNvSpPr txBox="1"/>
          <p:nvPr/>
        </p:nvSpPr>
        <p:spPr>
          <a:xfrm>
            <a:off x="4014216" y="5276088"/>
            <a:ext cx="1645920" cy="271577"/>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Dacorey Slater</a:t>
            </a:r>
            <a:endParaRPr lang="en-US" sz="1150" dirty="0"/>
          </a:p>
        </p:txBody>
      </p:sp>
      <p:sp>
        <p:nvSpPr>
          <p:cNvPr id="57" name="Text 55"/>
          <p:cNvSpPr txBox="1"/>
          <p:nvPr/>
        </p:nvSpPr>
        <p:spPr>
          <a:xfrm>
            <a:off x="4014216" y="5522976"/>
            <a:ext cx="1216152" cy="253472"/>
          </a:xfrm>
          <a:prstGeom prst="rect">
            <a:avLst/>
          </a:prstGeom>
          <a:noFill/>
          <a:ln/>
        </p:spPr>
        <p:txBody>
          <a:bodyPr wrap="square" lIns="0" tIns="0" rIns="0" bIns="0" rtlCol="0" anchor="ctr"/>
          <a:lstStyle/>
          <a:p>
            <a:pPr indent="0" marL="0">
              <a:buNone/>
            </a:pPr>
            <a:r>
              <a:rPr lang="en-US" sz="900" dirty="0">
                <a:solidFill>
                  <a:srgbClr val="BDBDBD"/>
                </a:solidFill>
                <a:latin typeface="Arial" pitchFamily="34" charset="0"/>
                <a:ea typeface="Arial" pitchFamily="34" charset="-122"/>
                <a:cs typeface="Arial" pitchFamily="34" charset="-120"/>
              </a:rPr>
              <a:t>Project Manager</a:t>
            </a:r>
            <a:endParaRPr lang="en-US" sz="900" dirty="0"/>
          </a:p>
        </p:txBody>
      </p:sp>
      <p:sp>
        <p:nvSpPr>
          <p:cNvPr id="58" name="Text 56"/>
          <p:cNvSpPr txBox="1"/>
          <p:nvPr/>
        </p:nvSpPr>
        <p:spPr>
          <a:xfrm>
            <a:off x="5193792" y="5522976"/>
            <a:ext cx="475488" cy="253472"/>
          </a:xfrm>
          <a:prstGeom prst="rect">
            <a:avLst/>
          </a:prstGeom>
          <a:noFill/>
          <a:ln/>
        </p:spPr>
        <p:txBody>
          <a:bodyPr wrap="square" lIns="0" tIns="0" rIns="0" bIns="0" rtlCol="0" anchor="ctr"/>
          <a:lstStyle/>
          <a:p>
            <a:pPr algn="r" indent="0" marL="0">
              <a:buNone/>
            </a:pPr>
            <a:r>
              <a:rPr lang="en-US" sz="1050" b="1" dirty="0">
                <a:solidFill>
                  <a:srgbClr val="FCC30A"/>
                </a:solidFill>
                <a:latin typeface="Arial" pitchFamily="34" charset="0"/>
                <a:ea typeface="Arial" pitchFamily="34" charset="-122"/>
                <a:cs typeface="Arial" pitchFamily="34" charset="-120"/>
              </a:rPr>
              <a:t>8 yrs</a:t>
            </a:r>
            <a:endParaRPr lang="en-US" sz="1050" dirty="0"/>
          </a:p>
        </p:txBody>
      </p:sp>
      <p:sp>
        <p:nvSpPr>
          <p:cNvPr id="59" name="Shape 57"/>
          <p:cNvSpPr/>
          <p:nvPr/>
        </p:nvSpPr>
        <p:spPr>
          <a:xfrm>
            <a:off x="5852160" y="5221224"/>
            <a:ext cx="1874520" cy="603504"/>
          </a:xfrm>
          <a:prstGeom prst="rect">
            <a:avLst/>
          </a:prstGeom>
          <a:solidFill>
            <a:srgbClr val="2B2B2B"/>
          </a:solidFill>
          <a:ln w="12700">
            <a:solidFill>
              <a:srgbClr val="363636"/>
            </a:solidFill>
            <a:prstDash val="solid"/>
          </a:ln>
        </p:spPr>
      </p:sp>
      <p:sp>
        <p:nvSpPr>
          <p:cNvPr id="60" name="Text 58"/>
          <p:cNvSpPr txBox="1"/>
          <p:nvPr/>
        </p:nvSpPr>
        <p:spPr>
          <a:xfrm>
            <a:off x="5980176" y="5276088"/>
            <a:ext cx="1645920" cy="271577"/>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James Lee</a:t>
            </a:r>
            <a:endParaRPr lang="en-US" sz="1150" dirty="0"/>
          </a:p>
        </p:txBody>
      </p:sp>
      <p:sp>
        <p:nvSpPr>
          <p:cNvPr id="61" name="Text 59"/>
          <p:cNvSpPr txBox="1"/>
          <p:nvPr/>
        </p:nvSpPr>
        <p:spPr>
          <a:xfrm>
            <a:off x="5980176" y="5522976"/>
            <a:ext cx="1216152" cy="253472"/>
          </a:xfrm>
          <a:prstGeom prst="rect">
            <a:avLst/>
          </a:prstGeom>
          <a:noFill/>
          <a:ln/>
        </p:spPr>
        <p:txBody>
          <a:bodyPr wrap="square" lIns="0" tIns="0" rIns="0" bIns="0" rtlCol="0" anchor="ctr"/>
          <a:lstStyle/>
          <a:p>
            <a:pPr indent="0" marL="0">
              <a:buNone/>
            </a:pPr>
            <a:r>
              <a:rPr lang="en-US" sz="900" dirty="0">
                <a:solidFill>
                  <a:srgbClr val="BDBDBD"/>
                </a:solidFill>
                <a:latin typeface="Arial" pitchFamily="34" charset="0"/>
                <a:ea typeface="Arial" pitchFamily="34" charset="-122"/>
                <a:cs typeface="Arial" pitchFamily="34" charset="-120"/>
              </a:rPr>
              <a:t>Project Manager</a:t>
            </a:r>
            <a:endParaRPr lang="en-US" sz="900" dirty="0"/>
          </a:p>
        </p:txBody>
      </p:sp>
      <p:sp>
        <p:nvSpPr>
          <p:cNvPr id="62" name="Text 60"/>
          <p:cNvSpPr txBox="1"/>
          <p:nvPr/>
        </p:nvSpPr>
        <p:spPr>
          <a:xfrm>
            <a:off x="7159752" y="5522976"/>
            <a:ext cx="475488" cy="253472"/>
          </a:xfrm>
          <a:prstGeom prst="rect">
            <a:avLst/>
          </a:prstGeom>
          <a:noFill/>
          <a:ln/>
        </p:spPr>
        <p:txBody>
          <a:bodyPr wrap="square" lIns="0" tIns="0" rIns="0" bIns="0" rtlCol="0" anchor="ctr"/>
          <a:lstStyle/>
          <a:p>
            <a:pPr algn="r" indent="0" marL="0">
              <a:buNone/>
            </a:pPr>
            <a:r>
              <a:rPr lang="en-US" sz="1050" b="1" dirty="0">
                <a:solidFill>
                  <a:srgbClr val="FCC30A"/>
                </a:solidFill>
                <a:latin typeface="Arial" pitchFamily="34" charset="0"/>
                <a:ea typeface="Arial" pitchFamily="34" charset="-122"/>
                <a:cs typeface="Arial" pitchFamily="34" charset="-120"/>
              </a:rPr>
              <a:t>10 yrs</a:t>
            </a:r>
            <a:endParaRPr lang="en-US" sz="1050" dirty="0"/>
          </a:p>
        </p:txBody>
      </p:sp>
      <p:sp>
        <p:nvSpPr>
          <p:cNvPr id="63" name="Shape 61"/>
          <p:cNvSpPr/>
          <p:nvPr/>
        </p:nvSpPr>
        <p:spPr>
          <a:xfrm>
            <a:off x="7818120" y="5221224"/>
            <a:ext cx="1874520" cy="603504"/>
          </a:xfrm>
          <a:prstGeom prst="rect">
            <a:avLst/>
          </a:prstGeom>
          <a:solidFill>
            <a:srgbClr val="2B2B2B"/>
          </a:solidFill>
          <a:ln w="12700">
            <a:solidFill>
              <a:srgbClr val="363636"/>
            </a:solidFill>
            <a:prstDash val="solid"/>
          </a:ln>
        </p:spPr>
      </p:sp>
      <p:sp>
        <p:nvSpPr>
          <p:cNvPr id="64" name="Text 62"/>
          <p:cNvSpPr txBox="1"/>
          <p:nvPr/>
        </p:nvSpPr>
        <p:spPr>
          <a:xfrm>
            <a:off x="7946136" y="5276088"/>
            <a:ext cx="1645920" cy="271577"/>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James McDaniel</a:t>
            </a:r>
            <a:endParaRPr lang="en-US" sz="1150" dirty="0"/>
          </a:p>
        </p:txBody>
      </p:sp>
      <p:sp>
        <p:nvSpPr>
          <p:cNvPr id="65" name="Text 63"/>
          <p:cNvSpPr txBox="1"/>
          <p:nvPr/>
        </p:nvSpPr>
        <p:spPr>
          <a:xfrm>
            <a:off x="7946136" y="5522976"/>
            <a:ext cx="1216152" cy="253472"/>
          </a:xfrm>
          <a:prstGeom prst="rect">
            <a:avLst/>
          </a:prstGeom>
          <a:noFill/>
          <a:ln/>
        </p:spPr>
        <p:txBody>
          <a:bodyPr wrap="square" lIns="0" tIns="0" rIns="0" bIns="0" rtlCol="0" anchor="ctr"/>
          <a:lstStyle/>
          <a:p>
            <a:pPr indent="0" marL="0">
              <a:buNone/>
            </a:pPr>
            <a:r>
              <a:rPr lang="en-US" sz="900" dirty="0">
                <a:solidFill>
                  <a:srgbClr val="BDBDBD"/>
                </a:solidFill>
                <a:latin typeface="Arial" pitchFamily="34" charset="0"/>
                <a:ea typeface="Arial" pitchFamily="34" charset="-122"/>
                <a:cs typeface="Arial" pitchFamily="34" charset="-120"/>
              </a:rPr>
              <a:t>Project Manager</a:t>
            </a:r>
            <a:endParaRPr lang="en-US" sz="900" dirty="0"/>
          </a:p>
        </p:txBody>
      </p:sp>
      <p:sp>
        <p:nvSpPr>
          <p:cNvPr id="66" name="Text 64"/>
          <p:cNvSpPr txBox="1"/>
          <p:nvPr/>
        </p:nvSpPr>
        <p:spPr>
          <a:xfrm>
            <a:off x="9125712" y="5522976"/>
            <a:ext cx="475488" cy="253472"/>
          </a:xfrm>
          <a:prstGeom prst="rect">
            <a:avLst/>
          </a:prstGeom>
          <a:noFill/>
          <a:ln/>
        </p:spPr>
        <p:txBody>
          <a:bodyPr wrap="square" lIns="0" tIns="0" rIns="0" bIns="0" rtlCol="0" anchor="ctr"/>
          <a:lstStyle/>
          <a:p>
            <a:pPr algn="r" indent="0" marL="0">
              <a:buNone/>
            </a:pPr>
            <a:r>
              <a:rPr lang="en-US" sz="1050" b="1" dirty="0">
                <a:solidFill>
                  <a:srgbClr val="FCC30A"/>
                </a:solidFill>
                <a:latin typeface="Arial" pitchFamily="34" charset="0"/>
                <a:ea typeface="Arial" pitchFamily="34" charset="-122"/>
                <a:cs typeface="Arial" pitchFamily="34" charset="-120"/>
              </a:rPr>
              <a:t>5 yrs</a:t>
            </a:r>
            <a:endParaRPr lang="en-US" sz="1050" dirty="0"/>
          </a:p>
        </p:txBody>
      </p:sp>
      <p:sp>
        <p:nvSpPr>
          <p:cNvPr id="67" name="Shape 65"/>
          <p:cNvSpPr/>
          <p:nvPr/>
        </p:nvSpPr>
        <p:spPr>
          <a:xfrm>
            <a:off x="9784080" y="5221224"/>
            <a:ext cx="1874520" cy="603504"/>
          </a:xfrm>
          <a:prstGeom prst="rect">
            <a:avLst/>
          </a:prstGeom>
          <a:solidFill>
            <a:srgbClr val="2B2B2B"/>
          </a:solidFill>
          <a:ln w="12700">
            <a:solidFill>
              <a:srgbClr val="363636"/>
            </a:solidFill>
            <a:prstDash val="solid"/>
          </a:ln>
        </p:spPr>
      </p:sp>
      <p:sp>
        <p:nvSpPr>
          <p:cNvPr id="68" name="Text 66"/>
          <p:cNvSpPr txBox="1"/>
          <p:nvPr/>
        </p:nvSpPr>
        <p:spPr>
          <a:xfrm>
            <a:off x="9912096" y="5276088"/>
            <a:ext cx="1645920" cy="271577"/>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Rodney Lynch</a:t>
            </a:r>
            <a:endParaRPr lang="en-US" sz="1150" dirty="0"/>
          </a:p>
        </p:txBody>
      </p:sp>
      <p:sp>
        <p:nvSpPr>
          <p:cNvPr id="69" name="Text 67"/>
          <p:cNvSpPr txBox="1"/>
          <p:nvPr/>
        </p:nvSpPr>
        <p:spPr>
          <a:xfrm>
            <a:off x="9912096" y="5522976"/>
            <a:ext cx="1216152" cy="253472"/>
          </a:xfrm>
          <a:prstGeom prst="rect">
            <a:avLst/>
          </a:prstGeom>
          <a:noFill/>
          <a:ln/>
        </p:spPr>
        <p:txBody>
          <a:bodyPr wrap="square" lIns="0" tIns="0" rIns="0" bIns="0" rtlCol="0" anchor="ctr"/>
          <a:lstStyle/>
          <a:p>
            <a:pPr indent="0" marL="0">
              <a:buNone/>
            </a:pPr>
            <a:r>
              <a:rPr lang="en-US" sz="900" dirty="0">
                <a:solidFill>
                  <a:srgbClr val="BDBDBD"/>
                </a:solidFill>
                <a:latin typeface="Arial" pitchFamily="34" charset="0"/>
                <a:ea typeface="Arial" pitchFamily="34" charset="-122"/>
                <a:cs typeface="Arial" pitchFamily="34" charset="-120"/>
              </a:rPr>
              <a:t>Project Manager</a:t>
            </a:r>
            <a:endParaRPr lang="en-US" sz="900" dirty="0"/>
          </a:p>
        </p:txBody>
      </p:sp>
      <p:sp>
        <p:nvSpPr>
          <p:cNvPr id="70" name="Text 68"/>
          <p:cNvSpPr txBox="1"/>
          <p:nvPr/>
        </p:nvSpPr>
        <p:spPr>
          <a:xfrm>
            <a:off x="11091672" y="5522976"/>
            <a:ext cx="475488" cy="253472"/>
          </a:xfrm>
          <a:prstGeom prst="rect">
            <a:avLst/>
          </a:prstGeom>
          <a:noFill/>
          <a:ln/>
        </p:spPr>
        <p:txBody>
          <a:bodyPr wrap="square" lIns="0" tIns="0" rIns="0" bIns="0" rtlCol="0" anchor="ctr"/>
          <a:lstStyle/>
          <a:p>
            <a:pPr algn="r" indent="0" marL="0">
              <a:buNone/>
            </a:pPr>
            <a:r>
              <a:rPr lang="en-US" sz="1050" b="1" dirty="0">
                <a:solidFill>
                  <a:srgbClr val="FCC30A"/>
                </a:solidFill>
                <a:latin typeface="Arial" pitchFamily="34" charset="0"/>
                <a:ea typeface="Arial" pitchFamily="34" charset="-122"/>
                <a:cs typeface="Arial" pitchFamily="34" charset="-120"/>
              </a:rPr>
              <a:t>5 yrs</a:t>
            </a:r>
            <a:endParaRPr lang="en-US" sz="1050" dirty="0"/>
          </a:p>
        </p:txBody>
      </p:sp>
      <p:sp>
        <p:nvSpPr>
          <p:cNvPr id="71" name="Text 69"/>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BDBDBD"/>
                </a:solidFill>
                <a:latin typeface="Arial" pitchFamily="34" charset="0"/>
                <a:ea typeface="Arial" pitchFamily="34" charset="-122"/>
                <a:cs typeface="Arial" pitchFamily="34" charset="-120"/>
              </a:rPr>
              <a:t>USA DeBusk  |  Valero Texas City  |  Heater Pigging &amp; Decoking Services</a:t>
            </a:r>
            <a:endParaRPr lang="en-US" sz="900" dirty="0"/>
          </a:p>
        </p:txBody>
      </p:sp>
      <p:sp>
        <p:nvSpPr>
          <p:cNvPr id="72" name="Text 70"/>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BDBDBD"/>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1E1E"/>
        </a:solidFill>
      </p:bgPr>
    </p:bg>
    <p:spTree>
      <p:nvGrpSpPr>
        <p:cNvPr id="1" name=""/>
        <p:cNvGrpSpPr/>
        <p:nvPr/>
      </p:nvGrpSpPr>
      <p:grpSpPr>
        <a:xfrm>
          <a:off x="0" y="0"/>
          <a:ext cx="0" cy="0"/>
          <a:chOff x="0" y="0"/>
          <a:chExt cx="0" cy="0"/>
        </a:xfrm>
      </p:grpSpPr>
      <p:pic>
        <p:nvPicPr>
          <p:cNvPr id="2" name="Image 0" descr="C:\Users\Jwuts\obsidian-work\02-facilities\Valero\Texas-City-TX\pigging-capabilities-presentation\build/img/slot_trimax.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C:\Users\Jwuts\obsidian-work\02-facilities\Valero\Texas-City-TX\pigging-capabilities-presentation\build/img/fade_left.png">    </p:cNvPr>
          <p:cNvPicPr>
            <a:picLocks noChangeAspect="1"/>
          </p:cNvPicPr>
          <p:nvPr/>
        </p:nvPicPr>
        <p:blipFill>
          <a:blip r:embed="rId2"/>
          <a:stretch>
            <a:fillRect/>
          </a:stretch>
        </p:blipFill>
        <p:spPr>
          <a:xfrm>
            <a:off x="0" y="0"/>
            <a:ext cx="12191695" cy="6858000"/>
          </a:xfrm>
          <a:prstGeom prst="rect">
            <a:avLst/>
          </a:prstGeom>
        </p:spPr>
      </p:pic>
      <p:pic>
        <p:nvPicPr>
          <p:cNvPr id="4" name="Image 2" descr="C:\Users\Jwuts\obsidian-work\02-facilities\Valero\Texas-City-TX\pigging-capabilities-presentation\build/img/fade_left.png">    </p:cNvPr>
          <p:cNvPicPr>
            <a:picLocks noChangeAspect="1"/>
          </p:cNvPicPr>
          <p:nvPr/>
        </p:nvPicPr>
        <p:blipFill>
          <a:blip r:embed="rId3"/>
          <a:stretch>
            <a:fillRect/>
          </a:stretch>
        </p:blipFill>
        <p:spPr>
          <a:xfrm>
            <a:off x="0" y="0"/>
            <a:ext cx="9601200" cy="6858000"/>
          </a:xfrm>
          <a:prstGeom prst="rect">
            <a:avLst/>
          </a:prstGeom>
        </p:spPr>
      </p:pic>
      <p:sp>
        <p:nvSpPr>
          <p:cNvPr id="5" name="Shape 0"/>
          <p:cNvSpPr/>
          <p:nvPr/>
        </p:nvSpPr>
        <p:spPr>
          <a:xfrm>
            <a:off x="548640" y="411480"/>
            <a:ext cx="3043714" cy="310896"/>
          </a:xfrm>
          <a:prstGeom prst="roundRect">
            <a:avLst>
              <a:gd name="adj" fmla="val 23529"/>
            </a:avLst>
          </a:prstGeom>
          <a:solidFill>
            <a:srgbClr val="FCC30A"/>
          </a:solidFill>
          <a:ln w="12700">
            <a:solidFill>
              <a:srgbClr val="FCC30A"/>
            </a:solidFill>
            <a:prstDash val="solid"/>
          </a:ln>
        </p:spPr>
      </p:sp>
      <p:sp>
        <p:nvSpPr>
          <p:cNvPr id="6" name="Text 1"/>
          <p:cNvSpPr txBox="1"/>
          <p:nvPr/>
        </p:nvSpPr>
        <p:spPr>
          <a:xfrm>
            <a:off x="548640" y="411480"/>
            <a:ext cx="3043714"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04   EQUIPMENT &amp; TECHNOLOGY</a:t>
            </a:r>
            <a:endParaRPr lang="en-US" sz="1050" dirty="0"/>
          </a:p>
        </p:txBody>
      </p:sp>
      <p:sp>
        <p:nvSpPr>
          <p:cNvPr id="7" name="Text 2"/>
          <p:cNvSpPr txBox="1"/>
          <p:nvPr/>
        </p:nvSpPr>
        <p:spPr>
          <a:xfrm>
            <a:off x="548640" y="841248"/>
            <a:ext cx="640080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The TriMax triple pumper</a:t>
            </a:r>
            <a:endParaRPr lang="en-US" sz="3200" dirty="0"/>
          </a:p>
        </p:txBody>
      </p:sp>
      <p:sp>
        <p:nvSpPr>
          <p:cNvPr id="8" name="Text 3"/>
          <p:cNvSpPr txBox="1"/>
          <p:nvPr/>
        </p:nvSpPr>
        <p:spPr>
          <a:xfrm>
            <a:off x="548640" y="1481328"/>
            <a:ext cx="6400800" cy="365760"/>
          </a:xfrm>
          <a:prstGeom prst="rect">
            <a:avLst/>
          </a:prstGeom>
          <a:noFill/>
          <a:ln/>
        </p:spPr>
        <p:txBody>
          <a:bodyPr wrap="square" lIns="0" tIns="0" rIns="0" bIns="0" rtlCol="0" anchor="t"/>
          <a:lstStyle/>
          <a:p>
            <a:pPr indent="0" marL="0">
              <a:buNone/>
            </a:pPr>
            <a:r>
              <a:rPr lang="en-US" sz="1500" dirty="0">
                <a:solidFill>
                  <a:srgbClr val="BDBDBD"/>
                </a:solidFill>
                <a:latin typeface="Arial" pitchFamily="34" charset="0"/>
                <a:ea typeface="Arial" pitchFamily="34" charset="-122"/>
                <a:cs typeface="Arial" pitchFamily="34" charset="-120"/>
              </a:rPr>
              <a:t>6 identical TriMax units, 18 engines: one standardized fleet</a:t>
            </a:r>
            <a:endParaRPr lang="en-US" sz="1500" dirty="0"/>
          </a:p>
        </p:txBody>
      </p:sp>
      <p:sp>
        <p:nvSpPr>
          <p:cNvPr id="9" name="Shape 4"/>
          <p:cNvSpPr/>
          <p:nvPr/>
        </p:nvSpPr>
        <p:spPr>
          <a:xfrm>
            <a:off x="548640" y="2011680"/>
            <a:ext cx="566928" cy="566928"/>
          </a:xfrm>
          <a:prstGeom prst="ellipse">
            <a:avLst/>
          </a:prstGeom>
          <a:solidFill>
            <a:srgbClr val="FCC30A"/>
          </a:solidFill>
          <a:ln w="12700">
            <a:solidFill>
              <a:srgbClr val="FCC30A"/>
            </a:solidFill>
            <a:prstDash val="solid"/>
          </a:ln>
        </p:spPr>
      </p:sp>
      <p:pic>
        <p:nvPicPr>
          <p:cNvPr id="10" name="Image 3" descr="preencoded.png">    </p:cNvPr>
          <p:cNvPicPr>
            <a:picLocks noChangeAspect="1"/>
          </p:cNvPicPr>
          <p:nvPr/>
        </p:nvPicPr>
        <p:blipFill>
          <a:blip r:embed="rId4"/>
          <a:stretch>
            <a:fillRect/>
          </a:stretch>
        </p:blipFill>
        <p:spPr>
          <a:xfrm>
            <a:off x="690372" y="2153412"/>
            <a:ext cx="283464" cy="283464"/>
          </a:xfrm>
          <a:prstGeom prst="rect">
            <a:avLst/>
          </a:prstGeom>
        </p:spPr>
      </p:pic>
      <p:sp>
        <p:nvSpPr>
          <p:cNvPr id="11" name="Text 5"/>
          <p:cNvSpPr txBox="1"/>
          <p:nvPr/>
        </p:nvSpPr>
        <p:spPr>
          <a:xfrm>
            <a:off x="1280160" y="1993392"/>
            <a:ext cx="512064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Three independent pump systems</a:t>
            </a:r>
            <a:endParaRPr lang="en-US" sz="1600" dirty="0"/>
          </a:p>
        </p:txBody>
      </p:sp>
      <p:sp>
        <p:nvSpPr>
          <p:cNvPr id="12" name="Text 6"/>
          <p:cNvSpPr txBox="1"/>
          <p:nvPr/>
        </p:nvSpPr>
        <p:spPr>
          <a:xfrm>
            <a:off x="1280160" y="2304288"/>
            <a:ext cx="5120640" cy="274320"/>
          </a:xfrm>
          <a:prstGeom prst="rect">
            <a:avLst/>
          </a:prstGeom>
          <a:noFill/>
          <a:ln/>
        </p:spPr>
        <p:txBody>
          <a:bodyPr wrap="square" lIns="0" tIns="0" rIns="0" bIns="0" rtlCol="0" anchor="ctr"/>
          <a:lstStyle/>
          <a:p>
            <a:pPr indent="0" marL="0">
              <a:buNone/>
            </a:pPr>
            <a:r>
              <a:rPr lang="en-US" sz="1200" dirty="0">
                <a:solidFill>
                  <a:srgbClr val="BDBDBD"/>
                </a:solidFill>
                <a:latin typeface="Arial" pitchFamily="34" charset="0"/>
                <a:ea typeface="Arial" pitchFamily="34" charset="-122"/>
                <a:cs typeface="Arial" pitchFamily="34" charset="-120"/>
              </a:rPr>
              <a:t>Closed-loop, bi-directional; 50% more productive than a twin pumper</a:t>
            </a:r>
            <a:endParaRPr lang="en-US" sz="1200" dirty="0"/>
          </a:p>
        </p:txBody>
      </p:sp>
      <p:sp>
        <p:nvSpPr>
          <p:cNvPr id="13" name="Shape 7"/>
          <p:cNvSpPr/>
          <p:nvPr/>
        </p:nvSpPr>
        <p:spPr>
          <a:xfrm>
            <a:off x="548640" y="2743200"/>
            <a:ext cx="566928" cy="566928"/>
          </a:xfrm>
          <a:prstGeom prst="ellipse">
            <a:avLst/>
          </a:prstGeom>
          <a:solidFill>
            <a:srgbClr val="FCC30A"/>
          </a:solidFill>
          <a:ln w="12700">
            <a:solidFill>
              <a:srgbClr val="FCC30A"/>
            </a:solidFill>
            <a:prstDash val="solid"/>
          </a:ln>
        </p:spPr>
      </p:sp>
      <p:pic>
        <p:nvPicPr>
          <p:cNvPr id="14" name="Image 4" descr="preencoded.png">    </p:cNvPr>
          <p:cNvPicPr>
            <a:picLocks noChangeAspect="1"/>
          </p:cNvPicPr>
          <p:nvPr/>
        </p:nvPicPr>
        <p:blipFill>
          <a:blip r:embed="rId5"/>
          <a:stretch>
            <a:fillRect/>
          </a:stretch>
        </p:blipFill>
        <p:spPr>
          <a:xfrm>
            <a:off x="690372" y="2884932"/>
            <a:ext cx="283464" cy="283464"/>
          </a:xfrm>
          <a:prstGeom prst="rect">
            <a:avLst/>
          </a:prstGeom>
        </p:spPr>
      </p:pic>
      <p:sp>
        <p:nvSpPr>
          <p:cNvPr id="15" name="Text 8"/>
          <p:cNvSpPr txBox="1"/>
          <p:nvPr/>
        </p:nvSpPr>
        <p:spPr>
          <a:xfrm>
            <a:off x="1280160" y="2724912"/>
            <a:ext cx="512064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Automated HMI control</a:t>
            </a:r>
            <a:endParaRPr lang="en-US" sz="1600" dirty="0"/>
          </a:p>
        </p:txBody>
      </p:sp>
      <p:sp>
        <p:nvSpPr>
          <p:cNvPr id="16" name="Text 9"/>
          <p:cNvSpPr txBox="1"/>
          <p:nvPr/>
        </p:nvSpPr>
        <p:spPr>
          <a:xfrm>
            <a:off x="1280160" y="3035808"/>
            <a:ext cx="5120640" cy="274320"/>
          </a:xfrm>
          <a:prstGeom prst="rect">
            <a:avLst/>
          </a:prstGeom>
          <a:noFill/>
          <a:ln/>
        </p:spPr>
        <p:txBody>
          <a:bodyPr wrap="square" lIns="0" tIns="0" rIns="0" bIns="0" rtlCol="0" anchor="ctr"/>
          <a:lstStyle/>
          <a:p>
            <a:pPr indent="0" marL="0">
              <a:buNone/>
            </a:pPr>
            <a:r>
              <a:rPr lang="en-US" sz="1200" dirty="0">
                <a:solidFill>
                  <a:srgbClr val="BDBDBD"/>
                </a:solidFill>
                <a:latin typeface="Arial" pitchFamily="34" charset="0"/>
                <a:ea typeface="Arial" pitchFamily="34" charset="-122"/>
                <a:cs typeface="Arial" pitchFamily="34" charset="-120"/>
              </a:rPr>
              <a:t>Three 17" touchscreens, automated digital pig logs</a:t>
            </a:r>
            <a:endParaRPr lang="en-US" sz="1200" dirty="0"/>
          </a:p>
        </p:txBody>
      </p:sp>
      <p:sp>
        <p:nvSpPr>
          <p:cNvPr id="17" name="Shape 10"/>
          <p:cNvSpPr/>
          <p:nvPr/>
        </p:nvSpPr>
        <p:spPr>
          <a:xfrm>
            <a:off x="548640" y="3474720"/>
            <a:ext cx="566928" cy="566928"/>
          </a:xfrm>
          <a:prstGeom prst="ellipse">
            <a:avLst/>
          </a:prstGeom>
          <a:solidFill>
            <a:srgbClr val="FCC30A"/>
          </a:solidFill>
          <a:ln w="12700">
            <a:solidFill>
              <a:srgbClr val="FCC30A"/>
            </a:solidFill>
            <a:prstDash val="solid"/>
          </a:ln>
        </p:spPr>
      </p:sp>
      <p:pic>
        <p:nvPicPr>
          <p:cNvPr id="18" name="Image 5" descr="preencoded.png">    </p:cNvPr>
          <p:cNvPicPr>
            <a:picLocks noChangeAspect="1"/>
          </p:cNvPicPr>
          <p:nvPr/>
        </p:nvPicPr>
        <p:blipFill>
          <a:blip r:embed="rId6"/>
          <a:stretch>
            <a:fillRect/>
          </a:stretch>
        </p:blipFill>
        <p:spPr>
          <a:xfrm>
            <a:off x="690372" y="3616452"/>
            <a:ext cx="283464" cy="283464"/>
          </a:xfrm>
          <a:prstGeom prst="rect">
            <a:avLst/>
          </a:prstGeom>
        </p:spPr>
      </p:pic>
      <p:sp>
        <p:nvSpPr>
          <p:cNvPr id="19" name="Text 11"/>
          <p:cNvSpPr txBox="1"/>
          <p:nvPr/>
        </p:nvSpPr>
        <p:spPr>
          <a:xfrm>
            <a:off x="1280160" y="3456432"/>
            <a:ext cx="512064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150–300 psi working pressure</a:t>
            </a:r>
            <a:endParaRPr lang="en-US" sz="1600" dirty="0"/>
          </a:p>
        </p:txBody>
      </p:sp>
      <p:sp>
        <p:nvSpPr>
          <p:cNvPr id="20" name="Text 12"/>
          <p:cNvSpPr txBox="1"/>
          <p:nvPr/>
        </p:nvSpPr>
        <p:spPr>
          <a:xfrm>
            <a:off x="1280160" y="3767328"/>
            <a:ext cx="5120640" cy="274320"/>
          </a:xfrm>
          <a:prstGeom prst="rect">
            <a:avLst/>
          </a:prstGeom>
          <a:noFill/>
          <a:ln/>
        </p:spPr>
        <p:txBody>
          <a:bodyPr wrap="square" lIns="0" tIns="0" rIns="0" bIns="0" rtlCol="0" anchor="ctr"/>
          <a:lstStyle/>
          <a:p>
            <a:pPr indent="0" marL="0">
              <a:buNone/>
            </a:pPr>
            <a:r>
              <a:rPr lang="en-US" sz="1200" dirty="0">
                <a:solidFill>
                  <a:srgbClr val="BDBDBD"/>
                </a:solidFill>
                <a:latin typeface="Arial" pitchFamily="34" charset="0"/>
                <a:ea typeface="Arial" pitchFamily="34" charset="-122"/>
                <a:cs typeface="Arial" pitchFamily="34" charset="-120"/>
              </a:rPr>
              <a:t>Pump rated 600 psi; 500–550 psi effective after valve losses</a:t>
            </a:r>
            <a:endParaRPr lang="en-US" sz="1200" dirty="0"/>
          </a:p>
        </p:txBody>
      </p:sp>
      <p:sp>
        <p:nvSpPr>
          <p:cNvPr id="21" name="Shape 13"/>
          <p:cNvSpPr/>
          <p:nvPr/>
        </p:nvSpPr>
        <p:spPr>
          <a:xfrm>
            <a:off x="548640" y="4206240"/>
            <a:ext cx="566928" cy="566928"/>
          </a:xfrm>
          <a:prstGeom prst="ellipse">
            <a:avLst/>
          </a:prstGeom>
          <a:solidFill>
            <a:srgbClr val="FCC30A"/>
          </a:solidFill>
          <a:ln w="12700">
            <a:solidFill>
              <a:srgbClr val="FCC30A"/>
            </a:solidFill>
            <a:prstDash val="solid"/>
          </a:ln>
        </p:spPr>
      </p:sp>
      <p:pic>
        <p:nvPicPr>
          <p:cNvPr id="22" name="Image 6" descr="preencoded.png">    </p:cNvPr>
          <p:cNvPicPr>
            <a:picLocks noChangeAspect="1"/>
          </p:cNvPicPr>
          <p:nvPr/>
        </p:nvPicPr>
        <p:blipFill>
          <a:blip r:embed="rId7"/>
          <a:stretch>
            <a:fillRect/>
          </a:stretch>
        </p:blipFill>
        <p:spPr>
          <a:xfrm>
            <a:off x="690372" y="4347972"/>
            <a:ext cx="283464" cy="283464"/>
          </a:xfrm>
          <a:prstGeom prst="rect">
            <a:avLst/>
          </a:prstGeom>
        </p:spPr>
      </p:pic>
      <p:sp>
        <p:nvSpPr>
          <p:cNvPr id="23" name="Text 14"/>
          <p:cNvSpPr txBox="1"/>
          <p:nvPr/>
        </p:nvSpPr>
        <p:spPr>
          <a:xfrm>
            <a:off x="1280160" y="4187952"/>
            <a:ext cx="512064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Real-time sensor data</a:t>
            </a:r>
            <a:endParaRPr lang="en-US" sz="1600" dirty="0"/>
          </a:p>
        </p:txBody>
      </p:sp>
      <p:sp>
        <p:nvSpPr>
          <p:cNvPr id="24" name="Text 15"/>
          <p:cNvSpPr txBox="1"/>
          <p:nvPr/>
        </p:nvSpPr>
        <p:spPr>
          <a:xfrm>
            <a:off x="1280160" y="4498848"/>
            <a:ext cx="5120640" cy="274320"/>
          </a:xfrm>
          <a:prstGeom prst="rect">
            <a:avLst/>
          </a:prstGeom>
          <a:noFill/>
          <a:ln/>
        </p:spPr>
        <p:txBody>
          <a:bodyPr wrap="square" lIns="0" tIns="0" rIns="0" bIns="0" rtlCol="0" anchor="ctr"/>
          <a:lstStyle/>
          <a:p>
            <a:pPr indent="0" marL="0">
              <a:buNone/>
            </a:pPr>
            <a:r>
              <a:rPr lang="en-US" sz="1200" dirty="0">
                <a:solidFill>
                  <a:srgbClr val="BDBDBD"/>
                </a:solidFill>
                <a:latin typeface="Arial" pitchFamily="34" charset="0"/>
                <a:ea typeface="Arial" pitchFamily="34" charset="-122"/>
                <a:cs typeface="Arial" pitchFamily="34" charset="-120"/>
              </a:rPr>
              <a:t>Coke shows as pressure spikes at the operator interface</a:t>
            </a:r>
            <a:endParaRPr lang="en-US" sz="1200" dirty="0"/>
          </a:p>
        </p:txBody>
      </p:sp>
      <p:sp>
        <p:nvSpPr>
          <p:cNvPr id="25" name="Shape 16"/>
          <p:cNvSpPr/>
          <p:nvPr/>
        </p:nvSpPr>
        <p:spPr>
          <a:xfrm>
            <a:off x="548640" y="4937760"/>
            <a:ext cx="566928" cy="566928"/>
          </a:xfrm>
          <a:prstGeom prst="ellipse">
            <a:avLst/>
          </a:prstGeom>
          <a:solidFill>
            <a:srgbClr val="FCC30A"/>
          </a:solidFill>
          <a:ln w="12700">
            <a:solidFill>
              <a:srgbClr val="FCC30A"/>
            </a:solidFill>
            <a:prstDash val="solid"/>
          </a:ln>
        </p:spPr>
      </p:sp>
      <p:pic>
        <p:nvPicPr>
          <p:cNvPr id="26" name="Image 7" descr="preencoded.png">    </p:cNvPr>
          <p:cNvPicPr>
            <a:picLocks noChangeAspect="1"/>
          </p:cNvPicPr>
          <p:nvPr/>
        </p:nvPicPr>
        <p:blipFill>
          <a:blip r:embed="rId8"/>
          <a:stretch>
            <a:fillRect/>
          </a:stretch>
        </p:blipFill>
        <p:spPr>
          <a:xfrm>
            <a:off x="690372" y="5079492"/>
            <a:ext cx="283464" cy="283464"/>
          </a:xfrm>
          <a:prstGeom prst="rect">
            <a:avLst/>
          </a:prstGeom>
        </p:spPr>
      </p:pic>
      <p:sp>
        <p:nvSpPr>
          <p:cNvPr id="27" name="Text 17"/>
          <p:cNvSpPr txBox="1"/>
          <p:nvPr/>
        </p:nvSpPr>
        <p:spPr>
          <a:xfrm>
            <a:off x="1280160" y="4919472"/>
            <a:ext cx="512064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Cummins QSL9, 333 bhp, Tier 4 Final</a:t>
            </a:r>
            <a:endParaRPr lang="en-US" sz="1600" dirty="0"/>
          </a:p>
        </p:txBody>
      </p:sp>
      <p:sp>
        <p:nvSpPr>
          <p:cNvPr id="28" name="Text 18"/>
          <p:cNvSpPr txBox="1"/>
          <p:nvPr/>
        </p:nvSpPr>
        <p:spPr>
          <a:xfrm>
            <a:off x="1280160" y="5230368"/>
            <a:ext cx="5120640" cy="274320"/>
          </a:xfrm>
          <a:prstGeom prst="rect">
            <a:avLst/>
          </a:prstGeom>
          <a:noFill/>
          <a:ln/>
        </p:spPr>
        <p:txBody>
          <a:bodyPr wrap="square" lIns="0" tIns="0" rIns="0" bIns="0" rtlCol="0" anchor="ctr"/>
          <a:lstStyle/>
          <a:p>
            <a:pPr indent="0" marL="0">
              <a:buNone/>
            </a:pPr>
            <a:r>
              <a:rPr lang="en-US" sz="1200" dirty="0">
                <a:solidFill>
                  <a:srgbClr val="BDBDBD"/>
                </a:solidFill>
                <a:latin typeface="Arial" pitchFamily="34" charset="0"/>
                <a:ea typeface="Arial" pitchFamily="34" charset="-122"/>
                <a:cs typeface="Arial" pitchFamily="34" charset="-120"/>
              </a:rPr>
              <a:t>The same engine across all 18 pumps in the fleet</a:t>
            </a:r>
            <a:endParaRPr lang="en-US" sz="1200" dirty="0"/>
          </a:p>
        </p:txBody>
      </p:sp>
      <p:sp>
        <p:nvSpPr>
          <p:cNvPr id="29" name="Text 19"/>
          <p:cNvSpPr txBox="1"/>
          <p:nvPr/>
        </p:nvSpPr>
        <p:spPr>
          <a:xfrm>
            <a:off x="548640" y="5513832"/>
            <a:ext cx="3657600" cy="201168"/>
          </a:xfrm>
          <a:prstGeom prst="rect">
            <a:avLst/>
          </a:prstGeom>
          <a:noFill/>
          <a:ln/>
        </p:spPr>
        <p:txBody>
          <a:bodyPr wrap="square" lIns="0" tIns="0" rIns="0" bIns="0" rtlCol="0" anchor="ctr"/>
          <a:lstStyle/>
          <a:p>
            <a:pPr indent="0" marL="0">
              <a:buNone/>
            </a:pPr>
            <a:r>
              <a:rPr lang="en-US" sz="950" b="1" spc="100" kern="0" dirty="0">
                <a:solidFill>
                  <a:srgbClr val="BDBDBD"/>
                </a:solidFill>
                <a:latin typeface="Arial" pitchFamily="34" charset="0"/>
                <a:ea typeface="Arial" pitchFamily="34" charset="-122"/>
                <a:cs typeface="Arial" pitchFamily="34" charset="-120"/>
              </a:rPr>
              <a:t>OPERATING PRESSURE, PSI</a:t>
            </a:r>
            <a:endParaRPr lang="en-US" sz="950" dirty="0"/>
          </a:p>
        </p:txBody>
      </p:sp>
      <p:sp>
        <p:nvSpPr>
          <p:cNvPr id="30" name="Shape 20"/>
          <p:cNvSpPr/>
          <p:nvPr/>
        </p:nvSpPr>
        <p:spPr>
          <a:xfrm>
            <a:off x="548640" y="5897880"/>
            <a:ext cx="5760720" cy="164592"/>
          </a:xfrm>
          <a:prstGeom prst="rect">
            <a:avLst/>
          </a:prstGeom>
          <a:solidFill>
            <a:srgbClr val="3A3A3A"/>
          </a:solidFill>
          <a:ln w="12700">
            <a:solidFill>
              <a:srgbClr val="3A3A3A"/>
            </a:solidFill>
            <a:prstDash val="solid"/>
          </a:ln>
        </p:spPr>
      </p:sp>
      <p:sp>
        <p:nvSpPr>
          <p:cNvPr id="31" name="Shape 21"/>
          <p:cNvSpPr/>
          <p:nvPr/>
        </p:nvSpPr>
        <p:spPr>
          <a:xfrm>
            <a:off x="1988820" y="5897880"/>
            <a:ext cx="1440180" cy="164592"/>
          </a:xfrm>
          <a:prstGeom prst="rect">
            <a:avLst/>
          </a:prstGeom>
          <a:solidFill>
            <a:srgbClr val="FCC30A"/>
          </a:solidFill>
          <a:ln w="12700">
            <a:solidFill>
              <a:srgbClr val="FCC30A"/>
            </a:solidFill>
            <a:prstDash val="solid"/>
          </a:ln>
        </p:spPr>
      </p:sp>
      <p:sp>
        <p:nvSpPr>
          <p:cNvPr id="32" name="Shape 22"/>
          <p:cNvSpPr/>
          <p:nvPr/>
        </p:nvSpPr>
        <p:spPr>
          <a:xfrm>
            <a:off x="5349240" y="5897880"/>
            <a:ext cx="480060" cy="164592"/>
          </a:xfrm>
          <a:prstGeom prst="rect">
            <a:avLst/>
          </a:prstGeom>
          <a:solidFill>
            <a:srgbClr val="B8860B"/>
          </a:solidFill>
          <a:ln w="12700">
            <a:solidFill>
              <a:srgbClr val="B8860B"/>
            </a:solidFill>
            <a:prstDash val="solid"/>
          </a:ln>
        </p:spPr>
      </p:sp>
      <p:sp>
        <p:nvSpPr>
          <p:cNvPr id="33" name="Shape 23"/>
          <p:cNvSpPr/>
          <p:nvPr/>
        </p:nvSpPr>
        <p:spPr>
          <a:xfrm>
            <a:off x="6309360" y="5824728"/>
            <a:ext cx="0" cy="310896"/>
          </a:xfrm>
          <a:prstGeom prst="line">
            <a:avLst/>
          </a:prstGeom>
          <a:noFill/>
          <a:ln w="19050">
            <a:solidFill>
              <a:srgbClr val="FFFFFF"/>
            </a:solidFill>
            <a:prstDash val="solid"/>
          </a:ln>
        </p:spPr>
      </p:sp>
      <p:sp>
        <p:nvSpPr>
          <p:cNvPr id="34" name="Text 24"/>
          <p:cNvSpPr txBox="1"/>
          <p:nvPr/>
        </p:nvSpPr>
        <p:spPr>
          <a:xfrm>
            <a:off x="274320" y="6099048"/>
            <a:ext cx="548640" cy="182880"/>
          </a:xfrm>
          <a:prstGeom prst="rect">
            <a:avLst/>
          </a:prstGeom>
          <a:noFill/>
          <a:ln/>
        </p:spPr>
        <p:txBody>
          <a:bodyPr wrap="square" lIns="0" tIns="0" rIns="0" bIns="0" rtlCol="0" anchor="ctr"/>
          <a:lstStyle/>
          <a:p>
            <a:pPr algn="ctr" indent="0" marL="0">
              <a:buNone/>
            </a:pPr>
            <a:r>
              <a:rPr lang="en-US" sz="900" dirty="0">
                <a:solidFill>
                  <a:srgbClr val="BDBDBD"/>
                </a:solidFill>
                <a:latin typeface="Arial" pitchFamily="34" charset="0"/>
                <a:ea typeface="Arial" pitchFamily="34" charset="-122"/>
                <a:cs typeface="Arial" pitchFamily="34" charset="-120"/>
              </a:rPr>
              <a:t>0</a:t>
            </a:r>
            <a:endParaRPr lang="en-US" sz="900" dirty="0"/>
          </a:p>
        </p:txBody>
      </p:sp>
      <p:sp>
        <p:nvSpPr>
          <p:cNvPr id="35" name="Text 25"/>
          <p:cNvSpPr txBox="1"/>
          <p:nvPr/>
        </p:nvSpPr>
        <p:spPr>
          <a:xfrm>
            <a:off x="1714500" y="6099048"/>
            <a:ext cx="548640" cy="182880"/>
          </a:xfrm>
          <a:prstGeom prst="rect">
            <a:avLst/>
          </a:prstGeom>
          <a:noFill/>
          <a:ln/>
        </p:spPr>
        <p:txBody>
          <a:bodyPr wrap="square" lIns="0" tIns="0" rIns="0" bIns="0" rtlCol="0" anchor="ctr"/>
          <a:lstStyle/>
          <a:p>
            <a:pPr algn="ctr" indent="0" marL="0">
              <a:buNone/>
            </a:pPr>
            <a:r>
              <a:rPr lang="en-US" sz="900" dirty="0">
                <a:solidFill>
                  <a:srgbClr val="BDBDBD"/>
                </a:solidFill>
                <a:latin typeface="Arial" pitchFamily="34" charset="0"/>
                <a:ea typeface="Arial" pitchFamily="34" charset="-122"/>
                <a:cs typeface="Arial" pitchFamily="34" charset="-120"/>
              </a:rPr>
              <a:t>150</a:t>
            </a:r>
            <a:endParaRPr lang="en-US" sz="900" dirty="0"/>
          </a:p>
        </p:txBody>
      </p:sp>
      <p:sp>
        <p:nvSpPr>
          <p:cNvPr id="36" name="Text 26"/>
          <p:cNvSpPr txBox="1"/>
          <p:nvPr/>
        </p:nvSpPr>
        <p:spPr>
          <a:xfrm>
            <a:off x="3154680" y="6099048"/>
            <a:ext cx="548640" cy="182880"/>
          </a:xfrm>
          <a:prstGeom prst="rect">
            <a:avLst/>
          </a:prstGeom>
          <a:noFill/>
          <a:ln/>
        </p:spPr>
        <p:txBody>
          <a:bodyPr wrap="square" lIns="0" tIns="0" rIns="0" bIns="0" rtlCol="0" anchor="ctr"/>
          <a:lstStyle/>
          <a:p>
            <a:pPr algn="ctr" indent="0" marL="0">
              <a:buNone/>
            </a:pPr>
            <a:r>
              <a:rPr lang="en-US" sz="900" dirty="0">
                <a:solidFill>
                  <a:srgbClr val="BDBDBD"/>
                </a:solidFill>
                <a:latin typeface="Arial" pitchFamily="34" charset="0"/>
                <a:ea typeface="Arial" pitchFamily="34" charset="-122"/>
                <a:cs typeface="Arial" pitchFamily="34" charset="-120"/>
              </a:rPr>
              <a:t>300</a:t>
            </a:r>
            <a:endParaRPr lang="en-US" sz="900" dirty="0"/>
          </a:p>
        </p:txBody>
      </p:sp>
      <p:sp>
        <p:nvSpPr>
          <p:cNvPr id="37" name="Text 27"/>
          <p:cNvSpPr txBox="1"/>
          <p:nvPr/>
        </p:nvSpPr>
        <p:spPr>
          <a:xfrm>
            <a:off x="5074920" y="6099048"/>
            <a:ext cx="548640" cy="182880"/>
          </a:xfrm>
          <a:prstGeom prst="rect">
            <a:avLst/>
          </a:prstGeom>
          <a:noFill/>
          <a:ln/>
        </p:spPr>
        <p:txBody>
          <a:bodyPr wrap="square" lIns="0" tIns="0" rIns="0" bIns="0" rtlCol="0" anchor="ctr"/>
          <a:lstStyle/>
          <a:p>
            <a:pPr algn="ctr" indent="0" marL="0">
              <a:buNone/>
            </a:pPr>
            <a:r>
              <a:rPr lang="en-US" sz="900" dirty="0">
                <a:solidFill>
                  <a:srgbClr val="BDBDBD"/>
                </a:solidFill>
                <a:latin typeface="Arial" pitchFamily="34" charset="0"/>
                <a:ea typeface="Arial" pitchFamily="34" charset="-122"/>
                <a:cs typeface="Arial" pitchFamily="34" charset="-120"/>
              </a:rPr>
              <a:t>500</a:t>
            </a:r>
            <a:endParaRPr lang="en-US" sz="900" dirty="0"/>
          </a:p>
        </p:txBody>
      </p:sp>
      <p:sp>
        <p:nvSpPr>
          <p:cNvPr id="38" name="Text 28"/>
          <p:cNvSpPr txBox="1"/>
          <p:nvPr/>
        </p:nvSpPr>
        <p:spPr>
          <a:xfrm>
            <a:off x="6035040" y="6099048"/>
            <a:ext cx="548640" cy="182880"/>
          </a:xfrm>
          <a:prstGeom prst="rect">
            <a:avLst/>
          </a:prstGeom>
          <a:noFill/>
          <a:ln/>
        </p:spPr>
        <p:txBody>
          <a:bodyPr wrap="square" lIns="0" tIns="0" rIns="0" bIns="0" rtlCol="0" anchor="ctr"/>
          <a:lstStyle/>
          <a:p>
            <a:pPr algn="ctr" indent="0" marL="0">
              <a:buNone/>
            </a:pPr>
            <a:r>
              <a:rPr lang="en-US" sz="900" dirty="0">
                <a:solidFill>
                  <a:srgbClr val="BDBDBD"/>
                </a:solidFill>
                <a:latin typeface="Arial" pitchFamily="34" charset="0"/>
                <a:ea typeface="Arial" pitchFamily="34" charset="-122"/>
                <a:cs typeface="Arial" pitchFamily="34" charset="-120"/>
              </a:rPr>
              <a:t>600</a:t>
            </a:r>
            <a:endParaRPr lang="en-US" sz="900" dirty="0"/>
          </a:p>
        </p:txBody>
      </p:sp>
      <p:sp>
        <p:nvSpPr>
          <p:cNvPr id="39" name="Text 29"/>
          <p:cNvSpPr txBox="1"/>
          <p:nvPr/>
        </p:nvSpPr>
        <p:spPr>
          <a:xfrm>
            <a:off x="1988820" y="5678424"/>
            <a:ext cx="1440180" cy="182880"/>
          </a:xfrm>
          <a:prstGeom prst="rect">
            <a:avLst/>
          </a:prstGeom>
          <a:noFill/>
          <a:ln/>
        </p:spPr>
        <p:txBody>
          <a:bodyPr wrap="square" lIns="0" tIns="0" rIns="0" bIns="0" rtlCol="0" anchor="ctr"/>
          <a:lstStyle/>
          <a:p>
            <a:pPr algn="ctr" indent="0" marL="0">
              <a:buNone/>
            </a:pPr>
            <a:r>
              <a:rPr lang="en-US" sz="950" b="1" dirty="0">
                <a:solidFill>
                  <a:srgbClr val="FCC30A"/>
                </a:solidFill>
                <a:latin typeface="Arial" pitchFamily="34" charset="0"/>
                <a:ea typeface="Arial" pitchFamily="34" charset="-122"/>
                <a:cs typeface="Arial" pitchFamily="34" charset="-120"/>
              </a:rPr>
              <a:t>Normal pigging</a:t>
            </a:r>
            <a:endParaRPr lang="en-US" sz="950" dirty="0"/>
          </a:p>
        </p:txBody>
      </p:sp>
      <p:sp>
        <p:nvSpPr>
          <p:cNvPr id="40" name="Text 30"/>
          <p:cNvSpPr txBox="1"/>
          <p:nvPr/>
        </p:nvSpPr>
        <p:spPr>
          <a:xfrm>
            <a:off x="4773168" y="5678424"/>
            <a:ext cx="1632204" cy="182880"/>
          </a:xfrm>
          <a:prstGeom prst="rect">
            <a:avLst/>
          </a:prstGeom>
          <a:noFill/>
          <a:ln/>
        </p:spPr>
        <p:txBody>
          <a:bodyPr wrap="square" lIns="0" tIns="0" rIns="0" bIns="0" rtlCol="0" anchor="ctr"/>
          <a:lstStyle/>
          <a:p>
            <a:pPr algn="ctr" indent="0" marL="0">
              <a:buNone/>
            </a:pPr>
            <a:r>
              <a:rPr lang="en-US" sz="950" b="1" dirty="0">
                <a:solidFill>
                  <a:srgbClr val="E0B000"/>
                </a:solidFill>
                <a:latin typeface="Arial" pitchFamily="34" charset="0"/>
                <a:ea typeface="Arial" pitchFamily="34" charset="-122"/>
                <a:cs typeface="Arial" pitchFamily="34" charset="-120"/>
              </a:rPr>
              <a:t>Effective max</a:t>
            </a:r>
            <a:endParaRPr lang="en-US" sz="950" dirty="0"/>
          </a:p>
        </p:txBody>
      </p:sp>
      <p:sp>
        <p:nvSpPr>
          <p:cNvPr id="41" name="Text 31"/>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BDBDBD"/>
                </a:solidFill>
                <a:latin typeface="Arial" pitchFamily="34" charset="0"/>
                <a:ea typeface="Arial" pitchFamily="34" charset="-122"/>
                <a:cs typeface="Arial" pitchFamily="34" charset="-120"/>
              </a:rPr>
              <a:t>USA DeBusk  |  Valero Texas City  |  Heater Pigging &amp; Decoking Services</a:t>
            </a:r>
            <a:endParaRPr lang="en-US" sz="900" dirty="0"/>
          </a:p>
        </p:txBody>
      </p:sp>
      <p:sp>
        <p:nvSpPr>
          <p:cNvPr id="42" name="Text 32"/>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BDBDBD"/>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3043714" cy="310896"/>
          </a:xfrm>
          <a:prstGeom prst="roundRect">
            <a:avLst>
              <a:gd name="adj" fmla="val 23529"/>
            </a:avLst>
          </a:prstGeom>
          <a:solidFill>
            <a:srgbClr val="FCC30A"/>
          </a:solidFill>
          <a:ln w="12700">
            <a:solidFill>
              <a:srgbClr val="FCC30A"/>
            </a:solidFill>
            <a:prstDash val="solid"/>
          </a:ln>
        </p:spPr>
      </p:sp>
      <p:sp>
        <p:nvSpPr>
          <p:cNvPr id="3" name="Text 1"/>
          <p:cNvSpPr txBox="1"/>
          <p:nvPr/>
        </p:nvSpPr>
        <p:spPr>
          <a:xfrm>
            <a:off x="548640" y="411480"/>
            <a:ext cx="3043714"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04   EQUIPMENT &amp; TECHNOLOGY</a:t>
            </a:r>
            <a:endParaRPr lang="en-US" sz="1050" dirty="0"/>
          </a:p>
        </p:txBody>
      </p:sp>
      <p:sp>
        <p:nvSpPr>
          <p:cNvPr id="4" name="Text 2"/>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3200" b="1" dirty="0">
                <a:solidFill>
                  <a:srgbClr val="222222"/>
                </a:solidFill>
                <a:latin typeface="Arial" pitchFamily="34" charset="0"/>
                <a:ea typeface="Arial" pitchFamily="34" charset="-122"/>
                <a:cs typeface="Arial" pitchFamily="34" charset="-120"/>
              </a:rPr>
              <a:t>TriMax pump performance</a:t>
            </a:r>
            <a:endParaRPr lang="en-US" sz="3200" dirty="0"/>
          </a:p>
        </p:txBody>
      </p:sp>
      <p:sp>
        <p:nvSpPr>
          <p:cNvPr id="5" name="Text 3"/>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5E5E5E"/>
                </a:solidFill>
                <a:latin typeface="Arial" pitchFamily="34" charset="0"/>
                <a:ea typeface="Arial" pitchFamily="34" charset="-122"/>
                <a:cs typeface="Arial" pitchFamily="34" charset="-120"/>
              </a:rPr>
              <a:t>Waterous CMU two-stage pump, one per pass: series-operation curve, as used for pigging</a:t>
            </a:r>
            <a:endParaRPr lang="en-US" sz="1500" dirty="0"/>
          </a:p>
        </p:txBody>
      </p:sp>
      <p:sp>
        <p:nvSpPr>
          <p:cNvPr id="6" name="Shape 4"/>
          <p:cNvSpPr/>
          <p:nvPr/>
        </p:nvSpPr>
        <p:spPr>
          <a:xfrm>
            <a:off x="502920" y="1920240"/>
            <a:ext cx="3688293" cy="4206240"/>
          </a:xfrm>
          <a:prstGeom prst="rect">
            <a:avLst/>
          </a:prstGeom>
          <a:solidFill>
            <a:srgbClr val="FFFFFF"/>
          </a:solidFill>
          <a:ln w="12700">
            <a:solidFill>
              <a:srgbClr val="DDDDDD"/>
            </a:solidFill>
            <a:prstDash val="solid"/>
          </a:ln>
        </p:spPr>
      </p:sp>
      <p:pic>
        <p:nvPicPr>
          <p:cNvPr id="7" name="Image 0" descr="C:\Users\Jwuts\obsidian-work\02-facilities\Valero\Texas-City-TX\pigging-capabilities-presentation\build/img/pump_series.png">    </p:cNvPr>
          <p:cNvPicPr>
            <a:picLocks noChangeAspect="1"/>
          </p:cNvPicPr>
          <p:nvPr/>
        </p:nvPicPr>
        <p:blipFill>
          <a:blip r:embed="rId1"/>
          <a:stretch>
            <a:fillRect/>
          </a:stretch>
        </p:blipFill>
        <p:spPr>
          <a:xfrm>
            <a:off x="548640" y="1965960"/>
            <a:ext cx="3596853" cy="4114800"/>
          </a:xfrm>
          <a:prstGeom prst="rect">
            <a:avLst/>
          </a:prstGeom>
        </p:spPr>
      </p:pic>
      <p:sp>
        <p:nvSpPr>
          <p:cNvPr id="8" name="Shape 5"/>
          <p:cNvSpPr/>
          <p:nvPr/>
        </p:nvSpPr>
        <p:spPr>
          <a:xfrm>
            <a:off x="1214058" y="4253559"/>
            <a:ext cx="2373923" cy="143874"/>
          </a:xfrm>
          <a:prstGeom prst="rect">
            <a:avLst/>
          </a:prstGeom>
          <a:solidFill>
            <a:srgbClr val="FCC30A">
              <a:alpha val="55000"/>
            </a:srgbClr>
          </a:solidFill>
          <a:ln w="12700">
            <a:solidFill>
              <a:srgbClr val="B8860B"/>
            </a:solidFill>
            <a:prstDash val="solid"/>
          </a:ln>
        </p:spPr>
      </p:sp>
      <p:sp>
        <p:nvSpPr>
          <p:cNvPr id="9" name="Shape 6"/>
          <p:cNvSpPr/>
          <p:nvPr/>
        </p:nvSpPr>
        <p:spPr>
          <a:xfrm>
            <a:off x="4191213" y="4325496"/>
            <a:ext cx="411480" cy="0"/>
          </a:xfrm>
          <a:prstGeom prst="line">
            <a:avLst/>
          </a:prstGeom>
          <a:noFill/>
          <a:ln w="19050">
            <a:solidFill>
              <a:srgbClr val="B8860B"/>
            </a:solidFill>
            <a:prstDash val="solid"/>
            <a:headEnd type="triangle"/>
          </a:ln>
        </p:spPr>
      </p:sp>
      <p:sp>
        <p:nvSpPr>
          <p:cNvPr id="10" name="Text 7"/>
          <p:cNvSpPr txBox="1"/>
          <p:nvPr/>
        </p:nvSpPr>
        <p:spPr>
          <a:xfrm>
            <a:off x="4694133" y="4024959"/>
            <a:ext cx="2926080" cy="777240"/>
          </a:xfrm>
          <a:prstGeom prst="rect">
            <a:avLst/>
          </a:prstGeom>
          <a:noFill/>
          <a:ln/>
        </p:spPr>
        <p:txBody>
          <a:bodyPr wrap="square" lIns="0" tIns="0" rIns="0" bIns="0" rtlCol="0" anchor="t"/>
          <a:lstStyle/>
          <a:p>
            <a:pPr indent="0" marL="0">
              <a:buNone/>
            </a:pPr>
            <a:r>
              <a:rPr lang="en-US" sz="1200" b="1" dirty="0">
                <a:solidFill>
                  <a:srgbClr val="222222"/>
                </a:solidFill>
                <a:latin typeface="Arial" pitchFamily="34" charset="0"/>
                <a:ea typeface="Arial" pitchFamily="34" charset="-122"/>
                <a:cs typeface="Arial" pitchFamily="34" charset="-120"/>
              </a:rPr>
              <a:t>500–550 psi</a:t>
            </a:r>
            <a:endParaRPr lang="en-US" sz="1200" dirty="0"/>
          </a:p>
          <a:p>
            <a:pPr indent="0" marL="0">
              <a:buNone/>
            </a:pPr>
            <a:r>
              <a:rPr lang="en-US" sz="1200" dirty="0">
                <a:solidFill>
                  <a:srgbClr val="5E5E5E"/>
                </a:solidFill>
                <a:latin typeface="Arial" pitchFamily="34" charset="0"/>
                <a:ea typeface="Arial" pitchFamily="34" charset="-122"/>
                <a:cs typeface="Arial" pitchFamily="34" charset="-120"/>
              </a:rPr>
              <a:t>Effective maximum at the pig, after losses through our valves</a:t>
            </a:r>
            <a:endParaRPr lang="en-US" sz="1200" dirty="0"/>
          </a:p>
        </p:txBody>
      </p:sp>
      <p:sp>
        <p:nvSpPr>
          <p:cNvPr id="11" name="Text 8"/>
          <p:cNvSpPr txBox="1"/>
          <p:nvPr/>
        </p:nvSpPr>
        <p:spPr>
          <a:xfrm>
            <a:off x="4694133" y="5074920"/>
            <a:ext cx="2926080" cy="1097280"/>
          </a:xfrm>
          <a:prstGeom prst="rect">
            <a:avLst/>
          </a:prstGeom>
          <a:noFill/>
          <a:ln/>
        </p:spPr>
        <p:txBody>
          <a:bodyPr wrap="square" lIns="0" tIns="0" rIns="0" bIns="0" rtlCol="0" anchor="t"/>
          <a:lstStyle/>
          <a:p>
            <a:pPr indent="0" marL="0">
              <a:buNone/>
            </a:pPr>
            <a:r>
              <a:rPr lang="en-US" sz="1150" b="1" dirty="0">
                <a:solidFill>
                  <a:srgbClr val="222222"/>
                </a:solidFill>
                <a:latin typeface="Arial" pitchFamily="34" charset="0"/>
                <a:ea typeface="Arial" pitchFamily="34" charset="-122"/>
                <a:cs typeface="Arial" pitchFamily="34" charset="-120"/>
              </a:rPr>
              <a:t>Reading the curve  </a:t>
            </a:r>
            <a:pPr indent="0" marL="0">
              <a:buNone/>
            </a:pPr>
            <a:r>
              <a:rPr lang="en-US" sz="1150" dirty="0">
                <a:solidFill>
                  <a:srgbClr val="5E5E5E"/>
                </a:solidFill>
                <a:latin typeface="Arial" pitchFamily="34" charset="0"/>
                <a:ea typeface="Arial" pitchFamily="34" charset="-122"/>
                <a:cs typeface="Arial" pitchFamily="34" charset="-120"/>
              </a:rPr>
              <a:t>Each line is one engine speed; pressure falls as flow rises. Pigging runs well inside this envelope at 150 to 300 psi.</a:t>
            </a:r>
            <a:endParaRPr lang="en-US" sz="1150" dirty="0"/>
          </a:p>
        </p:txBody>
      </p:sp>
      <p:sp>
        <p:nvSpPr>
          <p:cNvPr id="12" name="Text 9"/>
          <p:cNvSpPr txBox="1"/>
          <p:nvPr/>
        </p:nvSpPr>
        <p:spPr>
          <a:xfrm>
            <a:off x="548640" y="6172200"/>
            <a:ext cx="4572000" cy="228600"/>
          </a:xfrm>
          <a:prstGeom prst="rect">
            <a:avLst/>
          </a:prstGeom>
          <a:noFill/>
          <a:ln/>
        </p:spPr>
        <p:txBody>
          <a:bodyPr wrap="square" lIns="0" tIns="0" rIns="0" bIns="0" rtlCol="0" anchor="ctr"/>
          <a:lstStyle/>
          <a:p>
            <a:pPr indent="0" marL="0">
              <a:buNone/>
            </a:pPr>
            <a:r>
              <a:rPr lang="en-US" sz="950" i="1" dirty="0">
                <a:solidFill>
                  <a:srgbClr val="8A8A8A"/>
                </a:solidFill>
                <a:latin typeface="Arial" pitchFamily="34" charset="0"/>
                <a:ea typeface="Arial" pitchFamily="34" charset="-122"/>
                <a:cs typeface="Arial" pitchFamily="34" charset="-120"/>
              </a:rPr>
              <a:t>Manufacturer curve: Waterous Company, form F-2692</a:t>
            </a:r>
            <a:endParaRPr lang="en-US" sz="950" dirty="0"/>
          </a:p>
        </p:txBody>
      </p:sp>
      <p:sp>
        <p:nvSpPr>
          <p:cNvPr id="13" name="Shape 10"/>
          <p:cNvSpPr/>
          <p:nvPr/>
        </p:nvSpPr>
        <p:spPr>
          <a:xfrm>
            <a:off x="7818120" y="1965960"/>
            <a:ext cx="3822192" cy="1188720"/>
          </a:xfrm>
          <a:prstGeom prst="rect">
            <a:avLst/>
          </a:prstGeom>
          <a:solidFill>
            <a:srgbClr val="1E1E1E"/>
          </a:solidFill>
          <a:ln w="12700">
            <a:solidFill>
              <a:srgbClr val="1E1E1E"/>
            </a:solidFill>
            <a:prstDash val="solid"/>
          </a:ln>
        </p:spPr>
      </p:sp>
      <p:sp>
        <p:nvSpPr>
          <p:cNvPr id="14" name="Text 11"/>
          <p:cNvSpPr txBox="1"/>
          <p:nvPr/>
        </p:nvSpPr>
        <p:spPr>
          <a:xfrm>
            <a:off x="8046720" y="2075688"/>
            <a:ext cx="3383280" cy="548640"/>
          </a:xfrm>
          <a:prstGeom prst="rect">
            <a:avLst/>
          </a:prstGeom>
          <a:noFill/>
          <a:ln/>
        </p:spPr>
        <p:txBody>
          <a:bodyPr wrap="square" lIns="0" tIns="0" rIns="0" bIns="0" rtlCol="0" anchor="ctr"/>
          <a:lstStyle/>
          <a:p>
            <a:pPr indent="0" marL="0">
              <a:buNone/>
            </a:pPr>
            <a:r>
              <a:rPr lang="en-US" sz="2800" b="1" dirty="0">
                <a:solidFill>
                  <a:srgbClr val="FCC30A"/>
                </a:solidFill>
                <a:latin typeface="Arial" pitchFamily="34" charset="0"/>
                <a:ea typeface="Arial" pitchFamily="34" charset="-122"/>
                <a:cs typeface="Arial" pitchFamily="34" charset="-120"/>
              </a:rPr>
              <a:t>150–300</a:t>
            </a:r>
            <a:endParaRPr lang="en-US" sz="2800" dirty="0"/>
          </a:p>
        </p:txBody>
      </p:sp>
      <p:sp>
        <p:nvSpPr>
          <p:cNvPr id="15" name="Text 12"/>
          <p:cNvSpPr txBox="1"/>
          <p:nvPr/>
        </p:nvSpPr>
        <p:spPr>
          <a:xfrm>
            <a:off x="8046720" y="2624328"/>
            <a:ext cx="3383280" cy="411480"/>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psi normal pigging</a:t>
            </a:r>
            <a:endParaRPr lang="en-US" sz="1150" dirty="0"/>
          </a:p>
        </p:txBody>
      </p:sp>
      <p:sp>
        <p:nvSpPr>
          <p:cNvPr id="16" name="Shape 13"/>
          <p:cNvSpPr/>
          <p:nvPr/>
        </p:nvSpPr>
        <p:spPr>
          <a:xfrm>
            <a:off x="7818120" y="3337560"/>
            <a:ext cx="3822192" cy="1188720"/>
          </a:xfrm>
          <a:prstGeom prst="rect">
            <a:avLst/>
          </a:prstGeom>
          <a:solidFill>
            <a:srgbClr val="F4F4F4"/>
          </a:solidFill>
          <a:ln w="12700">
            <a:solidFill>
              <a:srgbClr val="F4F4F4"/>
            </a:solidFill>
            <a:prstDash val="solid"/>
          </a:ln>
        </p:spPr>
      </p:sp>
      <p:sp>
        <p:nvSpPr>
          <p:cNvPr id="17" name="Text 14"/>
          <p:cNvSpPr txBox="1"/>
          <p:nvPr/>
        </p:nvSpPr>
        <p:spPr>
          <a:xfrm>
            <a:off x="8046720" y="3447288"/>
            <a:ext cx="3383280" cy="548640"/>
          </a:xfrm>
          <a:prstGeom prst="rect">
            <a:avLst/>
          </a:prstGeom>
          <a:noFill/>
          <a:ln/>
        </p:spPr>
        <p:txBody>
          <a:bodyPr wrap="square" lIns="0" tIns="0" rIns="0" bIns="0" rtlCol="0" anchor="ctr"/>
          <a:lstStyle/>
          <a:p>
            <a:pPr indent="0" marL="0">
              <a:buNone/>
            </a:pPr>
            <a:r>
              <a:rPr lang="en-US" sz="2800" b="1" dirty="0">
                <a:solidFill>
                  <a:srgbClr val="222222"/>
                </a:solidFill>
                <a:latin typeface="Arial" pitchFamily="34" charset="0"/>
                <a:ea typeface="Arial" pitchFamily="34" charset="-122"/>
                <a:cs typeface="Arial" pitchFamily="34" charset="-120"/>
              </a:rPr>
              <a:t>500–550</a:t>
            </a:r>
            <a:endParaRPr lang="en-US" sz="2800" dirty="0"/>
          </a:p>
        </p:txBody>
      </p:sp>
      <p:sp>
        <p:nvSpPr>
          <p:cNvPr id="18" name="Text 15"/>
          <p:cNvSpPr txBox="1"/>
          <p:nvPr/>
        </p:nvSpPr>
        <p:spPr>
          <a:xfrm>
            <a:off x="8046720" y="3995928"/>
            <a:ext cx="3383280" cy="411480"/>
          </a:xfrm>
          <a:prstGeom prst="rect">
            <a:avLst/>
          </a:prstGeom>
          <a:noFill/>
          <a:ln/>
        </p:spPr>
        <p:txBody>
          <a:bodyPr wrap="square" lIns="0" tIns="0" rIns="0" bIns="0" rtlCol="0" anchor="t"/>
          <a:lstStyle/>
          <a:p>
            <a:pPr indent="0" marL="0">
              <a:buNone/>
            </a:pPr>
            <a:r>
              <a:rPr lang="en-US" sz="1150" dirty="0">
                <a:solidFill>
                  <a:srgbClr val="5E5E5E"/>
                </a:solidFill>
                <a:latin typeface="Arial" pitchFamily="34" charset="0"/>
                <a:ea typeface="Arial" pitchFamily="34" charset="-122"/>
                <a:cs typeface="Arial" pitchFamily="34" charset="-120"/>
              </a:rPr>
              <a:t>psi effective max, after valve losses</a:t>
            </a:r>
            <a:endParaRPr lang="en-US" sz="1150" dirty="0"/>
          </a:p>
        </p:txBody>
      </p:sp>
      <p:sp>
        <p:nvSpPr>
          <p:cNvPr id="19" name="Shape 16"/>
          <p:cNvSpPr/>
          <p:nvPr/>
        </p:nvSpPr>
        <p:spPr>
          <a:xfrm>
            <a:off x="7818120" y="4709160"/>
            <a:ext cx="3822192" cy="1188720"/>
          </a:xfrm>
          <a:prstGeom prst="rect">
            <a:avLst/>
          </a:prstGeom>
          <a:solidFill>
            <a:srgbClr val="F4F4F4"/>
          </a:solidFill>
          <a:ln w="12700">
            <a:solidFill>
              <a:srgbClr val="F4F4F4"/>
            </a:solidFill>
            <a:prstDash val="solid"/>
          </a:ln>
        </p:spPr>
      </p:sp>
      <p:sp>
        <p:nvSpPr>
          <p:cNvPr id="20" name="Text 17"/>
          <p:cNvSpPr txBox="1"/>
          <p:nvPr/>
        </p:nvSpPr>
        <p:spPr>
          <a:xfrm>
            <a:off x="8046720" y="4818888"/>
            <a:ext cx="3383280" cy="548640"/>
          </a:xfrm>
          <a:prstGeom prst="rect">
            <a:avLst/>
          </a:prstGeom>
          <a:noFill/>
          <a:ln/>
        </p:spPr>
        <p:txBody>
          <a:bodyPr wrap="square" lIns="0" tIns="0" rIns="0" bIns="0" rtlCol="0" anchor="ctr"/>
          <a:lstStyle/>
          <a:p>
            <a:pPr indent="0" marL="0">
              <a:buNone/>
            </a:pPr>
            <a:r>
              <a:rPr lang="en-US" sz="2800" b="1" dirty="0">
                <a:solidFill>
                  <a:srgbClr val="222222"/>
                </a:solidFill>
                <a:latin typeface="Arial" pitchFamily="34" charset="0"/>
                <a:ea typeface="Arial" pitchFamily="34" charset="-122"/>
                <a:cs typeface="Arial" pitchFamily="34" charset="-120"/>
              </a:rPr>
              <a:t>600</a:t>
            </a:r>
            <a:endParaRPr lang="en-US" sz="2800" dirty="0"/>
          </a:p>
        </p:txBody>
      </p:sp>
      <p:sp>
        <p:nvSpPr>
          <p:cNvPr id="21" name="Text 18"/>
          <p:cNvSpPr txBox="1"/>
          <p:nvPr/>
        </p:nvSpPr>
        <p:spPr>
          <a:xfrm>
            <a:off x="8046720" y="5367528"/>
            <a:ext cx="3383280" cy="411480"/>
          </a:xfrm>
          <a:prstGeom prst="rect">
            <a:avLst/>
          </a:prstGeom>
          <a:noFill/>
          <a:ln/>
        </p:spPr>
        <p:txBody>
          <a:bodyPr wrap="square" lIns="0" tIns="0" rIns="0" bIns="0" rtlCol="0" anchor="t"/>
          <a:lstStyle/>
          <a:p>
            <a:pPr indent="0" marL="0">
              <a:buNone/>
            </a:pPr>
            <a:r>
              <a:rPr lang="en-US" sz="1150" dirty="0">
                <a:solidFill>
                  <a:srgbClr val="5E5E5E"/>
                </a:solidFill>
                <a:latin typeface="Arial" pitchFamily="34" charset="0"/>
                <a:ea typeface="Arial" pitchFamily="34" charset="-122"/>
                <a:cs typeface="Arial" pitchFamily="34" charset="-120"/>
              </a:rPr>
              <a:t>psi rated pump maximum</a:t>
            </a:r>
            <a:endParaRPr lang="en-US" sz="1150" dirty="0"/>
          </a:p>
        </p:txBody>
      </p:sp>
      <p:sp>
        <p:nvSpPr>
          <p:cNvPr id="22" name="Text 19"/>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USA DeBusk  |  Valero Texas City  |  Heater Pigging &amp; Decoking Services</a:t>
            </a:r>
            <a:endParaRPr lang="en-US" sz="900" dirty="0"/>
          </a:p>
        </p:txBody>
      </p:sp>
      <p:sp>
        <p:nvSpPr>
          <p:cNvPr id="23" name="Text 20"/>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548640" y="411480"/>
            <a:ext cx="3043714" cy="310896"/>
          </a:xfrm>
          <a:prstGeom prst="roundRect">
            <a:avLst>
              <a:gd name="adj" fmla="val 23529"/>
            </a:avLst>
          </a:prstGeom>
          <a:solidFill>
            <a:srgbClr val="FCC30A"/>
          </a:solidFill>
          <a:ln w="12700">
            <a:solidFill>
              <a:srgbClr val="FCC30A"/>
            </a:solidFill>
            <a:prstDash val="solid"/>
          </a:ln>
        </p:spPr>
      </p:sp>
      <p:sp>
        <p:nvSpPr>
          <p:cNvPr id="3" name="Text 1"/>
          <p:cNvSpPr txBox="1"/>
          <p:nvPr/>
        </p:nvSpPr>
        <p:spPr>
          <a:xfrm>
            <a:off x="548640" y="411480"/>
            <a:ext cx="3043714"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04   EQUIPMENT &amp; TECHNOLOGY</a:t>
            </a:r>
            <a:endParaRPr lang="en-US" sz="1050" dirty="0"/>
          </a:p>
        </p:txBody>
      </p:sp>
      <p:sp>
        <p:nvSpPr>
          <p:cNvPr id="4" name="Text 2"/>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Real-time control at every operator station</a:t>
            </a:r>
            <a:endParaRPr lang="en-US" sz="3200" dirty="0"/>
          </a:p>
        </p:txBody>
      </p:sp>
      <p:sp>
        <p:nvSpPr>
          <p:cNvPr id="5" name="Shape 3"/>
          <p:cNvSpPr/>
          <p:nvPr/>
        </p:nvSpPr>
        <p:spPr>
          <a:xfrm>
            <a:off x="475488" y="1664208"/>
            <a:ext cx="6181344" cy="4672584"/>
          </a:xfrm>
          <a:prstGeom prst="rect">
            <a:avLst/>
          </a:prstGeom>
          <a:solidFill>
            <a:srgbClr val="363636"/>
          </a:solidFill>
          <a:ln w="12700">
            <a:solidFill>
              <a:srgbClr val="363636"/>
            </a:solidFill>
            <a:prstDash val="solid"/>
          </a:ln>
        </p:spPr>
      </p:sp>
      <p:pic>
        <p:nvPicPr>
          <p:cNvPr id="6" name="Image 0" descr="C:\Users\Jwuts\obsidian-work\02-facilities\Valero\Texas-City-TX\pigging-capabilities-presentation\build/img/hmi2.jpg">    </p:cNvPr>
          <p:cNvPicPr>
            <a:picLocks noChangeAspect="1"/>
          </p:cNvPicPr>
          <p:nvPr/>
        </p:nvPicPr>
        <p:blipFill>
          <a:blip r:embed="rId1"/>
          <a:stretch>
            <a:fillRect/>
          </a:stretch>
        </p:blipFill>
        <p:spPr>
          <a:xfrm>
            <a:off x="548640" y="1737360"/>
            <a:ext cx="6035040" cy="4526280"/>
          </a:xfrm>
          <a:prstGeom prst="rect">
            <a:avLst/>
          </a:prstGeom>
        </p:spPr>
      </p:pic>
      <p:sp>
        <p:nvSpPr>
          <p:cNvPr id="7" name="Shape 4"/>
          <p:cNvSpPr/>
          <p:nvPr/>
        </p:nvSpPr>
        <p:spPr>
          <a:xfrm>
            <a:off x="908914" y="4722876"/>
            <a:ext cx="365760" cy="365760"/>
          </a:xfrm>
          <a:prstGeom prst="ellipse">
            <a:avLst/>
          </a:prstGeom>
          <a:solidFill>
            <a:srgbClr val="FCC30A"/>
          </a:solidFill>
          <a:ln w="25400">
            <a:solidFill>
              <a:srgbClr val="1E1E1E"/>
            </a:solidFill>
            <a:prstDash val="solid"/>
          </a:ln>
        </p:spPr>
      </p:sp>
      <p:sp>
        <p:nvSpPr>
          <p:cNvPr id="8" name="Text 5"/>
          <p:cNvSpPr txBox="1"/>
          <p:nvPr/>
        </p:nvSpPr>
        <p:spPr>
          <a:xfrm>
            <a:off x="908914" y="4722876"/>
            <a:ext cx="365760" cy="365760"/>
          </a:xfrm>
          <a:prstGeom prst="rect">
            <a:avLst/>
          </a:prstGeom>
          <a:noFill/>
          <a:ln/>
        </p:spPr>
        <p:txBody>
          <a:bodyPr wrap="square" lIns="0" tIns="0" rIns="0" bIns="0" rtlCol="0" anchor="ctr"/>
          <a:lstStyle/>
          <a:p>
            <a:pPr algn="ctr" indent="0" marL="0">
              <a:buNone/>
            </a:pPr>
            <a:r>
              <a:rPr lang="en-US" sz="1300" b="1" dirty="0">
                <a:solidFill>
                  <a:srgbClr val="1E1E1E"/>
                </a:solidFill>
                <a:latin typeface="Arial" pitchFamily="34" charset="0"/>
                <a:ea typeface="Arial" pitchFamily="34" charset="-122"/>
                <a:cs typeface="Arial" pitchFamily="34" charset="-120"/>
              </a:rPr>
              <a:t>1</a:t>
            </a:r>
            <a:endParaRPr lang="en-US" sz="1300" dirty="0"/>
          </a:p>
        </p:txBody>
      </p:sp>
      <p:sp>
        <p:nvSpPr>
          <p:cNvPr id="9" name="Shape 6"/>
          <p:cNvSpPr/>
          <p:nvPr/>
        </p:nvSpPr>
        <p:spPr>
          <a:xfrm>
            <a:off x="3473806" y="4170670"/>
            <a:ext cx="365760" cy="365760"/>
          </a:xfrm>
          <a:prstGeom prst="ellipse">
            <a:avLst/>
          </a:prstGeom>
          <a:solidFill>
            <a:srgbClr val="FCC30A"/>
          </a:solidFill>
          <a:ln w="25400">
            <a:solidFill>
              <a:srgbClr val="1E1E1E"/>
            </a:solidFill>
            <a:prstDash val="solid"/>
          </a:ln>
        </p:spPr>
      </p:sp>
      <p:sp>
        <p:nvSpPr>
          <p:cNvPr id="10" name="Text 7"/>
          <p:cNvSpPr txBox="1"/>
          <p:nvPr/>
        </p:nvSpPr>
        <p:spPr>
          <a:xfrm>
            <a:off x="3473806" y="4170670"/>
            <a:ext cx="365760" cy="365760"/>
          </a:xfrm>
          <a:prstGeom prst="rect">
            <a:avLst/>
          </a:prstGeom>
          <a:noFill/>
          <a:ln/>
        </p:spPr>
        <p:txBody>
          <a:bodyPr wrap="square" lIns="0" tIns="0" rIns="0" bIns="0" rtlCol="0" anchor="ctr"/>
          <a:lstStyle/>
          <a:p>
            <a:pPr algn="ctr" indent="0" marL="0">
              <a:buNone/>
            </a:pPr>
            <a:r>
              <a:rPr lang="en-US" sz="1300" b="1" dirty="0">
                <a:solidFill>
                  <a:srgbClr val="1E1E1E"/>
                </a:solidFill>
                <a:latin typeface="Arial" pitchFamily="34" charset="0"/>
                <a:ea typeface="Arial" pitchFamily="34" charset="-122"/>
                <a:cs typeface="Arial" pitchFamily="34" charset="-120"/>
              </a:rPr>
              <a:t>2</a:t>
            </a:r>
            <a:endParaRPr lang="en-US" sz="1300" dirty="0"/>
          </a:p>
        </p:txBody>
      </p:sp>
      <p:sp>
        <p:nvSpPr>
          <p:cNvPr id="11" name="Shape 8"/>
          <p:cNvSpPr/>
          <p:nvPr/>
        </p:nvSpPr>
        <p:spPr>
          <a:xfrm>
            <a:off x="1572768" y="2821838"/>
            <a:ext cx="365760" cy="365760"/>
          </a:xfrm>
          <a:prstGeom prst="ellipse">
            <a:avLst/>
          </a:prstGeom>
          <a:solidFill>
            <a:srgbClr val="FCC30A"/>
          </a:solidFill>
          <a:ln w="25400">
            <a:solidFill>
              <a:srgbClr val="1E1E1E"/>
            </a:solidFill>
            <a:prstDash val="solid"/>
          </a:ln>
        </p:spPr>
      </p:sp>
      <p:sp>
        <p:nvSpPr>
          <p:cNvPr id="12" name="Text 9"/>
          <p:cNvSpPr txBox="1"/>
          <p:nvPr/>
        </p:nvSpPr>
        <p:spPr>
          <a:xfrm>
            <a:off x="1572768" y="2821838"/>
            <a:ext cx="365760" cy="365760"/>
          </a:xfrm>
          <a:prstGeom prst="rect">
            <a:avLst/>
          </a:prstGeom>
          <a:noFill/>
          <a:ln/>
        </p:spPr>
        <p:txBody>
          <a:bodyPr wrap="square" lIns="0" tIns="0" rIns="0" bIns="0" rtlCol="0" anchor="ctr"/>
          <a:lstStyle/>
          <a:p>
            <a:pPr algn="ctr" indent="0" marL="0">
              <a:buNone/>
            </a:pPr>
            <a:r>
              <a:rPr lang="en-US" sz="1300" b="1" dirty="0">
                <a:solidFill>
                  <a:srgbClr val="1E1E1E"/>
                </a:solidFill>
                <a:latin typeface="Arial" pitchFamily="34" charset="0"/>
                <a:ea typeface="Arial" pitchFamily="34" charset="-122"/>
                <a:cs typeface="Arial" pitchFamily="34" charset="-120"/>
              </a:rPr>
              <a:t>3</a:t>
            </a:r>
            <a:endParaRPr lang="en-US" sz="1300" dirty="0"/>
          </a:p>
        </p:txBody>
      </p:sp>
      <p:sp>
        <p:nvSpPr>
          <p:cNvPr id="13" name="Shape 10"/>
          <p:cNvSpPr/>
          <p:nvPr/>
        </p:nvSpPr>
        <p:spPr>
          <a:xfrm>
            <a:off x="2598725" y="1871320"/>
            <a:ext cx="365760" cy="365760"/>
          </a:xfrm>
          <a:prstGeom prst="ellipse">
            <a:avLst/>
          </a:prstGeom>
          <a:solidFill>
            <a:srgbClr val="FCC30A"/>
          </a:solidFill>
          <a:ln w="25400">
            <a:solidFill>
              <a:srgbClr val="1E1E1E"/>
            </a:solidFill>
            <a:prstDash val="solid"/>
          </a:ln>
        </p:spPr>
      </p:sp>
      <p:sp>
        <p:nvSpPr>
          <p:cNvPr id="14" name="Text 11"/>
          <p:cNvSpPr txBox="1"/>
          <p:nvPr/>
        </p:nvSpPr>
        <p:spPr>
          <a:xfrm>
            <a:off x="2598725" y="1871320"/>
            <a:ext cx="365760" cy="365760"/>
          </a:xfrm>
          <a:prstGeom prst="rect">
            <a:avLst/>
          </a:prstGeom>
          <a:noFill/>
          <a:ln/>
        </p:spPr>
        <p:txBody>
          <a:bodyPr wrap="square" lIns="0" tIns="0" rIns="0" bIns="0" rtlCol="0" anchor="ctr"/>
          <a:lstStyle/>
          <a:p>
            <a:pPr algn="ctr" indent="0" marL="0">
              <a:buNone/>
            </a:pPr>
            <a:r>
              <a:rPr lang="en-US" sz="1300" b="1" dirty="0">
                <a:solidFill>
                  <a:srgbClr val="1E1E1E"/>
                </a:solidFill>
                <a:latin typeface="Arial" pitchFamily="34" charset="0"/>
                <a:ea typeface="Arial" pitchFamily="34" charset="-122"/>
                <a:cs typeface="Arial" pitchFamily="34" charset="-120"/>
              </a:rPr>
              <a:t>4</a:t>
            </a:r>
            <a:endParaRPr lang="en-US" sz="1300" dirty="0"/>
          </a:p>
        </p:txBody>
      </p:sp>
      <p:sp>
        <p:nvSpPr>
          <p:cNvPr id="15" name="Shape 12"/>
          <p:cNvSpPr/>
          <p:nvPr/>
        </p:nvSpPr>
        <p:spPr>
          <a:xfrm>
            <a:off x="2538374" y="2640787"/>
            <a:ext cx="365760" cy="365760"/>
          </a:xfrm>
          <a:prstGeom prst="ellipse">
            <a:avLst/>
          </a:prstGeom>
          <a:solidFill>
            <a:srgbClr val="FCC30A"/>
          </a:solidFill>
          <a:ln w="25400">
            <a:solidFill>
              <a:srgbClr val="1E1E1E"/>
            </a:solidFill>
            <a:prstDash val="solid"/>
          </a:ln>
        </p:spPr>
      </p:sp>
      <p:sp>
        <p:nvSpPr>
          <p:cNvPr id="16" name="Text 13"/>
          <p:cNvSpPr txBox="1"/>
          <p:nvPr/>
        </p:nvSpPr>
        <p:spPr>
          <a:xfrm>
            <a:off x="2538374" y="2640787"/>
            <a:ext cx="365760" cy="365760"/>
          </a:xfrm>
          <a:prstGeom prst="rect">
            <a:avLst/>
          </a:prstGeom>
          <a:noFill/>
          <a:ln/>
        </p:spPr>
        <p:txBody>
          <a:bodyPr wrap="square" lIns="0" tIns="0" rIns="0" bIns="0" rtlCol="0" anchor="ctr"/>
          <a:lstStyle/>
          <a:p>
            <a:pPr algn="ctr" indent="0" marL="0">
              <a:buNone/>
            </a:pPr>
            <a:r>
              <a:rPr lang="en-US" sz="1300" b="1" dirty="0">
                <a:solidFill>
                  <a:srgbClr val="1E1E1E"/>
                </a:solidFill>
                <a:latin typeface="Arial" pitchFamily="34" charset="0"/>
                <a:ea typeface="Arial" pitchFamily="34" charset="-122"/>
                <a:cs typeface="Arial" pitchFamily="34" charset="-120"/>
              </a:rPr>
              <a:t>5</a:t>
            </a:r>
            <a:endParaRPr lang="en-US" sz="1300" dirty="0"/>
          </a:p>
        </p:txBody>
      </p:sp>
      <p:sp>
        <p:nvSpPr>
          <p:cNvPr id="17" name="Shape 14"/>
          <p:cNvSpPr/>
          <p:nvPr/>
        </p:nvSpPr>
        <p:spPr>
          <a:xfrm>
            <a:off x="5151547" y="1961845"/>
            <a:ext cx="365760" cy="365760"/>
          </a:xfrm>
          <a:prstGeom prst="ellipse">
            <a:avLst/>
          </a:prstGeom>
          <a:solidFill>
            <a:srgbClr val="FCC30A"/>
          </a:solidFill>
          <a:ln w="25400">
            <a:solidFill>
              <a:srgbClr val="1E1E1E"/>
            </a:solidFill>
            <a:prstDash val="solid"/>
          </a:ln>
        </p:spPr>
      </p:sp>
      <p:sp>
        <p:nvSpPr>
          <p:cNvPr id="18" name="Text 15"/>
          <p:cNvSpPr txBox="1"/>
          <p:nvPr/>
        </p:nvSpPr>
        <p:spPr>
          <a:xfrm>
            <a:off x="5151547" y="1961845"/>
            <a:ext cx="365760" cy="365760"/>
          </a:xfrm>
          <a:prstGeom prst="rect">
            <a:avLst/>
          </a:prstGeom>
          <a:noFill/>
          <a:ln/>
        </p:spPr>
        <p:txBody>
          <a:bodyPr wrap="square" lIns="0" tIns="0" rIns="0" bIns="0" rtlCol="0" anchor="ctr"/>
          <a:lstStyle/>
          <a:p>
            <a:pPr algn="ctr" indent="0" marL="0">
              <a:buNone/>
            </a:pPr>
            <a:r>
              <a:rPr lang="en-US" sz="1300" b="1" dirty="0">
                <a:solidFill>
                  <a:srgbClr val="1E1E1E"/>
                </a:solidFill>
                <a:latin typeface="Arial" pitchFamily="34" charset="0"/>
                <a:ea typeface="Arial" pitchFamily="34" charset="-122"/>
                <a:cs typeface="Arial" pitchFamily="34" charset="-120"/>
              </a:rPr>
              <a:t>6</a:t>
            </a:r>
            <a:endParaRPr lang="en-US" sz="1300" dirty="0"/>
          </a:p>
        </p:txBody>
      </p:sp>
      <p:sp>
        <p:nvSpPr>
          <p:cNvPr id="19" name="Shape 16"/>
          <p:cNvSpPr/>
          <p:nvPr/>
        </p:nvSpPr>
        <p:spPr>
          <a:xfrm>
            <a:off x="7269480" y="1764792"/>
            <a:ext cx="365760" cy="365760"/>
          </a:xfrm>
          <a:prstGeom prst="ellipse">
            <a:avLst/>
          </a:prstGeom>
          <a:solidFill>
            <a:srgbClr val="FCC30A"/>
          </a:solidFill>
          <a:ln w="12700">
            <a:solidFill>
              <a:srgbClr val="FCC30A"/>
            </a:solidFill>
            <a:prstDash val="solid"/>
          </a:ln>
        </p:spPr>
      </p:sp>
      <p:sp>
        <p:nvSpPr>
          <p:cNvPr id="20" name="Text 17"/>
          <p:cNvSpPr txBox="1"/>
          <p:nvPr/>
        </p:nvSpPr>
        <p:spPr>
          <a:xfrm>
            <a:off x="7269480" y="1764792"/>
            <a:ext cx="365760" cy="365760"/>
          </a:xfrm>
          <a:prstGeom prst="rect">
            <a:avLst/>
          </a:prstGeom>
          <a:noFill/>
          <a:ln/>
        </p:spPr>
        <p:txBody>
          <a:bodyPr wrap="square" lIns="0" tIns="0" rIns="0" bIns="0" rtlCol="0" anchor="ctr"/>
          <a:lstStyle/>
          <a:p>
            <a:pPr algn="ctr" indent="0" marL="0">
              <a:buNone/>
            </a:pPr>
            <a:r>
              <a:rPr lang="en-US" sz="1300" b="1" dirty="0">
                <a:solidFill>
                  <a:srgbClr val="1E1E1E"/>
                </a:solidFill>
                <a:latin typeface="Arial" pitchFamily="34" charset="0"/>
                <a:ea typeface="Arial" pitchFamily="34" charset="-122"/>
                <a:cs typeface="Arial" pitchFamily="34" charset="-120"/>
              </a:rPr>
              <a:t>1</a:t>
            </a:r>
            <a:endParaRPr lang="en-US" sz="1300" dirty="0"/>
          </a:p>
        </p:txBody>
      </p:sp>
      <p:sp>
        <p:nvSpPr>
          <p:cNvPr id="21" name="Text 18"/>
          <p:cNvSpPr txBox="1"/>
          <p:nvPr/>
        </p:nvSpPr>
        <p:spPr>
          <a:xfrm>
            <a:off x="7818120" y="1719072"/>
            <a:ext cx="384048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Live trends</a:t>
            </a:r>
            <a:endParaRPr lang="en-US" sz="1400" dirty="0"/>
          </a:p>
        </p:txBody>
      </p:sp>
      <p:sp>
        <p:nvSpPr>
          <p:cNvPr id="22" name="Text 19"/>
          <p:cNvSpPr txBox="1"/>
          <p:nvPr/>
        </p:nvSpPr>
        <p:spPr>
          <a:xfrm>
            <a:off x="7818120" y="1993392"/>
            <a:ext cx="3840480" cy="411480"/>
          </a:xfrm>
          <a:prstGeom prst="rect">
            <a:avLst/>
          </a:prstGeom>
          <a:noFill/>
          <a:ln/>
        </p:spPr>
        <p:txBody>
          <a:bodyPr wrap="square" lIns="0" tIns="0" rIns="0" bIns="0" rtlCol="0" anchor="t"/>
          <a:lstStyle/>
          <a:p>
            <a:pPr indent="0" marL="0">
              <a:buNone/>
            </a:pPr>
            <a:r>
              <a:rPr lang="en-US" sz="1150" dirty="0">
                <a:solidFill>
                  <a:srgbClr val="BDBDBD"/>
                </a:solidFill>
                <a:latin typeface="Arial" pitchFamily="34" charset="0"/>
                <a:ea typeface="Arial" pitchFamily="34" charset="-122"/>
                <a:cs typeface="Arial" pitchFamily="34" charset="-120"/>
              </a:rPr>
              <a:t>Pressure ahead of and behind the pig, plus flow; coke shows as a spike</a:t>
            </a:r>
            <a:endParaRPr lang="en-US" sz="1150" dirty="0"/>
          </a:p>
        </p:txBody>
      </p:sp>
      <p:sp>
        <p:nvSpPr>
          <p:cNvPr id="23" name="Shape 20"/>
          <p:cNvSpPr/>
          <p:nvPr/>
        </p:nvSpPr>
        <p:spPr>
          <a:xfrm>
            <a:off x="7269480" y="2496312"/>
            <a:ext cx="365760" cy="365760"/>
          </a:xfrm>
          <a:prstGeom prst="ellipse">
            <a:avLst/>
          </a:prstGeom>
          <a:solidFill>
            <a:srgbClr val="FCC30A"/>
          </a:solidFill>
          <a:ln w="12700">
            <a:solidFill>
              <a:srgbClr val="FCC30A"/>
            </a:solidFill>
            <a:prstDash val="solid"/>
          </a:ln>
        </p:spPr>
      </p:sp>
      <p:sp>
        <p:nvSpPr>
          <p:cNvPr id="24" name="Text 21"/>
          <p:cNvSpPr txBox="1"/>
          <p:nvPr/>
        </p:nvSpPr>
        <p:spPr>
          <a:xfrm>
            <a:off x="7269480" y="2496312"/>
            <a:ext cx="365760" cy="365760"/>
          </a:xfrm>
          <a:prstGeom prst="rect">
            <a:avLst/>
          </a:prstGeom>
          <a:noFill/>
          <a:ln/>
        </p:spPr>
        <p:txBody>
          <a:bodyPr wrap="square" lIns="0" tIns="0" rIns="0" bIns="0" rtlCol="0" anchor="ctr"/>
          <a:lstStyle/>
          <a:p>
            <a:pPr algn="ctr" indent="0" marL="0">
              <a:buNone/>
            </a:pPr>
            <a:r>
              <a:rPr lang="en-US" sz="1300" b="1" dirty="0">
                <a:solidFill>
                  <a:srgbClr val="1E1E1E"/>
                </a:solidFill>
                <a:latin typeface="Arial" pitchFamily="34" charset="0"/>
                <a:ea typeface="Arial" pitchFamily="34" charset="-122"/>
                <a:cs typeface="Arial" pitchFamily="34" charset="-120"/>
              </a:rPr>
              <a:t>2</a:t>
            </a:r>
            <a:endParaRPr lang="en-US" sz="1300" dirty="0"/>
          </a:p>
        </p:txBody>
      </p:sp>
      <p:sp>
        <p:nvSpPr>
          <p:cNvPr id="25" name="Text 22"/>
          <p:cNvSpPr txBox="1"/>
          <p:nvPr/>
        </p:nvSpPr>
        <p:spPr>
          <a:xfrm>
            <a:off x="7818120" y="2450592"/>
            <a:ext cx="384048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Flow &amp; pressure</a:t>
            </a:r>
            <a:endParaRPr lang="en-US" sz="1400" dirty="0"/>
          </a:p>
        </p:txBody>
      </p:sp>
      <p:sp>
        <p:nvSpPr>
          <p:cNvPr id="26" name="Text 23"/>
          <p:cNvSpPr txBox="1"/>
          <p:nvPr/>
        </p:nvSpPr>
        <p:spPr>
          <a:xfrm>
            <a:off x="7818120" y="2724912"/>
            <a:ext cx="3840480" cy="411480"/>
          </a:xfrm>
          <a:prstGeom prst="rect">
            <a:avLst/>
          </a:prstGeom>
          <a:noFill/>
          <a:ln/>
        </p:spPr>
        <p:txBody>
          <a:bodyPr wrap="square" lIns="0" tIns="0" rIns="0" bIns="0" rtlCol="0" anchor="t"/>
          <a:lstStyle/>
          <a:p>
            <a:pPr indent="0" marL="0">
              <a:buNone/>
            </a:pPr>
            <a:r>
              <a:rPr lang="en-US" sz="1150" dirty="0">
                <a:solidFill>
                  <a:srgbClr val="BDBDBD"/>
                </a:solidFill>
                <a:latin typeface="Arial" pitchFamily="34" charset="0"/>
                <a:ea typeface="Arial" pitchFamily="34" charset="-122"/>
                <a:cs typeface="Arial" pitchFamily="34" charset="-120"/>
              </a:rPr>
              <a:t>GPM and psi at the pump, updated continuously</a:t>
            </a:r>
            <a:endParaRPr lang="en-US" sz="1150" dirty="0"/>
          </a:p>
        </p:txBody>
      </p:sp>
      <p:sp>
        <p:nvSpPr>
          <p:cNvPr id="27" name="Shape 24"/>
          <p:cNvSpPr/>
          <p:nvPr/>
        </p:nvSpPr>
        <p:spPr>
          <a:xfrm>
            <a:off x="7269480" y="3227832"/>
            <a:ext cx="365760" cy="365760"/>
          </a:xfrm>
          <a:prstGeom prst="ellipse">
            <a:avLst/>
          </a:prstGeom>
          <a:solidFill>
            <a:srgbClr val="FCC30A"/>
          </a:solidFill>
          <a:ln w="12700">
            <a:solidFill>
              <a:srgbClr val="FCC30A"/>
            </a:solidFill>
            <a:prstDash val="solid"/>
          </a:ln>
        </p:spPr>
      </p:sp>
      <p:sp>
        <p:nvSpPr>
          <p:cNvPr id="28" name="Text 25"/>
          <p:cNvSpPr txBox="1"/>
          <p:nvPr/>
        </p:nvSpPr>
        <p:spPr>
          <a:xfrm>
            <a:off x="7269480" y="3227832"/>
            <a:ext cx="365760" cy="365760"/>
          </a:xfrm>
          <a:prstGeom prst="rect">
            <a:avLst/>
          </a:prstGeom>
          <a:noFill/>
          <a:ln/>
        </p:spPr>
        <p:txBody>
          <a:bodyPr wrap="square" lIns="0" tIns="0" rIns="0" bIns="0" rtlCol="0" anchor="ctr"/>
          <a:lstStyle/>
          <a:p>
            <a:pPr algn="ctr" indent="0" marL="0">
              <a:buNone/>
            </a:pPr>
            <a:r>
              <a:rPr lang="en-US" sz="1300" b="1" dirty="0">
                <a:solidFill>
                  <a:srgbClr val="1E1E1E"/>
                </a:solidFill>
                <a:latin typeface="Arial" pitchFamily="34" charset="0"/>
                <a:ea typeface="Arial" pitchFamily="34" charset="-122"/>
                <a:cs typeface="Arial" pitchFamily="34" charset="-120"/>
              </a:rPr>
              <a:t>3</a:t>
            </a:r>
            <a:endParaRPr lang="en-US" sz="1300" dirty="0"/>
          </a:p>
        </p:txBody>
      </p:sp>
      <p:sp>
        <p:nvSpPr>
          <p:cNvPr id="29" name="Text 26"/>
          <p:cNvSpPr txBox="1"/>
          <p:nvPr/>
        </p:nvSpPr>
        <p:spPr>
          <a:xfrm>
            <a:off x="7818120" y="3182112"/>
            <a:ext cx="384048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Tank levels</a:t>
            </a:r>
            <a:endParaRPr lang="en-US" sz="1400" dirty="0"/>
          </a:p>
        </p:txBody>
      </p:sp>
      <p:sp>
        <p:nvSpPr>
          <p:cNvPr id="30" name="Text 27"/>
          <p:cNvSpPr txBox="1"/>
          <p:nvPr/>
        </p:nvSpPr>
        <p:spPr>
          <a:xfrm>
            <a:off x="7818120" y="3456432"/>
            <a:ext cx="3840480" cy="411480"/>
          </a:xfrm>
          <a:prstGeom prst="rect">
            <a:avLst/>
          </a:prstGeom>
          <a:noFill/>
          <a:ln/>
        </p:spPr>
        <p:txBody>
          <a:bodyPr wrap="square" lIns="0" tIns="0" rIns="0" bIns="0" rtlCol="0" anchor="t"/>
          <a:lstStyle/>
          <a:p>
            <a:pPr indent="0" marL="0">
              <a:buNone/>
            </a:pPr>
            <a:r>
              <a:rPr lang="en-US" sz="1150" dirty="0">
                <a:solidFill>
                  <a:srgbClr val="BDBDBD"/>
                </a:solidFill>
                <a:latin typeface="Arial" pitchFamily="34" charset="0"/>
                <a:ea typeface="Arial" pitchFamily="34" charset="-122"/>
                <a:cs typeface="Arial" pitchFamily="34" charset="-120"/>
              </a:rPr>
              <a:t>Clean and effluent tanks on guided-radar indicators</a:t>
            </a:r>
            <a:endParaRPr lang="en-US" sz="1150" dirty="0"/>
          </a:p>
        </p:txBody>
      </p:sp>
      <p:sp>
        <p:nvSpPr>
          <p:cNvPr id="31" name="Shape 28"/>
          <p:cNvSpPr/>
          <p:nvPr/>
        </p:nvSpPr>
        <p:spPr>
          <a:xfrm>
            <a:off x="7269480" y="3959352"/>
            <a:ext cx="365760" cy="365760"/>
          </a:xfrm>
          <a:prstGeom prst="ellipse">
            <a:avLst/>
          </a:prstGeom>
          <a:solidFill>
            <a:srgbClr val="FCC30A"/>
          </a:solidFill>
          <a:ln w="12700">
            <a:solidFill>
              <a:srgbClr val="FCC30A"/>
            </a:solidFill>
            <a:prstDash val="solid"/>
          </a:ln>
        </p:spPr>
      </p:sp>
      <p:sp>
        <p:nvSpPr>
          <p:cNvPr id="32" name="Text 29"/>
          <p:cNvSpPr txBox="1"/>
          <p:nvPr/>
        </p:nvSpPr>
        <p:spPr>
          <a:xfrm>
            <a:off x="7269480" y="3959352"/>
            <a:ext cx="365760" cy="365760"/>
          </a:xfrm>
          <a:prstGeom prst="rect">
            <a:avLst/>
          </a:prstGeom>
          <a:noFill/>
          <a:ln/>
        </p:spPr>
        <p:txBody>
          <a:bodyPr wrap="square" lIns="0" tIns="0" rIns="0" bIns="0" rtlCol="0" anchor="ctr"/>
          <a:lstStyle/>
          <a:p>
            <a:pPr algn="ctr" indent="0" marL="0">
              <a:buNone/>
            </a:pPr>
            <a:r>
              <a:rPr lang="en-US" sz="1300" b="1" dirty="0">
                <a:solidFill>
                  <a:srgbClr val="1E1E1E"/>
                </a:solidFill>
                <a:latin typeface="Arial" pitchFamily="34" charset="0"/>
                <a:ea typeface="Arial" pitchFamily="34" charset="-122"/>
                <a:cs typeface="Arial" pitchFamily="34" charset="-120"/>
              </a:rPr>
              <a:t>4</a:t>
            </a:r>
            <a:endParaRPr lang="en-US" sz="1300" dirty="0"/>
          </a:p>
        </p:txBody>
      </p:sp>
      <p:sp>
        <p:nvSpPr>
          <p:cNvPr id="33" name="Text 30"/>
          <p:cNvSpPr txBox="1"/>
          <p:nvPr/>
        </p:nvSpPr>
        <p:spPr>
          <a:xfrm>
            <a:off x="7818120" y="3913632"/>
            <a:ext cx="384048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Setpoint alarms</a:t>
            </a:r>
            <a:endParaRPr lang="en-US" sz="1400" dirty="0"/>
          </a:p>
        </p:txBody>
      </p:sp>
      <p:sp>
        <p:nvSpPr>
          <p:cNvPr id="34" name="Text 31"/>
          <p:cNvSpPr txBox="1"/>
          <p:nvPr/>
        </p:nvSpPr>
        <p:spPr>
          <a:xfrm>
            <a:off x="7818120" y="4187952"/>
            <a:ext cx="3840480" cy="411480"/>
          </a:xfrm>
          <a:prstGeom prst="rect">
            <a:avLst/>
          </a:prstGeom>
          <a:noFill/>
          <a:ln/>
        </p:spPr>
        <p:txBody>
          <a:bodyPr wrap="square" lIns="0" tIns="0" rIns="0" bIns="0" rtlCol="0" anchor="t"/>
          <a:lstStyle/>
          <a:p>
            <a:pPr indent="0" marL="0">
              <a:buNone/>
            </a:pPr>
            <a:r>
              <a:rPr lang="en-US" sz="1150" dirty="0">
                <a:solidFill>
                  <a:srgbClr val="BDBDBD"/>
                </a:solidFill>
                <a:latin typeface="Arial" pitchFamily="34" charset="0"/>
                <a:ea typeface="Arial" pitchFamily="34" charset="-122"/>
                <a:cs typeface="Arial" pitchFamily="34" charset="-120"/>
              </a:rPr>
              <a:t>Upper and lower limits on pressure and flow trigger alerts</a:t>
            </a:r>
            <a:endParaRPr lang="en-US" sz="1150" dirty="0"/>
          </a:p>
        </p:txBody>
      </p:sp>
      <p:sp>
        <p:nvSpPr>
          <p:cNvPr id="35" name="Shape 32"/>
          <p:cNvSpPr/>
          <p:nvPr/>
        </p:nvSpPr>
        <p:spPr>
          <a:xfrm>
            <a:off x="7269480" y="4690872"/>
            <a:ext cx="365760" cy="365760"/>
          </a:xfrm>
          <a:prstGeom prst="ellipse">
            <a:avLst/>
          </a:prstGeom>
          <a:solidFill>
            <a:srgbClr val="FCC30A"/>
          </a:solidFill>
          <a:ln w="12700">
            <a:solidFill>
              <a:srgbClr val="FCC30A"/>
            </a:solidFill>
            <a:prstDash val="solid"/>
          </a:ln>
        </p:spPr>
      </p:sp>
      <p:sp>
        <p:nvSpPr>
          <p:cNvPr id="36" name="Text 33"/>
          <p:cNvSpPr txBox="1"/>
          <p:nvPr/>
        </p:nvSpPr>
        <p:spPr>
          <a:xfrm>
            <a:off x="7269480" y="4690872"/>
            <a:ext cx="365760" cy="365760"/>
          </a:xfrm>
          <a:prstGeom prst="rect">
            <a:avLst/>
          </a:prstGeom>
          <a:noFill/>
          <a:ln/>
        </p:spPr>
        <p:txBody>
          <a:bodyPr wrap="square" lIns="0" tIns="0" rIns="0" bIns="0" rtlCol="0" anchor="ctr"/>
          <a:lstStyle/>
          <a:p>
            <a:pPr algn="ctr" indent="0" marL="0">
              <a:buNone/>
            </a:pPr>
            <a:r>
              <a:rPr lang="en-US" sz="1300" b="1" dirty="0">
                <a:solidFill>
                  <a:srgbClr val="1E1E1E"/>
                </a:solidFill>
                <a:latin typeface="Arial" pitchFamily="34" charset="0"/>
                <a:ea typeface="Arial" pitchFamily="34" charset="-122"/>
                <a:cs typeface="Arial" pitchFamily="34" charset="-120"/>
              </a:rPr>
              <a:t>5</a:t>
            </a:r>
            <a:endParaRPr lang="en-US" sz="1300" dirty="0"/>
          </a:p>
        </p:txBody>
      </p:sp>
      <p:sp>
        <p:nvSpPr>
          <p:cNvPr id="37" name="Text 34"/>
          <p:cNvSpPr txBox="1"/>
          <p:nvPr/>
        </p:nvSpPr>
        <p:spPr>
          <a:xfrm>
            <a:off x="7818120" y="4645152"/>
            <a:ext cx="384048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Digital pig logs</a:t>
            </a:r>
            <a:endParaRPr lang="en-US" sz="1400" dirty="0"/>
          </a:p>
        </p:txBody>
      </p:sp>
      <p:sp>
        <p:nvSpPr>
          <p:cNvPr id="38" name="Text 35"/>
          <p:cNvSpPr txBox="1"/>
          <p:nvPr/>
        </p:nvSpPr>
        <p:spPr>
          <a:xfrm>
            <a:off x="7818120" y="4919472"/>
            <a:ext cx="3840480" cy="411480"/>
          </a:xfrm>
          <a:prstGeom prst="rect">
            <a:avLst/>
          </a:prstGeom>
          <a:noFill/>
          <a:ln/>
        </p:spPr>
        <p:txBody>
          <a:bodyPr wrap="square" lIns="0" tIns="0" rIns="0" bIns="0" rtlCol="0" anchor="t"/>
          <a:lstStyle/>
          <a:p>
            <a:pPr indent="0" marL="0">
              <a:buNone/>
            </a:pPr>
            <a:r>
              <a:rPr lang="en-US" sz="1150" dirty="0">
                <a:solidFill>
                  <a:srgbClr val="BDBDBD"/>
                </a:solidFill>
                <a:latin typeface="Arial" pitchFamily="34" charset="0"/>
                <a:ea typeface="Arial" pitchFamily="34" charset="-122"/>
                <a:cs typeface="Arial" pitchFamily="34" charset="-120"/>
              </a:rPr>
              <a:t>Pass completion, pig run sheet and data sheet recorded automatically</a:t>
            </a:r>
            <a:endParaRPr lang="en-US" sz="1150" dirty="0"/>
          </a:p>
        </p:txBody>
      </p:sp>
      <p:sp>
        <p:nvSpPr>
          <p:cNvPr id="39" name="Shape 36"/>
          <p:cNvSpPr/>
          <p:nvPr/>
        </p:nvSpPr>
        <p:spPr>
          <a:xfrm>
            <a:off x="7269480" y="5422392"/>
            <a:ext cx="365760" cy="365760"/>
          </a:xfrm>
          <a:prstGeom prst="ellipse">
            <a:avLst/>
          </a:prstGeom>
          <a:solidFill>
            <a:srgbClr val="FCC30A"/>
          </a:solidFill>
          <a:ln w="12700">
            <a:solidFill>
              <a:srgbClr val="FCC30A"/>
            </a:solidFill>
            <a:prstDash val="solid"/>
          </a:ln>
        </p:spPr>
      </p:sp>
      <p:sp>
        <p:nvSpPr>
          <p:cNvPr id="40" name="Text 37"/>
          <p:cNvSpPr txBox="1"/>
          <p:nvPr/>
        </p:nvSpPr>
        <p:spPr>
          <a:xfrm>
            <a:off x="7269480" y="5422392"/>
            <a:ext cx="365760" cy="365760"/>
          </a:xfrm>
          <a:prstGeom prst="rect">
            <a:avLst/>
          </a:prstGeom>
          <a:noFill/>
          <a:ln/>
        </p:spPr>
        <p:txBody>
          <a:bodyPr wrap="square" lIns="0" tIns="0" rIns="0" bIns="0" rtlCol="0" anchor="ctr"/>
          <a:lstStyle/>
          <a:p>
            <a:pPr algn="ctr" indent="0" marL="0">
              <a:buNone/>
            </a:pPr>
            <a:r>
              <a:rPr lang="en-US" sz="1300" b="1" dirty="0">
                <a:solidFill>
                  <a:srgbClr val="1E1E1E"/>
                </a:solidFill>
                <a:latin typeface="Arial" pitchFamily="34" charset="0"/>
                <a:ea typeface="Arial" pitchFamily="34" charset="-122"/>
                <a:cs typeface="Arial" pitchFamily="34" charset="-120"/>
              </a:rPr>
              <a:t>6</a:t>
            </a:r>
            <a:endParaRPr lang="en-US" sz="1300" dirty="0"/>
          </a:p>
        </p:txBody>
      </p:sp>
      <p:sp>
        <p:nvSpPr>
          <p:cNvPr id="41" name="Text 38"/>
          <p:cNvSpPr txBox="1"/>
          <p:nvPr/>
        </p:nvSpPr>
        <p:spPr>
          <a:xfrm>
            <a:off x="7818120" y="5376672"/>
            <a:ext cx="384048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One station per pass</a:t>
            </a:r>
            <a:endParaRPr lang="en-US" sz="1400" dirty="0"/>
          </a:p>
        </p:txBody>
      </p:sp>
      <p:sp>
        <p:nvSpPr>
          <p:cNvPr id="42" name="Text 39"/>
          <p:cNvSpPr txBox="1"/>
          <p:nvPr/>
        </p:nvSpPr>
        <p:spPr>
          <a:xfrm>
            <a:off x="7818120" y="5650992"/>
            <a:ext cx="3840480" cy="411480"/>
          </a:xfrm>
          <a:prstGeom prst="rect">
            <a:avLst/>
          </a:prstGeom>
          <a:noFill/>
          <a:ln/>
        </p:spPr>
        <p:txBody>
          <a:bodyPr wrap="square" lIns="0" tIns="0" rIns="0" bIns="0" rtlCol="0" anchor="t"/>
          <a:lstStyle/>
          <a:p>
            <a:pPr indent="0" marL="0">
              <a:buNone/>
            </a:pPr>
            <a:r>
              <a:rPr lang="en-US" sz="1150" dirty="0">
                <a:solidFill>
                  <a:srgbClr val="BDBDBD"/>
                </a:solidFill>
                <a:latin typeface="Arial" pitchFamily="34" charset="0"/>
                <a:ea typeface="Arial" pitchFamily="34" charset="-122"/>
                <a:cs typeface="Arial" pitchFamily="34" charset="-120"/>
              </a:rPr>
              <a:t>Left, center and right stations run independently</a:t>
            </a:r>
            <a:endParaRPr lang="en-US" sz="1150" dirty="0"/>
          </a:p>
        </p:txBody>
      </p:sp>
      <p:sp>
        <p:nvSpPr>
          <p:cNvPr id="43" name="Text 40"/>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BDBDBD"/>
                </a:solidFill>
                <a:latin typeface="Arial" pitchFamily="34" charset="0"/>
                <a:ea typeface="Arial" pitchFamily="34" charset="-122"/>
                <a:cs typeface="Arial" pitchFamily="34" charset="-120"/>
              </a:rPr>
              <a:t>USA DeBusk  |  Valero Texas City  |  Heater Pigging &amp; Decoking Services</a:t>
            </a:r>
            <a:endParaRPr lang="en-US" sz="900" dirty="0"/>
          </a:p>
        </p:txBody>
      </p:sp>
      <p:sp>
        <p:nvSpPr>
          <p:cNvPr id="44" name="Text 41"/>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BDBDBD"/>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3043714" cy="310896"/>
          </a:xfrm>
          <a:prstGeom prst="roundRect">
            <a:avLst>
              <a:gd name="adj" fmla="val 23529"/>
            </a:avLst>
          </a:prstGeom>
          <a:solidFill>
            <a:srgbClr val="FCC30A"/>
          </a:solidFill>
          <a:ln w="12700">
            <a:solidFill>
              <a:srgbClr val="FCC30A"/>
            </a:solidFill>
            <a:prstDash val="solid"/>
          </a:ln>
        </p:spPr>
      </p:sp>
      <p:sp>
        <p:nvSpPr>
          <p:cNvPr id="3" name="Text 1"/>
          <p:cNvSpPr txBox="1"/>
          <p:nvPr/>
        </p:nvSpPr>
        <p:spPr>
          <a:xfrm>
            <a:off x="548640" y="411480"/>
            <a:ext cx="3043714"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04   EQUIPMENT &amp; TECHNOLOGY</a:t>
            </a:r>
            <a:endParaRPr lang="en-US" sz="1050" dirty="0"/>
          </a:p>
        </p:txBody>
      </p:sp>
      <p:sp>
        <p:nvSpPr>
          <p:cNvPr id="4" name="Text 2"/>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3200" b="1" dirty="0">
                <a:solidFill>
                  <a:srgbClr val="222222"/>
                </a:solidFill>
                <a:latin typeface="Arial" pitchFamily="34" charset="0"/>
                <a:ea typeface="Arial" pitchFamily="34" charset="-122"/>
                <a:cs typeface="Arial" pitchFamily="34" charset="-120"/>
              </a:rPr>
              <a:t>Optional closed-loop filtration</a:t>
            </a:r>
            <a:endParaRPr lang="en-US" sz="3200" dirty="0"/>
          </a:p>
        </p:txBody>
      </p:sp>
      <p:sp>
        <p:nvSpPr>
          <p:cNvPr id="5" name="Text 3"/>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5E5E5E"/>
                </a:solidFill>
                <a:latin typeface="Arial" pitchFamily="34" charset="0"/>
                <a:ea typeface="Arial" pitchFamily="34" charset="-122"/>
                <a:cs typeface="Arial" pitchFamily="34" charset="-120"/>
              </a:rPr>
              <a:t>Runs alongside pigging, independent of coil pressure</a:t>
            </a:r>
            <a:endParaRPr lang="en-US" sz="1500" dirty="0"/>
          </a:p>
        </p:txBody>
      </p:sp>
      <p:sp>
        <p:nvSpPr>
          <p:cNvPr id="6" name="Shape 4"/>
          <p:cNvSpPr/>
          <p:nvPr/>
        </p:nvSpPr>
        <p:spPr>
          <a:xfrm>
            <a:off x="548640" y="2240280"/>
            <a:ext cx="2011680" cy="914400"/>
          </a:xfrm>
          <a:prstGeom prst="rect">
            <a:avLst/>
          </a:prstGeom>
          <a:solidFill>
            <a:srgbClr val="1E1E1E"/>
          </a:solidFill>
          <a:ln w="12700">
            <a:solidFill>
              <a:srgbClr val="1E1E1E"/>
            </a:solidFill>
            <a:prstDash val="solid"/>
          </a:ln>
        </p:spPr>
      </p:sp>
      <p:sp>
        <p:nvSpPr>
          <p:cNvPr id="7" name="Text 5"/>
          <p:cNvSpPr txBox="1"/>
          <p:nvPr/>
        </p:nvSpPr>
        <p:spPr>
          <a:xfrm>
            <a:off x="548640" y="2240280"/>
            <a:ext cx="2011680"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TriMax</a:t>
            </a:r>
            <a:endParaRPr lang="en-US" sz="1400" dirty="0"/>
          </a:p>
          <a:p>
            <a:pPr algn="ctr" indent="0" marL="0">
              <a:buNone/>
            </a:pPr>
            <a:r>
              <a:rPr lang="en-US" sz="1400" b="1" dirty="0">
                <a:solidFill>
                  <a:srgbClr val="FFFFFF"/>
                </a:solidFill>
                <a:latin typeface="Arial" pitchFamily="34" charset="0"/>
                <a:ea typeface="Arial" pitchFamily="34" charset="-122"/>
                <a:cs typeface="Arial" pitchFamily="34" charset="-120"/>
              </a:rPr>
              <a:t>dirty tank</a:t>
            </a:r>
            <a:endParaRPr lang="en-US" sz="1400" dirty="0"/>
          </a:p>
        </p:txBody>
      </p:sp>
      <p:sp>
        <p:nvSpPr>
          <p:cNvPr id="8" name="Shape 6"/>
          <p:cNvSpPr/>
          <p:nvPr/>
        </p:nvSpPr>
        <p:spPr>
          <a:xfrm>
            <a:off x="2606040" y="2697480"/>
            <a:ext cx="411480" cy="0"/>
          </a:xfrm>
          <a:prstGeom prst="line">
            <a:avLst/>
          </a:prstGeom>
          <a:noFill/>
          <a:ln w="31750">
            <a:solidFill>
              <a:srgbClr val="8A8A8A"/>
            </a:solidFill>
            <a:prstDash val="solid"/>
            <a:tailEnd type="triangle"/>
          </a:ln>
        </p:spPr>
      </p:sp>
      <p:sp>
        <p:nvSpPr>
          <p:cNvPr id="9" name="Shape 7"/>
          <p:cNvSpPr/>
          <p:nvPr/>
        </p:nvSpPr>
        <p:spPr>
          <a:xfrm>
            <a:off x="3063240" y="2240280"/>
            <a:ext cx="2011680" cy="914400"/>
          </a:xfrm>
          <a:prstGeom prst="rect">
            <a:avLst/>
          </a:prstGeom>
          <a:solidFill>
            <a:srgbClr val="1E1E1E"/>
          </a:solidFill>
          <a:ln w="12700">
            <a:solidFill>
              <a:srgbClr val="1E1E1E"/>
            </a:solidFill>
            <a:prstDash val="solid"/>
          </a:ln>
        </p:spPr>
      </p:sp>
      <p:sp>
        <p:nvSpPr>
          <p:cNvPr id="10" name="Text 8"/>
          <p:cNvSpPr txBox="1"/>
          <p:nvPr/>
        </p:nvSpPr>
        <p:spPr>
          <a:xfrm>
            <a:off x="3063240" y="2240280"/>
            <a:ext cx="2011680"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4×3 transfer</a:t>
            </a:r>
            <a:endParaRPr lang="en-US" sz="1400" dirty="0"/>
          </a:p>
          <a:p>
            <a:pPr algn="ctr" indent="0" marL="0">
              <a:buNone/>
            </a:pPr>
            <a:r>
              <a:rPr lang="en-US" sz="1400" b="1" dirty="0">
                <a:solidFill>
                  <a:srgbClr val="FFFFFF"/>
                </a:solidFill>
                <a:latin typeface="Arial" pitchFamily="34" charset="0"/>
                <a:ea typeface="Arial" pitchFamily="34" charset="-122"/>
                <a:cs typeface="Arial" pitchFamily="34" charset="-120"/>
              </a:rPr>
              <a:t>pump</a:t>
            </a:r>
            <a:endParaRPr lang="en-US" sz="1400" dirty="0"/>
          </a:p>
        </p:txBody>
      </p:sp>
      <p:sp>
        <p:nvSpPr>
          <p:cNvPr id="11" name="Shape 9"/>
          <p:cNvSpPr/>
          <p:nvPr/>
        </p:nvSpPr>
        <p:spPr>
          <a:xfrm>
            <a:off x="5120640" y="2697480"/>
            <a:ext cx="411480" cy="0"/>
          </a:xfrm>
          <a:prstGeom prst="line">
            <a:avLst/>
          </a:prstGeom>
          <a:noFill/>
          <a:ln w="31750">
            <a:solidFill>
              <a:srgbClr val="8A8A8A"/>
            </a:solidFill>
            <a:prstDash val="solid"/>
            <a:tailEnd type="triangle"/>
          </a:ln>
        </p:spPr>
      </p:sp>
      <p:sp>
        <p:nvSpPr>
          <p:cNvPr id="12" name="Shape 10"/>
          <p:cNvSpPr/>
          <p:nvPr/>
        </p:nvSpPr>
        <p:spPr>
          <a:xfrm>
            <a:off x="5577840" y="2240280"/>
            <a:ext cx="2011680" cy="914400"/>
          </a:xfrm>
          <a:prstGeom prst="rect">
            <a:avLst/>
          </a:prstGeom>
          <a:solidFill>
            <a:srgbClr val="FCC30A"/>
          </a:solidFill>
          <a:ln w="12700">
            <a:solidFill>
              <a:srgbClr val="FCC30A"/>
            </a:solidFill>
            <a:prstDash val="solid"/>
          </a:ln>
        </p:spPr>
      </p:sp>
      <p:sp>
        <p:nvSpPr>
          <p:cNvPr id="13" name="Text 11"/>
          <p:cNvSpPr txBox="1"/>
          <p:nvPr/>
        </p:nvSpPr>
        <p:spPr>
          <a:xfrm>
            <a:off x="5577840" y="2240280"/>
            <a:ext cx="2011680" cy="914400"/>
          </a:xfrm>
          <a:prstGeom prst="rect">
            <a:avLst/>
          </a:prstGeom>
          <a:noFill/>
          <a:ln/>
        </p:spPr>
        <p:txBody>
          <a:bodyPr wrap="square" lIns="0" tIns="0" rIns="0" bIns="0" rtlCol="0" anchor="ctr"/>
          <a:lstStyle/>
          <a:p>
            <a:pPr algn="ctr" indent="0" marL="0">
              <a:buNone/>
            </a:pPr>
            <a:r>
              <a:rPr lang="en-US" sz="1400" b="1" dirty="0">
                <a:solidFill>
                  <a:srgbClr val="1E1E1E"/>
                </a:solidFill>
                <a:latin typeface="Arial" pitchFamily="34" charset="0"/>
                <a:ea typeface="Arial" pitchFamily="34" charset="-122"/>
                <a:cs typeface="Arial" pitchFamily="34" charset="-120"/>
              </a:rPr>
              <a:t>Filter</a:t>
            </a:r>
            <a:endParaRPr lang="en-US" sz="1400" dirty="0"/>
          </a:p>
          <a:p>
            <a:pPr algn="ctr" indent="0" marL="0">
              <a:buNone/>
            </a:pPr>
            <a:r>
              <a:rPr lang="en-US" sz="1400" b="1" dirty="0">
                <a:solidFill>
                  <a:srgbClr val="1E1E1E"/>
                </a:solidFill>
                <a:latin typeface="Arial" pitchFamily="34" charset="0"/>
                <a:ea typeface="Arial" pitchFamily="34" charset="-122"/>
                <a:cs typeface="Arial" pitchFamily="34" charset="-120"/>
              </a:rPr>
              <a:t>press</a:t>
            </a:r>
            <a:endParaRPr lang="en-US" sz="1400" dirty="0"/>
          </a:p>
        </p:txBody>
      </p:sp>
      <p:sp>
        <p:nvSpPr>
          <p:cNvPr id="14" name="Shape 12"/>
          <p:cNvSpPr/>
          <p:nvPr/>
        </p:nvSpPr>
        <p:spPr>
          <a:xfrm>
            <a:off x="7635240" y="2697480"/>
            <a:ext cx="411480" cy="0"/>
          </a:xfrm>
          <a:prstGeom prst="line">
            <a:avLst/>
          </a:prstGeom>
          <a:noFill/>
          <a:ln w="31750">
            <a:solidFill>
              <a:srgbClr val="8A8A8A"/>
            </a:solidFill>
            <a:prstDash val="solid"/>
            <a:tailEnd type="triangle"/>
          </a:ln>
        </p:spPr>
      </p:sp>
      <p:sp>
        <p:nvSpPr>
          <p:cNvPr id="15" name="Shape 13"/>
          <p:cNvSpPr/>
          <p:nvPr/>
        </p:nvSpPr>
        <p:spPr>
          <a:xfrm>
            <a:off x="8092440" y="2240280"/>
            <a:ext cx="2011680" cy="914400"/>
          </a:xfrm>
          <a:prstGeom prst="rect">
            <a:avLst/>
          </a:prstGeom>
          <a:solidFill>
            <a:srgbClr val="1E1E1E"/>
          </a:solidFill>
          <a:ln w="12700">
            <a:solidFill>
              <a:srgbClr val="1E1E1E"/>
            </a:solidFill>
            <a:prstDash val="solid"/>
          </a:ln>
        </p:spPr>
      </p:sp>
      <p:sp>
        <p:nvSpPr>
          <p:cNvPr id="16" name="Text 14"/>
          <p:cNvSpPr txBox="1"/>
          <p:nvPr/>
        </p:nvSpPr>
        <p:spPr>
          <a:xfrm>
            <a:off x="8092440" y="2240280"/>
            <a:ext cx="2011680"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TriMax</a:t>
            </a:r>
            <a:endParaRPr lang="en-US" sz="1400" dirty="0"/>
          </a:p>
          <a:p>
            <a:pPr algn="ctr" indent="0" marL="0">
              <a:buNone/>
            </a:pPr>
            <a:r>
              <a:rPr lang="en-US" sz="1400" b="1" dirty="0">
                <a:solidFill>
                  <a:srgbClr val="FFFFFF"/>
                </a:solidFill>
                <a:latin typeface="Arial" pitchFamily="34" charset="0"/>
                <a:ea typeface="Arial" pitchFamily="34" charset="-122"/>
                <a:cs typeface="Arial" pitchFamily="34" charset="-120"/>
              </a:rPr>
              <a:t>clean tank</a:t>
            </a:r>
            <a:endParaRPr lang="en-US" sz="1400" dirty="0"/>
          </a:p>
        </p:txBody>
      </p:sp>
      <p:sp>
        <p:nvSpPr>
          <p:cNvPr id="17" name="Shape 15"/>
          <p:cNvSpPr/>
          <p:nvPr/>
        </p:nvSpPr>
        <p:spPr>
          <a:xfrm>
            <a:off x="1554480" y="3200400"/>
            <a:ext cx="0" cy="320040"/>
          </a:xfrm>
          <a:prstGeom prst="line">
            <a:avLst/>
          </a:prstGeom>
          <a:noFill/>
          <a:ln w="31750">
            <a:solidFill>
              <a:srgbClr val="8A8A8A"/>
            </a:solidFill>
            <a:prstDash val="solid"/>
            <a:headEnd type="triangle"/>
          </a:ln>
        </p:spPr>
      </p:sp>
      <p:sp>
        <p:nvSpPr>
          <p:cNvPr id="18" name="Shape 16"/>
          <p:cNvSpPr/>
          <p:nvPr/>
        </p:nvSpPr>
        <p:spPr>
          <a:xfrm>
            <a:off x="1554480" y="3520440"/>
            <a:ext cx="7543800" cy="0"/>
          </a:xfrm>
          <a:prstGeom prst="line">
            <a:avLst/>
          </a:prstGeom>
          <a:noFill/>
          <a:ln w="31750">
            <a:solidFill>
              <a:srgbClr val="8A8A8A"/>
            </a:solidFill>
            <a:prstDash val="solid"/>
          </a:ln>
        </p:spPr>
      </p:sp>
      <p:sp>
        <p:nvSpPr>
          <p:cNvPr id="19" name="Shape 17"/>
          <p:cNvSpPr/>
          <p:nvPr/>
        </p:nvSpPr>
        <p:spPr>
          <a:xfrm>
            <a:off x="9098280" y="3200400"/>
            <a:ext cx="0" cy="320040"/>
          </a:xfrm>
          <a:prstGeom prst="line">
            <a:avLst/>
          </a:prstGeom>
          <a:noFill/>
          <a:ln w="31750">
            <a:solidFill>
              <a:srgbClr val="8A8A8A"/>
            </a:solidFill>
            <a:prstDash val="solid"/>
          </a:ln>
        </p:spPr>
      </p:sp>
      <p:sp>
        <p:nvSpPr>
          <p:cNvPr id="20" name="Text 18"/>
          <p:cNvSpPr txBox="1"/>
          <p:nvPr/>
        </p:nvSpPr>
        <p:spPr>
          <a:xfrm>
            <a:off x="2011680" y="3566160"/>
            <a:ext cx="6217920" cy="274320"/>
          </a:xfrm>
          <a:prstGeom prst="rect">
            <a:avLst/>
          </a:prstGeom>
          <a:noFill/>
          <a:ln/>
        </p:spPr>
        <p:txBody>
          <a:bodyPr wrap="square" lIns="0" tIns="0" rIns="0" bIns="0" rtlCol="0" anchor="ctr"/>
          <a:lstStyle/>
          <a:p>
            <a:pPr algn="ctr" indent="0" marL="0">
              <a:buNone/>
            </a:pPr>
            <a:r>
              <a:rPr lang="en-US" sz="1100" i="1" dirty="0">
                <a:solidFill>
                  <a:srgbClr val="5E5E5E"/>
                </a:solidFill>
                <a:latin typeface="Arial" pitchFamily="34" charset="0"/>
                <a:ea typeface="Arial" pitchFamily="34" charset="-122"/>
                <a:cs typeface="Arial" pitchFamily="34" charset="-120"/>
              </a:rPr>
              <a:t>Filtrate returns to the clean tank; pigging continues without interruption</a:t>
            </a:r>
            <a:endParaRPr lang="en-US" sz="1100" dirty="0"/>
          </a:p>
        </p:txBody>
      </p:sp>
      <p:sp>
        <p:nvSpPr>
          <p:cNvPr id="21" name="Text 19"/>
          <p:cNvSpPr txBox="1"/>
          <p:nvPr/>
        </p:nvSpPr>
        <p:spPr>
          <a:xfrm>
            <a:off x="548640" y="4160520"/>
            <a:ext cx="3017520" cy="594360"/>
          </a:xfrm>
          <a:prstGeom prst="rect">
            <a:avLst/>
          </a:prstGeom>
          <a:noFill/>
          <a:ln/>
        </p:spPr>
        <p:txBody>
          <a:bodyPr wrap="square" lIns="0" tIns="0" rIns="0" bIns="0" rtlCol="0" anchor="ctr"/>
          <a:lstStyle/>
          <a:p>
            <a:pPr indent="0" marL="0">
              <a:buNone/>
            </a:pPr>
            <a:r>
              <a:rPr lang="en-US" sz="3000" b="1" dirty="0">
                <a:solidFill>
                  <a:srgbClr val="222222"/>
                </a:solidFill>
                <a:latin typeface="Arial" pitchFamily="34" charset="0"/>
                <a:ea typeface="Arial" pitchFamily="34" charset="-122"/>
                <a:cs typeface="Arial" pitchFamily="34" charset="-120"/>
              </a:rPr>
              <a:t>400 GPM</a:t>
            </a:r>
            <a:endParaRPr lang="en-US" sz="3000" dirty="0"/>
          </a:p>
        </p:txBody>
      </p:sp>
      <p:sp>
        <p:nvSpPr>
          <p:cNvPr id="22" name="Text 20"/>
          <p:cNvSpPr txBox="1"/>
          <p:nvPr/>
        </p:nvSpPr>
        <p:spPr>
          <a:xfrm>
            <a:off x="548640" y="4754880"/>
            <a:ext cx="3017520" cy="320040"/>
          </a:xfrm>
          <a:prstGeom prst="rect">
            <a:avLst/>
          </a:prstGeom>
          <a:noFill/>
          <a:ln/>
        </p:spPr>
        <p:txBody>
          <a:bodyPr wrap="square" lIns="0" tIns="0" rIns="0" bIns="0" rtlCol="0" anchor="ctr"/>
          <a:lstStyle/>
          <a:p>
            <a:pPr indent="0" marL="0">
              <a:buNone/>
            </a:pPr>
            <a:r>
              <a:rPr lang="en-US" sz="1200" dirty="0">
                <a:solidFill>
                  <a:srgbClr val="5E5E5E"/>
                </a:solidFill>
                <a:latin typeface="Arial" pitchFamily="34" charset="0"/>
                <a:ea typeface="Arial" pitchFamily="34" charset="-122"/>
                <a:cs typeface="Arial" pitchFamily="34" charset="-120"/>
              </a:rPr>
              <a:t>press capacity</a:t>
            </a:r>
            <a:endParaRPr lang="en-US" sz="1200" dirty="0"/>
          </a:p>
        </p:txBody>
      </p:sp>
      <p:sp>
        <p:nvSpPr>
          <p:cNvPr id="23" name="Text 21"/>
          <p:cNvSpPr txBox="1"/>
          <p:nvPr/>
        </p:nvSpPr>
        <p:spPr>
          <a:xfrm>
            <a:off x="3794760" y="4160520"/>
            <a:ext cx="3017520" cy="594360"/>
          </a:xfrm>
          <a:prstGeom prst="rect">
            <a:avLst/>
          </a:prstGeom>
          <a:noFill/>
          <a:ln/>
        </p:spPr>
        <p:txBody>
          <a:bodyPr wrap="square" lIns="0" tIns="0" rIns="0" bIns="0" rtlCol="0" anchor="ctr"/>
          <a:lstStyle/>
          <a:p>
            <a:pPr indent="0" marL="0">
              <a:buNone/>
            </a:pPr>
            <a:r>
              <a:rPr lang="en-US" sz="3000" b="1" dirty="0">
                <a:solidFill>
                  <a:srgbClr val="222222"/>
                </a:solidFill>
                <a:latin typeface="Arial" pitchFamily="34" charset="0"/>
                <a:ea typeface="Arial" pitchFamily="34" charset="-122"/>
                <a:cs typeface="Arial" pitchFamily="34" charset="-120"/>
              </a:rPr>
              <a:t>1,243 ft²</a:t>
            </a:r>
            <a:endParaRPr lang="en-US" sz="3000" dirty="0"/>
          </a:p>
        </p:txBody>
      </p:sp>
      <p:sp>
        <p:nvSpPr>
          <p:cNvPr id="24" name="Text 22"/>
          <p:cNvSpPr txBox="1"/>
          <p:nvPr/>
        </p:nvSpPr>
        <p:spPr>
          <a:xfrm>
            <a:off x="3794760" y="4754880"/>
            <a:ext cx="3017520" cy="320040"/>
          </a:xfrm>
          <a:prstGeom prst="rect">
            <a:avLst/>
          </a:prstGeom>
          <a:noFill/>
          <a:ln/>
        </p:spPr>
        <p:txBody>
          <a:bodyPr wrap="square" lIns="0" tIns="0" rIns="0" bIns="0" rtlCol="0" anchor="ctr"/>
          <a:lstStyle/>
          <a:p>
            <a:pPr indent="0" marL="0">
              <a:buNone/>
            </a:pPr>
            <a:r>
              <a:rPr lang="en-US" sz="1200" dirty="0">
                <a:solidFill>
                  <a:srgbClr val="5E5E5E"/>
                </a:solidFill>
                <a:latin typeface="Arial" pitchFamily="34" charset="0"/>
                <a:ea typeface="Arial" pitchFamily="34" charset="-122"/>
                <a:cs typeface="Arial" pitchFamily="34" charset="-120"/>
              </a:rPr>
              <a:t>filtration area per press</a:t>
            </a:r>
            <a:endParaRPr lang="en-US" sz="1200" dirty="0"/>
          </a:p>
        </p:txBody>
      </p:sp>
      <p:sp>
        <p:nvSpPr>
          <p:cNvPr id="25" name="Text 23"/>
          <p:cNvSpPr txBox="1"/>
          <p:nvPr/>
        </p:nvSpPr>
        <p:spPr>
          <a:xfrm>
            <a:off x="7040880" y="4160520"/>
            <a:ext cx="3017520" cy="594360"/>
          </a:xfrm>
          <a:prstGeom prst="rect">
            <a:avLst/>
          </a:prstGeom>
          <a:noFill/>
          <a:ln/>
        </p:spPr>
        <p:txBody>
          <a:bodyPr wrap="square" lIns="0" tIns="0" rIns="0" bIns="0" rtlCol="0" anchor="ctr"/>
          <a:lstStyle/>
          <a:p>
            <a:pPr indent="0" marL="0">
              <a:buNone/>
            </a:pPr>
            <a:r>
              <a:rPr lang="en-US" sz="3000" b="1" dirty="0">
                <a:solidFill>
                  <a:srgbClr val="222222"/>
                </a:solidFill>
                <a:latin typeface="Arial" pitchFamily="34" charset="0"/>
                <a:ea typeface="Arial" pitchFamily="34" charset="-122"/>
                <a:cs typeface="Arial" pitchFamily="34" charset="-120"/>
              </a:rPr>
              <a:t>3</a:t>
            </a:r>
            <a:endParaRPr lang="en-US" sz="3000" dirty="0"/>
          </a:p>
        </p:txBody>
      </p:sp>
      <p:sp>
        <p:nvSpPr>
          <p:cNvPr id="26" name="Text 24"/>
          <p:cNvSpPr txBox="1"/>
          <p:nvPr/>
        </p:nvSpPr>
        <p:spPr>
          <a:xfrm>
            <a:off x="7040880" y="4754880"/>
            <a:ext cx="3017520" cy="320040"/>
          </a:xfrm>
          <a:prstGeom prst="rect">
            <a:avLst/>
          </a:prstGeom>
          <a:noFill/>
          <a:ln/>
        </p:spPr>
        <p:txBody>
          <a:bodyPr wrap="square" lIns="0" tIns="0" rIns="0" bIns="0" rtlCol="0" anchor="ctr"/>
          <a:lstStyle/>
          <a:p>
            <a:pPr indent="0" marL="0">
              <a:buNone/>
            </a:pPr>
            <a:r>
              <a:rPr lang="en-US" sz="1200" dirty="0">
                <a:solidFill>
                  <a:srgbClr val="5E5E5E"/>
                </a:solidFill>
                <a:latin typeface="Arial" pitchFamily="34" charset="0"/>
                <a:ea typeface="Arial" pitchFamily="34" charset="-122"/>
                <a:cs typeface="Arial" pitchFamily="34" charset="-120"/>
              </a:rPr>
              <a:t>trailer-mounted presses in the fleet</a:t>
            </a:r>
            <a:endParaRPr lang="en-US" sz="1200" dirty="0"/>
          </a:p>
        </p:txBody>
      </p:sp>
      <p:sp>
        <p:nvSpPr>
          <p:cNvPr id="27" name="Shape 25"/>
          <p:cNvSpPr/>
          <p:nvPr/>
        </p:nvSpPr>
        <p:spPr>
          <a:xfrm>
            <a:off x="548640" y="5303520"/>
            <a:ext cx="11091672" cy="777240"/>
          </a:xfrm>
          <a:prstGeom prst="rect">
            <a:avLst/>
          </a:prstGeom>
          <a:solidFill>
            <a:srgbClr val="F4F4F4"/>
          </a:solidFill>
          <a:ln w="12700">
            <a:solidFill>
              <a:srgbClr val="F4F4F4"/>
            </a:solidFill>
            <a:prstDash val="solid"/>
          </a:ln>
        </p:spPr>
      </p:sp>
      <p:sp>
        <p:nvSpPr>
          <p:cNvPr id="28" name="Shape 26"/>
          <p:cNvSpPr/>
          <p:nvPr/>
        </p:nvSpPr>
        <p:spPr>
          <a:xfrm>
            <a:off x="777240" y="5559552"/>
            <a:ext cx="256032" cy="256032"/>
          </a:xfrm>
          <a:prstGeom prst="ellipse">
            <a:avLst/>
          </a:prstGeom>
          <a:solidFill>
            <a:srgbClr val="FCC30A"/>
          </a:solidFill>
          <a:ln w="12700">
            <a:solidFill>
              <a:srgbClr val="FCC30A"/>
            </a:solidFill>
            <a:prstDash val="solid"/>
          </a:ln>
        </p:spPr>
      </p:sp>
      <p:sp>
        <p:nvSpPr>
          <p:cNvPr id="29" name="Text 27"/>
          <p:cNvSpPr txBox="1"/>
          <p:nvPr/>
        </p:nvSpPr>
        <p:spPr>
          <a:xfrm>
            <a:off x="1161288" y="5440680"/>
            <a:ext cx="3154680" cy="502920"/>
          </a:xfrm>
          <a:prstGeom prst="rect">
            <a:avLst/>
          </a:prstGeom>
          <a:noFill/>
          <a:ln/>
        </p:spPr>
        <p:txBody>
          <a:bodyPr wrap="square" lIns="0" tIns="0" rIns="0" bIns="0" rtlCol="0" anchor="ctr"/>
          <a:lstStyle/>
          <a:p>
            <a:pPr indent="0" marL="0">
              <a:buNone/>
            </a:pPr>
            <a:r>
              <a:rPr lang="en-US" sz="1250" b="1" dirty="0">
                <a:solidFill>
                  <a:srgbClr val="222222"/>
                </a:solidFill>
                <a:latin typeface="Arial" pitchFamily="34" charset="0"/>
                <a:ea typeface="Arial" pitchFamily="34" charset="-122"/>
                <a:cs typeface="Arial" pitchFamily="34" charset="-120"/>
              </a:rPr>
              <a:t>Reduces fresh-water demand</a:t>
            </a:r>
            <a:endParaRPr lang="en-US" sz="1250" dirty="0"/>
          </a:p>
        </p:txBody>
      </p:sp>
      <p:sp>
        <p:nvSpPr>
          <p:cNvPr id="30" name="Shape 28"/>
          <p:cNvSpPr/>
          <p:nvPr/>
        </p:nvSpPr>
        <p:spPr>
          <a:xfrm>
            <a:off x="4434840" y="5559552"/>
            <a:ext cx="256032" cy="256032"/>
          </a:xfrm>
          <a:prstGeom prst="ellipse">
            <a:avLst/>
          </a:prstGeom>
          <a:solidFill>
            <a:srgbClr val="FCC30A"/>
          </a:solidFill>
          <a:ln w="12700">
            <a:solidFill>
              <a:srgbClr val="FCC30A"/>
            </a:solidFill>
            <a:prstDash val="solid"/>
          </a:ln>
        </p:spPr>
      </p:sp>
      <p:sp>
        <p:nvSpPr>
          <p:cNvPr id="31" name="Text 29"/>
          <p:cNvSpPr txBox="1"/>
          <p:nvPr/>
        </p:nvSpPr>
        <p:spPr>
          <a:xfrm>
            <a:off x="4818888" y="5440680"/>
            <a:ext cx="3154680" cy="502920"/>
          </a:xfrm>
          <a:prstGeom prst="rect">
            <a:avLst/>
          </a:prstGeom>
          <a:noFill/>
          <a:ln/>
        </p:spPr>
        <p:txBody>
          <a:bodyPr wrap="square" lIns="0" tIns="0" rIns="0" bIns="0" rtlCol="0" anchor="ctr"/>
          <a:lstStyle/>
          <a:p>
            <a:pPr indent="0" marL="0">
              <a:buNone/>
            </a:pPr>
            <a:r>
              <a:rPr lang="en-US" sz="1250" b="1" dirty="0">
                <a:solidFill>
                  <a:srgbClr val="222222"/>
                </a:solidFill>
                <a:latin typeface="Arial" pitchFamily="34" charset="0"/>
                <a:ea typeface="Arial" pitchFamily="34" charset="-122"/>
                <a:cs typeface="Arial" pitchFamily="34" charset="-120"/>
              </a:rPr>
              <a:t>Reduces wastewater volume</a:t>
            </a:r>
            <a:endParaRPr lang="en-US" sz="1250" dirty="0"/>
          </a:p>
        </p:txBody>
      </p:sp>
      <p:sp>
        <p:nvSpPr>
          <p:cNvPr id="32" name="Shape 30"/>
          <p:cNvSpPr/>
          <p:nvPr/>
        </p:nvSpPr>
        <p:spPr>
          <a:xfrm>
            <a:off x="8092440" y="5559552"/>
            <a:ext cx="256032" cy="256032"/>
          </a:xfrm>
          <a:prstGeom prst="ellipse">
            <a:avLst/>
          </a:prstGeom>
          <a:solidFill>
            <a:srgbClr val="FCC30A"/>
          </a:solidFill>
          <a:ln w="12700">
            <a:solidFill>
              <a:srgbClr val="FCC30A"/>
            </a:solidFill>
            <a:prstDash val="solid"/>
          </a:ln>
        </p:spPr>
      </p:sp>
      <p:sp>
        <p:nvSpPr>
          <p:cNvPr id="33" name="Text 31"/>
          <p:cNvSpPr txBox="1"/>
          <p:nvPr/>
        </p:nvSpPr>
        <p:spPr>
          <a:xfrm>
            <a:off x="8476488" y="5440680"/>
            <a:ext cx="3154680" cy="502920"/>
          </a:xfrm>
          <a:prstGeom prst="rect">
            <a:avLst/>
          </a:prstGeom>
          <a:noFill/>
          <a:ln/>
        </p:spPr>
        <p:txBody>
          <a:bodyPr wrap="square" lIns="0" tIns="0" rIns="0" bIns="0" rtlCol="0" anchor="ctr"/>
          <a:lstStyle/>
          <a:p>
            <a:pPr indent="0" marL="0">
              <a:buNone/>
            </a:pPr>
            <a:r>
              <a:rPr lang="en-US" sz="1250" b="1" dirty="0">
                <a:solidFill>
                  <a:srgbClr val="222222"/>
                </a:solidFill>
                <a:latin typeface="Arial" pitchFamily="34" charset="0"/>
                <a:ea typeface="Arial" pitchFamily="34" charset="-122"/>
                <a:cs typeface="Arial" pitchFamily="34" charset="-120"/>
              </a:rPr>
              <a:t>Coke fines captured as filter cake for disposal</a:t>
            </a:r>
            <a:endParaRPr lang="en-US" sz="1250" dirty="0"/>
          </a:p>
        </p:txBody>
      </p:sp>
      <p:sp>
        <p:nvSpPr>
          <p:cNvPr id="34" name="Text 32"/>
          <p:cNvSpPr txBox="1"/>
          <p:nvPr/>
        </p:nvSpPr>
        <p:spPr>
          <a:xfrm>
            <a:off x="7589520" y="4224528"/>
            <a:ext cx="4050792" cy="457200"/>
          </a:xfrm>
          <a:prstGeom prst="rect">
            <a:avLst/>
          </a:prstGeom>
          <a:noFill/>
          <a:ln/>
        </p:spPr>
        <p:txBody>
          <a:bodyPr wrap="square" lIns="0" tIns="0" rIns="0" bIns="0" rtlCol="0" anchor="ctr"/>
          <a:lstStyle/>
          <a:p>
            <a:pPr algn="r" indent="0" marL="0">
              <a:buNone/>
            </a:pPr>
            <a:r>
              <a:rPr lang="en-US" sz="1100" i="1" dirty="0">
                <a:solidFill>
                  <a:srgbClr val="5E5E5E"/>
                </a:solidFill>
                <a:latin typeface="Arial" pitchFamily="34" charset="0"/>
                <a:ea typeface="Arial" pitchFamily="34" charset="-122"/>
                <a:cs typeface="Arial" pitchFamily="34" charset="-120"/>
              </a:rPr>
              <a:t>Optional: priced separately</a:t>
            </a:r>
            <a:endParaRPr lang="en-US" sz="1100" dirty="0"/>
          </a:p>
        </p:txBody>
      </p:sp>
      <p:sp>
        <p:nvSpPr>
          <p:cNvPr id="35" name="Text 33"/>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USA DeBusk  |  Valero Texas City  |  Heater Pigging &amp; Decoking Services</a:t>
            </a:r>
            <a:endParaRPr lang="en-US" sz="900" dirty="0"/>
          </a:p>
        </p:txBody>
      </p:sp>
      <p:sp>
        <p:nvSpPr>
          <p:cNvPr id="36" name="Text 34"/>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548640" y="411480"/>
            <a:ext cx="3856558" cy="310896"/>
          </a:xfrm>
          <a:prstGeom prst="roundRect">
            <a:avLst>
              <a:gd name="adj" fmla="val 23529"/>
            </a:avLst>
          </a:prstGeom>
          <a:solidFill>
            <a:srgbClr val="FCC30A"/>
          </a:solidFill>
          <a:ln w="12700">
            <a:solidFill>
              <a:srgbClr val="FCC30A"/>
            </a:solidFill>
            <a:prstDash val="solid"/>
          </a:ln>
        </p:spPr>
      </p:sp>
      <p:sp>
        <p:nvSpPr>
          <p:cNvPr id="3" name="Text 1"/>
          <p:cNvSpPr txBox="1"/>
          <p:nvPr/>
        </p:nvSpPr>
        <p:spPr>
          <a:xfrm>
            <a:off x="548640" y="411480"/>
            <a:ext cx="3856558"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05   CLEANLINESS VERIFICATION &amp; QA/QC</a:t>
            </a:r>
            <a:endParaRPr lang="en-US" sz="1050" dirty="0"/>
          </a:p>
        </p:txBody>
      </p:sp>
      <p:sp>
        <p:nvSpPr>
          <p:cNvPr id="4" name="Text 2"/>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Verifying every pass is clean</a:t>
            </a:r>
            <a:endParaRPr lang="en-US" sz="3200" dirty="0"/>
          </a:p>
        </p:txBody>
      </p:sp>
      <p:sp>
        <p:nvSpPr>
          <p:cNvPr id="5" name="Text 3"/>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BDBDBD"/>
                </a:solidFill>
                <a:latin typeface="Arial" pitchFamily="34" charset="0"/>
                <a:ea typeface="Arial" pitchFamily="34" charset="-122"/>
                <a:cs typeface="Arial" pitchFamily="34" charset="-120"/>
              </a:rPr>
              <a:t>Four independent indicators, reviewed side by side with Valero</a:t>
            </a:r>
            <a:endParaRPr lang="en-US" sz="1500" dirty="0"/>
          </a:p>
        </p:txBody>
      </p:sp>
      <p:sp>
        <p:nvSpPr>
          <p:cNvPr id="6" name="Shape 4"/>
          <p:cNvSpPr/>
          <p:nvPr/>
        </p:nvSpPr>
        <p:spPr>
          <a:xfrm>
            <a:off x="4956048" y="3017520"/>
            <a:ext cx="2286000" cy="2286000"/>
          </a:xfrm>
          <a:prstGeom prst="ellipse">
            <a:avLst/>
          </a:prstGeom>
          <a:solidFill>
            <a:srgbClr val="FCC30A"/>
          </a:solidFill>
          <a:ln w="12700">
            <a:solidFill>
              <a:srgbClr val="FCC30A"/>
            </a:solidFill>
            <a:prstDash val="solid"/>
          </a:ln>
        </p:spPr>
      </p:sp>
      <p:sp>
        <p:nvSpPr>
          <p:cNvPr id="7" name="Text 5"/>
          <p:cNvSpPr txBox="1"/>
          <p:nvPr/>
        </p:nvSpPr>
        <p:spPr>
          <a:xfrm>
            <a:off x="5093208" y="3429000"/>
            <a:ext cx="2011680" cy="1463040"/>
          </a:xfrm>
          <a:prstGeom prst="rect">
            <a:avLst/>
          </a:prstGeom>
          <a:noFill/>
          <a:ln/>
        </p:spPr>
        <p:txBody>
          <a:bodyPr wrap="square" lIns="0" tIns="0" rIns="0" bIns="0" rtlCol="0" anchor="ctr"/>
          <a:lstStyle/>
          <a:p>
            <a:pPr algn="ctr" indent="0" marL="0">
              <a:buNone/>
            </a:pPr>
            <a:r>
              <a:rPr lang="en-US" sz="1900" b="1" dirty="0">
                <a:solidFill>
                  <a:srgbClr val="1E1E1E"/>
                </a:solidFill>
                <a:latin typeface="Arial" pitchFamily="34" charset="0"/>
                <a:ea typeface="Arial" pitchFamily="34" charset="-122"/>
                <a:cs typeface="Arial" pitchFamily="34" charset="-120"/>
              </a:rPr>
              <a:t>Joint</a:t>
            </a:r>
            <a:endParaRPr lang="en-US" sz="1900" dirty="0"/>
          </a:p>
          <a:p>
            <a:pPr algn="ctr" indent="0" marL="0">
              <a:buNone/>
            </a:pPr>
            <a:r>
              <a:rPr lang="en-US" sz="1900" b="1" dirty="0">
                <a:solidFill>
                  <a:srgbClr val="1E1E1E"/>
                </a:solidFill>
                <a:latin typeface="Arial" pitchFamily="34" charset="0"/>
                <a:ea typeface="Arial" pitchFamily="34" charset="-122"/>
                <a:cs typeface="Arial" pitchFamily="34" charset="-120"/>
              </a:rPr>
              <a:t>sign-off</a:t>
            </a:r>
            <a:endParaRPr lang="en-US" sz="1900" dirty="0"/>
          </a:p>
          <a:p>
            <a:pPr algn="ctr" indent="0" marL="0">
              <a:buNone/>
            </a:pPr>
            <a:r>
              <a:rPr lang="en-US" sz="1900" b="1" dirty="0">
                <a:solidFill>
                  <a:srgbClr val="1E1E1E"/>
                </a:solidFill>
                <a:latin typeface="Arial" pitchFamily="34" charset="0"/>
                <a:ea typeface="Arial" pitchFamily="34" charset="-122"/>
                <a:cs typeface="Arial" pitchFamily="34" charset="-120"/>
              </a:rPr>
              <a:t>per pass</a:t>
            </a:r>
            <a:endParaRPr lang="en-US" sz="1900" dirty="0"/>
          </a:p>
        </p:txBody>
      </p:sp>
      <p:sp>
        <p:nvSpPr>
          <p:cNvPr id="8" name="Shape 6"/>
          <p:cNvSpPr/>
          <p:nvPr/>
        </p:nvSpPr>
        <p:spPr>
          <a:xfrm>
            <a:off x="548640" y="2148840"/>
            <a:ext cx="3456432" cy="1417320"/>
          </a:xfrm>
          <a:prstGeom prst="rect">
            <a:avLst/>
          </a:prstGeom>
          <a:solidFill>
            <a:srgbClr val="2B2B2B"/>
          </a:solidFill>
          <a:ln w="12700">
            <a:solidFill>
              <a:srgbClr val="363636"/>
            </a:solidFill>
            <a:prstDash val="solid"/>
          </a:ln>
        </p:spPr>
      </p:sp>
      <p:sp>
        <p:nvSpPr>
          <p:cNvPr id="9" name="Shape 7"/>
          <p:cNvSpPr/>
          <p:nvPr/>
        </p:nvSpPr>
        <p:spPr>
          <a:xfrm>
            <a:off x="749808" y="2377440"/>
            <a:ext cx="566928" cy="566928"/>
          </a:xfrm>
          <a:prstGeom prst="ellipse">
            <a:avLst/>
          </a:prstGeom>
          <a:solidFill>
            <a:srgbClr val="FCC30A"/>
          </a:solidFill>
          <a:ln w="12700">
            <a:solidFill>
              <a:srgbClr val="FCC30A"/>
            </a:solidFill>
            <a:prstDash val="solid"/>
          </a:ln>
        </p:spPr>
      </p:sp>
      <p:pic>
        <p:nvPicPr>
          <p:cNvPr id="10" name="Image 0" descr="preencoded.png">    </p:cNvPr>
          <p:cNvPicPr>
            <a:picLocks noChangeAspect="1"/>
          </p:cNvPicPr>
          <p:nvPr/>
        </p:nvPicPr>
        <p:blipFill>
          <a:blip r:embed="rId1"/>
          <a:stretch>
            <a:fillRect/>
          </a:stretch>
        </p:blipFill>
        <p:spPr>
          <a:xfrm>
            <a:off x="891540" y="2519172"/>
            <a:ext cx="283464" cy="283464"/>
          </a:xfrm>
          <a:prstGeom prst="rect">
            <a:avLst/>
          </a:prstGeom>
        </p:spPr>
      </p:pic>
      <p:sp>
        <p:nvSpPr>
          <p:cNvPr id="11" name="Text 8"/>
          <p:cNvSpPr txBox="1"/>
          <p:nvPr/>
        </p:nvSpPr>
        <p:spPr>
          <a:xfrm>
            <a:off x="1463040" y="2350008"/>
            <a:ext cx="242316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1  Sensor data</a:t>
            </a:r>
            <a:endParaRPr lang="en-US" sz="1500" dirty="0"/>
          </a:p>
        </p:txBody>
      </p:sp>
      <p:sp>
        <p:nvSpPr>
          <p:cNvPr id="12" name="Text 9"/>
          <p:cNvSpPr txBox="1"/>
          <p:nvPr/>
        </p:nvSpPr>
        <p:spPr>
          <a:xfrm>
            <a:off x="1463040" y="2697480"/>
            <a:ext cx="2423160" cy="777240"/>
          </a:xfrm>
          <a:prstGeom prst="rect">
            <a:avLst/>
          </a:prstGeom>
          <a:noFill/>
          <a:ln/>
        </p:spPr>
        <p:txBody>
          <a:bodyPr wrap="square" lIns="0" tIns="0" rIns="0" bIns="0" rtlCol="0" anchor="t"/>
          <a:lstStyle/>
          <a:p>
            <a:pPr indent="0" marL="0">
              <a:buNone/>
            </a:pPr>
            <a:r>
              <a:rPr lang="en-US" sz="1150" dirty="0">
                <a:solidFill>
                  <a:srgbClr val="BDBDBD"/>
                </a:solidFill>
                <a:latin typeface="Arial" pitchFamily="34" charset="0"/>
                <a:ea typeface="Arial" pitchFamily="34" charset="-122"/>
                <a:cs typeface="Arial" pitchFamily="34" charset="-120"/>
              </a:rPr>
              <a:t>Coke shows as a pressure spike; the tech stops and scrubs that exact spot</a:t>
            </a:r>
            <a:endParaRPr lang="en-US" sz="1150" dirty="0"/>
          </a:p>
        </p:txBody>
      </p:sp>
      <p:sp>
        <p:nvSpPr>
          <p:cNvPr id="13" name="Shape 10"/>
          <p:cNvSpPr/>
          <p:nvPr/>
        </p:nvSpPr>
        <p:spPr>
          <a:xfrm>
            <a:off x="8183880" y="2148840"/>
            <a:ext cx="3456432" cy="1417320"/>
          </a:xfrm>
          <a:prstGeom prst="rect">
            <a:avLst/>
          </a:prstGeom>
          <a:solidFill>
            <a:srgbClr val="2B2B2B"/>
          </a:solidFill>
          <a:ln w="12700">
            <a:solidFill>
              <a:srgbClr val="363636"/>
            </a:solidFill>
            <a:prstDash val="solid"/>
          </a:ln>
        </p:spPr>
      </p:sp>
      <p:sp>
        <p:nvSpPr>
          <p:cNvPr id="14" name="Shape 11"/>
          <p:cNvSpPr/>
          <p:nvPr/>
        </p:nvSpPr>
        <p:spPr>
          <a:xfrm>
            <a:off x="8385048" y="2377440"/>
            <a:ext cx="566928" cy="566928"/>
          </a:xfrm>
          <a:prstGeom prst="ellipse">
            <a:avLst/>
          </a:prstGeom>
          <a:solidFill>
            <a:srgbClr val="FCC30A"/>
          </a:solidFill>
          <a:ln w="12700">
            <a:solidFill>
              <a:srgbClr val="FCC30A"/>
            </a:solidFill>
            <a:prstDash val="solid"/>
          </a:ln>
        </p:spPr>
      </p:sp>
      <p:pic>
        <p:nvPicPr>
          <p:cNvPr id="15" name="Image 1" descr="preencoded.png">    </p:cNvPr>
          <p:cNvPicPr>
            <a:picLocks noChangeAspect="1"/>
          </p:cNvPicPr>
          <p:nvPr/>
        </p:nvPicPr>
        <p:blipFill>
          <a:blip r:embed="rId2"/>
          <a:stretch>
            <a:fillRect/>
          </a:stretch>
        </p:blipFill>
        <p:spPr>
          <a:xfrm>
            <a:off x="8526780" y="2519172"/>
            <a:ext cx="283464" cy="283464"/>
          </a:xfrm>
          <a:prstGeom prst="rect">
            <a:avLst/>
          </a:prstGeom>
        </p:spPr>
      </p:pic>
      <p:sp>
        <p:nvSpPr>
          <p:cNvPr id="16" name="Text 12"/>
          <p:cNvSpPr txBox="1"/>
          <p:nvPr/>
        </p:nvSpPr>
        <p:spPr>
          <a:xfrm>
            <a:off x="9098280" y="2350008"/>
            <a:ext cx="242316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2  Effluent returns</a:t>
            </a:r>
            <a:endParaRPr lang="en-US" sz="1500" dirty="0"/>
          </a:p>
        </p:txBody>
      </p:sp>
      <p:sp>
        <p:nvSpPr>
          <p:cNvPr id="17" name="Text 13"/>
          <p:cNvSpPr txBox="1"/>
          <p:nvPr/>
        </p:nvSpPr>
        <p:spPr>
          <a:xfrm>
            <a:off x="9098280" y="2697480"/>
            <a:ext cx="2423160" cy="777240"/>
          </a:xfrm>
          <a:prstGeom prst="rect">
            <a:avLst/>
          </a:prstGeom>
          <a:noFill/>
          <a:ln/>
        </p:spPr>
        <p:txBody>
          <a:bodyPr wrap="square" lIns="0" tIns="0" rIns="0" bIns="0" rtlCol="0" anchor="t"/>
          <a:lstStyle/>
          <a:p>
            <a:pPr indent="0" marL="0">
              <a:buNone/>
            </a:pPr>
            <a:r>
              <a:rPr lang="en-US" sz="1150" dirty="0">
                <a:solidFill>
                  <a:srgbClr val="BDBDBD"/>
                </a:solidFill>
                <a:latin typeface="Arial" pitchFamily="34" charset="0"/>
                <a:ea typeface="Arial" pitchFamily="34" charset="-122"/>
                <a:cs typeface="Arial" pitchFamily="34" charset="-120"/>
              </a:rPr>
              <a:t>"Black" in the return stream fades to nothing as the pass cleans</a:t>
            </a:r>
            <a:endParaRPr lang="en-US" sz="1150" dirty="0"/>
          </a:p>
        </p:txBody>
      </p:sp>
      <p:sp>
        <p:nvSpPr>
          <p:cNvPr id="18" name="Shape 14"/>
          <p:cNvSpPr/>
          <p:nvPr/>
        </p:nvSpPr>
        <p:spPr>
          <a:xfrm>
            <a:off x="548640" y="4572000"/>
            <a:ext cx="3456432" cy="1417320"/>
          </a:xfrm>
          <a:prstGeom prst="rect">
            <a:avLst/>
          </a:prstGeom>
          <a:solidFill>
            <a:srgbClr val="2B2B2B"/>
          </a:solidFill>
          <a:ln w="12700">
            <a:solidFill>
              <a:srgbClr val="363636"/>
            </a:solidFill>
            <a:prstDash val="solid"/>
          </a:ln>
        </p:spPr>
      </p:sp>
      <p:pic>
        <p:nvPicPr>
          <p:cNvPr id="19" name="Image 2" descr="C:\Users\Jwuts\obsidian-work\02-facilities\Valero\Texas-City-TX\pigging-capabilities-presentation\build/img/pigs_three.jpg">    </p:cNvPr>
          <p:cNvPicPr>
            <a:picLocks noChangeAspect="1"/>
          </p:cNvPicPr>
          <p:nvPr/>
        </p:nvPicPr>
        <p:blipFill>
          <a:blip r:embed="rId3"/>
          <a:stretch>
            <a:fillRect/>
          </a:stretch>
        </p:blipFill>
        <p:spPr>
          <a:xfrm>
            <a:off x="713232" y="4937760"/>
            <a:ext cx="1097280" cy="672084"/>
          </a:xfrm>
          <a:prstGeom prst="rect">
            <a:avLst/>
          </a:prstGeom>
        </p:spPr>
      </p:pic>
      <p:sp>
        <p:nvSpPr>
          <p:cNvPr id="20" name="Text 15"/>
          <p:cNvSpPr txBox="1"/>
          <p:nvPr/>
        </p:nvSpPr>
        <p:spPr>
          <a:xfrm>
            <a:off x="1920240" y="4773168"/>
            <a:ext cx="201168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3  Pig condition</a:t>
            </a:r>
            <a:endParaRPr lang="en-US" sz="1500" dirty="0"/>
          </a:p>
        </p:txBody>
      </p:sp>
      <p:sp>
        <p:nvSpPr>
          <p:cNvPr id="21" name="Text 16"/>
          <p:cNvSpPr txBox="1"/>
          <p:nvPr/>
        </p:nvSpPr>
        <p:spPr>
          <a:xfrm>
            <a:off x="1920240" y="5120640"/>
            <a:ext cx="2011680" cy="777240"/>
          </a:xfrm>
          <a:prstGeom prst="rect">
            <a:avLst/>
          </a:prstGeom>
          <a:noFill/>
          <a:ln/>
        </p:spPr>
        <p:txBody>
          <a:bodyPr wrap="square" lIns="0" tIns="0" rIns="0" bIns="0" rtlCol="0" anchor="t"/>
          <a:lstStyle/>
          <a:p>
            <a:pPr indent="0" marL="0">
              <a:buNone/>
            </a:pPr>
            <a:r>
              <a:rPr lang="en-US" sz="1100" dirty="0">
                <a:solidFill>
                  <a:srgbClr val="BDBDBD"/>
                </a:solidFill>
                <a:latin typeface="Arial" pitchFamily="34" charset="0"/>
                <a:ea typeface="Arial" pitchFamily="34" charset="-122"/>
                <a:cs typeface="Arial" pitchFamily="34" charset="-120"/>
              </a:rPr>
              <a:t>Wear marks guide pig size and appendage choices</a:t>
            </a:r>
            <a:endParaRPr lang="en-US" sz="1100" dirty="0"/>
          </a:p>
        </p:txBody>
      </p:sp>
      <p:sp>
        <p:nvSpPr>
          <p:cNvPr id="22" name="Shape 17"/>
          <p:cNvSpPr/>
          <p:nvPr/>
        </p:nvSpPr>
        <p:spPr>
          <a:xfrm>
            <a:off x="8183880" y="4572000"/>
            <a:ext cx="3456432" cy="1417320"/>
          </a:xfrm>
          <a:prstGeom prst="rect">
            <a:avLst/>
          </a:prstGeom>
          <a:solidFill>
            <a:srgbClr val="2B2B2B"/>
          </a:solidFill>
          <a:ln w="12700">
            <a:solidFill>
              <a:srgbClr val="363636"/>
            </a:solidFill>
            <a:prstDash val="solid"/>
          </a:ln>
        </p:spPr>
      </p:sp>
      <p:sp>
        <p:nvSpPr>
          <p:cNvPr id="23" name="Shape 18"/>
          <p:cNvSpPr/>
          <p:nvPr/>
        </p:nvSpPr>
        <p:spPr>
          <a:xfrm>
            <a:off x="8385048" y="4800600"/>
            <a:ext cx="566928" cy="566928"/>
          </a:xfrm>
          <a:prstGeom prst="ellipse">
            <a:avLst/>
          </a:prstGeom>
          <a:solidFill>
            <a:srgbClr val="FCC30A"/>
          </a:solidFill>
          <a:ln w="12700">
            <a:solidFill>
              <a:srgbClr val="FCC30A"/>
            </a:solidFill>
            <a:prstDash val="solid"/>
          </a:ln>
        </p:spPr>
      </p:sp>
      <p:pic>
        <p:nvPicPr>
          <p:cNvPr id="24" name="Image 3" descr="preencoded.png">    </p:cNvPr>
          <p:cNvPicPr>
            <a:picLocks noChangeAspect="1"/>
          </p:cNvPicPr>
          <p:nvPr/>
        </p:nvPicPr>
        <p:blipFill>
          <a:blip r:embed="rId4"/>
          <a:stretch>
            <a:fillRect/>
          </a:stretch>
        </p:blipFill>
        <p:spPr>
          <a:xfrm>
            <a:off x="8526780" y="4942332"/>
            <a:ext cx="283464" cy="283464"/>
          </a:xfrm>
          <a:prstGeom prst="rect">
            <a:avLst/>
          </a:prstGeom>
        </p:spPr>
      </p:pic>
      <p:sp>
        <p:nvSpPr>
          <p:cNvPr id="25" name="Text 19"/>
          <p:cNvSpPr txBox="1"/>
          <p:nvPr/>
        </p:nvSpPr>
        <p:spPr>
          <a:xfrm>
            <a:off x="9098280" y="4773168"/>
            <a:ext cx="242316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4  Final gauge foam</a:t>
            </a:r>
            <a:endParaRPr lang="en-US" sz="1500" dirty="0"/>
          </a:p>
        </p:txBody>
      </p:sp>
      <p:sp>
        <p:nvSpPr>
          <p:cNvPr id="26" name="Text 20"/>
          <p:cNvSpPr txBox="1"/>
          <p:nvPr/>
        </p:nvSpPr>
        <p:spPr>
          <a:xfrm>
            <a:off x="9098280" y="5120640"/>
            <a:ext cx="2423160" cy="777240"/>
          </a:xfrm>
          <a:prstGeom prst="rect">
            <a:avLst/>
          </a:prstGeom>
          <a:noFill/>
          <a:ln/>
        </p:spPr>
        <p:txBody>
          <a:bodyPr wrap="square" lIns="0" tIns="0" rIns="0" bIns="0" rtlCol="0" anchor="t"/>
          <a:lstStyle/>
          <a:p>
            <a:pPr indent="0" marL="0">
              <a:buNone/>
            </a:pPr>
            <a:r>
              <a:rPr lang="en-US" sz="1150" dirty="0">
                <a:solidFill>
                  <a:srgbClr val="BDBDBD"/>
                </a:solidFill>
                <a:latin typeface="Arial" pitchFamily="34" charset="0"/>
                <a:ea typeface="Arial" pitchFamily="34" charset="-122"/>
                <a:cs typeface="Arial" pitchFamily="34" charset="-120"/>
              </a:rPr>
              <a:t>Soft line-size (or slightly over) foam, witnessed by the Valero rep</a:t>
            </a:r>
            <a:endParaRPr lang="en-US" sz="1150" dirty="0"/>
          </a:p>
        </p:txBody>
      </p:sp>
      <p:sp>
        <p:nvSpPr>
          <p:cNvPr id="27" name="Shape 21"/>
          <p:cNvSpPr/>
          <p:nvPr/>
        </p:nvSpPr>
        <p:spPr>
          <a:xfrm>
            <a:off x="4005072" y="2834640"/>
            <a:ext cx="1225296" cy="594360"/>
          </a:xfrm>
          <a:prstGeom prst="line">
            <a:avLst/>
          </a:prstGeom>
          <a:noFill/>
          <a:ln w="19050">
            <a:solidFill>
              <a:srgbClr val="FCC30A"/>
            </a:solidFill>
            <a:prstDash val="dash"/>
          </a:ln>
        </p:spPr>
      </p:sp>
      <p:sp>
        <p:nvSpPr>
          <p:cNvPr id="28" name="Shape 22"/>
          <p:cNvSpPr/>
          <p:nvPr/>
        </p:nvSpPr>
        <p:spPr>
          <a:xfrm flipH="1">
            <a:off x="6967728" y="2834640"/>
            <a:ext cx="1216152" cy="594360"/>
          </a:xfrm>
          <a:prstGeom prst="line">
            <a:avLst/>
          </a:prstGeom>
          <a:noFill/>
          <a:ln w="19050">
            <a:solidFill>
              <a:srgbClr val="FCC30A"/>
            </a:solidFill>
            <a:prstDash val="dash"/>
          </a:ln>
        </p:spPr>
      </p:sp>
      <p:sp>
        <p:nvSpPr>
          <p:cNvPr id="29" name="Shape 23"/>
          <p:cNvSpPr/>
          <p:nvPr/>
        </p:nvSpPr>
        <p:spPr>
          <a:xfrm flipH="1">
            <a:off x="4005072" y="4892040"/>
            <a:ext cx="1225296" cy="411480"/>
          </a:xfrm>
          <a:prstGeom prst="line">
            <a:avLst/>
          </a:prstGeom>
          <a:noFill/>
          <a:ln w="19050">
            <a:solidFill>
              <a:srgbClr val="FCC30A"/>
            </a:solidFill>
            <a:prstDash val="dash"/>
          </a:ln>
        </p:spPr>
      </p:sp>
      <p:sp>
        <p:nvSpPr>
          <p:cNvPr id="30" name="Shape 24"/>
          <p:cNvSpPr/>
          <p:nvPr/>
        </p:nvSpPr>
        <p:spPr>
          <a:xfrm>
            <a:off x="6967728" y="4892040"/>
            <a:ext cx="1216152" cy="411480"/>
          </a:xfrm>
          <a:prstGeom prst="line">
            <a:avLst/>
          </a:prstGeom>
          <a:noFill/>
          <a:ln w="19050">
            <a:solidFill>
              <a:srgbClr val="FCC30A"/>
            </a:solidFill>
            <a:prstDash val="dash"/>
          </a:ln>
        </p:spPr>
      </p:sp>
      <p:sp>
        <p:nvSpPr>
          <p:cNvPr id="31" name="Text 25"/>
          <p:cNvSpPr txBox="1"/>
          <p:nvPr/>
        </p:nvSpPr>
        <p:spPr>
          <a:xfrm>
            <a:off x="548640" y="6035040"/>
            <a:ext cx="11064240" cy="320040"/>
          </a:xfrm>
          <a:prstGeom prst="rect">
            <a:avLst/>
          </a:prstGeom>
          <a:noFill/>
          <a:ln/>
        </p:spPr>
        <p:txBody>
          <a:bodyPr wrap="square" lIns="0" tIns="0" rIns="0" bIns="0" rtlCol="0" anchor="ctr"/>
          <a:lstStyle/>
          <a:p>
            <a:pPr algn="ctr" indent="0" marL="0">
              <a:buNone/>
            </a:pPr>
            <a:r>
              <a:rPr lang="en-US" sz="1200" i="1" dirty="0">
                <a:solidFill>
                  <a:srgbClr val="FCC30A"/>
                </a:solidFill>
                <a:latin typeface="Arial" pitchFamily="34" charset="0"/>
                <a:ea typeface="Arial" pitchFamily="34" charset="-122"/>
                <a:cs typeface="Arial" pitchFamily="34" charset="-120"/>
              </a:rPr>
              <a:t>Field-proven process: successful sign-offs from all of our clients and reliable first-attempt smart pig data.</a:t>
            </a:r>
            <a:endParaRPr lang="en-US" sz="1200" dirty="0"/>
          </a:p>
        </p:txBody>
      </p:sp>
      <p:sp>
        <p:nvSpPr>
          <p:cNvPr id="33" name="Text 26"/>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BDBDBD"/>
                </a:solidFill>
                <a:latin typeface="Arial" pitchFamily="34" charset="0"/>
                <a:ea typeface="Arial" pitchFamily="34" charset="-122"/>
                <a:cs typeface="Arial" pitchFamily="34" charset="-120"/>
              </a:rPr>
              <a:t>USA DeBusk  |  Valero Texas City  |  Heater Pigging &amp; Decoking Services</a:t>
            </a:r>
            <a:endParaRPr lang="en-US" sz="900" dirty="0"/>
          </a:p>
        </p:txBody>
      </p:sp>
      <p:sp>
        <p:nvSpPr>
          <p:cNvPr id="34" name="Text 27"/>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BDBDBD"/>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548640" y="411480"/>
            <a:ext cx="3856558" cy="310896"/>
          </a:xfrm>
          <a:prstGeom prst="roundRect">
            <a:avLst>
              <a:gd name="adj" fmla="val 23529"/>
            </a:avLst>
          </a:prstGeom>
          <a:solidFill>
            <a:srgbClr val="FCC30A"/>
          </a:solidFill>
          <a:ln w="12700">
            <a:solidFill>
              <a:srgbClr val="FCC30A"/>
            </a:solidFill>
            <a:prstDash val="solid"/>
          </a:ln>
        </p:spPr>
      </p:sp>
      <p:sp>
        <p:nvSpPr>
          <p:cNvPr id="3" name="Text 1"/>
          <p:cNvSpPr txBox="1"/>
          <p:nvPr/>
        </p:nvSpPr>
        <p:spPr>
          <a:xfrm>
            <a:off x="548640" y="411480"/>
            <a:ext cx="3856558"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05   CLEANLINESS VERIFICATION &amp; QA/QC</a:t>
            </a:r>
            <a:endParaRPr lang="en-US" sz="1050" dirty="0"/>
          </a:p>
        </p:txBody>
      </p:sp>
      <p:sp>
        <p:nvSpPr>
          <p:cNvPr id="4" name="Text 2"/>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3200" b="1" dirty="0">
                <a:solidFill>
                  <a:srgbClr val="222222"/>
                </a:solidFill>
                <a:latin typeface="Arial" pitchFamily="34" charset="0"/>
                <a:ea typeface="Arial" pitchFamily="34" charset="-122"/>
                <a:cs typeface="Arial" pitchFamily="34" charset="-120"/>
              </a:rPr>
              <a:t>QA/QC from walkdown to job book</a:t>
            </a:r>
            <a:endParaRPr lang="en-US" sz="3200" dirty="0"/>
          </a:p>
        </p:txBody>
      </p:sp>
      <p:sp>
        <p:nvSpPr>
          <p:cNvPr id="5" name="Text 3"/>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5E5E5E"/>
                </a:solidFill>
                <a:latin typeface="Arial" pitchFamily="34" charset="0"/>
                <a:ea typeface="Arial" pitchFamily="34" charset="-122"/>
                <a:cs typeface="Arial" pitchFamily="34" charset="-120"/>
              </a:rPr>
              <a:t>Governed by the USA DeBusk QA/QC manual</a:t>
            </a:r>
            <a:endParaRPr lang="en-US" sz="1500" dirty="0"/>
          </a:p>
        </p:txBody>
      </p:sp>
      <p:sp>
        <p:nvSpPr>
          <p:cNvPr id="6" name="Shape 4"/>
          <p:cNvSpPr/>
          <p:nvPr/>
        </p:nvSpPr>
        <p:spPr>
          <a:xfrm>
            <a:off x="548640" y="2103120"/>
            <a:ext cx="3566160" cy="3429000"/>
          </a:xfrm>
          <a:prstGeom prst="rect">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7" name="Shape 5"/>
          <p:cNvSpPr/>
          <p:nvPr/>
        </p:nvSpPr>
        <p:spPr>
          <a:xfrm>
            <a:off x="822960" y="2331720"/>
            <a:ext cx="685800" cy="685800"/>
          </a:xfrm>
          <a:prstGeom prst="ellipse">
            <a:avLst/>
          </a:prstGeom>
          <a:solidFill>
            <a:srgbClr val="1E1E1E"/>
          </a:solidFill>
          <a:ln w="12700">
            <a:solidFill>
              <a:srgbClr val="1E1E1E"/>
            </a:solidFill>
            <a:prstDash val="solid"/>
          </a:ln>
        </p:spPr>
      </p:sp>
      <p:pic>
        <p:nvPicPr>
          <p:cNvPr id="8" name="Image 0" descr="preencoded.png">    </p:cNvPr>
          <p:cNvPicPr>
            <a:picLocks noChangeAspect="1"/>
          </p:cNvPicPr>
          <p:nvPr/>
        </p:nvPicPr>
        <p:blipFill>
          <a:blip r:embed="rId1"/>
          <a:stretch>
            <a:fillRect/>
          </a:stretch>
        </p:blipFill>
        <p:spPr>
          <a:xfrm>
            <a:off x="994410" y="2503170"/>
            <a:ext cx="342900" cy="342900"/>
          </a:xfrm>
          <a:prstGeom prst="rect">
            <a:avLst/>
          </a:prstGeom>
        </p:spPr>
      </p:pic>
      <p:sp>
        <p:nvSpPr>
          <p:cNvPr id="9" name="Text 6"/>
          <p:cNvSpPr txBox="1"/>
          <p:nvPr/>
        </p:nvSpPr>
        <p:spPr>
          <a:xfrm>
            <a:off x="1645920" y="2395728"/>
            <a:ext cx="2286000" cy="548640"/>
          </a:xfrm>
          <a:prstGeom prst="rect">
            <a:avLst/>
          </a:prstGeom>
          <a:noFill/>
          <a:ln/>
        </p:spPr>
        <p:txBody>
          <a:bodyPr wrap="square" lIns="0" tIns="0" rIns="0" bIns="0" rtlCol="0" anchor="ctr"/>
          <a:lstStyle/>
          <a:p>
            <a:pPr indent="0" marL="0">
              <a:buNone/>
            </a:pPr>
            <a:r>
              <a:rPr lang="en-US" sz="2200" b="1" dirty="0">
                <a:solidFill>
                  <a:srgbClr val="222222"/>
                </a:solidFill>
                <a:latin typeface="Arial" pitchFamily="34" charset="0"/>
                <a:ea typeface="Arial" pitchFamily="34" charset="-122"/>
                <a:cs typeface="Arial" pitchFamily="34" charset="-120"/>
              </a:rPr>
              <a:t>Before</a:t>
            </a:r>
            <a:endParaRPr lang="en-US" sz="2200" dirty="0"/>
          </a:p>
        </p:txBody>
      </p:sp>
      <p:sp>
        <p:nvSpPr>
          <p:cNvPr id="10" name="Text 7"/>
          <p:cNvSpPr txBox="1"/>
          <p:nvPr/>
        </p:nvSpPr>
        <p:spPr>
          <a:xfrm>
            <a:off x="822960" y="3291840"/>
            <a:ext cx="3063240" cy="2651760"/>
          </a:xfrm>
          <a:prstGeom prst="rect">
            <a:avLst/>
          </a:prstGeom>
          <a:noFill/>
          <a:ln/>
        </p:spPr>
        <p:txBody>
          <a:bodyPr wrap="square" lIns="0" tIns="0" rIns="0" bIns="0" rtlCol="0" anchor="t"/>
          <a:lstStyle/>
          <a:p>
            <a:pPr marL="177800" indent="-177800">
              <a:spcAft>
                <a:spcPts val="1200"/>
              </a:spcAft>
              <a:buSzPct val="100000"/>
              <a:buChar char="•"/>
            </a:pPr>
            <a:r>
              <a:rPr lang="en-US" sz="1300" dirty="0">
                <a:solidFill>
                  <a:srgbClr val="222222"/>
                </a:solidFill>
                <a:latin typeface="Arial" pitchFamily="34" charset="0"/>
                <a:ea typeface="Arial" pitchFamily="34" charset="-122"/>
                <a:cs typeface="Arial" pitchFamily="34" charset="-120"/>
              </a:rPr>
              <a:t>Pre-job walkdown with operations</a:t>
            </a:r>
            <a:endParaRPr lang="en-US" sz="1300" dirty="0"/>
          </a:p>
          <a:p>
            <a:pPr marL="177800" indent="-177800">
              <a:spcAft>
                <a:spcPts val="1200"/>
              </a:spcAft>
              <a:buSzPct val="100000"/>
              <a:buChar char="•"/>
            </a:pPr>
            <a:r>
              <a:rPr lang="en-US" sz="1300" dirty="0">
                <a:solidFill>
                  <a:srgbClr val="222222"/>
                </a:solidFill>
                <a:latin typeface="Arial" pitchFamily="34" charset="0"/>
                <a:ea typeface="Arial" pitchFamily="34" charset="-122"/>
                <a:cs typeface="Arial" pitchFamily="34" charset="-120"/>
              </a:rPr>
              <a:t>Coil data checked against Valero records</a:t>
            </a:r>
            <a:endParaRPr lang="en-US" sz="1300" dirty="0"/>
          </a:p>
          <a:p>
            <a:pPr marL="177800" indent="-177800">
              <a:spcAft>
                <a:spcPts val="1200"/>
              </a:spcAft>
              <a:buSzPct val="100000"/>
              <a:buChar char="•"/>
            </a:pPr>
            <a:r>
              <a:rPr lang="en-US" sz="1300" dirty="0">
                <a:solidFill>
                  <a:srgbClr val="222222"/>
                </a:solidFill>
                <a:latin typeface="Arial" pitchFamily="34" charset="0"/>
                <a:ea typeface="Arial" pitchFamily="34" charset="-122"/>
                <a:cs typeface="Arial" pitchFamily="34" charset="-120"/>
              </a:rPr>
              <a:t>JSA, permits and isolation confirmed</a:t>
            </a:r>
            <a:endParaRPr lang="en-US" sz="1300" dirty="0"/>
          </a:p>
          <a:p>
            <a:pPr marL="177800" indent="-177800">
              <a:spcAft>
                <a:spcPts val="1200"/>
              </a:spcAft>
              <a:buSzPct val="100000"/>
              <a:buChar char="•"/>
            </a:pPr>
            <a:r>
              <a:rPr lang="en-US" sz="1300" dirty="0">
                <a:solidFill>
                  <a:srgbClr val="222222"/>
                </a:solidFill>
                <a:latin typeface="Arial" pitchFamily="34" charset="0"/>
                <a:ea typeface="Arial" pitchFamily="34" charset="-122"/>
                <a:cs typeface="Arial" pitchFamily="34" charset="-120"/>
              </a:rPr>
              <a:t>Pig progression staged by heater</a:t>
            </a:r>
            <a:endParaRPr lang="en-US" sz="1300" dirty="0"/>
          </a:p>
        </p:txBody>
      </p:sp>
      <p:sp>
        <p:nvSpPr>
          <p:cNvPr id="11" name="Shape 8"/>
          <p:cNvSpPr/>
          <p:nvPr/>
        </p:nvSpPr>
        <p:spPr>
          <a:xfrm>
            <a:off x="4297680" y="2103120"/>
            <a:ext cx="3566160" cy="3429000"/>
          </a:xfrm>
          <a:prstGeom prst="rect">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4572000" y="2331720"/>
            <a:ext cx="685800" cy="685800"/>
          </a:xfrm>
          <a:prstGeom prst="ellipse">
            <a:avLst/>
          </a:prstGeom>
          <a:solidFill>
            <a:srgbClr val="1E1E1E"/>
          </a:solidFill>
          <a:ln w="12700">
            <a:solidFill>
              <a:srgbClr val="1E1E1E"/>
            </a:solidFill>
            <a:prstDash val="solid"/>
          </a:ln>
        </p:spPr>
      </p:sp>
      <p:pic>
        <p:nvPicPr>
          <p:cNvPr id="13" name="Image 1" descr="preencoded.png">    </p:cNvPr>
          <p:cNvPicPr>
            <a:picLocks noChangeAspect="1"/>
          </p:cNvPicPr>
          <p:nvPr/>
        </p:nvPicPr>
        <p:blipFill>
          <a:blip r:embed="rId2"/>
          <a:stretch>
            <a:fillRect/>
          </a:stretch>
        </p:blipFill>
        <p:spPr>
          <a:xfrm>
            <a:off x="4743450" y="2503170"/>
            <a:ext cx="342900" cy="342900"/>
          </a:xfrm>
          <a:prstGeom prst="rect">
            <a:avLst/>
          </a:prstGeom>
        </p:spPr>
      </p:pic>
      <p:sp>
        <p:nvSpPr>
          <p:cNvPr id="14" name="Text 10"/>
          <p:cNvSpPr txBox="1"/>
          <p:nvPr/>
        </p:nvSpPr>
        <p:spPr>
          <a:xfrm>
            <a:off x="5394960" y="2395728"/>
            <a:ext cx="2286000" cy="548640"/>
          </a:xfrm>
          <a:prstGeom prst="rect">
            <a:avLst/>
          </a:prstGeom>
          <a:noFill/>
          <a:ln/>
        </p:spPr>
        <p:txBody>
          <a:bodyPr wrap="square" lIns="0" tIns="0" rIns="0" bIns="0" rtlCol="0" anchor="ctr"/>
          <a:lstStyle/>
          <a:p>
            <a:pPr indent="0" marL="0">
              <a:buNone/>
            </a:pPr>
            <a:r>
              <a:rPr lang="en-US" sz="2200" b="1" dirty="0">
                <a:solidFill>
                  <a:srgbClr val="222222"/>
                </a:solidFill>
                <a:latin typeface="Arial" pitchFamily="34" charset="0"/>
                <a:ea typeface="Arial" pitchFamily="34" charset="-122"/>
                <a:cs typeface="Arial" pitchFamily="34" charset="-120"/>
              </a:rPr>
              <a:t>During</a:t>
            </a:r>
            <a:endParaRPr lang="en-US" sz="2200" dirty="0"/>
          </a:p>
        </p:txBody>
      </p:sp>
      <p:sp>
        <p:nvSpPr>
          <p:cNvPr id="15" name="Text 11"/>
          <p:cNvSpPr txBox="1"/>
          <p:nvPr/>
        </p:nvSpPr>
        <p:spPr>
          <a:xfrm>
            <a:off x="4572000" y="3291840"/>
            <a:ext cx="3063240" cy="2651760"/>
          </a:xfrm>
          <a:prstGeom prst="rect">
            <a:avLst/>
          </a:prstGeom>
          <a:noFill/>
          <a:ln/>
        </p:spPr>
        <p:txBody>
          <a:bodyPr wrap="square" lIns="0" tIns="0" rIns="0" bIns="0" rtlCol="0" anchor="t"/>
          <a:lstStyle/>
          <a:p>
            <a:pPr marL="177800" indent="-177800">
              <a:spcAft>
                <a:spcPts val="1200"/>
              </a:spcAft>
              <a:buSzPct val="100000"/>
              <a:buChar char="•"/>
            </a:pPr>
            <a:r>
              <a:rPr lang="en-US" sz="1300" dirty="0">
                <a:solidFill>
                  <a:srgbClr val="222222"/>
                </a:solidFill>
                <a:latin typeface="Arial" pitchFamily="34" charset="0"/>
                <a:ea typeface="Arial" pitchFamily="34" charset="-122"/>
                <a:cs typeface="Arial" pitchFamily="34" charset="-120"/>
              </a:rPr>
              <a:t>Daily report to one point of contact</a:t>
            </a:r>
            <a:endParaRPr lang="en-US" sz="1300" dirty="0"/>
          </a:p>
          <a:p>
            <a:pPr marL="177800" indent="-177800">
              <a:spcAft>
                <a:spcPts val="1200"/>
              </a:spcAft>
              <a:buSzPct val="100000"/>
              <a:buChar char="•"/>
            </a:pPr>
            <a:r>
              <a:rPr lang="en-US" sz="1300" dirty="0">
                <a:solidFill>
                  <a:srgbClr val="222222"/>
                </a:solidFill>
                <a:latin typeface="Arial" pitchFamily="34" charset="0"/>
                <a:ea typeface="Arial" pitchFamily="34" charset="-122"/>
                <a:cs typeface="Arial" pitchFamily="34" charset="-120"/>
              </a:rPr>
              <a:t>Automated digital pig log per pass</a:t>
            </a:r>
            <a:endParaRPr lang="en-US" sz="1300" dirty="0"/>
          </a:p>
          <a:p>
            <a:pPr marL="177800" indent="-177800">
              <a:spcAft>
                <a:spcPts val="1200"/>
              </a:spcAft>
              <a:buSzPct val="100000"/>
              <a:buChar char="•"/>
            </a:pPr>
            <a:r>
              <a:rPr lang="en-US" sz="1300" dirty="0">
                <a:solidFill>
                  <a:srgbClr val="222222"/>
                </a:solidFill>
                <a:latin typeface="Arial" pitchFamily="34" charset="0"/>
                <a:ea typeface="Arial" pitchFamily="34" charset="-122"/>
                <a:cs typeface="Arial" pitchFamily="34" charset="-120"/>
              </a:rPr>
              <a:t>Flow tests before and after at the same rate</a:t>
            </a:r>
            <a:endParaRPr lang="en-US" sz="1300" dirty="0"/>
          </a:p>
          <a:p>
            <a:pPr marL="177800" indent="-177800">
              <a:spcAft>
                <a:spcPts val="1200"/>
              </a:spcAft>
              <a:buSzPct val="100000"/>
              <a:buChar char="•"/>
            </a:pPr>
            <a:r>
              <a:rPr lang="en-US" sz="1300" dirty="0">
                <a:solidFill>
                  <a:srgbClr val="222222"/>
                </a:solidFill>
                <a:latin typeface="Arial" pitchFamily="34" charset="0"/>
                <a:ea typeface="Arial" pitchFamily="34" charset="-122"/>
                <a:cs typeface="Arial" pitchFamily="34" charset="-120"/>
              </a:rPr>
              <a:t>JSA reviewed at every shift change</a:t>
            </a:r>
            <a:endParaRPr lang="en-US" sz="1300" dirty="0"/>
          </a:p>
        </p:txBody>
      </p:sp>
      <p:sp>
        <p:nvSpPr>
          <p:cNvPr id="16" name="Shape 12"/>
          <p:cNvSpPr/>
          <p:nvPr/>
        </p:nvSpPr>
        <p:spPr>
          <a:xfrm>
            <a:off x="8046720" y="2103120"/>
            <a:ext cx="3566160" cy="3429000"/>
          </a:xfrm>
          <a:prstGeom prst="rect">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7" name="Shape 13"/>
          <p:cNvSpPr/>
          <p:nvPr/>
        </p:nvSpPr>
        <p:spPr>
          <a:xfrm>
            <a:off x="8321040" y="2331720"/>
            <a:ext cx="685800" cy="685800"/>
          </a:xfrm>
          <a:prstGeom prst="ellipse">
            <a:avLst/>
          </a:prstGeom>
          <a:solidFill>
            <a:srgbClr val="1E1E1E"/>
          </a:solidFill>
          <a:ln w="12700">
            <a:solidFill>
              <a:srgbClr val="1E1E1E"/>
            </a:solidFill>
            <a:prstDash val="solid"/>
          </a:ln>
        </p:spPr>
      </p:sp>
      <p:pic>
        <p:nvPicPr>
          <p:cNvPr id="18" name="Image 2" descr="preencoded.png">    </p:cNvPr>
          <p:cNvPicPr>
            <a:picLocks noChangeAspect="1"/>
          </p:cNvPicPr>
          <p:nvPr/>
        </p:nvPicPr>
        <p:blipFill>
          <a:blip r:embed="rId3"/>
          <a:stretch>
            <a:fillRect/>
          </a:stretch>
        </p:blipFill>
        <p:spPr>
          <a:xfrm>
            <a:off x="8492490" y="2503170"/>
            <a:ext cx="342900" cy="342900"/>
          </a:xfrm>
          <a:prstGeom prst="rect">
            <a:avLst/>
          </a:prstGeom>
        </p:spPr>
      </p:pic>
      <p:sp>
        <p:nvSpPr>
          <p:cNvPr id="19" name="Text 14"/>
          <p:cNvSpPr txBox="1"/>
          <p:nvPr/>
        </p:nvSpPr>
        <p:spPr>
          <a:xfrm>
            <a:off x="9144000" y="2395728"/>
            <a:ext cx="2286000" cy="548640"/>
          </a:xfrm>
          <a:prstGeom prst="rect">
            <a:avLst/>
          </a:prstGeom>
          <a:noFill/>
          <a:ln/>
        </p:spPr>
        <p:txBody>
          <a:bodyPr wrap="square" lIns="0" tIns="0" rIns="0" bIns="0" rtlCol="0" anchor="ctr"/>
          <a:lstStyle/>
          <a:p>
            <a:pPr indent="0" marL="0">
              <a:buNone/>
            </a:pPr>
            <a:r>
              <a:rPr lang="en-US" sz="2200" b="1" dirty="0">
                <a:solidFill>
                  <a:srgbClr val="222222"/>
                </a:solidFill>
                <a:latin typeface="Arial" pitchFamily="34" charset="0"/>
                <a:ea typeface="Arial" pitchFamily="34" charset="-122"/>
                <a:cs typeface="Arial" pitchFamily="34" charset="-120"/>
              </a:rPr>
              <a:t>Close-out</a:t>
            </a:r>
            <a:endParaRPr lang="en-US" sz="2200" dirty="0"/>
          </a:p>
        </p:txBody>
      </p:sp>
      <p:sp>
        <p:nvSpPr>
          <p:cNvPr id="20" name="Text 15"/>
          <p:cNvSpPr txBox="1"/>
          <p:nvPr/>
        </p:nvSpPr>
        <p:spPr>
          <a:xfrm>
            <a:off x="8321040" y="3291840"/>
            <a:ext cx="3063240" cy="2651760"/>
          </a:xfrm>
          <a:prstGeom prst="rect">
            <a:avLst/>
          </a:prstGeom>
          <a:noFill/>
          <a:ln/>
        </p:spPr>
        <p:txBody>
          <a:bodyPr wrap="square" lIns="0" tIns="0" rIns="0" bIns="0" rtlCol="0" anchor="t"/>
          <a:lstStyle/>
          <a:p>
            <a:pPr marL="177800" indent="-177800">
              <a:spcAft>
                <a:spcPts val="1200"/>
              </a:spcAft>
              <a:buSzPct val="100000"/>
              <a:buChar char="•"/>
            </a:pPr>
            <a:r>
              <a:rPr lang="en-US" sz="1300" dirty="0">
                <a:solidFill>
                  <a:srgbClr val="222222"/>
                </a:solidFill>
                <a:latin typeface="Arial" pitchFamily="34" charset="0"/>
                <a:ea typeface="Arial" pitchFamily="34" charset="-122"/>
                <a:cs typeface="Arial" pitchFamily="34" charset="-120"/>
              </a:rPr>
              <a:t>Per-pass cleanliness sign-off</a:t>
            </a:r>
            <a:endParaRPr lang="en-US" sz="1300" dirty="0"/>
          </a:p>
          <a:p>
            <a:pPr marL="177800" indent="-177800">
              <a:spcAft>
                <a:spcPts val="1200"/>
              </a:spcAft>
              <a:buSzPct val="100000"/>
              <a:buChar char="•"/>
            </a:pPr>
            <a:r>
              <a:rPr lang="en-US" sz="1300" dirty="0">
                <a:solidFill>
                  <a:srgbClr val="222222"/>
                </a:solidFill>
                <a:latin typeface="Arial" pitchFamily="34" charset="0"/>
                <a:ea typeface="Arial" pitchFamily="34" charset="-122"/>
                <a:cs typeface="Arial" pitchFamily="34" charset="-120"/>
              </a:rPr>
              <a:t>Final pig size recorded per pass</a:t>
            </a:r>
            <a:endParaRPr lang="en-US" sz="1300" dirty="0"/>
          </a:p>
          <a:p>
            <a:pPr marL="177800" indent="-177800">
              <a:spcAft>
                <a:spcPts val="1200"/>
              </a:spcAft>
              <a:buSzPct val="100000"/>
              <a:buChar char="•"/>
            </a:pPr>
            <a:r>
              <a:rPr lang="en-US" sz="1300" dirty="0">
                <a:solidFill>
                  <a:srgbClr val="222222"/>
                </a:solidFill>
                <a:latin typeface="Arial" pitchFamily="34" charset="0"/>
                <a:ea typeface="Arial" pitchFamily="34" charset="-122"/>
                <a:cs typeface="Arial" pitchFamily="34" charset="-120"/>
              </a:rPr>
              <a:t>Job book delivered to Valero</a:t>
            </a:r>
            <a:endParaRPr lang="en-US" sz="1300" dirty="0"/>
          </a:p>
          <a:p>
            <a:pPr marL="177800" indent="-177800">
              <a:spcAft>
                <a:spcPts val="1200"/>
              </a:spcAft>
              <a:buSzPct val="100000"/>
              <a:buChar char="•"/>
            </a:pPr>
            <a:r>
              <a:rPr lang="en-US" sz="1300" dirty="0">
                <a:solidFill>
                  <a:srgbClr val="222222"/>
                </a:solidFill>
                <a:latin typeface="Arial" pitchFamily="34" charset="0"/>
                <a:ea typeface="Arial" pitchFamily="34" charset="-122"/>
                <a:cs typeface="Arial" pitchFamily="34" charset="-120"/>
              </a:rPr>
              <a:t>Post-job review and lessons learned</a:t>
            </a:r>
            <a:endParaRPr lang="en-US" sz="1300" dirty="0"/>
          </a:p>
        </p:txBody>
      </p:sp>
      <p:sp>
        <p:nvSpPr>
          <p:cNvPr id="21" name="Text 16"/>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USA DeBusk  |  Valero Texas City  |  Heater Pigging &amp; Decoking Services</a:t>
            </a:r>
            <a:endParaRPr lang="en-US" sz="900" dirty="0"/>
          </a:p>
        </p:txBody>
      </p:sp>
      <p:sp>
        <p:nvSpPr>
          <p:cNvPr id="22" name="Text 17"/>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1E1E"/>
        </a:solidFill>
      </p:bgPr>
    </p:bg>
    <p:spTree>
      <p:nvGrpSpPr>
        <p:cNvPr id="1" name=""/>
        <p:cNvGrpSpPr/>
        <p:nvPr/>
      </p:nvGrpSpPr>
      <p:grpSpPr>
        <a:xfrm>
          <a:off x="0" y="0"/>
          <a:ext cx="0" cy="0"/>
          <a:chOff x="0" y="0"/>
          <a:chExt cx="0" cy="0"/>
        </a:xfrm>
      </p:grpSpPr>
      <p:pic>
        <p:nvPicPr>
          <p:cNvPr id="2" name="Image 0" descr="C:\Users\Jwuts\obsidian-work\02-facilities\Valero\Texas-City-TX\pigging-capabilities-presentation\build/img/slot_shop.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1920240"/>
          </a:xfrm>
          <a:prstGeom prst="rect">
            <a:avLst/>
          </a:prstGeom>
          <a:solidFill>
            <a:srgbClr val="111111">
              <a:alpha val="75000"/>
            </a:srgbClr>
          </a:solidFill>
          <a:ln w="12700">
            <a:solidFill>
              <a:srgbClr val="111111">
                <a:alpha val="0"/>
              </a:srgbClr>
            </a:solidFill>
            <a:prstDash val="solid"/>
          </a:ln>
        </p:spPr>
      </p:sp>
      <p:pic>
        <p:nvPicPr>
          <p:cNvPr id="4" name="Image 1" descr="C:\Users\Jwuts\obsidian-work\02-facilities\Valero\Texas-City-TX\pigging-capabilities-presentation\build/img/fade_bottom_light.png">    </p:cNvPr>
          <p:cNvPicPr>
            <a:picLocks noChangeAspect="1"/>
          </p:cNvPicPr>
          <p:nvPr/>
        </p:nvPicPr>
        <p:blipFill>
          <a:blip r:embed="rId2"/>
          <a:stretch>
            <a:fillRect/>
          </a:stretch>
        </p:blipFill>
        <p:spPr>
          <a:xfrm>
            <a:off x="0" y="0"/>
            <a:ext cx="12191695" cy="6858000"/>
          </a:xfrm>
          <a:prstGeom prst="rect">
            <a:avLst/>
          </a:prstGeom>
        </p:spPr>
      </p:pic>
      <p:sp>
        <p:nvSpPr>
          <p:cNvPr id="5" name="Shape 1"/>
          <p:cNvSpPr/>
          <p:nvPr/>
        </p:nvSpPr>
        <p:spPr>
          <a:xfrm>
            <a:off x="548640" y="411480"/>
            <a:ext cx="2700947" cy="310896"/>
          </a:xfrm>
          <a:prstGeom prst="roundRect">
            <a:avLst>
              <a:gd name="adj" fmla="val 23529"/>
            </a:avLst>
          </a:prstGeom>
          <a:solidFill>
            <a:srgbClr val="FCC30A"/>
          </a:solidFill>
          <a:ln w="12700">
            <a:solidFill>
              <a:srgbClr val="FCC30A"/>
            </a:solidFill>
            <a:prstDash val="solid"/>
          </a:ln>
        </p:spPr>
      </p:sp>
      <p:sp>
        <p:nvSpPr>
          <p:cNvPr id="6" name="Text 2"/>
          <p:cNvSpPr txBox="1"/>
          <p:nvPr/>
        </p:nvSpPr>
        <p:spPr>
          <a:xfrm>
            <a:off x="548640" y="411480"/>
            <a:ext cx="2700947"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06   EMERGENCY RESPONSE</a:t>
            </a:r>
            <a:endParaRPr lang="en-US" sz="1050" dirty="0"/>
          </a:p>
        </p:txBody>
      </p:sp>
      <p:sp>
        <p:nvSpPr>
          <p:cNvPr id="7" name="Text 3"/>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Responsive support for Texas City</a:t>
            </a:r>
            <a:endParaRPr lang="en-US" sz="3200" dirty="0"/>
          </a:p>
        </p:txBody>
      </p:sp>
      <p:sp>
        <p:nvSpPr>
          <p:cNvPr id="8" name="Shape 4"/>
          <p:cNvSpPr/>
          <p:nvPr/>
        </p:nvSpPr>
        <p:spPr>
          <a:xfrm>
            <a:off x="9354312" y="310896"/>
            <a:ext cx="2286000" cy="566928"/>
          </a:xfrm>
          <a:prstGeom prst="roundRect">
            <a:avLst>
              <a:gd name="adj" fmla="val 16129"/>
            </a:avLst>
          </a:prstGeom>
          <a:solidFill>
            <a:srgbClr val="2B2B2B"/>
          </a:solidFill>
          <a:ln w="12700">
            <a:solidFill>
              <a:srgbClr val="FCC30A"/>
            </a:solidFill>
            <a:prstDash val="solid"/>
          </a:ln>
        </p:spPr>
      </p:sp>
      <p:sp>
        <p:nvSpPr>
          <p:cNvPr id="9" name="Text 5"/>
          <p:cNvSpPr txBox="1"/>
          <p:nvPr/>
        </p:nvSpPr>
        <p:spPr>
          <a:xfrm>
            <a:off x="9354312" y="310896"/>
            <a:ext cx="2286000" cy="566928"/>
          </a:xfrm>
          <a:prstGeom prst="rect">
            <a:avLst/>
          </a:prstGeom>
          <a:noFill/>
          <a:ln/>
        </p:spPr>
        <p:txBody>
          <a:bodyPr wrap="square" lIns="0" tIns="0" rIns="0" bIns="0" rtlCol="0" anchor="ctr"/>
          <a:lstStyle/>
          <a:p>
            <a:pPr algn="ctr" indent="0" marL="0">
              <a:buNone/>
            </a:pPr>
            <a:r>
              <a:rPr lang="en-US" sz="1100" b="1" dirty="0">
                <a:solidFill>
                  <a:srgbClr val="FCC30A"/>
                </a:solidFill>
                <a:latin typeface="Arial" pitchFamily="34" charset="0"/>
                <a:ea typeface="Arial" pitchFamily="34" charset="-122"/>
                <a:cs typeface="Arial" pitchFamily="34" charset="-120"/>
              </a:rPr>
              <a:t>Based in Deer Park, TX</a:t>
            </a:r>
            <a:endParaRPr lang="en-US" sz="1100" dirty="0"/>
          </a:p>
        </p:txBody>
      </p:sp>
      <p:sp>
        <p:nvSpPr>
          <p:cNvPr id="10" name="Text 6"/>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BDBDBD"/>
                </a:solidFill>
                <a:latin typeface="Arial" pitchFamily="34" charset="0"/>
                <a:ea typeface="Arial" pitchFamily="34" charset="-122"/>
                <a:cs typeface="Arial" pitchFamily="34" charset="-120"/>
              </a:rPr>
              <a:t>Our fleet stages at our Deer Park base, a short drive from Texas City</a:t>
            </a:r>
            <a:endParaRPr lang="en-US" sz="1500" dirty="0"/>
          </a:p>
        </p:txBody>
      </p:sp>
      <p:sp>
        <p:nvSpPr>
          <p:cNvPr id="11" name="Shape 7"/>
          <p:cNvSpPr/>
          <p:nvPr/>
        </p:nvSpPr>
        <p:spPr>
          <a:xfrm>
            <a:off x="548640" y="5074920"/>
            <a:ext cx="3566160" cy="1097280"/>
          </a:xfrm>
          <a:prstGeom prst="rect">
            <a:avLst/>
          </a:prstGeom>
          <a:solidFill>
            <a:srgbClr val="151515">
              <a:alpha val="85000"/>
            </a:srgbClr>
          </a:solidFill>
          <a:ln w="19050">
            <a:solidFill>
              <a:srgbClr val="FCC30A"/>
            </a:solidFill>
            <a:prstDash val="solid"/>
          </a:ln>
        </p:spPr>
      </p:sp>
      <p:sp>
        <p:nvSpPr>
          <p:cNvPr id="12" name="Text 8"/>
          <p:cNvSpPr txBox="1"/>
          <p:nvPr/>
        </p:nvSpPr>
        <p:spPr>
          <a:xfrm>
            <a:off x="731520" y="5074920"/>
            <a:ext cx="1600200" cy="1097280"/>
          </a:xfrm>
          <a:prstGeom prst="rect">
            <a:avLst/>
          </a:prstGeom>
          <a:noFill/>
          <a:ln/>
        </p:spPr>
        <p:txBody>
          <a:bodyPr wrap="square" lIns="0" tIns="0" rIns="0" bIns="0" rtlCol="0" anchor="ctr"/>
          <a:lstStyle/>
          <a:p>
            <a:pPr indent="0" marL="0">
              <a:buNone/>
            </a:pPr>
            <a:r>
              <a:rPr lang="en-US" sz="2800" b="1" dirty="0">
                <a:solidFill>
                  <a:srgbClr val="FCC30A"/>
                </a:solidFill>
                <a:latin typeface="Arial" pitchFamily="34" charset="0"/>
                <a:ea typeface="Arial" pitchFamily="34" charset="-122"/>
                <a:cs typeface="Arial" pitchFamily="34" charset="-120"/>
              </a:rPr>
              <a:t>24/7</a:t>
            </a:r>
            <a:endParaRPr lang="en-US" sz="2800" dirty="0"/>
          </a:p>
        </p:txBody>
      </p:sp>
      <p:sp>
        <p:nvSpPr>
          <p:cNvPr id="13" name="Text 9"/>
          <p:cNvSpPr txBox="1"/>
          <p:nvPr/>
        </p:nvSpPr>
        <p:spPr>
          <a:xfrm>
            <a:off x="2331720" y="5074920"/>
            <a:ext cx="1691640" cy="1097280"/>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Dispatch and account manager, any hour</a:t>
            </a:r>
            <a:endParaRPr lang="en-US" sz="1150" dirty="0"/>
          </a:p>
        </p:txBody>
      </p:sp>
      <p:sp>
        <p:nvSpPr>
          <p:cNvPr id="14" name="Shape 10"/>
          <p:cNvSpPr/>
          <p:nvPr/>
        </p:nvSpPr>
        <p:spPr>
          <a:xfrm>
            <a:off x="4297680" y="5074920"/>
            <a:ext cx="3566160" cy="1097280"/>
          </a:xfrm>
          <a:prstGeom prst="rect">
            <a:avLst/>
          </a:prstGeom>
          <a:solidFill>
            <a:srgbClr val="151515">
              <a:alpha val="85000"/>
            </a:srgbClr>
          </a:solidFill>
          <a:ln w="19050">
            <a:solidFill>
              <a:srgbClr val="FCC30A"/>
            </a:solidFill>
            <a:prstDash val="solid"/>
          </a:ln>
        </p:spPr>
      </p:sp>
      <p:sp>
        <p:nvSpPr>
          <p:cNvPr id="15" name="Text 11"/>
          <p:cNvSpPr txBox="1"/>
          <p:nvPr/>
        </p:nvSpPr>
        <p:spPr>
          <a:xfrm>
            <a:off x="4480560" y="5074920"/>
            <a:ext cx="1600200" cy="1097280"/>
          </a:xfrm>
          <a:prstGeom prst="rect">
            <a:avLst/>
          </a:prstGeom>
          <a:noFill/>
          <a:ln/>
        </p:spPr>
        <p:txBody>
          <a:bodyPr wrap="square" lIns="0" tIns="0" rIns="0" bIns="0" rtlCol="0" anchor="ctr"/>
          <a:lstStyle/>
          <a:p>
            <a:pPr indent="0" marL="0">
              <a:buNone/>
            </a:pPr>
            <a:r>
              <a:rPr lang="en-US" sz="2200" b="1" dirty="0">
                <a:solidFill>
                  <a:srgbClr val="FCC30A"/>
                </a:solidFill>
                <a:latin typeface="Arial" pitchFamily="34" charset="0"/>
                <a:ea typeface="Arial" pitchFamily="34" charset="-122"/>
                <a:cs typeface="Arial" pitchFamily="34" charset="-120"/>
              </a:rPr>
              <a:t>Same day</a:t>
            </a:r>
            <a:endParaRPr lang="en-US" sz="2200" dirty="0"/>
          </a:p>
        </p:txBody>
      </p:sp>
      <p:sp>
        <p:nvSpPr>
          <p:cNvPr id="16" name="Text 12"/>
          <p:cNvSpPr txBox="1"/>
          <p:nvPr/>
        </p:nvSpPr>
        <p:spPr>
          <a:xfrm>
            <a:off x="6080760" y="5074920"/>
            <a:ext cx="1691640" cy="1097280"/>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Response from Deer Park to Texas City</a:t>
            </a:r>
            <a:endParaRPr lang="en-US" sz="1150" dirty="0"/>
          </a:p>
        </p:txBody>
      </p:sp>
      <p:sp>
        <p:nvSpPr>
          <p:cNvPr id="17" name="Shape 13"/>
          <p:cNvSpPr/>
          <p:nvPr/>
        </p:nvSpPr>
        <p:spPr>
          <a:xfrm>
            <a:off x="8046720" y="5074920"/>
            <a:ext cx="3566160" cy="1097280"/>
          </a:xfrm>
          <a:prstGeom prst="rect">
            <a:avLst/>
          </a:prstGeom>
          <a:solidFill>
            <a:srgbClr val="151515">
              <a:alpha val="85000"/>
            </a:srgbClr>
          </a:solidFill>
          <a:ln w="19050">
            <a:solidFill>
              <a:srgbClr val="FCC30A"/>
            </a:solidFill>
            <a:prstDash val="solid"/>
          </a:ln>
        </p:spPr>
      </p:sp>
      <p:sp>
        <p:nvSpPr>
          <p:cNvPr id="18" name="Text 14"/>
          <p:cNvSpPr txBox="1"/>
          <p:nvPr/>
        </p:nvSpPr>
        <p:spPr>
          <a:xfrm>
            <a:off x="8229600" y="5074920"/>
            <a:ext cx="1600200" cy="1097280"/>
          </a:xfrm>
          <a:prstGeom prst="rect">
            <a:avLst/>
          </a:prstGeom>
          <a:noFill/>
          <a:ln/>
        </p:spPr>
        <p:txBody>
          <a:bodyPr wrap="square" lIns="0" tIns="0" rIns="0" bIns="0" rtlCol="0" anchor="ctr"/>
          <a:lstStyle/>
          <a:p>
            <a:pPr indent="0" marL="0">
              <a:buNone/>
            </a:pPr>
            <a:r>
              <a:rPr lang="en-US" sz="2800" b="1" dirty="0">
                <a:solidFill>
                  <a:srgbClr val="FCC30A"/>
                </a:solidFill>
                <a:latin typeface="Arial" pitchFamily="34" charset="0"/>
                <a:ea typeface="Arial" pitchFamily="34" charset="-122"/>
                <a:cs typeface="Arial" pitchFamily="34" charset="-120"/>
              </a:rPr>
              <a:t>6</a:t>
            </a:r>
            <a:endParaRPr lang="en-US" sz="2800" dirty="0"/>
          </a:p>
        </p:txBody>
      </p:sp>
      <p:sp>
        <p:nvSpPr>
          <p:cNvPr id="19" name="Text 15"/>
          <p:cNvSpPr txBox="1"/>
          <p:nvPr/>
        </p:nvSpPr>
        <p:spPr>
          <a:xfrm>
            <a:off x="9829800" y="5074920"/>
            <a:ext cx="1691640" cy="1097280"/>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TriMax units staged at Deer Park between jobs</a:t>
            </a:r>
            <a:endParaRPr lang="en-US" sz="1150" dirty="0"/>
          </a:p>
        </p:txBody>
      </p:sp>
      <p:sp>
        <p:nvSpPr>
          <p:cNvPr id="20" name="Text 16"/>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BDBDBD"/>
                </a:solidFill>
                <a:latin typeface="Arial" pitchFamily="34" charset="0"/>
                <a:ea typeface="Arial" pitchFamily="34" charset="-122"/>
                <a:cs typeface="Arial" pitchFamily="34" charset="-120"/>
              </a:rPr>
              <a:t>USA DeBusk  |  Valero Texas City  |  Heater Pigging &amp; Decoking Services</a:t>
            </a:r>
            <a:endParaRPr lang="en-US" sz="900" dirty="0"/>
          </a:p>
        </p:txBody>
      </p:sp>
      <p:sp>
        <p:nvSpPr>
          <p:cNvPr id="21" name="Text 17"/>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BDBDBD"/>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548640" y="411480"/>
            <a:ext cx="3015139" cy="310896"/>
          </a:xfrm>
          <a:prstGeom prst="roundRect">
            <a:avLst>
              <a:gd name="adj" fmla="val 23529"/>
            </a:avLst>
          </a:prstGeom>
          <a:solidFill>
            <a:srgbClr val="FCC30A"/>
          </a:solidFill>
          <a:ln w="12700">
            <a:solidFill>
              <a:srgbClr val="FCC30A"/>
            </a:solidFill>
            <a:prstDash val="solid"/>
          </a:ln>
        </p:spPr>
      </p:sp>
      <p:sp>
        <p:nvSpPr>
          <p:cNvPr id="3" name="Text 1"/>
          <p:cNvSpPr txBox="1"/>
          <p:nvPr/>
        </p:nvSpPr>
        <p:spPr>
          <a:xfrm>
            <a:off x="548640" y="411480"/>
            <a:ext cx="3015139"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07   SAFETY &amp; RISK MITIGATION</a:t>
            </a:r>
            <a:endParaRPr lang="en-US" sz="1050" dirty="0"/>
          </a:p>
        </p:txBody>
      </p:sp>
      <p:sp>
        <p:nvSpPr>
          <p:cNvPr id="4" name="Text 2"/>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Safety performance</a:t>
            </a:r>
            <a:endParaRPr lang="en-US" sz="3200" dirty="0"/>
          </a:p>
        </p:txBody>
      </p:sp>
      <p:sp>
        <p:nvSpPr>
          <p:cNvPr id="5" name="Text 3"/>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BDBDBD"/>
                </a:solidFill>
                <a:latin typeface="Arial" pitchFamily="34" charset="0"/>
                <a:ea typeface="Arial" pitchFamily="34" charset="-122"/>
                <a:cs typeface="Arial" pitchFamily="34" charset="-120"/>
              </a:rPr>
              <a:t>Experience Modification Rate: 1.0 is the industry baseline; lower is better</a:t>
            </a:r>
            <a:endParaRPr lang="en-US" sz="1500" dirty="0"/>
          </a:p>
        </p:txBody>
      </p:sp>
      <p:graphicFrame>
        <p:nvGraphicFramePr>
          <p:cNvPr id="6" name="Chart 0" descr=""/>
          <p:cNvGraphicFramePr/>
          <p:nvPr/>
        </p:nvGraphicFramePr>
        <p:xfrm>
          <a:off x="548640" y="2011680"/>
          <a:ext cx="6217920" cy="41148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223760" y="2103120"/>
            <a:ext cx="2057400" cy="1828800"/>
          </a:xfrm>
          <a:prstGeom prst="rect">
            <a:avLst/>
          </a:prstGeom>
          <a:solidFill>
            <a:srgbClr val="2B2B2B"/>
          </a:solidFill>
          <a:ln w="12700">
            <a:solidFill>
              <a:srgbClr val="2B2B2B"/>
            </a:solidFill>
            <a:prstDash val="solid"/>
          </a:ln>
        </p:spPr>
      </p:sp>
      <p:sp>
        <p:nvSpPr>
          <p:cNvPr id="8" name="Text 5"/>
          <p:cNvSpPr txBox="1"/>
          <p:nvPr/>
        </p:nvSpPr>
        <p:spPr>
          <a:xfrm>
            <a:off x="7406640" y="2331720"/>
            <a:ext cx="1737360" cy="822960"/>
          </a:xfrm>
          <a:prstGeom prst="rect">
            <a:avLst/>
          </a:prstGeom>
          <a:noFill/>
          <a:ln/>
        </p:spPr>
        <p:txBody>
          <a:bodyPr wrap="square" lIns="0" tIns="0" rIns="0" bIns="0" rtlCol="0" anchor="ctr"/>
          <a:lstStyle/>
          <a:p>
            <a:pPr indent="0" marL="0">
              <a:buNone/>
            </a:pPr>
            <a:r>
              <a:rPr lang="en-US" sz="4000" b="1" dirty="0">
                <a:solidFill>
                  <a:srgbClr val="FCC30A"/>
                </a:solidFill>
                <a:latin typeface="Arial" pitchFamily="34" charset="0"/>
                <a:ea typeface="Arial" pitchFamily="34" charset="-122"/>
                <a:cs typeface="Arial" pitchFamily="34" charset="-120"/>
              </a:rPr>
              <a:t>A</a:t>
            </a:r>
            <a:endParaRPr lang="en-US" sz="4000" dirty="0"/>
          </a:p>
        </p:txBody>
      </p:sp>
      <p:sp>
        <p:nvSpPr>
          <p:cNvPr id="9" name="Text 6"/>
          <p:cNvSpPr txBox="1"/>
          <p:nvPr/>
        </p:nvSpPr>
        <p:spPr>
          <a:xfrm>
            <a:off x="7406640" y="3200400"/>
            <a:ext cx="1737360" cy="59436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ISNetworld safety grade</a:t>
            </a:r>
            <a:endParaRPr lang="en-US" sz="1250" dirty="0"/>
          </a:p>
        </p:txBody>
      </p:sp>
      <p:sp>
        <p:nvSpPr>
          <p:cNvPr id="10" name="Shape 7"/>
          <p:cNvSpPr/>
          <p:nvPr/>
        </p:nvSpPr>
        <p:spPr>
          <a:xfrm>
            <a:off x="9464040" y="2103120"/>
            <a:ext cx="2057400" cy="1828800"/>
          </a:xfrm>
          <a:prstGeom prst="rect">
            <a:avLst/>
          </a:prstGeom>
          <a:solidFill>
            <a:srgbClr val="2B2B2B"/>
          </a:solidFill>
          <a:ln w="12700">
            <a:solidFill>
              <a:srgbClr val="2B2B2B"/>
            </a:solidFill>
            <a:prstDash val="solid"/>
          </a:ln>
        </p:spPr>
      </p:sp>
      <p:sp>
        <p:nvSpPr>
          <p:cNvPr id="11" name="Text 8"/>
          <p:cNvSpPr txBox="1"/>
          <p:nvPr/>
        </p:nvSpPr>
        <p:spPr>
          <a:xfrm>
            <a:off x="9646920" y="2331720"/>
            <a:ext cx="1737360" cy="822960"/>
          </a:xfrm>
          <a:prstGeom prst="rect">
            <a:avLst/>
          </a:prstGeom>
          <a:noFill/>
          <a:ln/>
        </p:spPr>
        <p:txBody>
          <a:bodyPr wrap="square" lIns="0" tIns="0" rIns="0" bIns="0" rtlCol="0" anchor="ctr"/>
          <a:lstStyle/>
          <a:p>
            <a:pPr indent="0" marL="0">
              <a:buNone/>
            </a:pPr>
            <a:r>
              <a:rPr lang="en-US" sz="4000" b="1" dirty="0">
                <a:solidFill>
                  <a:srgbClr val="FCC30A"/>
                </a:solidFill>
                <a:latin typeface="Arial" pitchFamily="34" charset="0"/>
                <a:ea typeface="Arial" pitchFamily="34" charset="-122"/>
                <a:cs typeface="Arial" pitchFamily="34" charset="-120"/>
              </a:rPr>
              <a:t>0.48</a:t>
            </a:r>
            <a:endParaRPr lang="en-US" sz="4000" dirty="0"/>
          </a:p>
        </p:txBody>
      </p:sp>
      <p:sp>
        <p:nvSpPr>
          <p:cNvPr id="12" name="Text 9"/>
          <p:cNvSpPr txBox="1"/>
          <p:nvPr/>
        </p:nvSpPr>
        <p:spPr>
          <a:xfrm>
            <a:off x="9646920" y="3200400"/>
            <a:ext cx="1737360" cy="59436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EMR, 2026</a:t>
            </a:r>
            <a:endParaRPr lang="en-US" sz="1250" dirty="0"/>
          </a:p>
        </p:txBody>
      </p:sp>
      <p:sp>
        <p:nvSpPr>
          <p:cNvPr id="13" name="Shape 10"/>
          <p:cNvSpPr/>
          <p:nvPr/>
        </p:nvSpPr>
        <p:spPr>
          <a:xfrm>
            <a:off x="7223760" y="4114800"/>
            <a:ext cx="2057400" cy="1828800"/>
          </a:xfrm>
          <a:prstGeom prst="rect">
            <a:avLst/>
          </a:prstGeom>
          <a:solidFill>
            <a:srgbClr val="2B2B2B"/>
          </a:solidFill>
          <a:ln w="12700">
            <a:solidFill>
              <a:srgbClr val="2B2B2B"/>
            </a:solidFill>
            <a:prstDash val="solid"/>
          </a:ln>
        </p:spPr>
      </p:sp>
      <p:sp>
        <p:nvSpPr>
          <p:cNvPr id="14" name="Text 11"/>
          <p:cNvSpPr txBox="1"/>
          <p:nvPr/>
        </p:nvSpPr>
        <p:spPr>
          <a:xfrm>
            <a:off x="7406640" y="4343400"/>
            <a:ext cx="1737360" cy="822960"/>
          </a:xfrm>
          <a:prstGeom prst="rect">
            <a:avLst/>
          </a:prstGeom>
          <a:noFill/>
          <a:ln/>
        </p:spPr>
        <p:txBody>
          <a:bodyPr wrap="square" lIns="0" tIns="0" rIns="0" bIns="0" rtlCol="0" anchor="ctr"/>
          <a:lstStyle/>
          <a:p>
            <a:pPr indent="0" marL="0">
              <a:buNone/>
            </a:pPr>
            <a:r>
              <a:rPr lang="en-US" sz="4000" b="1" dirty="0">
                <a:solidFill>
                  <a:srgbClr val="FCC30A"/>
                </a:solidFill>
                <a:latin typeface="Arial" pitchFamily="34" charset="0"/>
                <a:ea typeface="Arial" pitchFamily="34" charset="-122"/>
                <a:cs typeface="Arial" pitchFamily="34" charset="-120"/>
              </a:rPr>
              <a:t>−49%</a:t>
            </a:r>
            <a:endParaRPr lang="en-US" sz="4000" dirty="0"/>
          </a:p>
        </p:txBody>
      </p:sp>
      <p:sp>
        <p:nvSpPr>
          <p:cNvPr id="15" name="Text 12"/>
          <p:cNvSpPr txBox="1"/>
          <p:nvPr/>
        </p:nvSpPr>
        <p:spPr>
          <a:xfrm>
            <a:off x="7406640" y="5212080"/>
            <a:ext cx="1737360" cy="59436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EMR since 2024</a:t>
            </a:r>
            <a:endParaRPr lang="en-US" sz="1250" dirty="0"/>
          </a:p>
        </p:txBody>
      </p:sp>
      <p:sp>
        <p:nvSpPr>
          <p:cNvPr id="16" name="Shape 13"/>
          <p:cNvSpPr/>
          <p:nvPr/>
        </p:nvSpPr>
        <p:spPr>
          <a:xfrm>
            <a:off x="9464040" y="4114800"/>
            <a:ext cx="2057400" cy="1828800"/>
          </a:xfrm>
          <a:prstGeom prst="rect">
            <a:avLst/>
          </a:prstGeom>
          <a:solidFill>
            <a:srgbClr val="2B2B2B"/>
          </a:solidFill>
          <a:ln w="12700">
            <a:solidFill>
              <a:srgbClr val="2B2B2B"/>
            </a:solidFill>
            <a:prstDash val="solid"/>
          </a:ln>
        </p:spPr>
      </p:sp>
      <p:sp>
        <p:nvSpPr>
          <p:cNvPr id="17" name="Text 14"/>
          <p:cNvSpPr txBox="1"/>
          <p:nvPr/>
        </p:nvSpPr>
        <p:spPr>
          <a:xfrm>
            <a:off x="9646920" y="4343400"/>
            <a:ext cx="1737360" cy="822960"/>
          </a:xfrm>
          <a:prstGeom prst="rect">
            <a:avLst/>
          </a:prstGeom>
          <a:noFill/>
          <a:ln/>
        </p:spPr>
        <p:txBody>
          <a:bodyPr wrap="square" lIns="0" tIns="0" rIns="0" bIns="0" rtlCol="0" anchor="ctr"/>
          <a:lstStyle/>
          <a:p>
            <a:pPr indent="0" marL="0">
              <a:buNone/>
            </a:pPr>
            <a:r>
              <a:rPr lang="en-US" sz="4000" b="1" dirty="0">
                <a:solidFill>
                  <a:srgbClr val="FCC30A"/>
                </a:solidFill>
                <a:latin typeface="Arial" pitchFamily="34" charset="0"/>
                <a:ea typeface="Arial" pitchFamily="34" charset="-122"/>
                <a:cs typeface="Arial" pitchFamily="34" charset="-120"/>
              </a:rPr>
              <a:t>0</a:t>
            </a:r>
            <a:endParaRPr lang="en-US" sz="4000" dirty="0"/>
          </a:p>
        </p:txBody>
      </p:sp>
      <p:sp>
        <p:nvSpPr>
          <p:cNvPr id="18" name="Text 15"/>
          <p:cNvSpPr txBox="1"/>
          <p:nvPr/>
        </p:nvSpPr>
        <p:spPr>
          <a:xfrm>
            <a:off x="9646920" y="5212080"/>
            <a:ext cx="1737360" cy="59436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fatalities in 3 years</a:t>
            </a:r>
            <a:endParaRPr lang="en-US" sz="1250" dirty="0"/>
          </a:p>
        </p:txBody>
      </p:sp>
      <p:sp>
        <p:nvSpPr>
          <p:cNvPr id="19" name="Text 16"/>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BDBDBD"/>
                </a:solidFill>
                <a:latin typeface="Arial" pitchFamily="34" charset="0"/>
                <a:ea typeface="Arial" pitchFamily="34" charset="-122"/>
                <a:cs typeface="Arial" pitchFamily="34" charset="-120"/>
              </a:rPr>
              <a:t>USA DeBusk  |  Valero Texas City  |  Heater Pigging &amp; Decoking Services</a:t>
            </a:r>
            <a:endParaRPr lang="en-US" sz="900" dirty="0"/>
          </a:p>
        </p:txBody>
      </p:sp>
      <p:sp>
        <p:nvSpPr>
          <p:cNvPr id="20" name="Text 17"/>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BDBDBD"/>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C:\Users\Jwuts\obsidian-work\02-facilities\Valero\Texas-City-TX\pigging-capabilities-presentation\build/img/slot_danger.jpg">    </p:cNvPr>
          <p:cNvPicPr>
            <a:picLocks noChangeAspect="1"/>
          </p:cNvPicPr>
          <p:nvPr/>
        </p:nvPicPr>
        <p:blipFill>
          <a:blip r:embed="rId1"/>
          <a:stretch>
            <a:fillRect/>
          </a:stretch>
        </p:blipFill>
        <p:spPr>
          <a:xfrm>
            <a:off x="0" y="0"/>
            <a:ext cx="3566160" cy="6858000"/>
          </a:xfrm>
          <a:prstGeom prst="rect">
            <a:avLst/>
          </a:prstGeom>
        </p:spPr>
      </p:pic>
      <p:sp>
        <p:nvSpPr>
          <p:cNvPr id="3" name="Shape 0"/>
          <p:cNvSpPr/>
          <p:nvPr/>
        </p:nvSpPr>
        <p:spPr>
          <a:xfrm>
            <a:off x="4023360" y="411480"/>
            <a:ext cx="3015139" cy="310896"/>
          </a:xfrm>
          <a:prstGeom prst="roundRect">
            <a:avLst>
              <a:gd name="adj" fmla="val 23529"/>
            </a:avLst>
          </a:prstGeom>
          <a:solidFill>
            <a:srgbClr val="FCC30A"/>
          </a:solidFill>
          <a:ln w="12700">
            <a:solidFill>
              <a:srgbClr val="FCC30A"/>
            </a:solidFill>
            <a:prstDash val="solid"/>
          </a:ln>
        </p:spPr>
      </p:sp>
      <p:sp>
        <p:nvSpPr>
          <p:cNvPr id="4" name="Text 1"/>
          <p:cNvSpPr txBox="1"/>
          <p:nvPr/>
        </p:nvSpPr>
        <p:spPr>
          <a:xfrm>
            <a:off x="4023360" y="411480"/>
            <a:ext cx="3015139"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07   SAFETY &amp; RISK MITIGATION</a:t>
            </a:r>
            <a:endParaRPr lang="en-US" sz="1050" dirty="0"/>
          </a:p>
        </p:txBody>
      </p:sp>
      <p:sp>
        <p:nvSpPr>
          <p:cNvPr id="5" name="Text 2"/>
          <p:cNvSpPr txBox="1"/>
          <p:nvPr/>
        </p:nvSpPr>
        <p:spPr>
          <a:xfrm>
            <a:off x="4023360" y="841248"/>
            <a:ext cx="7589520" cy="731520"/>
          </a:xfrm>
          <a:prstGeom prst="rect">
            <a:avLst/>
          </a:prstGeom>
          <a:noFill/>
          <a:ln/>
        </p:spPr>
        <p:txBody>
          <a:bodyPr wrap="square" lIns="0" tIns="0" rIns="0" bIns="0" rtlCol="0" anchor="t"/>
          <a:lstStyle/>
          <a:p>
            <a:pPr indent="0" marL="0">
              <a:buNone/>
            </a:pPr>
            <a:r>
              <a:rPr lang="en-US" sz="3200" b="1" dirty="0">
                <a:solidFill>
                  <a:srgbClr val="222222"/>
                </a:solidFill>
                <a:latin typeface="Arial" pitchFamily="34" charset="0"/>
                <a:ea typeface="Arial" pitchFamily="34" charset="-122"/>
                <a:cs typeface="Arial" pitchFamily="34" charset="-120"/>
              </a:rPr>
              <a:t>Risk mitigation in the field</a:t>
            </a:r>
            <a:endParaRPr lang="en-US" sz="3200" dirty="0"/>
          </a:p>
        </p:txBody>
      </p:sp>
      <p:sp>
        <p:nvSpPr>
          <p:cNvPr id="6" name="Shape 3"/>
          <p:cNvSpPr/>
          <p:nvPr/>
        </p:nvSpPr>
        <p:spPr>
          <a:xfrm>
            <a:off x="4023360" y="1645920"/>
            <a:ext cx="3685032" cy="1298448"/>
          </a:xfrm>
          <a:prstGeom prst="rect">
            <a:avLst/>
          </a:prstGeom>
          <a:solidFill>
            <a:srgbClr val="F4F4F4"/>
          </a:solidFill>
          <a:ln w="12700">
            <a:solidFill>
              <a:srgbClr val="F4F4F4"/>
            </a:solidFill>
            <a:prstDash val="solid"/>
          </a:ln>
        </p:spPr>
      </p:sp>
      <p:sp>
        <p:nvSpPr>
          <p:cNvPr id="7" name="Shape 4"/>
          <p:cNvSpPr/>
          <p:nvPr/>
        </p:nvSpPr>
        <p:spPr>
          <a:xfrm>
            <a:off x="4251960" y="1874520"/>
            <a:ext cx="566928" cy="566928"/>
          </a:xfrm>
          <a:prstGeom prst="ellipse">
            <a:avLst/>
          </a:prstGeom>
          <a:solidFill>
            <a:srgbClr val="1E1E1E"/>
          </a:solidFill>
          <a:ln w="12700">
            <a:solidFill>
              <a:srgbClr val="1E1E1E"/>
            </a:solidFill>
            <a:prstDash val="solid"/>
          </a:ln>
        </p:spPr>
      </p:sp>
      <p:pic>
        <p:nvPicPr>
          <p:cNvPr id="8" name="Image 1" descr="preencoded.png">    </p:cNvPr>
          <p:cNvPicPr>
            <a:picLocks noChangeAspect="1"/>
          </p:cNvPicPr>
          <p:nvPr/>
        </p:nvPicPr>
        <p:blipFill>
          <a:blip r:embed="rId2"/>
          <a:stretch>
            <a:fillRect/>
          </a:stretch>
        </p:blipFill>
        <p:spPr>
          <a:xfrm>
            <a:off x="4393692" y="2016252"/>
            <a:ext cx="283464" cy="283464"/>
          </a:xfrm>
          <a:prstGeom prst="rect">
            <a:avLst/>
          </a:prstGeom>
        </p:spPr>
      </p:pic>
      <p:sp>
        <p:nvSpPr>
          <p:cNvPr id="9" name="Text 5"/>
          <p:cNvSpPr txBox="1"/>
          <p:nvPr/>
        </p:nvSpPr>
        <p:spPr>
          <a:xfrm>
            <a:off x="4983480" y="1847088"/>
            <a:ext cx="2606040" cy="365760"/>
          </a:xfrm>
          <a:prstGeom prst="rect">
            <a:avLst/>
          </a:prstGeom>
          <a:noFill/>
          <a:ln/>
        </p:spPr>
        <p:txBody>
          <a:bodyPr wrap="square" lIns="0" tIns="0" rIns="0" bIns="0" rtlCol="0" anchor="ctr"/>
          <a:lstStyle/>
          <a:p>
            <a:pPr indent="0" marL="0">
              <a:buNone/>
            </a:pPr>
            <a:r>
              <a:rPr lang="en-US" sz="1550" b="1" dirty="0">
                <a:solidFill>
                  <a:srgbClr val="222222"/>
                </a:solidFill>
                <a:latin typeface="Arial" pitchFamily="34" charset="0"/>
                <a:ea typeface="Arial" pitchFamily="34" charset="-122"/>
                <a:cs typeface="Arial" pitchFamily="34" charset="-120"/>
              </a:rPr>
              <a:t>JSA &amp; permits</a:t>
            </a:r>
            <a:endParaRPr lang="en-US" sz="1550" dirty="0"/>
          </a:p>
        </p:txBody>
      </p:sp>
      <p:sp>
        <p:nvSpPr>
          <p:cNvPr id="10" name="Text 6"/>
          <p:cNvSpPr txBox="1"/>
          <p:nvPr/>
        </p:nvSpPr>
        <p:spPr>
          <a:xfrm>
            <a:off x="4983480" y="2249424"/>
            <a:ext cx="2606040" cy="685800"/>
          </a:xfrm>
          <a:prstGeom prst="rect">
            <a:avLst/>
          </a:prstGeom>
          <a:noFill/>
          <a:ln/>
        </p:spPr>
        <p:txBody>
          <a:bodyPr wrap="square" lIns="0" tIns="0" rIns="0" bIns="0" rtlCol="0" anchor="t"/>
          <a:lstStyle/>
          <a:p>
            <a:pPr indent="0" marL="0">
              <a:buNone/>
            </a:pPr>
            <a:r>
              <a:rPr lang="en-US" sz="1150" dirty="0">
                <a:solidFill>
                  <a:srgbClr val="5E5E5E"/>
                </a:solidFill>
                <a:latin typeface="Arial" pitchFamily="34" charset="0"/>
                <a:ea typeface="Arial" pitchFamily="34" charset="-122"/>
                <a:cs typeface="Arial" pitchFamily="34" charset="-120"/>
              </a:rPr>
              <a:t>Job-specific JSA reviewed at every shift change; daily toolbox talks</a:t>
            </a:r>
            <a:endParaRPr lang="en-US" sz="1150" dirty="0"/>
          </a:p>
        </p:txBody>
      </p:sp>
      <p:sp>
        <p:nvSpPr>
          <p:cNvPr id="11" name="Shape 7"/>
          <p:cNvSpPr/>
          <p:nvPr/>
        </p:nvSpPr>
        <p:spPr>
          <a:xfrm>
            <a:off x="7863840" y="1645920"/>
            <a:ext cx="3685032" cy="1298448"/>
          </a:xfrm>
          <a:prstGeom prst="rect">
            <a:avLst/>
          </a:prstGeom>
          <a:solidFill>
            <a:srgbClr val="F4F4F4"/>
          </a:solidFill>
          <a:ln w="12700">
            <a:solidFill>
              <a:srgbClr val="F4F4F4"/>
            </a:solidFill>
            <a:prstDash val="solid"/>
          </a:ln>
        </p:spPr>
      </p:sp>
      <p:sp>
        <p:nvSpPr>
          <p:cNvPr id="12" name="Shape 8"/>
          <p:cNvSpPr/>
          <p:nvPr/>
        </p:nvSpPr>
        <p:spPr>
          <a:xfrm>
            <a:off x="8092440" y="1874520"/>
            <a:ext cx="566928" cy="566928"/>
          </a:xfrm>
          <a:prstGeom prst="ellipse">
            <a:avLst/>
          </a:prstGeom>
          <a:solidFill>
            <a:srgbClr val="1E1E1E"/>
          </a:solidFill>
          <a:ln w="12700">
            <a:solidFill>
              <a:srgbClr val="1E1E1E"/>
            </a:solidFill>
            <a:prstDash val="solid"/>
          </a:ln>
        </p:spPr>
      </p:sp>
      <p:pic>
        <p:nvPicPr>
          <p:cNvPr id="13" name="Image 2" descr="preencoded.png">    </p:cNvPr>
          <p:cNvPicPr>
            <a:picLocks noChangeAspect="1"/>
          </p:cNvPicPr>
          <p:nvPr/>
        </p:nvPicPr>
        <p:blipFill>
          <a:blip r:embed="rId3"/>
          <a:stretch>
            <a:fillRect/>
          </a:stretch>
        </p:blipFill>
        <p:spPr>
          <a:xfrm>
            <a:off x="8234172" y="2016252"/>
            <a:ext cx="283464" cy="283464"/>
          </a:xfrm>
          <a:prstGeom prst="rect">
            <a:avLst/>
          </a:prstGeom>
        </p:spPr>
      </p:pic>
      <p:sp>
        <p:nvSpPr>
          <p:cNvPr id="14" name="Text 9"/>
          <p:cNvSpPr txBox="1"/>
          <p:nvPr/>
        </p:nvSpPr>
        <p:spPr>
          <a:xfrm>
            <a:off x="8823960" y="1847088"/>
            <a:ext cx="2606040" cy="365760"/>
          </a:xfrm>
          <a:prstGeom prst="rect">
            <a:avLst/>
          </a:prstGeom>
          <a:noFill/>
          <a:ln/>
        </p:spPr>
        <p:txBody>
          <a:bodyPr wrap="square" lIns="0" tIns="0" rIns="0" bIns="0" rtlCol="0" anchor="ctr"/>
          <a:lstStyle/>
          <a:p>
            <a:pPr indent="0" marL="0">
              <a:buNone/>
            </a:pPr>
            <a:r>
              <a:rPr lang="en-US" sz="1550" b="1" dirty="0">
                <a:solidFill>
                  <a:srgbClr val="222222"/>
                </a:solidFill>
                <a:latin typeface="Arial" pitchFamily="34" charset="0"/>
                <a:ea typeface="Arial" pitchFamily="34" charset="-122"/>
                <a:cs typeface="Arial" pitchFamily="34" charset="-120"/>
              </a:rPr>
              <a:t>Isolation first</a:t>
            </a:r>
            <a:endParaRPr lang="en-US" sz="1550" dirty="0"/>
          </a:p>
        </p:txBody>
      </p:sp>
      <p:sp>
        <p:nvSpPr>
          <p:cNvPr id="15" name="Text 10"/>
          <p:cNvSpPr txBox="1"/>
          <p:nvPr/>
        </p:nvSpPr>
        <p:spPr>
          <a:xfrm>
            <a:off x="8823960" y="2249424"/>
            <a:ext cx="2606040" cy="685800"/>
          </a:xfrm>
          <a:prstGeom prst="rect">
            <a:avLst/>
          </a:prstGeom>
          <a:noFill/>
          <a:ln/>
        </p:spPr>
        <p:txBody>
          <a:bodyPr wrap="square" lIns="0" tIns="0" rIns="0" bIns="0" rtlCol="0" anchor="t"/>
          <a:lstStyle/>
          <a:p>
            <a:pPr indent="0" marL="0">
              <a:buNone/>
            </a:pPr>
            <a:r>
              <a:rPr lang="en-US" sz="1150" dirty="0">
                <a:solidFill>
                  <a:srgbClr val="5E5E5E"/>
                </a:solidFill>
                <a:latin typeface="Arial" pitchFamily="34" charset="0"/>
                <a:ea typeface="Arial" pitchFamily="34" charset="-122"/>
                <a:cs typeface="Arial" pitchFamily="34" charset="-120"/>
              </a:rPr>
              <a:t>Valero's isolation and LOTO verified before any connection is made</a:t>
            </a:r>
            <a:endParaRPr lang="en-US" sz="1150" dirty="0"/>
          </a:p>
        </p:txBody>
      </p:sp>
      <p:sp>
        <p:nvSpPr>
          <p:cNvPr id="16" name="Shape 11"/>
          <p:cNvSpPr/>
          <p:nvPr/>
        </p:nvSpPr>
        <p:spPr>
          <a:xfrm>
            <a:off x="4023360" y="3063240"/>
            <a:ext cx="3685032" cy="1298448"/>
          </a:xfrm>
          <a:prstGeom prst="rect">
            <a:avLst/>
          </a:prstGeom>
          <a:solidFill>
            <a:srgbClr val="F4F4F4"/>
          </a:solidFill>
          <a:ln w="12700">
            <a:solidFill>
              <a:srgbClr val="F4F4F4"/>
            </a:solidFill>
            <a:prstDash val="solid"/>
          </a:ln>
        </p:spPr>
      </p:sp>
      <p:sp>
        <p:nvSpPr>
          <p:cNvPr id="17" name="Shape 12"/>
          <p:cNvSpPr/>
          <p:nvPr/>
        </p:nvSpPr>
        <p:spPr>
          <a:xfrm>
            <a:off x="4251960" y="3291840"/>
            <a:ext cx="566928" cy="566928"/>
          </a:xfrm>
          <a:prstGeom prst="ellipse">
            <a:avLst/>
          </a:prstGeom>
          <a:solidFill>
            <a:srgbClr val="1E1E1E"/>
          </a:solidFill>
          <a:ln w="12700">
            <a:solidFill>
              <a:srgbClr val="1E1E1E"/>
            </a:solidFill>
            <a:prstDash val="solid"/>
          </a:ln>
        </p:spPr>
      </p:sp>
      <p:pic>
        <p:nvPicPr>
          <p:cNvPr id="18" name="Image 3" descr="preencoded.png">    </p:cNvPr>
          <p:cNvPicPr>
            <a:picLocks noChangeAspect="1"/>
          </p:cNvPicPr>
          <p:nvPr/>
        </p:nvPicPr>
        <p:blipFill>
          <a:blip r:embed="rId4"/>
          <a:stretch>
            <a:fillRect/>
          </a:stretch>
        </p:blipFill>
        <p:spPr>
          <a:xfrm>
            <a:off x="4393692" y="3433572"/>
            <a:ext cx="283464" cy="283464"/>
          </a:xfrm>
          <a:prstGeom prst="rect">
            <a:avLst/>
          </a:prstGeom>
        </p:spPr>
      </p:pic>
      <p:sp>
        <p:nvSpPr>
          <p:cNvPr id="19" name="Text 13"/>
          <p:cNvSpPr txBox="1"/>
          <p:nvPr/>
        </p:nvSpPr>
        <p:spPr>
          <a:xfrm>
            <a:off x="4983480" y="3264408"/>
            <a:ext cx="2606040" cy="365760"/>
          </a:xfrm>
          <a:prstGeom prst="rect">
            <a:avLst/>
          </a:prstGeom>
          <a:noFill/>
          <a:ln/>
        </p:spPr>
        <p:txBody>
          <a:bodyPr wrap="square" lIns="0" tIns="0" rIns="0" bIns="0" rtlCol="0" anchor="ctr"/>
          <a:lstStyle/>
          <a:p>
            <a:pPr indent="0" marL="0">
              <a:buNone/>
            </a:pPr>
            <a:r>
              <a:rPr lang="en-US" sz="1550" b="1" dirty="0">
                <a:solidFill>
                  <a:srgbClr val="222222"/>
                </a:solidFill>
                <a:latin typeface="Arial" pitchFamily="34" charset="0"/>
                <a:ea typeface="Arial" pitchFamily="34" charset="-122"/>
                <a:cs typeface="Arial" pitchFamily="34" charset="-120"/>
              </a:rPr>
              <a:t>Pressure control</a:t>
            </a:r>
            <a:endParaRPr lang="en-US" sz="1550" dirty="0"/>
          </a:p>
        </p:txBody>
      </p:sp>
      <p:sp>
        <p:nvSpPr>
          <p:cNvPr id="20" name="Text 14"/>
          <p:cNvSpPr txBox="1"/>
          <p:nvPr/>
        </p:nvSpPr>
        <p:spPr>
          <a:xfrm>
            <a:off x="4983480" y="3666744"/>
            <a:ext cx="2606040" cy="685800"/>
          </a:xfrm>
          <a:prstGeom prst="rect">
            <a:avLst/>
          </a:prstGeom>
          <a:noFill/>
          <a:ln/>
        </p:spPr>
        <p:txBody>
          <a:bodyPr wrap="square" lIns="0" tIns="0" rIns="0" bIns="0" rtlCol="0" anchor="t"/>
          <a:lstStyle/>
          <a:p>
            <a:pPr indent="0" marL="0">
              <a:buNone/>
            </a:pPr>
            <a:r>
              <a:rPr lang="en-US" sz="1150" dirty="0">
                <a:solidFill>
                  <a:srgbClr val="5E5E5E"/>
                </a:solidFill>
                <a:latin typeface="Arial" pitchFamily="34" charset="0"/>
                <a:ea typeface="Arial" pitchFamily="34" charset="-122"/>
                <a:cs typeface="Arial" pitchFamily="34" charset="-120"/>
              </a:rPr>
              <a:t>Normal 150–300 psi; over-pressure checklist above 500 psi</a:t>
            </a:r>
            <a:endParaRPr lang="en-US" sz="1150" dirty="0"/>
          </a:p>
        </p:txBody>
      </p:sp>
      <p:sp>
        <p:nvSpPr>
          <p:cNvPr id="21" name="Shape 15"/>
          <p:cNvSpPr/>
          <p:nvPr/>
        </p:nvSpPr>
        <p:spPr>
          <a:xfrm>
            <a:off x="7863840" y="3063240"/>
            <a:ext cx="3685032" cy="1298448"/>
          </a:xfrm>
          <a:prstGeom prst="rect">
            <a:avLst/>
          </a:prstGeom>
          <a:solidFill>
            <a:srgbClr val="F4F4F4"/>
          </a:solidFill>
          <a:ln w="12700">
            <a:solidFill>
              <a:srgbClr val="F4F4F4"/>
            </a:solidFill>
            <a:prstDash val="solid"/>
          </a:ln>
        </p:spPr>
      </p:sp>
      <p:sp>
        <p:nvSpPr>
          <p:cNvPr id="22" name="Shape 16"/>
          <p:cNvSpPr/>
          <p:nvPr/>
        </p:nvSpPr>
        <p:spPr>
          <a:xfrm>
            <a:off x="8092440" y="3291840"/>
            <a:ext cx="566928" cy="566928"/>
          </a:xfrm>
          <a:prstGeom prst="ellipse">
            <a:avLst/>
          </a:prstGeom>
          <a:solidFill>
            <a:srgbClr val="1E1E1E"/>
          </a:solidFill>
          <a:ln w="12700">
            <a:solidFill>
              <a:srgbClr val="1E1E1E"/>
            </a:solidFill>
            <a:prstDash val="solid"/>
          </a:ln>
        </p:spPr>
      </p:sp>
      <p:pic>
        <p:nvPicPr>
          <p:cNvPr id="23" name="Image 4" descr="preencoded.png">    </p:cNvPr>
          <p:cNvPicPr>
            <a:picLocks noChangeAspect="1"/>
          </p:cNvPicPr>
          <p:nvPr/>
        </p:nvPicPr>
        <p:blipFill>
          <a:blip r:embed="rId5"/>
          <a:stretch>
            <a:fillRect/>
          </a:stretch>
        </p:blipFill>
        <p:spPr>
          <a:xfrm>
            <a:off x="8234172" y="3433572"/>
            <a:ext cx="283464" cy="283464"/>
          </a:xfrm>
          <a:prstGeom prst="rect">
            <a:avLst/>
          </a:prstGeom>
        </p:spPr>
      </p:pic>
      <p:sp>
        <p:nvSpPr>
          <p:cNvPr id="24" name="Text 17"/>
          <p:cNvSpPr txBox="1"/>
          <p:nvPr/>
        </p:nvSpPr>
        <p:spPr>
          <a:xfrm>
            <a:off x="8823960" y="3264408"/>
            <a:ext cx="2606040" cy="365760"/>
          </a:xfrm>
          <a:prstGeom prst="rect">
            <a:avLst/>
          </a:prstGeom>
          <a:noFill/>
          <a:ln/>
        </p:spPr>
        <p:txBody>
          <a:bodyPr wrap="square" lIns="0" tIns="0" rIns="0" bIns="0" rtlCol="0" anchor="ctr"/>
          <a:lstStyle/>
          <a:p>
            <a:pPr indent="0" marL="0">
              <a:buNone/>
            </a:pPr>
            <a:r>
              <a:rPr lang="en-US" sz="1550" b="1" dirty="0">
                <a:solidFill>
                  <a:srgbClr val="222222"/>
                </a:solidFill>
                <a:latin typeface="Arial" pitchFamily="34" charset="0"/>
                <a:ea typeface="Arial" pitchFamily="34" charset="-122"/>
                <a:cs typeface="Arial" pitchFamily="34" charset="-120"/>
              </a:rPr>
              <a:t>Line of fire</a:t>
            </a:r>
            <a:endParaRPr lang="en-US" sz="1550" dirty="0"/>
          </a:p>
        </p:txBody>
      </p:sp>
      <p:sp>
        <p:nvSpPr>
          <p:cNvPr id="25" name="Text 18"/>
          <p:cNvSpPr txBox="1"/>
          <p:nvPr/>
        </p:nvSpPr>
        <p:spPr>
          <a:xfrm>
            <a:off x="8823960" y="3666744"/>
            <a:ext cx="2606040" cy="685800"/>
          </a:xfrm>
          <a:prstGeom prst="rect">
            <a:avLst/>
          </a:prstGeom>
          <a:noFill/>
          <a:ln/>
        </p:spPr>
        <p:txBody>
          <a:bodyPr wrap="square" lIns="0" tIns="0" rIns="0" bIns="0" rtlCol="0" anchor="t"/>
          <a:lstStyle/>
          <a:p>
            <a:pPr indent="0" marL="0">
              <a:buNone/>
            </a:pPr>
            <a:r>
              <a:rPr lang="en-US" sz="1150" dirty="0">
                <a:solidFill>
                  <a:srgbClr val="5E5E5E"/>
                </a:solidFill>
                <a:latin typeface="Arial" pitchFamily="34" charset="0"/>
                <a:ea typeface="Arial" pitchFamily="34" charset="-122"/>
                <a:cs typeface="Arial" pitchFamily="34" charset="-120"/>
              </a:rPr>
              <a:t>Bleed to zero at every pig change; nobody in line with lids or hoses</a:t>
            </a:r>
            <a:endParaRPr lang="en-US" sz="1150" dirty="0"/>
          </a:p>
        </p:txBody>
      </p:sp>
      <p:sp>
        <p:nvSpPr>
          <p:cNvPr id="26" name="Shape 19"/>
          <p:cNvSpPr/>
          <p:nvPr/>
        </p:nvSpPr>
        <p:spPr>
          <a:xfrm>
            <a:off x="4023360" y="4480560"/>
            <a:ext cx="3685032" cy="1298448"/>
          </a:xfrm>
          <a:prstGeom prst="rect">
            <a:avLst/>
          </a:prstGeom>
          <a:solidFill>
            <a:srgbClr val="F4F4F4"/>
          </a:solidFill>
          <a:ln w="12700">
            <a:solidFill>
              <a:srgbClr val="F4F4F4"/>
            </a:solidFill>
            <a:prstDash val="solid"/>
          </a:ln>
        </p:spPr>
      </p:sp>
      <p:sp>
        <p:nvSpPr>
          <p:cNvPr id="27" name="Shape 20"/>
          <p:cNvSpPr/>
          <p:nvPr/>
        </p:nvSpPr>
        <p:spPr>
          <a:xfrm>
            <a:off x="4251960" y="4709160"/>
            <a:ext cx="566928" cy="566928"/>
          </a:xfrm>
          <a:prstGeom prst="ellipse">
            <a:avLst/>
          </a:prstGeom>
          <a:solidFill>
            <a:srgbClr val="1E1E1E"/>
          </a:solidFill>
          <a:ln w="12700">
            <a:solidFill>
              <a:srgbClr val="1E1E1E"/>
            </a:solidFill>
            <a:prstDash val="solid"/>
          </a:ln>
        </p:spPr>
      </p:sp>
      <p:pic>
        <p:nvPicPr>
          <p:cNvPr id="28" name="Image 5" descr="preencoded.png">    </p:cNvPr>
          <p:cNvPicPr>
            <a:picLocks noChangeAspect="1"/>
          </p:cNvPicPr>
          <p:nvPr/>
        </p:nvPicPr>
        <p:blipFill>
          <a:blip r:embed="rId6"/>
          <a:stretch>
            <a:fillRect/>
          </a:stretch>
        </p:blipFill>
        <p:spPr>
          <a:xfrm>
            <a:off x="4393692" y="4850892"/>
            <a:ext cx="283464" cy="283464"/>
          </a:xfrm>
          <a:prstGeom prst="rect">
            <a:avLst/>
          </a:prstGeom>
        </p:spPr>
      </p:pic>
      <p:sp>
        <p:nvSpPr>
          <p:cNvPr id="29" name="Text 21"/>
          <p:cNvSpPr txBox="1"/>
          <p:nvPr/>
        </p:nvSpPr>
        <p:spPr>
          <a:xfrm>
            <a:off x="4983480" y="4681728"/>
            <a:ext cx="2606040" cy="365760"/>
          </a:xfrm>
          <a:prstGeom prst="rect">
            <a:avLst/>
          </a:prstGeom>
          <a:noFill/>
          <a:ln/>
        </p:spPr>
        <p:txBody>
          <a:bodyPr wrap="square" lIns="0" tIns="0" rIns="0" bIns="0" rtlCol="0" anchor="ctr"/>
          <a:lstStyle/>
          <a:p>
            <a:pPr indent="0" marL="0">
              <a:buNone/>
            </a:pPr>
            <a:r>
              <a:rPr lang="en-US" sz="1550" b="1" dirty="0">
                <a:solidFill>
                  <a:srgbClr val="222222"/>
                </a:solidFill>
                <a:latin typeface="Arial" pitchFamily="34" charset="0"/>
                <a:ea typeface="Arial" pitchFamily="34" charset="-122"/>
                <a:cs typeface="Arial" pitchFamily="34" charset="-120"/>
              </a:rPr>
              <a:t>Hose integrity</a:t>
            </a:r>
            <a:endParaRPr lang="en-US" sz="1550" dirty="0"/>
          </a:p>
        </p:txBody>
      </p:sp>
      <p:sp>
        <p:nvSpPr>
          <p:cNvPr id="30" name="Text 22"/>
          <p:cNvSpPr txBox="1"/>
          <p:nvPr/>
        </p:nvSpPr>
        <p:spPr>
          <a:xfrm>
            <a:off x="4983480" y="5084064"/>
            <a:ext cx="2606040" cy="685800"/>
          </a:xfrm>
          <a:prstGeom prst="rect">
            <a:avLst/>
          </a:prstGeom>
          <a:noFill/>
          <a:ln/>
        </p:spPr>
        <p:txBody>
          <a:bodyPr wrap="square" lIns="0" tIns="0" rIns="0" bIns="0" rtlCol="0" anchor="t"/>
          <a:lstStyle/>
          <a:p>
            <a:pPr indent="0" marL="0">
              <a:buNone/>
            </a:pPr>
            <a:r>
              <a:rPr lang="en-US" sz="1150" dirty="0">
                <a:solidFill>
                  <a:srgbClr val="5E5E5E"/>
                </a:solidFill>
                <a:latin typeface="Arial" pitchFamily="34" charset="0"/>
                <a:ea typeface="Arial" pitchFamily="34" charset="-122"/>
                <a:cs typeface="Arial" pitchFamily="34" charset="-120"/>
              </a:rPr>
              <a:t>Tested &amp; certified hard and flex pipe; whip checks on every connection</a:t>
            </a:r>
            <a:endParaRPr lang="en-US" sz="1150" dirty="0"/>
          </a:p>
        </p:txBody>
      </p:sp>
      <p:sp>
        <p:nvSpPr>
          <p:cNvPr id="31" name="Shape 23"/>
          <p:cNvSpPr/>
          <p:nvPr/>
        </p:nvSpPr>
        <p:spPr>
          <a:xfrm>
            <a:off x="7863840" y="4480560"/>
            <a:ext cx="3685032" cy="1298448"/>
          </a:xfrm>
          <a:prstGeom prst="rect">
            <a:avLst/>
          </a:prstGeom>
          <a:solidFill>
            <a:srgbClr val="F4F4F4"/>
          </a:solidFill>
          <a:ln w="12700">
            <a:solidFill>
              <a:srgbClr val="F4F4F4"/>
            </a:solidFill>
            <a:prstDash val="solid"/>
          </a:ln>
        </p:spPr>
      </p:sp>
      <p:sp>
        <p:nvSpPr>
          <p:cNvPr id="32" name="Shape 24"/>
          <p:cNvSpPr/>
          <p:nvPr/>
        </p:nvSpPr>
        <p:spPr>
          <a:xfrm>
            <a:off x="8092440" y="4709160"/>
            <a:ext cx="566928" cy="566928"/>
          </a:xfrm>
          <a:prstGeom prst="ellipse">
            <a:avLst/>
          </a:prstGeom>
          <a:solidFill>
            <a:srgbClr val="1E1E1E"/>
          </a:solidFill>
          <a:ln w="12700">
            <a:solidFill>
              <a:srgbClr val="1E1E1E"/>
            </a:solidFill>
            <a:prstDash val="solid"/>
          </a:ln>
        </p:spPr>
      </p:sp>
      <p:pic>
        <p:nvPicPr>
          <p:cNvPr id="33" name="Image 6" descr="preencoded.png">    </p:cNvPr>
          <p:cNvPicPr>
            <a:picLocks noChangeAspect="1"/>
          </p:cNvPicPr>
          <p:nvPr/>
        </p:nvPicPr>
        <p:blipFill>
          <a:blip r:embed="rId7"/>
          <a:stretch>
            <a:fillRect/>
          </a:stretch>
        </p:blipFill>
        <p:spPr>
          <a:xfrm>
            <a:off x="8234172" y="4850892"/>
            <a:ext cx="283464" cy="283464"/>
          </a:xfrm>
          <a:prstGeom prst="rect">
            <a:avLst/>
          </a:prstGeom>
        </p:spPr>
      </p:pic>
      <p:sp>
        <p:nvSpPr>
          <p:cNvPr id="34" name="Text 25"/>
          <p:cNvSpPr txBox="1"/>
          <p:nvPr/>
        </p:nvSpPr>
        <p:spPr>
          <a:xfrm>
            <a:off x="8823960" y="4681728"/>
            <a:ext cx="2606040" cy="365760"/>
          </a:xfrm>
          <a:prstGeom prst="rect">
            <a:avLst/>
          </a:prstGeom>
          <a:noFill/>
          <a:ln/>
        </p:spPr>
        <p:txBody>
          <a:bodyPr wrap="square" lIns="0" tIns="0" rIns="0" bIns="0" rtlCol="0" anchor="ctr"/>
          <a:lstStyle/>
          <a:p>
            <a:pPr indent="0" marL="0">
              <a:buNone/>
            </a:pPr>
            <a:r>
              <a:rPr lang="en-US" sz="1550" b="1" dirty="0">
                <a:solidFill>
                  <a:srgbClr val="222222"/>
                </a:solidFill>
                <a:latin typeface="Arial" pitchFamily="34" charset="0"/>
                <a:ea typeface="Arial" pitchFamily="34" charset="-122"/>
                <a:cs typeface="Arial" pitchFamily="34" charset="-120"/>
              </a:rPr>
              <a:t>PPE &amp; coil care</a:t>
            </a:r>
            <a:endParaRPr lang="en-US" sz="1550" dirty="0"/>
          </a:p>
        </p:txBody>
      </p:sp>
      <p:sp>
        <p:nvSpPr>
          <p:cNvPr id="35" name="Text 26"/>
          <p:cNvSpPr txBox="1"/>
          <p:nvPr/>
        </p:nvSpPr>
        <p:spPr>
          <a:xfrm>
            <a:off x="8823960" y="5084064"/>
            <a:ext cx="2606040" cy="685800"/>
          </a:xfrm>
          <a:prstGeom prst="rect">
            <a:avLst/>
          </a:prstGeom>
          <a:noFill/>
          <a:ln/>
        </p:spPr>
        <p:txBody>
          <a:bodyPr wrap="square" lIns="0" tIns="0" rIns="0" bIns="0" rtlCol="0" anchor="t"/>
          <a:lstStyle/>
          <a:p>
            <a:pPr indent="0" marL="0">
              <a:buNone/>
            </a:pPr>
            <a:r>
              <a:rPr lang="en-US" sz="1150" dirty="0">
                <a:solidFill>
                  <a:srgbClr val="5E5E5E"/>
                </a:solidFill>
                <a:latin typeface="Arial" pitchFamily="34" charset="0"/>
                <a:ea typeface="Arial" pitchFamily="34" charset="-122"/>
                <a:cs typeface="Arial" pitchFamily="34" charset="-120"/>
              </a:rPr>
              <a:t>FRC and face shields; no galvanized metal on stainless</a:t>
            </a:r>
            <a:endParaRPr lang="en-US" sz="1150" dirty="0"/>
          </a:p>
        </p:txBody>
      </p:sp>
      <p:sp>
        <p:nvSpPr>
          <p:cNvPr id="36" name="Text 27"/>
          <p:cNvSpPr txBox="1"/>
          <p:nvPr/>
        </p:nvSpPr>
        <p:spPr>
          <a:xfrm>
            <a:off x="4023360" y="5943600"/>
            <a:ext cx="7589520" cy="274320"/>
          </a:xfrm>
          <a:prstGeom prst="rect">
            <a:avLst/>
          </a:prstGeom>
          <a:noFill/>
          <a:ln/>
        </p:spPr>
        <p:txBody>
          <a:bodyPr wrap="square" lIns="0" tIns="0" rIns="0" bIns="0" rtlCol="0" anchor="ctr"/>
          <a:lstStyle/>
          <a:p>
            <a:pPr indent="0" marL="0">
              <a:buNone/>
            </a:pPr>
            <a:r>
              <a:rPr lang="en-US" sz="1100" b="1" dirty="0">
                <a:solidFill>
                  <a:srgbClr val="222222"/>
                </a:solidFill>
                <a:latin typeface="Arial" pitchFamily="34" charset="0"/>
                <a:ea typeface="Arial" pitchFamily="34" charset="-122"/>
                <a:cs typeface="Arial" pitchFamily="34" charset="-120"/>
              </a:rPr>
              <a:t>Engineered for safety  </a:t>
            </a:r>
            <a:pPr indent="0" marL="0">
              <a:buNone/>
            </a:pPr>
            <a:r>
              <a:rPr lang="en-US" sz="1100" dirty="0">
                <a:solidFill>
                  <a:srgbClr val="5E5E5E"/>
                </a:solidFill>
                <a:latin typeface="Arial" pitchFamily="34" charset="0"/>
                <a:ea typeface="Arial" pitchFamily="34" charset="-122"/>
                <a:cs typeface="Arial" pitchFamily="34" charset="-120"/>
              </a:rPr>
              <a:t>Retractable cam-actuated stairs, composite work platform, LED lighting</a:t>
            </a:r>
            <a:endParaRPr lang="en-US" sz="1100" dirty="0"/>
          </a:p>
        </p:txBody>
      </p:sp>
      <p:sp>
        <p:nvSpPr>
          <p:cNvPr id="37" name="Text 28"/>
          <p:cNvSpPr txBox="1"/>
          <p:nvPr/>
        </p:nvSpPr>
        <p:spPr>
          <a:xfrm>
            <a:off x="4023360" y="6419088"/>
            <a:ext cx="73152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USA DeBusk  |  Valero Texas City  |  Heater Pigging &amp; Decoking Services</a:t>
            </a:r>
            <a:endParaRPr lang="en-US" sz="900" dirty="0"/>
          </a:p>
        </p:txBody>
      </p:sp>
      <p:sp>
        <p:nvSpPr>
          <p:cNvPr id="38" name="Text 29"/>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1E1E"/>
        </a:solidFill>
      </p:bgPr>
    </p:bg>
    <p:spTree>
      <p:nvGrpSpPr>
        <p:cNvPr id="1" name=""/>
        <p:cNvGrpSpPr/>
        <p:nvPr/>
      </p:nvGrpSpPr>
      <p:grpSpPr>
        <a:xfrm>
          <a:off x="0" y="0"/>
          <a:ext cx="0" cy="0"/>
          <a:chOff x="0" y="0"/>
          <a:chExt cx="0" cy="0"/>
        </a:xfrm>
      </p:grpSpPr>
      <p:pic>
        <p:nvPicPr>
          <p:cNvPr id="2" name="Image 0" descr="C:\Users\Jwuts\obsidian-work\02-facilities\Valero\Texas-City-TX\pigging-capabilities-presentation\build/img/slot_diff.jpg">    </p:cNvPr>
          <p:cNvPicPr>
            <a:picLocks noChangeAspect="1"/>
          </p:cNvPicPr>
          <p:nvPr/>
        </p:nvPicPr>
        <p:blipFill>
          <a:blip r:embed="rId1"/>
          <a:stretch>
            <a:fillRect/>
          </a:stretch>
        </p:blipFill>
        <p:spPr>
          <a:xfrm>
            <a:off x="8531352" y="0"/>
            <a:ext cx="3657600" cy="6858000"/>
          </a:xfrm>
          <a:prstGeom prst="rect">
            <a:avLst/>
          </a:prstGeom>
        </p:spPr>
      </p:pic>
      <p:sp>
        <p:nvSpPr>
          <p:cNvPr id="3" name="Shape 0"/>
          <p:cNvSpPr/>
          <p:nvPr/>
        </p:nvSpPr>
        <p:spPr>
          <a:xfrm>
            <a:off x="548640" y="411480"/>
            <a:ext cx="1875225" cy="310896"/>
          </a:xfrm>
          <a:prstGeom prst="roundRect">
            <a:avLst>
              <a:gd name="adj" fmla="val 23529"/>
            </a:avLst>
          </a:prstGeom>
          <a:solidFill>
            <a:srgbClr val="FCC30A"/>
          </a:solidFill>
          <a:ln w="12700">
            <a:solidFill>
              <a:srgbClr val="FCC30A"/>
            </a:solidFill>
            <a:prstDash val="solid"/>
          </a:ln>
        </p:spPr>
      </p:sp>
      <p:sp>
        <p:nvSpPr>
          <p:cNvPr id="4" name="Text 1"/>
          <p:cNvSpPr txBox="1"/>
          <p:nvPr/>
        </p:nvSpPr>
        <p:spPr>
          <a:xfrm>
            <a:off x="548640" y="411480"/>
            <a:ext cx="1875225"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08   CAPABILITIES</a:t>
            </a:r>
            <a:endParaRPr lang="en-US" sz="1050" dirty="0"/>
          </a:p>
        </p:txBody>
      </p:sp>
      <p:sp>
        <p:nvSpPr>
          <p:cNvPr id="5" name="Text 2"/>
          <p:cNvSpPr txBox="1"/>
          <p:nvPr/>
        </p:nvSpPr>
        <p:spPr>
          <a:xfrm>
            <a:off x="548640" y="841248"/>
            <a:ext cx="768096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What sets USA DeBusk apart</a:t>
            </a:r>
            <a:endParaRPr lang="en-US" sz="3200" dirty="0"/>
          </a:p>
        </p:txBody>
      </p:sp>
      <p:sp>
        <p:nvSpPr>
          <p:cNvPr id="6" name="Shape 3"/>
          <p:cNvSpPr/>
          <p:nvPr/>
        </p:nvSpPr>
        <p:spPr>
          <a:xfrm>
            <a:off x="548640" y="1874520"/>
            <a:ext cx="3749040" cy="1965960"/>
          </a:xfrm>
          <a:prstGeom prst="rect">
            <a:avLst/>
          </a:prstGeom>
          <a:solidFill>
            <a:srgbClr val="2B2B2B"/>
          </a:solidFill>
          <a:ln w="12700">
            <a:solidFill>
              <a:srgbClr val="2B2B2B"/>
            </a:solidFill>
            <a:prstDash val="solid"/>
          </a:ln>
        </p:spPr>
      </p:sp>
      <p:sp>
        <p:nvSpPr>
          <p:cNvPr id="7" name="Shape 4"/>
          <p:cNvSpPr/>
          <p:nvPr/>
        </p:nvSpPr>
        <p:spPr>
          <a:xfrm>
            <a:off x="822960" y="2148840"/>
            <a:ext cx="658368" cy="658368"/>
          </a:xfrm>
          <a:prstGeom prst="ellipse">
            <a:avLst/>
          </a:prstGeom>
          <a:solidFill>
            <a:srgbClr val="FCC30A"/>
          </a:solidFill>
          <a:ln w="12700">
            <a:solidFill>
              <a:srgbClr val="FCC30A"/>
            </a:solidFill>
            <a:prstDash val="solid"/>
          </a:ln>
        </p:spPr>
      </p:sp>
      <p:pic>
        <p:nvPicPr>
          <p:cNvPr id="8" name="Image 1" descr="preencoded.png">    </p:cNvPr>
          <p:cNvPicPr>
            <a:picLocks noChangeAspect="1"/>
          </p:cNvPicPr>
          <p:nvPr/>
        </p:nvPicPr>
        <p:blipFill>
          <a:blip r:embed="rId2"/>
          <a:stretch>
            <a:fillRect/>
          </a:stretch>
        </p:blipFill>
        <p:spPr>
          <a:xfrm>
            <a:off x="987552" y="2313432"/>
            <a:ext cx="329184" cy="329184"/>
          </a:xfrm>
          <a:prstGeom prst="rect">
            <a:avLst/>
          </a:prstGeom>
        </p:spPr>
      </p:pic>
      <p:sp>
        <p:nvSpPr>
          <p:cNvPr id="9" name="Text 5"/>
          <p:cNvSpPr txBox="1"/>
          <p:nvPr/>
        </p:nvSpPr>
        <p:spPr>
          <a:xfrm>
            <a:off x="1645920" y="2194560"/>
            <a:ext cx="2514600" cy="5486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Self-performed scope</a:t>
            </a:r>
            <a:endParaRPr lang="en-US" sz="1700" dirty="0"/>
          </a:p>
        </p:txBody>
      </p:sp>
      <p:sp>
        <p:nvSpPr>
          <p:cNvPr id="10" name="Text 6"/>
          <p:cNvSpPr txBox="1"/>
          <p:nvPr/>
        </p:nvSpPr>
        <p:spPr>
          <a:xfrm>
            <a:off x="822960" y="2953512"/>
            <a:ext cx="3291840" cy="822960"/>
          </a:xfrm>
          <a:prstGeom prst="rect">
            <a:avLst/>
          </a:prstGeom>
          <a:noFill/>
          <a:ln/>
        </p:spPr>
        <p:txBody>
          <a:bodyPr wrap="square" lIns="0" tIns="0" rIns="0" bIns="0" rtlCol="0" anchor="t"/>
          <a:lstStyle/>
          <a:p>
            <a:pPr indent="0" marL="0">
              <a:buNone/>
            </a:pPr>
            <a:r>
              <a:rPr lang="en-US" sz="1250" dirty="0">
                <a:solidFill>
                  <a:srgbClr val="BDBDBD"/>
                </a:solidFill>
                <a:latin typeface="Arial" pitchFamily="34" charset="0"/>
                <a:ea typeface="Arial" pitchFamily="34" charset="-122"/>
                <a:cs typeface="Arial" pitchFamily="34" charset="-120"/>
              </a:rPr>
              <a:t>Pigging, decoking and hydroblasting with our own equipment and crews: one contractor, no subs</a:t>
            </a:r>
            <a:endParaRPr lang="en-US" sz="1250" dirty="0"/>
          </a:p>
        </p:txBody>
      </p:sp>
      <p:sp>
        <p:nvSpPr>
          <p:cNvPr id="11" name="Shape 7"/>
          <p:cNvSpPr/>
          <p:nvPr/>
        </p:nvSpPr>
        <p:spPr>
          <a:xfrm>
            <a:off x="4480560" y="1874520"/>
            <a:ext cx="3749040" cy="1965960"/>
          </a:xfrm>
          <a:prstGeom prst="rect">
            <a:avLst/>
          </a:prstGeom>
          <a:solidFill>
            <a:srgbClr val="2B2B2B"/>
          </a:solidFill>
          <a:ln w="12700">
            <a:solidFill>
              <a:srgbClr val="2B2B2B"/>
            </a:solidFill>
            <a:prstDash val="solid"/>
          </a:ln>
        </p:spPr>
      </p:sp>
      <p:sp>
        <p:nvSpPr>
          <p:cNvPr id="12" name="Shape 8"/>
          <p:cNvSpPr/>
          <p:nvPr/>
        </p:nvSpPr>
        <p:spPr>
          <a:xfrm>
            <a:off x="4754880" y="2148840"/>
            <a:ext cx="658368" cy="658368"/>
          </a:xfrm>
          <a:prstGeom prst="ellipse">
            <a:avLst/>
          </a:prstGeom>
          <a:solidFill>
            <a:srgbClr val="FCC30A"/>
          </a:solidFill>
          <a:ln w="12700">
            <a:solidFill>
              <a:srgbClr val="FCC30A"/>
            </a:solidFill>
            <a:prstDash val="solid"/>
          </a:ln>
        </p:spPr>
      </p:sp>
      <p:pic>
        <p:nvPicPr>
          <p:cNvPr id="13" name="Image 2" descr="preencoded.png">    </p:cNvPr>
          <p:cNvPicPr>
            <a:picLocks noChangeAspect="1"/>
          </p:cNvPicPr>
          <p:nvPr/>
        </p:nvPicPr>
        <p:blipFill>
          <a:blip r:embed="rId3"/>
          <a:stretch>
            <a:fillRect/>
          </a:stretch>
        </p:blipFill>
        <p:spPr>
          <a:xfrm>
            <a:off x="4919472" y="2313432"/>
            <a:ext cx="329184" cy="329184"/>
          </a:xfrm>
          <a:prstGeom prst="rect">
            <a:avLst/>
          </a:prstGeom>
        </p:spPr>
      </p:pic>
      <p:sp>
        <p:nvSpPr>
          <p:cNvPr id="14" name="Text 9"/>
          <p:cNvSpPr txBox="1"/>
          <p:nvPr/>
        </p:nvSpPr>
        <p:spPr>
          <a:xfrm>
            <a:off x="5577840" y="2194560"/>
            <a:ext cx="2514600" cy="5486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Largest standardized fleet</a:t>
            </a:r>
            <a:endParaRPr lang="en-US" sz="1700" dirty="0"/>
          </a:p>
        </p:txBody>
      </p:sp>
      <p:sp>
        <p:nvSpPr>
          <p:cNvPr id="15" name="Text 10"/>
          <p:cNvSpPr txBox="1"/>
          <p:nvPr/>
        </p:nvSpPr>
        <p:spPr>
          <a:xfrm>
            <a:off x="4754880" y="2953512"/>
            <a:ext cx="3291840" cy="822960"/>
          </a:xfrm>
          <a:prstGeom prst="rect">
            <a:avLst/>
          </a:prstGeom>
          <a:noFill/>
          <a:ln/>
        </p:spPr>
        <p:txBody>
          <a:bodyPr wrap="square" lIns="0" tIns="0" rIns="0" bIns="0" rtlCol="0" anchor="t"/>
          <a:lstStyle/>
          <a:p>
            <a:pPr indent="0" marL="0">
              <a:buNone/>
            </a:pPr>
            <a:r>
              <a:rPr lang="en-US" sz="1250" dirty="0">
                <a:solidFill>
                  <a:srgbClr val="BDBDBD"/>
                </a:solidFill>
                <a:latin typeface="Arial" pitchFamily="34" charset="0"/>
                <a:ea typeface="Arial" pitchFamily="34" charset="-122"/>
                <a:cs typeface="Arial" pitchFamily="34" charset="-120"/>
              </a:rPr>
              <a:t>6 identical TriMax units, 18 engines, with a spare pump on board even on a 2-pass heater</a:t>
            </a:r>
            <a:endParaRPr lang="en-US" sz="1250" dirty="0"/>
          </a:p>
        </p:txBody>
      </p:sp>
      <p:sp>
        <p:nvSpPr>
          <p:cNvPr id="16" name="Shape 11"/>
          <p:cNvSpPr/>
          <p:nvPr/>
        </p:nvSpPr>
        <p:spPr>
          <a:xfrm>
            <a:off x="548640" y="4023360"/>
            <a:ext cx="3749040" cy="1965960"/>
          </a:xfrm>
          <a:prstGeom prst="rect">
            <a:avLst/>
          </a:prstGeom>
          <a:solidFill>
            <a:srgbClr val="2B2B2B"/>
          </a:solidFill>
          <a:ln w="12700">
            <a:solidFill>
              <a:srgbClr val="2B2B2B"/>
            </a:solidFill>
            <a:prstDash val="solid"/>
          </a:ln>
        </p:spPr>
      </p:sp>
      <p:sp>
        <p:nvSpPr>
          <p:cNvPr id="17" name="Shape 12"/>
          <p:cNvSpPr/>
          <p:nvPr/>
        </p:nvSpPr>
        <p:spPr>
          <a:xfrm>
            <a:off x="822960" y="4297680"/>
            <a:ext cx="658368" cy="658368"/>
          </a:xfrm>
          <a:prstGeom prst="ellipse">
            <a:avLst/>
          </a:prstGeom>
          <a:solidFill>
            <a:srgbClr val="FCC30A"/>
          </a:solidFill>
          <a:ln w="12700">
            <a:solidFill>
              <a:srgbClr val="FCC30A"/>
            </a:solidFill>
            <a:prstDash val="solid"/>
          </a:ln>
        </p:spPr>
      </p:sp>
      <p:pic>
        <p:nvPicPr>
          <p:cNvPr id="18" name="Image 3" descr="preencoded.png">    </p:cNvPr>
          <p:cNvPicPr>
            <a:picLocks noChangeAspect="1"/>
          </p:cNvPicPr>
          <p:nvPr/>
        </p:nvPicPr>
        <p:blipFill>
          <a:blip r:embed="rId4"/>
          <a:stretch>
            <a:fillRect/>
          </a:stretch>
        </p:blipFill>
        <p:spPr>
          <a:xfrm>
            <a:off x="987552" y="4462272"/>
            <a:ext cx="329184" cy="329184"/>
          </a:xfrm>
          <a:prstGeom prst="rect">
            <a:avLst/>
          </a:prstGeom>
        </p:spPr>
      </p:pic>
      <p:sp>
        <p:nvSpPr>
          <p:cNvPr id="19" name="Text 13"/>
          <p:cNvSpPr txBox="1"/>
          <p:nvPr/>
        </p:nvSpPr>
        <p:spPr>
          <a:xfrm>
            <a:off x="1645920" y="4343400"/>
            <a:ext cx="2514600" cy="5486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Widest pig selection</a:t>
            </a:r>
            <a:endParaRPr lang="en-US" sz="1700" dirty="0"/>
          </a:p>
        </p:txBody>
      </p:sp>
      <p:sp>
        <p:nvSpPr>
          <p:cNvPr id="20" name="Text 14"/>
          <p:cNvSpPr txBox="1"/>
          <p:nvPr/>
        </p:nvSpPr>
        <p:spPr>
          <a:xfrm>
            <a:off x="822960" y="5102352"/>
            <a:ext cx="3291840" cy="822960"/>
          </a:xfrm>
          <a:prstGeom prst="rect">
            <a:avLst/>
          </a:prstGeom>
          <a:noFill/>
          <a:ln/>
        </p:spPr>
        <p:txBody>
          <a:bodyPr wrap="square" lIns="0" tIns="0" rIns="0" bIns="0" rtlCol="0" anchor="t"/>
          <a:lstStyle/>
          <a:p>
            <a:pPr indent="0" marL="0">
              <a:buNone/>
            </a:pPr>
            <a:r>
              <a:rPr lang="en-US" sz="1250" dirty="0">
                <a:solidFill>
                  <a:srgbClr val="BDBDBD"/>
                </a:solidFill>
                <a:latin typeface="Arial" pitchFamily="34" charset="0"/>
                <a:ea typeface="Arial" pitchFamily="34" charset="-122"/>
                <a:cs typeface="Arial" pitchFamily="34" charset="-120"/>
              </a:rPr>
              <a:t>Engineered decoking pigs matched to each coil and each coke condition</a:t>
            </a:r>
            <a:endParaRPr lang="en-US" sz="1250" dirty="0"/>
          </a:p>
        </p:txBody>
      </p:sp>
      <p:sp>
        <p:nvSpPr>
          <p:cNvPr id="21" name="Shape 15"/>
          <p:cNvSpPr/>
          <p:nvPr/>
        </p:nvSpPr>
        <p:spPr>
          <a:xfrm>
            <a:off x="4480560" y="4023360"/>
            <a:ext cx="3749040" cy="1965960"/>
          </a:xfrm>
          <a:prstGeom prst="rect">
            <a:avLst/>
          </a:prstGeom>
          <a:solidFill>
            <a:srgbClr val="2B2B2B"/>
          </a:solidFill>
          <a:ln w="12700">
            <a:solidFill>
              <a:srgbClr val="2B2B2B"/>
            </a:solidFill>
            <a:prstDash val="solid"/>
          </a:ln>
        </p:spPr>
      </p:sp>
      <p:sp>
        <p:nvSpPr>
          <p:cNvPr id="22" name="Shape 16"/>
          <p:cNvSpPr/>
          <p:nvPr/>
        </p:nvSpPr>
        <p:spPr>
          <a:xfrm>
            <a:off x="4754880" y="4297680"/>
            <a:ext cx="658368" cy="658368"/>
          </a:xfrm>
          <a:prstGeom prst="ellipse">
            <a:avLst/>
          </a:prstGeom>
          <a:solidFill>
            <a:srgbClr val="FCC30A"/>
          </a:solidFill>
          <a:ln w="12700">
            <a:solidFill>
              <a:srgbClr val="FCC30A"/>
            </a:solidFill>
            <a:prstDash val="solid"/>
          </a:ln>
        </p:spPr>
      </p:sp>
      <p:pic>
        <p:nvPicPr>
          <p:cNvPr id="23" name="Image 4" descr="preencoded.png">    </p:cNvPr>
          <p:cNvPicPr>
            <a:picLocks noChangeAspect="1"/>
          </p:cNvPicPr>
          <p:nvPr/>
        </p:nvPicPr>
        <p:blipFill>
          <a:blip r:embed="rId5"/>
          <a:stretch>
            <a:fillRect/>
          </a:stretch>
        </p:blipFill>
        <p:spPr>
          <a:xfrm>
            <a:off x="4919472" y="4462272"/>
            <a:ext cx="329184" cy="329184"/>
          </a:xfrm>
          <a:prstGeom prst="rect">
            <a:avLst/>
          </a:prstGeom>
        </p:spPr>
      </p:pic>
      <p:sp>
        <p:nvSpPr>
          <p:cNvPr id="24" name="Text 17"/>
          <p:cNvSpPr txBox="1"/>
          <p:nvPr/>
        </p:nvSpPr>
        <p:spPr>
          <a:xfrm>
            <a:off x="5577840" y="4343400"/>
            <a:ext cx="2514600" cy="5486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Data-driven, shared</a:t>
            </a:r>
            <a:endParaRPr lang="en-US" sz="1700" dirty="0"/>
          </a:p>
        </p:txBody>
      </p:sp>
      <p:sp>
        <p:nvSpPr>
          <p:cNvPr id="25" name="Text 18"/>
          <p:cNvSpPr txBox="1"/>
          <p:nvPr/>
        </p:nvSpPr>
        <p:spPr>
          <a:xfrm>
            <a:off x="4754880" y="5102352"/>
            <a:ext cx="3291840" cy="822960"/>
          </a:xfrm>
          <a:prstGeom prst="rect">
            <a:avLst/>
          </a:prstGeom>
          <a:noFill/>
          <a:ln/>
        </p:spPr>
        <p:txBody>
          <a:bodyPr wrap="square" lIns="0" tIns="0" rIns="0" bIns="0" rtlCol="0" anchor="t"/>
          <a:lstStyle/>
          <a:p>
            <a:pPr indent="0" marL="0">
              <a:buNone/>
            </a:pPr>
            <a:r>
              <a:rPr lang="en-US" sz="1250" dirty="0">
                <a:solidFill>
                  <a:srgbClr val="BDBDBD"/>
                </a:solidFill>
                <a:latin typeface="Arial" pitchFamily="34" charset="0"/>
                <a:ea typeface="Arial" pitchFamily="34" charset="-122"/>
                <a:cs typeface="Arial" pitchFamily="34" charset="-120"/>
              </a:rPr>
              <a:t>Durations built from recorded actuals; lessons learned reviewed with Valero after every job</a:t>
            </a:r>
            <a:endParaRPr lang="en-US" sz="1250" dirty="0"/>
          </a:p>
        </p:txBody>
      </p:sp>
      <p:sp>
        <p:nvSpPr>
          <p:cNvPr id="26" name="Text 19"/>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BDBDBD"/>
                </a:solidFill>
                <a:latin typeface="Arial" pitchFamily="34" charset="0"/>
                <a:ea typeface="Arial" pitchFamily="34" charset="-122"/>
                <a:cs typeface="Arial" pitchFamily="34" charset="-120"/>
              </a:rPr>
              <a:t>USA DeBusk  |  Valero Texas City  |  Heater Pigging &amp; Decoking Services</a:t>
            </a:r>
            <a:endParaRPr lang="en-US" sz="900" dirty="0"/>
          </a:p>
        </p:txBody>
      </p:sp>
      <p:sp>
        <p:nvSpPr>
          <p:cNvPr id="27" name="Text 20"/>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BDBDBD"/>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548640" y="411480"/>
            <a:ext cx="3099835" cy="310896"/>
          </a:xfrm>
          <a:prstGeom prst="roundRect">
            <a:avLst>
              <a:gd name="adj" fmla="val 23529"/>
            </a:avLst>
          </a:prstGeom>
          <a:solidFill>
            <a:srgbClr val="FCC30A"/>
          </a:solidFill>
          <a:ln w="12700">
            <a:solidFill>
              <a:srgbClr val="FCC30A"/>
            </a:solidFill>
            <a:prstDash val="solid"/>
          </a:ln>
        </p:spPr>
      </p:sp>
      <p:sp>
        <p:nvSpPr>
          <p:cNvPr id="3" name="Text 1"/>
          <p:cNvSpPr txBox="1"/>
          <p:nvPr/>
        </p:nvSpPr>
        <p:spPr>
          <a:xfrm>
            <a:off x="548640" y="411480"/>
            <a:ext cx="3099835"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09   REFERENCES &amp; CASE STUDY</a:t>
            </a:r>
            <a:endParaRPr lang="en-US" sz="1050" dirty="0"/>
          </a:p>
        </p:txBody>
      </p:sp>
      <p:sp>
        <p:nvSpPr>
          <p:cNvPr id="4" name="Text 2"/>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Trusted across the Valero system</a:t>
            </a:r>
            <a:endParaRPr lang="en-US" sz="3200" dirty="0"/>
          </a:p>
        </p:txBody>
      </p:sp>
      <p:pic>
        <p:nvPicPr>
          <p:cNvPr id="5" name="Image 0" descr="C:\Users\Jwuts\obsidian-work\02-facilities\Valero\Texas-City-TX\pigging-capabilities-presentation\build/img/valero_map.png">    </p:cNvPr>
          <p:cNvPicPr>
            <a:picLocks noChangeAspect="1"/>
          </p:cNvPicPr>
          <p:nvPr/>
        </p:nvPicPr>
        <p:blipFill>
          <a:blip r:embed="rId1"/>
          <a:stretch>
            <a:fillRect/>
          </a:stretch>
        </p:blipFill>
        <p:spPr>
          <a:xfrm>
            <a:off x="365760" y="1783080"/>
            <a:ext cx="6583680" cy="4247535"/>
          </a:xfrm>
          <a:prstGeom prst="rect">
            <a:avLst/>
          </a:prstGeom>
        </p:spPr>
      </p:pic>
      <p:sp>
        <p:nvSpPr>
          <p:cNvPr id="6" name="Text 3"/>
          <p:cNvSpPr txBox="1"/>
          <p:nvPr/>
        </p:nvSpPr>
        <p:spPr>
          <a:xfrm>
            <a:off x="7223760" y="1554480"/>
            <a:ext cx="1280160" cy="914400"/>
          </a:xfrm>
          <a:prstGeom prst="rect">
            <a:avLst/>
          </a:prstGeom>
          <a:noFill/>
          <a:ln/>
        </p:spPr>
        <p:txBody>
          <a:bodyPr wrap="square" lIns="0" tIns="0" rIns="0" bIns="0" rtlCol="0" anchor="ctr"/>
          <a:lstStyle/>
          <a:p>
            <a:pPr indent="0" marL="0">
              <a:buNone/>
            </a:pPr>
            <a:r>
              <a:rPr lang="en-US" sz="6000" b="1" dirty="0">
                <a:solidFill>
                  <a:srgbClr val="FCC30A"/>
                </a:solidFill>
                <a:latin typeface="Arial" pitchFamily="34" charset="0"/>
                <a:ea typeface="Arial" pitchFamily="34" charset="-122"/>
                <a:cs typeface="Arial" pitchFamily="34" charset="-120"/>
              </a:rPr>
              <a:t>14</a:t>
            </a:r>
            <a:endParaRPr lang="en-US" sz="6000" dirty="0"/>
          </a:p>
        </p:txBody>
      </p:sp>
      <p:sp>
        <p:nvSpPr>
          <p:cNvPr id="7" name="Text 4"/>
          <p:cNvSpPr txBox="1"/>
          <p:nvPr/>
        </p:nvSpPr>
        <p:spPr>
          <a:xfrm>
            <a:off x="8503920" y="1645920"/>
            <a:ext cx="3154680" cy="73152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heaters cleaned at</a:t>
            </a:r>
            <a:endParaRPr lang="en-US" sz="1600" dirty="0"/>
          </a:p>
          <a:p>
            <a:pPr indent="0" marL="0">
              <a:buNone/>
            </a:pPr>
            <a:r>
              <a:rPr lang="en-US" sz="1600" b="1" dirty="0">
                <a:solidFill>
                  <a:srgbClr val="FFFFFF"/>
                </a:solidFill>
                <a:latin typeface="Arial" pitchFamily="34" charset="0"/>
                <a:ea typeface="Arial" pitchFamily="34" charset="-122"/>
                <a:cs typeface="Arial" pitchFamily="34" charset="-120"/>
              </a:rPr>
              <a:t>5 Valero refineries</a:t>
            </a:r>
            <a:endParaRPr lang="en-US" sz="1600" dirty="0"/>
          </a:p>
        </p:txBody>
      </p:sp>
      <p:sp>
        <p:nvSpPr>
          <p:cNvPr id="8" name="Shape 5"/>
          <p:cNvSpPr/>
          <p:nvPr/>
        </p:nvSpPr>
        <p:spPr>
          <a:xfrm>
            <a:off x="7223760" y="2697480"/>
            <a:ext cx="54864" cy="475488"/>
          </a:xfrm>
          <a:prstGeom prst="rect">
            <a:avLst/>
          </a:prstGeom>
          <a:solidFill>
            <a:srgbClr val="FFFFFF"/>
          </a:solidFill>
          <a:ln w="12700">
            <a:solidFill>
              <a:srgbClr val="FFFFFF"/>
            </a:solidFill>
            <a:prstDash val="solid"/>
          </a:ln>
        </p:spPr>
      </p:sp>
      <p:sp>
        <p:nvSpPr>
          <p:cNvPr id="9" name="Text 6"/>
          <p:cNvSpPr txBox="1"/>
          <p:nvPr/>
        </p:nvSpPr>
        <p:spPr>
          <a:xfrm>
            <a:off x="7406640" y="2679192"/>
            <a:ext cx="4206240" cy="256032"/>
          </a:xfrm>
          <a:prstGeom prst="rect">
            <a:avLst/>
          </a:prstGeom>
          <a:noFill/>
          <a:ln/>
        </p:spPr>
        <p:txBody>
          <a:bodyPr wrap="square" lIns="0" tIns="0" rIns="0" bIns="0" rtlCol="0" anchor="ctr"/>
          <a:lstStyle/>
          <a:p>
            <a:pPr indent="0" marL="0">
              <a:buNone/>
            </a:pPr>
            <a:r>
              <a:rPr lang="en-US" sz="1350" b="1" dirty="0">
                <a:solidFill>
                  <a:srgbClr val="FCC30A"/>
                </a:solidFill>
                <a:latin typeface="Arial" pitchFamily="34" charset="0"/>
                <a:ea typeface="Arial" pitchFamily="34" charset="-122"/>
                <a:cs typeface="Arial" pitchFamily="34" charset="-120"/>
              </a:rPr>
              <a:t>Texas City, TX</a:t>
            </a:r>
            <a:endParaRPr lang="en-US" sz="1350" dirty="0"/>
          </a:p>
        </p:txBody>
      </p:sp>
      <p:sp>
        <p:nvSpPr>
          <p:cNvPr id="10" name="Text 7"/>
          <p:cNvSpPr txBox="1"/>
          <p:nvPr/>
        </p:nvSpPr>
        <p:spPr>
          <a:xfrm>
            <a:off x="7406640" y="2935224"/>
            <a:ext cx="4206240" cy="237744"/>
          </a:xfrm>
          <a:prstGeom prst="rect">
            <a:avLst/>
          </a:prstGeom>
          <a:noFill/>
          <a:ln/>
        </p:spPr>
        <p:txBody>
          <a:bodyPr wrap="square" lIns="0" tIns="0" rIns="0" bIns="0" rtlCol="0" anchor="ctr"/>
          <a:lstStyle/>
          <a:p>
            <a:pPr indent="0" marL="0">
              <a:buNone/>
            </a:pPr>
            <a:r>
              <a:rPr lang="en-US" sz="1150" dirty="0">
                <a:solidFill>
                  <a:srgbClr val="BDBDBD"/>
                </a:solidFill>
                <a:latin typeface="Arial" pitchFamily="34" charset="0"/>
                <a:ea typeface="Arial" pitchFamily="34" charset="-122"/>
                <a:cs typeface="Arial" pitchFamily="34" charset="-120"/>
              </a:rPr>
              <a:t>H-57 coker heater, 2023 and 2024</a:t>
            </a:r>
            <a:endParaRPr lang="en-US" sz="1150" dirty="0"/>
          </a:p>
        </p:txBody>
      </p:sp>
      <p:sp>
        <p:nvSpPr>
          <p:cNvPr id="11" name="Shape 8"/>
          <p:cNvSpPr/>
          <p:nvPr/>
        </p:nvSpPr>
        <p:spPr>
          <a:xfrm>
            <a:off x="7223760" y="3319272"/>
            <a:ext cx="54864" cy="475488"/>
          </a:xfrm>
          <a:prstGeom prst="rect">
            <a:avLst/>
          </a:prstGeom>
          <a:solidFill>
            <a:srgbClr val="FCC30A"/>
          </a:solidFill>
          <a:ln w="12700">
            <a:solidFill>
              <a:srgbClr val="FCC30A"/>
            </a:solidFill>
            <a:prstDash val="solid"/>
          </a:ln>
        </p:spPr>
      </p:sp>
      <p:sp>
        <p:nvSpPr>
          <p:cNvPr id="12" name="Text 9"/>
          <p:cNvSpPr txBox="1"/>
          <p:nvPr/>
        </p:nvSpPr>
        <p:spPr>
          <a:xfrm>
            <a:off x="7406640" y="3300984"/>
            <a:ext cx="4206240" cy="256032"/>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Port Arthur, TX</a:t>
            </a:r>
            <a:endParaRPr lang="en-US" sz="1350" dirty="0"/>
          </a:p>
        </p:txBody>
      </p:sp>
      <p:sp>
        <p:nvSpPr>
          <p:cNvPr id="13" name="Text 10"/>
          <p:cNvSpPr txBox="1"/>
          <p:nvPr/>
        </p:nvSpPr>
        <p:spPr>
          <a:xfrm>
            <a:off x="7406640" y="3557016"/>
            <a:ext cx="4206240" cy="237744"/>
          </a:xfrm>
          <a:prstGeom prst="rect">
            <a:avLst/>
          </a:prstGeom>
          <a:noFill/>
          <a:ln/>
        </p:spPr>
        <p:txBody>
          <a:bodyPr wrap="square" lIns="0" tIns="0" rIns="0" bIns="0" rtlCol="0" anchor="ctr"/>
          <a:lstStyle/>
          <a:p>
            <a:pPr indent="0" marL="0">
              <a:buNone/>
            </a:pPr>
            <a:r>
              <a:rPr lang="en-US" sz="1150" dirty="0">
                <a:solidFill>
                  <a:srgbClr val="BDBDBD"/>
                </a:solidFill>
                <a:latin typeface="Arial" pitchFamily="34" charset="0"/>
                <a:ea typeface="Arial" pitchFamily="34" charset="-122"/>
                <a:cs typeface="Arial" pitchFamily="34" charset="-120"/>
              </a:rPr>
              <a:t>H-102A, H-102B, F-2000</a:t>
            </a:r>
            <a:endParaRPr lang="en-US" sz="1150" dirty="0"/>
          </a:p>
        </p:txBody>
      </p:sp>
      <p:sp>
        <p:nvSpPr>
          <p:cNvPr id="14" name="Shape 11"/>
          <p:cNvSpPr/>
          <p:nvPr/>
        </p:nvSpPr>
        <p:spPr>
          <a:xfrm>
            <a:off x="7223760" y="3941064"/>
            <a:ext cx="54864" cy="475488"/>
          </a:xfrm>
          <a:prstGeom prst="rect">
            <a:avLst/>
          </a:prstGeom>
          <a:solidFill>
            <a:srgbClr val="FCC30A"/>
          </a:solidFill>
          <a:ln w="12700">
            <a:solidFill>
              <a:srgbClr val="FCC30A"/>
            </a:solidFill>
            <a:prstDash val="solid"/>
          </a:ln>
        </p:spPr>
      </p:sp>
      <p:sp>
        <p:nvSpPr>
          <p:cNvPr id="15" name="Text 12"/>
          <p:cNvSpPr txBox="1"/>
          <p:nvPr/>
        </p:nvSpPr>
        <p:spPr>
          <a:xfrm>
            <a:off x="7406640" y="3922776"/>
            <a:ext cx="4206240" cy="256032"/>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Three Rivers, TX</a:t>
            </a:r>
            <a:endParaRPr lang="en-US" sz="1350" dirty="0"/>
          </a:p>
        </p:txBody>
      </p:sp>
      <p:sp>
        <p:nvSpPr>
          <p:cNvPr id="16" name="Text 13"/>
          <p:cNvSpPr txBox="1"/>
          <p:nvPr/>
        </p:nvSpPr>
        <p:spPr>
          <a:xfrm>
            <a:off x="7406640" y="4178808"/>
            <a:ext cx="4206240" cy="237744"/>
          </a:xfrm>
          <a:prstGeom prst="rect">
            <a:avLst/>
          </a:prstGeom>
          <a:noFill/>
          <a:ln/>
        </p:spPr>
        <p:txBody>
          <a:bodyPr wrap="square" lIns="0" tIns="0" rIns="0" bIns="0" rtlCol="0" anchor="ctr"/>
          <a:lstStyle/>
          <a:p>
            <a:pPr indent="0" marL="0">
              <a:buNone/>
            </a:pPr>
            <a:r>
              <a:rPr lang="en-US" sz="1150" dirty="0">
                <a:solidFill>
                  <a:srgbClr val="BDBDBD"/>
                </a:solidFill>
                <a:latin typeface="Arial" pitchFamily="34" charset="0"/>
                <a:ea typeface="Arial" pitchFamily="34" charset="-122"/>
                <a:cs typeface="Arial" pitchFamily="34" charset="-120"/>
              </a:rPr>
              <a:t>100-H-1, 100-H-2, H-1102, H-1105, 440-H1</a:t>
            </a:r>
            <a:endParaRPr lang="en-US" sz="1150" dirty="0"/>
          </a:p>
        </p:txBody>
      </p:sp>
      <p:sp>
        <p:nvSpPr>
          <p:cNvPr id="17" name="Shape 14"/>
          <p:cNvSpPr/>
          <p:nvPr/>
        </p:nvSpPr>
        <p:spPr>
          <a:xfrm>
            <a:off x="7223760" y="4562856"/>
            <a:ext cx="54864" cy="475488"/>
          </a:xfrm>
          <a:prstGeom prst="rect">
            <a:avLst/>
          </a:prstGeom>
          <a:solidFill>
            <a:srgbClr val="FCC30A"/>
          </a:solidFill>
          <a:ln w="12700">
            <a:solidFill>
              <a:srgbClr val="FCC30A"/>
            </a:solidFill>
            <a:prstDash val="solid"/>
          </a:ln>
        </p:spPr>
      </p:sp>
      <p:sp>
        <p:nvSpPr>
          <p:cNvPr id="18" name="Text 15"/>
          <p:cNvSpPr txBox="1"/>
          <p:nvPr/>
        </p:nvSpPr>
        <p:spPr>
          <a:xfrm>
            <a:off x="7406640" y="4544568"/>
            <a:ext cx="4206240" cy="256032"/>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Meraux, LA</a:t>
            </a:r>
            <a:endParaRPr lang="en-US" sz="1350" dirty="0"/>
          </a:p>
        </p:txBody>
      </p:sp>
      <p:sp>
        <p:nvSpPr>
          <p:cNvPr id="19" name="Text 16"/>
          <p:cNvSpPr txBox="1"/>
          <p:nvPr/>
        </p:nvSpPr>
        <p:spPr>
          <a:xfrm>
            <a:off x="7406640" y="4800600"/>
            <a:ext cx="4206240" cy="237744"/>
          </a:xfrm>
          <a:prstGeom prst="rect">
            <a:avLst/>
          </a:prstGeom>
          <a:noFill/>
          <a:ln/>
        </p:spPr>
        <p:txBody>
          <a:bodyPr wrap="square" lIns="0" tIns="0" rIns="0" bIns="0" rtlCol="0" anchor="ctr"/>
          <a:lstStyle/>
          <a:p>
            <a:pPr indent="0" marL="0">
              <a:buNone/>
            </a:pPr>
            <a:r>
              <a:rPr lang="en-US" sz="1150" dirty="0">
                <a:solidFill>
                  <a:srgbClr val="BDBDBD"/>
                </a:solidFill>
                <a:latin typeface="Arial" pitchFamily="34" charset="0"/>
                <a:ea typeface="Arial" pitchFamily="34" charset="-122"/>
                <a:cs typeface="Arial" pitchFamily="34" charset="-120"/>
              </a:rPr>
              <a:t>VU-H-001, VU-H-002</a:t>
            </a:r>
            <a:endParaRPr lang="en-US" sz="1150" dirty="0"/>
          </a:p>
        </p:txBody>
      </p:sp>
      <p:sp>
        <p:nvSpPr>
          <p:cNvPr id="20" name="Shape 17"/>
          <p:cNvSpPr/>
          <p:nvPr/>
        </p:nvSpPr>
        <p:spPr>
          <a:xfrm>
            <a:off x="7223760" y="5184648"/>
            <a:ext cx="54864" cy="475488"/>
          </a:xfrm>
          <a:prstGeom prst="rect">
            <a:avLst/>
          </a:prstGeom>
          <a:solidFill>
            <a:srgbClr val="FCC30A"/>
          </a:solidFill>
          <a:ln w="12700">
            <a:solidFill>
              <a:srgbClr val="FCC30A"/>
            </a:solidFill>
            <a:prstDash val="solid"/>
          </a:ln>
        </p:spPr>
      </p:sp>
      <p:sp>
        <p:nvSpPr>
          <p:cNvPr id="21" name="Text 18"/>
          <p:cNvSpPr txBox="1"/>
          <p:nvPr/>
        </p:nvSpPr>
        <p:spPr>
          <a:xfrm>
            <a:off x="7406640" y="5166360"/>
            <a:ext cx="4206240" cy="256032"/>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Wilmington, CA</a:t>
            </a:r>
            <a:endParaRPr lang="en-US" sz="1350" dirty="0"/>
          </a:p>
        </p:txBody>
      </p:sp>
      <p:sp>
        <p:nvSpPr>
          <p:cNvPr id="22" name="Text 19"/>
          <p:cNvSpPr txBox="1"/>
          <p:nvPr/>
        </p:nvSpPr>
        <p:spPr>
          <a:xfrm>
            <a:off x="7406640" y="5422392"/>
            <a:ext cx="4206240" cy="237744"/>
          </a:xfrm>
          <a:prstGeom prst="rect">
            <a:avLst/>
          </a:prstGeom>
          <a:noFill/>
          <a:ln/>
        </p:spPr>
        <p:txBody>
          <a:bodyPr wrap="square" lIns="0" tIns="0" rIns="0" bIns="0" rtlCol="0" anchor="ctr"/>
          <a:lstStyle/>
          <a:p>
            <a:pPr indent="0" marL="0">
              <a:buNone/>
            </a:pPr>
            <a:r>
              <a:rPr lang="en-US" sz="1150" dirty="0">
                <a:solidFill>
                  <a:srgbClr val="BDBDBD"/>
                </a:solidFill>
                <a:latin typeface="Arial" pitchFamily="34" charset="0"/>
                <a:ea typeface="Arial" pitchFamily="34" charset="-122"/>
                <a:cs typeface="Arial" pitchFamily="34" charset="-120"/>
              </a:rPr>
              <a:t>20H200, 20H2000, 31H3000</a:t>
            </a:r>
            <a:endParaRPr lang="en-US" sz="1150" dirty="0"/>
          </a:p>
        </p:txBody>
      </p:sp>
      <p:sp>
        <p:nvSpPr>
          <p:cNvPr id="23" name="Text 20"/>
          <p:cNvSpPr txBox="1"/>
          <p:nvPr/>
        </p:nvSpPr>
        <p:spPr>
          <a:xfrm>
            <a:off x="7223760" y="5897880"/>
            <a:ext cx="4434840" cy="274320"/>
          </a:xfrm>
          <a:prstGeom prst="rect">
            <a:avLst/>
          </a:prstGeom>
          <a:noFill/>
          <a:ln/>
        </p:spPr>
        <p:txBody>
          <a:bodyPr wrap="square" lIns="0" tIns="0" rIns="0" bIns="0" rtlCol="0" anchor="ctr"/>
          <a:lstStyle/>
          <a:p>
            <a:pPr indent="0" marL="0">
              <a:buNone/>
            </a:pPr>
            <a:r>
              <a:rPr lang="en-US" sz="1150" i="1" dirty="0">
                <a:solidFill>
                  <a:srgbClr val="FCC30A"/>
                </a:solidFill>
                <a:latin typeface="Arial" pitchFamily="34" charset="0"/>
                <a:ea typeface="Arial" pitchFamily="34" charset="-122"/>
                <a:cs typeface="Arial" pitchFamily="34" charset="-120"/>
              </a:rPr>
              <a:t>Coker, vacuum, crude charge and reboiler service</a:t>
            </a:r>
            <a:endParaRPr lang="en-US" sz="1150" dirty="0"/>
          </a:p>
        </p:txBody>
      </p:sp>
      <p:sp>
        <p:nvSpPr>
          <p:cNvPr id="24" name="Text 21"/>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BDBDBD"/>
                </a:solidFill>
                <a:latin typeface="Arial" pitchFamily="34" charset="0"/>
                <a:ea typeface="Arial" pitchFamily="34" charset="-122"/>
                <a:cs typeface="Arial" pitchFamily="34" charset="-120"/>
              </a:rPr>
              <a:t>USA DeBusk  |  Valero Texas City  |  Heater Pigging &amp; Decoking Services</a:t>
            </a:r>
            <a:endParaRPr lang="en-US" sz="900" dirty="0"/>
          </a:p>
        </p:txBody>
      </p:sp>
      <p:sp>
        <p:nvSpPr>
          <p:cNvPr id="25" name="Text 22"/>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BDBDBD"/>
                </a:solidFill>
                <a:latin typeface="Arial" pitchFamily="34" charset="0"/>
                <a:ea typeface="Arial" pitchFamily="34" charset="-122"/>
                <a:cs typeface="Arial"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3099835" cy="310896"/>
          </a:xfrm>
          <a:prstGeom prst="roundRect">
            <a:avLst>
              <a:gd name="adj" fmla="val 23529"/>
            </a:avLst>
          </a:prstGeom>
          <a:solidFill>
            <a:srgbClr val="FCC30A"/>
          </a:solidFill>
          <a:ln w="12700">
            <a:solidFill>
              <a:srgbClr val="FCC30A"/>
            </a:solidFill>
            <a:prstDash val="solid"/>
          </a:ln>
        </p:spPr>
      </p:sp>
      <p:sp>
        <p:nvSpPr>
          <p:cNvPr id="3" name="Text 1"/>
          <p:cNvSpPr txBox="1"/>
          <p:nvPr/>
        </p:nvSpPr>
        <p:spPr>
          <a:xfrm>
            <a:off x="548640" y="411480"/>
            <a:ext cx="3099835"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09   REFERENCES &amp; CASE STUDY</a:t>
            </a:r>
            <a:endParaRPr lang="en-US" sz="1050" dirty="0"/>
          </a:p>
        </p:txBody>
      </p:sp>
      <p:sp>
        <p:nvSpPr>
          <p:cNvPr id="4" name="Text 2"/>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3200" b="1" dirty="0">
                <a:solidFill>
                  <a:srgbClr val="222222"/>
                </a:solidFill>
                <a:latin typeface="Arial" pitchFamily="34" charset="0"/>
                <a:ea typeface="Arial" pitchFamily="34" charset="-122"/>
                <a:cs typeface="Arial" pitchFamily="34" charset="-120"/>
              </a:rPr>
              <a:t>Valero case study &amp; lessons learned</a:t>
            </a:r>
            <a:endParaRPr lang="en-US" sz="3200" dirty="0"/>
          </a:p>
        </p:txBody>
      </p:sp>
      <p:sp>
        <p:nvSpPr>
          <p:cNvPr id="5" name="Shape 3"/>
          <p:cNvSpPr/>
          <p:nvPr/>
        </p:nvSpPr>
        <p:spPr>
          <a:xfrm>
            <a:off x="548640" y="1783080"/>
            <a:ext cx="5449824" cy="4389120"/>
          </a:xfrm>
          <a:prstGeom prst="rect">
            <a:avLst/>
          </a:prstGeom>
          <a:solidFill>
            <a:srgbClr val="F4F4F4"/>
          </a:solidFill>
          <a:ln w="12700">
            <a:solidFill>
              <a:srgbClr val="F4F4F4"/>
            </a:solidFill>
            <a:prstDash val="solid"/>
          </a:ln>
        </p:spPr>
      </p:sp>
      <p:sp>
        <p:nvSpPr>
          <p:cNvPr id="6" name="Text 4"/>
          <p:cNvSpPr txBox="1"/>
          <p:nvPr/>
        </p:nvSpPr>
        <p:spPr>
          <a:xfrm>
            <a:off x="868680" y="2057400"/>
            <a:ext cx="4809744" cy="365760"/>
          </a:xfrm>
          <a:prstGeom prst="rect">
            <a:avLst/>
          </a:prstGeom>
          <a:noFill/>
          <a:ln/>
        </p:spPr>
        <p:txBody>
          <a:bodyPr wrap="square" lIns="0" tIns="0" rIns="0" bIns="0" rtlCol="0" anchor="ctr"/>
          <a:lstStyle/>
          <a:p>
            <a:pPr indent="0" marL="0">
              <a:buNone/>
            </a:pPr>
            <a:r>
              <a:rPr lang="en-US" sz="1700" b="1" dirty="0">
                <a:solidFill>
                  <a:srgbClr val="222222"/>
                </a:solidFill>
                <a:latin typeface="Arial" pitchFamily="34" charset="0"/>
                <a:ea typeface="Arial" pitchFamily="34" charset="-122"/>
                <a:cs typeface="Arial" pitchFamily="34" charset="-120"/>
              </a:rPr>
              <a:t>Valero Port Arthur, TX: H-102A &amp; H-102B</a:t>
            </a:r>
            <a:endParaRPr lang="en-US" sz="1700" dirty="0"/>
          </a:p>
        </p:txBody>
      </p:sp>
      <p:sp>
        <p:nvSpPr>
          <p:cNvPr id="7" name="Text 5"/>
          <p:cNvSpPr txBox="1"/>
          <p:nvPr/>
        </p:nvSpPr>
        <p:spPr>
          <a:xfrm>
            <a:off x="868680" y="2423160"/>
            <a:ext cx="4809744" cy="274320"/>
          </a:xfrm>
          <a:prstGeom prst="rect">
            <a:avLst/>
          </a:prstGeom>
          <a:noFill/>
          <a:ln/>
        </p:spPr>
        <p:txBody>
          <a:bodyPr wrap="square" lIns="0" tIns="0" rIns="0" bIns="0" rtlCol="0" anchor="ctr"/>
          <a:lstStyle/>
          <a:p>
            <a:pPr indent="0" marL="0">
              <a:buNone/>
            </a:pPr>
            <a:r>
              <a:rPr lang="en-US" sz="1200" dirty="0">
                <a:solidFill>
                  <a:srgbClr val="5E5E5E"/>
                </a:solidFill>
                <a:latin typeface="Arial" pitchFamily="34" charset="0"/>
                <a:ea typeface="Arial" pitchFamily="34" charset="-122"/>
                <a:cs typeface="Arial" pitchFamily="34" charset="-120"/>
              </a:rPr>
              <a:t>Vacuum heaters, March–April 2026</a:t>
            </a:r>
            <a:endParaRPr lang="en-US" sz="1200" dirty="0"/>
          </a:p>
        </p:txBody>
      </p:sp>
      <p:sp>
        <p:nvSpPr>
          <p:cNvPr id="8" name="Text 6"/>
          <p:cNvSpPr txBox="1"/>
          <p:nvPr/>
        </p:nvSpPr>
        <p:spPr>
          <a:xfrm>
            <a:off x="868680" y="2880360"/>
            <a:ext cx="1600200" cy="594360"/>
          </a:xfrm>
          <a:prstGeom prst="rect">
            <a:avLst/>
          </a:prstGeom>
          <a:noFill/>
          <a:ln/>
        </p:spPr>
        <p:txBody>
          <a:bodyPr wrap="square" lIns="0" tIns="0" rIns="0" bIns="0" rtlCol="0" anchor="ctr"/>
          <a:lstStyle/>
          <a:p>
            <a:pPr indent="0" marL="0">
              <a:buNone/>
            </a:pPr>
            <a:r>
              <a:rPr lang="en-US" sz="2800" b="1" dirty="0">
                <a:solidFill>
                  <a:srgbClr val="222222"/>
                </a:solidFill>
                <a:latin typeface="Arial" pitchFamily="34" charset="0"/>
                <a:ea typeface="Arial" pitchFamily="34" charset="-122"/>
                <a:cs typeface="Arial" pitchFamily="34" charset="-120"/>
              </a:rPr>
              <a:t>16</a:t>
            </a:r>
            <a:endParaRPr lang="en-US" sz="2800" dirty="0"/>
          </a:p>
        </p:txBody>
      </p:sp>
      <p:sp>
        <p:nvSpPr>
          <p:cNvPr id="9" name="Text 7"/>
          <p:cNvSpPr txBox="1"/>
          <p:nvPr/>
        </p:nvSpPr>
        <p:spPr>
          <a:xfrm>
            <a:off x="868680" y="3474720"/>
            <a:ext cx="1600200" cy="274320"/>
          </a:xfrm>
          <a:prstGeom prst="rect">
            <a:avLst/>
          </a:prstGeom>
          <a:noFill/>
          <a:ln/>
        </p:spPr>
        <p:txBody>
          <a:bodyPr wrap="square" lIns="0" tIns="0" rIns="0" bIns="0" rtlCol="0" anchor="ctr"/>
          <a:lstStyle/>
          <a:p>
            <a:pPr indent="0" marL="0">
              <a:buNone/>
            </a:pPr>
            <a:r>
              <a:rPr lang="en-US" sz="1100" dirty="0">
                <a:solidFill>
                  <a:srgbClr val="5E5E5E"/>
                </a:solidFill>
                <a:latin typeface="Arial" pitchFamily="34" charset="0"/>
                <a:ea typeface="Arial" pitchFamily="34" charset="-122"/>
                <a:cs typeface="Arial" pitchFamily="34" charset="-120"/>
              </a:rPr>
              <a:t>passes, 2 heaters</a:t>
            </a:r>
            <a:endParaRPr lang="en-US" sz="1100" dirty="0"/>
          </a:p>
        </p:txBody>
      </p:sp>
      <p:sp>
        <p:nvSpPr>
          <p:cNvPr id="10" name="Text 8"/>
          <p:cNvSpPr txBox="1"/>
          <p:nvPr/>
        </p:nvSpPr>
        <p:spPr>
          <a:xfrm>
            <a:off x="2514600" y="2880360"/>
            <a:ext cx="1600200" cy="594360"/>
          </a:xfrm>
          <a:prstGeom prst="rect">
            <a:avLst/>
          </a:prstGeom>
          <a:noFill/>
          <a:ln/>
        </p:spPr>
        <p:txBody>
          <a:bodyPr wrap="square" lIns="0" tIns="0" rIns="0" bIns="0" rtlCol="0" anchor="ctr"/>
          <a:lstStyle/>
          <a:p>
            <a:pPr indent="0" marL="0">
              <a:buNone/>
            </a:pPr>
            <a:r>
              <a:rPr lang="en-US" sz="2800" b="1" dirty="0">
                <a:solidFill>
                  <a:srgbClr val="222222"/>
                </a:solidFill>
                <a:latin typeface="Arial" pitchFamily="34" charset="0"/>
                <a:ea typeface="Arial" pitchFamily="34" charset="-122"/>
                <a:cs typeface="Arial" pitchFamily="34" charset="-120"/>
              </a:rPr>
              <a:t>18,496'</a:t>
            </a:r>
            <a:endParaRPr lang="en-US" sz="2800" dirty="0"/>
          </a:p>
        </p:txBody>
      </p:sp>
      <p:sp>
        <p:nvSpPr>
          <p:cNvPr id="11" name="Text 9"/>
          <p:cNvSpPr txBox="1"/>
          <p:nvPr/>
        </p:nvSpPr>
        <p:spPr>
          <a:xfrm>
            <a:off x="2514600" y="3474720"/>
            <a:ext cx="1600200" cy="274320"/>
          </a:xfrm>
          <a:prstGeom prst="rect">
            <a:avLst/>
          </a:prstGeom>
          <a:noFill/>
          <a:ln/>
        </p:spPr>
        <p:txBody>
          <a:bodyPr wrap="square" lIns="0" tIns="0" rIns="0" bIns="0" rtlCol="0" anchor="ctr"/>
          <a:lstStyle/>
          <a:p>
            <a:pPr indent="0" marL="0">
              <a:buNone/>
            </a:pPr>
            <a:r>
              <a:rPr lang="en-US" sz="1100" dirty="0">
                <a:solidFill>
                  <a:srgbClr val="5E5E5E"/>
                </a:solidFill>
                <a:latin typeface="Arial" pitchFamily="34" charset="0"/>
                <a:ea typeface="Arial" pitchFamily="34" charset="-122"/>
                <a:cs typeface="Arial" pitchFamily="34" charset="-120"/>
              </a:rPr>
              <a:t>coil footage</a:t>
            </a:r>
            <a:endParaRPr lang="en-US" sz="1100" dirty="0"/>
          </a:p>
        </p:txBody>
      </p:sp>
      <p:sp>
        <p:nvSpPr>
          <p:cNvPr id="12" name="Text 10"/>
          <p:cNvSpPr txBox="1"/>
          <p:nvPr/>
        </p:nvSpPr>
        <p:spPr>
          <a:xfrm>
            <a:off x="4160520" y="2880360"/>
            <a:ext cx="1600200" cy="594360"/>
          </a:xfrm>
          <a:prstGeom prst="rect">
            <a:avLst/>
          </a:prstGeom>
          <a:noFill/>
          <a:ln/>
        </p:spPr>
        <p:txBody>
          <a:bodyPr wrap="square" lIns="0" tIns="0" rIns="0" bIns="0" rtlCol="0" anchor="ctr"/>
          <a:lstStyle/>
          <a:p>
            <a:pPr indent="0" marL="0">
              <a:buNone/>
            </a:pPr>
            <a:r>
              <a:rPr lang="en-US" sz="2800" b="1" dirty="0">
                <a:solidFill>
                  <a:srgbClr val="222222"/>
                </a:solidFill>
                <a:latin typeface="Arial" pitchFamily="34" charset="0"/>
                <a:ea typeface="Arial" pitchFamily="34" charset="-122"/>
                <a:cs typeface="Arial" pitchFamily="34" charset="-120"/>
              </a:rPr>
              <a:t>434</a:t>
            </a:r>
            <a:endParaRPr lang="en-US" sz="2800" dirty="0"/>
          </a:p>
        </p:txBody>
      </p:sp>
      <p:sp>
        <p:nvSpPr>
          <p:cNvPr id="13" name="Text 11"/>
          <p:cNvSpPr txBox="1"/>
          <p:nvPr/>
        </p:nvSpPr>
        <p:spPr>
          <a:xfrm>
            <a:off x="4160520" y="3474720"/>
            <a:ext cx="1600200" cy="274320"/>
          </a:xfrm>
          <a:prstGeom prst="rect">
            <a:avLst/>
          </a:prstGeom>
          <a:noFill/>
          <a:ln/>
        </p:spPr>
        <p:txBody>
          <a:bodyPr wrap="square" lIns="0" tIns="0" rIns="0" bIns="0" rtlCol="0" anchor="ctr"/>
          <a:lstStyle/>
          <a:p>
            <a:pPr indent="0" marL="0">
              <a:buNone/>
            </a:pPr>
            <a:r>
              <a:rPr lang="en-US" sz="1100" dirty="0">
                <a:solidFill>
                  <a:srgbClr val="5E5E5E"/>
                </a:solidFill>
                <a:latin typeface="Arial" pitchFamily="34" charset="0"/>
                <a:ea typeface="Arial" pitchFamily="34" charset="-122"/>
                <a:cs typeface="Arial" pitchFamily="34" charset="-120"/>
              </a:rPr>
              <a:t>pigs run</a:t>
            </a:r>
            <a:endParaRPr lang="en-US" sz="1100" dirty="0"/>
          </a:p>
        </p:txBody>
      </p:sp>
      <p:sp>
        <p:nvSpPr>
          <p:cNvPr id="14" name="Text 12"/>
          <p:cNvSpPr txBox="1"/>
          <p:nvPr/>
        </p:nvSpPr>
        <p:spPr>
          <a:xfrm>
            <a:off x="868680" y="4023360"/>
            <a:ext cx="4809744" cy="731520"/>
          </a:xfrm>
          <a:prstGeom prst="rect">
            <a:avLst/>
          </a:prstGeom>
          <a:noFill/>
          <a:ln/>
        </p:spPr>
        <p:txBody>
          <a:bodyPr wrap="square" lIns="0" tIns="0" rIns="0" bIns="0" rtlCol="0" anchor="t"/>
          <a:lstStyle/>
          <a:p>
            <a:pPr indent="0" marL="0">
              <a:buNone/>
            </a:pPr>
            <a:r>
              <a:rPr lang="en-US" sz="1300" b="1" dirty="0">
                <a:solidFill>
                  <a:srgbClr val="222222"/>
                </a:solidFill>
                <a:latin typeface="Arial" pitchFamily="34" charset="0"/>
                <a:ea typeface="Arial" pitchFamily="34" charset="-122"/>
                <a:cs typeface="Arial" pitchFamily="34" charset="-120"/>
              </a:rPr>
              <a:t>Scope  </a:t>
            </a:r>
            <a:pPr indent="0" marL="0">
              <a:buNone/>
            </a:pPr>
            <a:r>
              <a:rPr lang="en-US" sz="1300" dirty="0">
                <a:solidFill>
                  <a:srgbClr val="5E5E5E"/>
                </a:solidFill>
                <a:latin typeface="Arial" pitchFamily="34" charset="0"/>
                <a:ea typeface="Arial" pitchFamily="34" charset="-122"/>
                <a:cs typeface="Arial" pitchFamily="34" charset="-120"/>
              </a:rPr>
              <a:t>Both 8-pass vacuum heaters pigged in triple mode, with filtration and smart pig inspection of every pass.</a:t>
            </a:r>
            <a:endParaRPr lang="en-US" sz="1300" dirty="0"/>
          </a:p>
        </p:txBody>
      </p:sp>
      <p:sp>
        <p:nvSpPr>
          <p:cNvPr id="15" name="Shape 13"/>
          <p:cNvSpPr/>
          <p:nvPr/>
        </p:nvSpPr>
        <p:spPr>
          <a:xfrm>
            <a:off x="868680" y="4846320"/>
            <a:ext cx="4809744" cy="1097280"/>
          </a:xfrm>
          <a:prstGeom prst="rect">
            <a:avLst/>
          </a:prstGeom>
          <a:solidFill>
            <a:srgbClr val="1E1E1E"/>
          </a:solidFill>
          <a:ln w="12700">
            <a:solidFill>
              <a:srgbClr val="1E1E1E"/>
            </a:solidFill>
            <a:prstDash val="solid"/>
          </a:ln>
        </p:spPr>
      </p:sp>
      <p:sp>
        <p:nvSpPr>
          <p:cNvPr id="16" name="Text 14"/>
          <p:cNvSpPr txBox="1"/>
          <p:nvPr/>
        </p:nvSpPr>
        <p:spPr>
          <a:xfrm>
            <a:off x="1051560" y="4937760"/>
            <a:ext cx="4443984" cy="914400"/>
          </a:xfrm>
          <a:prstGeom prst="rect">
            <a:avLst/>
          </a:prstGeom>
          <a:noFill/>
          <a:ln/>
        </p:spPr>
        <p:txBody>
          <a:bodyPr wrap="square" lIns="0" tIns="0" rIns="0" bIns="0" rtlCol="0" anchor="ctr"/>
          <a:lstStyle/>
          <a:p>
            <a:pPr indent="0" marL="0">
              <a:buNone/>
            </a:pPr>
            <a:r>
              <a:rPr lang="en-US" sz="1300" b="1" dirty="0">
                <a:solidFill>
                  <a:srgbClr val="FCC30A"/>
                </a:solidFill>
                <a:latin typeface="Arial" pitchFamily="34" charset="0"/>
                <a:ea typeface="Arial" pitchFamily="34" charset="-122"/>
                <a:cs typeface="Arial" pitchFamily="34" charset="-120"/>
              </a:rPr>
              <a:t>Result  </a:t>
            </a:r>
            <a:pPr indent="0" marL="0">
              <a:buNone/>
            </a:pPr>
            <a:r>
              <a:rPr lang="en-US" sz="1300" dirty="0">
                <a:solidFill>
                  <a:srgbClr val="FFFFFF"/>
                </a:solidFill>
                <a:latin typeface="Arial" pitchFamily="34" charset="0"/>
                <a:ea typeface="Arial" pitchFamily="34" charset="-122"/>
                <a:cs typeface="Arial" pitchFamily="34" charset="-120"/>
              </a:rPr>
              <a:t>Every pass signed clean and cleared by smart pig before rig-out. A mid-job TriMax swap rigged in within 2 hours, with no break in pigging.</a:t>
            </a:r>
            <a:endParaRPr lang="en-US" sz="1300" dirty="0"/>
          </a:p>
        </p:txBody>
      </p:sp>
      <p:sp>
        <p:nvSpPr>
          <p:cNvPr id="17" name="Shape 15"/>
          <p:cNvSpPr/>
          <p:nvPr/>
        </p:nvSpPr>
        <p:spPr>
          <a:xfrm>
            <a:off x="6190488" y="1783080"/>
            <a:ext cx="5449824" cy="4389120"/>
          </a:xfrm>
          <a:prstGeom prst="rect">
            <a:avLst/>
          </a:prstGeom>
          <a:solidFill>
            <a:srgbClr val="F4F4F4"/>
          </a:solidFill>
          <a:ln w="12700">
            <a:solidFill>
              <a:srgbClr val="F4F4F4"/>
            </a:solidFill>
            <a:prstDash val="solid"/>
          </a:ln>
        </p:spPr>
      </p:sp>
      <p:sp>
        <p:nvSpPr>
          <p:cNvPr id="18" name="Text 16"/>
          <p:cNvSpPr txBox="1"/>
          <p:nvPr/>
        </p:nvSpPr>
        <p:spPr>
          <a:xfrm>
            <a:off x="6510528" y="2057400"/>
            <a:ext cx="4809744" cy="365760"/>
          </a:xfrm>
          <a:prstGeom prst="rect">
            <a:avLst/>
          </a:prstGeom>
          <a:noFill/>
          <a:ln/>
        </p:spPr>
        <p:txBody>
          <a:bodyPr wrap="square" lIns="0" tIns="0" rIns="0" bIns="0" rtlCol="0" anchor="ctr"/>
          <a:lstStyle/>
          <a:p>
            <a:pPr indent="0" marL="0">
              <a:buNone/>
            </a:pPr>
            <a:r>
              <a:rPr lang="en-US" sz="1700" b="1" dirty="0">
                <a:solidFill>
                  <a:srgbClr val="222222"/>
                </a:solidFill>
                <a:latin typeface="Arial" pitchFamily="34" charset="0"/>
                <a:ea typeface="Arial" pitchFamily="34" charset="-122"/>
                <a:cs typeface="Arial" pitchFamily="34" charset="-120"/>
              </a:rPr>
              <a:t>Pass 6B: coke ring found by smart pig</a:t>
            </a:r>
            <a:endParaRPr lang="en-US" sz="1700" dirty="0"/>
          </a:p>
        </p:txBody>
      </p:sp>
      <p:sp>
        <p:nvSpPr>
          <p:cNvPr id="19" name="Text 17"/>
          <p:cNvSpPr txBox="1"/>
          <p:nvPr/>
        </p:nvSpPr>
        <p:spPr>
          <a:xfrm>
            <a:off x="6510528" y="2423160"/>
            <a:ext cx="4809744" cy="274320"/>
          </a:xfrm>
          <a:prstGeom prst="rect">
            <a:avLst/>
          </a:prstGeom>
          <a:noFill/>
          <a:ln/>
        </p:spPr>
        <p:txBody>
          <a:bodyPr wrap="square" lIns="0" tIns="0" rIns="0" bIns="0" rtlCol="0" anchor="ctr"/>
          <a:lstStyle/>
          <a:p>
            <a:pPr indent="0" marL="0">
              <a:buNone/>
            </a:pPr>
            <a:r>
              <a:rPr lang="en-US" sz="1200" dirty="0">
                <a:solidFill>
                  <a:srgbClr val="5E5E5E"/>
                </a:solidFill>
                <a:latin typeface="Arial" pitchFamily="34" charset="0"/>
                <a:ea typeface="Arial" pitchFamily="34" charset="-122"/>
                <a:cs typeface="Arial" pitchFamily="34" charset="-120"/>
              </a:rPr>
              <a:t>Mixed-diameter vacuum pass, 3" to 8"</a:t>
            </a:r>
            <a:endParaRPr lang="en-US" sz="1200" dirty="0"/>
          </a:p>
        </p:txBody>
      </p:sp>
      <p:sp>
        <p:nvSpPr>
          <p:cNvPr id="20" name="Text 18"/>
          <p:cNvSpPr txBox="1"/>
          <p:nvPr/>
        </p:nvSpPr>
        <p:spPr>
          <a:xfrm>
            <a:off x="6510528" y="2880360"/>
            <a:ext cx="1600200" cy="594360"/>
          </a:xfrm>
          <a:prstGeom prst="rect">
            <a:avLst/>
          </a:prstGeom>
          <a:noFill/>
          <a:ln/>
        </p:spPr>
        <p:txBody>
          <a:bodyPr wrap="square" lIns="0" tIns="0" rIns="0" bIns="0" rtlCol="0" anchor="ctr"/>
          <a:lstStyle/>
          <a:p>
            <a:pPr indent="0" marL="0">
              <a:buNone/>
            </a:pPr>
            <a:r>
              <a:rPr lang="en-US" sz="2800" b="1" dirty="0">
                <a:solidFill>
                  <a:srgbClr val="222222"/>
                </a:solidFill>
                <a:latin typeface="Arial" pitchFamily="34" charset="0"/>
                <a:ea typeface="Arial" pitchFamily="34" charset="-122"/>
                <a:cs typeface="Arial" pitchFamily="34" charset="-120"/>
              </a:rPr>
              <a:t>0.25"</a:t>
            </a:r>
            <a:endParaRPr lang="en-US" sz="2800" dirty="0"/>
          </a:p>
        </p:txBody>
      </p:sp>
      <p:sp>
        <p:nvSpPr>
          <p:cNvPr id="21" name="Text 19"/>
          <p:cNvSpPr txBox="1"/>
          <p:nvPr/>
        </p:nvSpPr>
        <p:spPr>
          <a:xfrm>
            <a:off x="6510528" y="3474720"/>
            <a:ext cx="1600200" cy="274320"/>
          </a:xfrm>
          <a:prstGeom prst="rect">
            <a:avLst/>
          </a:prstGeom>
          <a:noFill/>
          <a:ln/>
        </p:spPr>
        <p:txBody>
          <a:bodyPr wrap="square" lIns="0" tIns="0" rIns="0" bIns="0" rtlCol="0" anchor="ctr"/>
          <a:lstStyle/>
          <a:p>
            <a:pPr indent="0" marL="0">
              <a:buNone/>
            </a:pPr>
            <a:r>
              <a:rPr lang="en-US" sz="1100" dirty="0">
                <a:solidFill>
                  <a:srgbClr val="5E5E5E"/>
                </a:solidFill>
                <a:latin typeface="Arial" pitchFamily="34" charset="0"/>
                <a:ea typeface="Arial" pitchFamily="34" charset="-122"/>
                <a:cs typeface="Arial" pitchFamily="34" charset="-120"/>
              </a:rPr>
              <a:t>thick coke ring</a:t>
            </a:r>
            <a:endParaRPr lang="en-US" sz="1100" dirty="0"/>
          </a:p>
        </p:txBody>
      </p:sp>
      <p:sp>
        <p:nvSpPr>
          <p:cNvPr id="22" name="Text 20"/>
          <p:cNvSpPr txBox="1"/>
          <p:nvPr/>
        </p:nvSpPr>
        <p:spPr>
          <a:xfrm>
            <a:off x="8156448" y="2880360"/>
            <a:ext cx="1600200" cy="594360"/>
          </a:xfrm>
          <a:prstGeom prst="rect">
            <a:avLst/>
          </a:prstGeom>
          <a:noFill/>
          <a:ln/>
        </p:spPr>
        <p:txBody>
          <a:bodyPr wrap="square" lIns="0" tIns="0" rIns="0" bIns="0" rtlCol="0" anchor="ctr"/>
          <a:lstStyle/>
          <a:p>
            <a:pPr indent="0" marL="0">
              <a:buNone/>
            </a:pPr>
            <a:r>
              <a:rPr lang="en-US" sz="2800" b="1" dirty="0">
                <a:solidFill>
                  <a:srgbClr val="222222"/>
                </a:solidFill>
                <a:latin typeface="Arial" pitchFamily="34" charset="0"/>
                <a:ea typeface="Arial" pitchFamily="34" charset="-122"/>
                <a:cs typeface="Arial" pitchFamily="34" charset="-120"/>
              </a:rPr>
              <a:t>24 h</a:t>
            </a:r>
            <a:endParaRPr lang="en-US" sz="2800" dirty="0"/>
          </a:p>
        </p:txBody>
      </p:sp>
      <p:sp>
        <p:nvSpPr>
          <p:cNvPr id="23" name="Text 21"/>
          <p:cNvSpPr txBox="1"/>
          <p:nvPr/>
        </p:nvSpPr>
        <p:spPr>
          <a:xfrm>
            <a:off x="8156448" y="3474720"/>
            <a:ext cx="1600200" cy="274320"/>
          </a:xfrm>
          <a:prstGeom prst="rect">
            <a:avLst/>
          </a:prstGeom>
          <a:noFill/>
          <a:ln/>
        </p:spPr>
        <p:txBody>
          <a:bodyPr wrap="square" lIns="0" tIns="0" rIns="0" bIns="0" rtlCol="0" anchor="ctr"/>
          <a:lstStyle/>
          <a:p>
            <a:pPr indent="0" marL="0">
              <a:buNone/>
            </a:pPr>
            <a:r>
              <a:rPr lang="en-US" sz="1100" dirty="0">
                <a:solidFill>
                  <a:srgbClr val="5E5E5E"/>
                </a:solidFill>
                <a:latin typeface="Arial" pitchFamily="34" charset="0"/>
                <a:ea typeface="Arial" pitchFamily="34" charset="-122"/>
                <a:cs typeface="Arial" pitchFamily="34" charset="-120"/>
              </a:rPr>
              <a:t>dedicated pigging</a:t>
            </a:r>
            <a:endParaRPr lang="en-US" sz="1100" dirty="0"/>
          </a:p>
        </p:txBody>
      </p:sp>
      <p:sp>
        <p:nvSpPr>
          <p:cNvPr id="24" name="Text 22"/>
          <p:cNvSpPr txBox="1"/>
          <p:nvPr/>
        </p:nvSpPr>
        <p:spPr>
          <a:xfrm>
            <a:off x="9802368" y="2880360"/>
            <a:ext cx="1600200" cy="594360"/>
          </a:xfrm>
          <a:prstGeom prst="rect">
            <a:avLst/>
          </a:prstGeom>
          <a:noFill/>
          <a:ln/>
        </p:spPr>
        <p:txBody>
          <a:bodyPr wrap="square" lIns="0" tIns="0" rIns="0" bIns="0" rtlCol="0" anchor="ctr"/>
          <a:lstStyle/>
          <a:p>
            <a:pPr indent="0" marL="0">
              <a:buNone/>
            </a:pPr>
            <a:r>
              <a:rPr lang="en-US" sz="2800" b="1" dirty="0">
                <a:solidFill>
                  <a:srgbClr val="222222"/>
                </a:solidFill>
                <a:latin typeface="Arial" pitchFamily="34" charset="0"/>
                <a:ea typeface="Arial" pitchFamily="34" charset="-122"/>
                <a:cs typeface="Arial" pitchFamily="34" charset="-120"/>
              </a:rPr>
              <a:t>188 psi</a:t>
            </a:r>
            <a:endParaRPr lang="en-US" sz="2800" dirty="0"/>
          </a:p>
        </p:txBody>
      </p:sp>
      <p:sp>
        <p:nvSpPr>
          <p:cNvPr id="25" name="Text 23"/>
          <p:cNvSpPr txBox="1"/>
          <p:nvPr/>
        </p:nvSpPr>
        <p:spPr>
          <a:xfrm>
            <a:off x="9802368" y="3474720"/>
            <a:ext cx="1600200" cy="274320"/>
          </a:xfrm>
          <a:prstGeom prst="rect">
            <a:avLst/>
          </a:prstGeom>
          <a:noFill/>
          <a:ln/>
        </p:spPr>
        <p:txBody>
          <a:bodyPr wrap="square" lIns="0" tIns="0" rIns="0" bIns="0" rtlCol="0" anchor="ctr"/>
          <a:lstStyle/>
          <a:p>
            <a:pPr indent="0" marL="0">
              <a:buNone/>
            </a:pPr>
            <a:r>
              <a:rPr lang="en-US" sz="1100" dirty="0">
                <a:solidFill>
                  <a:srgbClr val="5E5E5E"/>
                </a:solidFill>
                <a:latin typeface="Arial" pitchFamily="34" charset="0"/>
                <a:ea typeface="Arial" pitchFamily="34" charset="-122"/>
                <a:cs typeface="Arial" pitchFamily="34" charset="-120"/>
              </a:rPr>
              <a:t>flow-test reduction</a:t>
            </a:r>
            <a:endParaRPr lang="en-US" sz="1100" dirty="0"/>
          </a:p>
        </p:txBody>
      </p:sp>
      <p:sp>
        <p:nvSpPr>
          <p:cNvPr id="26" name="Text 24"/>
          <p:cNvSpPr txBox="1"/>
          <p:nvPr/>
        </p:nvSpPr>
        <p:spPr>
          <a:xfrm>
            <a:off x="6510528" y="4023360"/>
            <a:ext cx="4809744" cy="731520"/>
          </a:xfrm>
          <a:prstGeom prst="rect">
            <a:avLst/>
          </a:prstGeom>
          <a:noFill/>
          <a:ln/>
        </p:spPr>
        <p:txBody>
          <a:bodyPr wrap="square" lIns="0" tIns="0" rIns="0" bIns="0" rtlCol="0" anchor="t"/>
          <a:lstStyle/>
          <a:p>
            <a:pPr indent="0" marL="0">
              <a:buNone/>
            </a:pPr>
            <a:r>
              <a:rPr lang="en-US" sz="1300" b="1" dirty="0">
                <a:solidFill>
                  <a:srgbClr val="222222"/>
                </a:solidFill>
                <a:latin typeface="Arial" pitchFamily="34" charset="0"/>
                <a:ea typeface="Arial" pitchFamily="34" charset="-122"/>
                <a:cs typeface="Arial" pitchFamily="34" charset="-120"/>
              </a:rPr>
              <a:t>Challenge  </a:t>
            </a:r>
            <a:pPr indent="0" marL="0">
              <a:buNone/>
            </a:pPr>
            <a:r>
              <a:rPr lang="en-US" sz="1300" dirty="0">
                <a:solidFill>
                  <a:srgbClr val="5E5E5E"/>
                </a:solidFill>
                <a:latin typeface="Arial" pitchFamily="34" charset="0"/>
                <a:ea typeface="Arial" pitchFamily="34" charset="-122"/>
                <a:cs typeface="Arial" pitchFamily="34" charset="-120"/>
              </a:rPr>
              <a:t>Inspection found a circumferential coke ring at the inlet of a 5" tube, just before the step-up to 8".</a:t>
            </a:r>
            <a:endParaRPr lang="en-US" sz="1300" dirty="0"/>
          </a:p>
        </p:txBody>
      </p:sp>
      <p:sp>
        <p:nvSpPr>
          <p:cNvPr id="27" name="Shape 25"/>
          <p:cNvSpPr/>
          <p:nvPr/>
        </p:nvSpPr>
        <p:spPr>
          <a:xfrm>
            <a:off x="6510528" y="4846320"/>
            <a:ext cx="4809744" cy="1097280"/>
          </a:xfrm>
          <a:prstGeom prst="rect">
            <a:avLst/>
          </a:prstGeom>
          <a:solidFill>
            <a:srgbClr val="1E1E1E"/>
          </a:solidFill>
          <a:ln w="12700">
            <a:solidFill>
              <a:srgbClr val="1E1E1E"/>
            </a:solidFill>
            <a:prstDash val="solid"/>
          </a:ln>
        </p:spPr>
      </p:sp>
      <p:sp>
        <p:nvSpPr>
          <p:cNvPr id="28" name="Text 26"/>
          <p:cNvSpPr txBox="1"/>
          <p:nvPr/>
        </p:nvSpPr>
        <p:spPr>
          <a:xfrm>
            <a:off x="6693408" y="4937760"/>
            <a:ext cx="4443984" cy="914400"/>
          </a:xfrm>
          <a:prstGeom prst="rect">
            <a:avLst/>
          </a:prstGeom>
          <a:noFill/>
          <a:ln/>
        </p:spPr>
        <p:txBody>
          <a:bodyPr wrap="square" lIns="0" tIns="0" rIns="0" bIns="0" rtlCol="0" anchor="ctr"/>
          <a:lstStyle/>
          <a:p>
            <a:pPr indent="0" marL="0">
              <a:buNone/>
            </a:pPr>
            <a:r>
              <a:rPr lang="en-US" sz="1300" b="1" dirty="0">
                <a:solidFill>
                  <a:srgbClr val="FCC30A"/>
                </a:solidFill>
                <a:latin typeface="Arial" pitchFamily="34" charset="0"/>
                <a:ea typeface="Arial" pitchFamily="34" charset="-122"/>
                <a:cs typeface="Arial" pitchFamily="34" charset="-120"/>
              </a:rPr>
              <a:t>Lesson learned  </a:t>
            </a:r>
            <a:pPr indent="0" marL="0">
              <a:buNone/>
            </a:pPr>
            <a:r>
              <a:rPr lang="en-US" sz="1300" dirty="0">
                <a:solidFill>
                  <a:srgbClr val="FFFFFF"/>
                </a:solidFill>
                <a:latin typeface="Arial" pitchFamily="34" charset="0"/>
                <a:ea typeface="Arial" pitchFamily="34" charset="-122"/>
                <a:cs typeface="Arial" pitchFamily="34" charset="-120"/>
              </a:rPr>
              <a:t>On mixed-diameter passes, stage pigs for every diameter and plan time at each step-up before the inspection run.</a:t>
            </a:r>
            <a:endParaRPr lang="en-US" sz="1300" dirty="0"/>
          </a:p>
        </p:txBody>
      </p:sp>
      <p:sp>
        <p:nvSpPr>
          <p:cNvPr id="29" name="Text 27"/>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USA DeBusk  |  Valero Texas City  |  Heater Pigging &amp; Decoking Services</a:t>
            </a:r>
            <a:endParaRPr lang="en-US" sz="900" dirty="0"/>
          </a:p>
        </p:txBody>
      </p:sp>
      <p:sp>
        <p:nvSpPr>
          <p:cNvPr id="30" name="Text 28"/>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1E1E"/>
        </a:solidFill>
      </p:bgPr>
    </p:bg>
    <p:spTree>
      <p:nvGrpSpPr>
        <p:cNvPr id="1" name=""/>
        <p:cNvGrpSpPr/>
        <p:nvPr/>
      </p:nvGrpSpPr>
      <p:grpSpPr>
        <a:xfrm>
          <a:off x="0" y="0"/>
          <a:ext cx="0" cy="0"/>
          <a:chOff x="0" y="0"/>
          <a:chExt cx="0" cy="0"/>
        </a:xfrm>
      </p:grpSpPr>
      <p:pic>
        <p:nvPicPr>
          <p:cNvPr id="2" name="Image 0" descr="C:\Users\Jwuts\obsidian-work\02-facilities\Valero\Texas-City-TX\pigging-capabilities-presentation\build/img/slot_road.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C:\Users\Jwuts\obsidian-work\02-facilities\Valero\Texas-City-TX\pigging-capabilities-presentation\build/img/fade_left.png">    </p:cNvPr>
          <p:cNvPicPr>
            <a:picLocks noChangeAspect="1"/>
          </p:cNvPicPr>
          <p:nvPr/>
        </p:nvPicPr>
        <p:blipFill>
          <a:blip r:embed="rId2"/>
          <a:stretch>
            <a:fillRect/>
          </a:stretch>
        </p:blipFill>
        <p:spPr>
          <a:xfrm>
            <a:off x="0" y="0"/>
            <a:ext cx="12191695" cy="6858000"/>
          </a:xfrm>
          <a:prstGeom prst="rect">
            <a:avLst/>
          </a:prstGeom>
        </p:spPr>
      </p:pic>
      <p:pic>
        <p:nvPicPr>
          <p:cNvPr id="4" name="Image 2" descr="C:\Users\Jwuts\obsidian-work\02-facilities\Valero\Texas-City-TX\pigging-capabilities-presentation\build/img/fade_left.png">    </p:cNvPr>
          <p:cNvPicPr>
            <a:picLocks noChangeAspect="1"/>
          </p:cNvPicPr>
          <p:nvPr/>
        </p:nvPicPr>
        <p:blipFill>
          <a:blip r:embed="rId3"/>
          <a:stretch>
            <a:fillRect/>
          </a:stretch>
        </p:blipFill>
        <p:spPr>
          <a:xfrm>
            <a:off x="0" y="0"/>
            <a:ext cx="9601200" cy="6858000"/>
          </a:xfrm>
          <a:prstGeom prst="rect">
            <a:avLst/>
          </a:prstGeom>
        </p:spPr>
      </p:pic>
      <p:sp>
        <p:nvSpPr>
          <p:cNvPr id="5" name="Shape 0"/>
          <p:cNvSpPr/>
          <p:nvPr/>
        </p:nvSpPr>
        <p:spPr>
          <a:xfrm>
            <a:off x="548640" y="411480"/>
            <a:ext cx="2216963" cy="310896"/>
          </a:xfrm>
          <a:prstGeom prst="roundRect">
            <a:avLst>
              <a:gd name="adj" fmla="val 23529"/>
            </a:avLst>
          </a:prstGeom>
          <a:solidFill>
            <a:srgbClr val="FCC30A"/>
          </a:solidFill>
          <a:ln w="12700">
            <a:solidFill>
              <a:srgbClr val="FCC30A"/>
            </a:solidFill>
            <a:prstDash val="solid"/>
          </a:ln>
        </p:spPr>
      </p:sp>
      <p:sp>
        <p:nvSpPr>
          <p:cNvPr id="6" name="Text 1"/>
          <p:cNvSpPr txBox="1"/>
          <p:nvPr/>
        </p:nvSpPr>
        <p:spPr>
          <a:xfrm>
            <a:off x="548640" y="411480"/>
            <a:ext cx="2216963"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10   WHY USA DEBUSK</a:t>
            </a:r>
            <a:endParaRPr lang="en-US" sz="1050" dirty="0"/>
          </a:p>
        </p:txBody>
      </p:sp>
      <p:sp>
        <p:nvSpPr>
          <p:cNvPr id="7" name="Text 2"/>
          <p:cNvSpPr txBox="1"/>
          <p:nvPr/>
        </p:nvSpPr>
        <p:spPr>
          <a:xfrm>
            <a:off x="548640" y="841248"/>
            <a:ext cx="822960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Why USA DeBusk for Texas City</a:t>
            </a:r>
            <a:endParaRPr lang="en-US" sz="3200" dirty="0"/>
          </a:p>
        </p:txBody>
      </p:sp>
      <p:sp>
        <p:nvSpPr>
          <p:cNvPr id="8" name="Shape 3"/>
          <p:cNvSpPr/>
          <p:nvPr/>
        </p:nvSpPr>
        <p:spPr>
          <a:xfrm>
            <a:off x="548640" y="1920240"/>
            <a:ext cx="502920" cy="502920"/>
          </a:xfrm>
          <a:prstGeom prst="ellipse">
            <a:avLst/>
          </a:prstGeom>
          <a:solidFill>
            <a:srgbClr val="FCC30A"/>
          </a:solidFill>
          <a:ln w="12700">
            <a:solidFill>
              <a:srgbClr val="FCC30A"/>
            </a:solidFill>
            <a:prstDash val="solid"/>
          </a:ln>
        </p:spPr>
      </p:sp>
      <p:pic>
        <p:nvPicPr>
          <p:cNvPr id="9" name="Image 3" descr="preencoded.png">    </p:cNvPr>
          <p:cNvPicPr>
            <a:picLocks noChangeAspect="1"/>
          </p:cNvPicPr>
          <p:nvPr/>
        </p:nvPicPr>
        <p:blipFill>
          <a:blip r:embed="rId4"/>
          <a:stretch>
            <a:fillRect/>
          </a:stretch>
        </p:blipFill>
        <p:spPr>
          <a:xfrm>
            <a:off x="674370" y="2045970"/>
            <a:ext cx="251460" cy="251460"/>
          </a:xfrm>
          <a:prstGeom prst="rect">
            <a:avLst/>
          </a:prstGeom>
        </p:spPr>
      </p:pic>
      <p:sp>
        <p:nvSpPr>
          <p:cNvPr id="10" name="Text 4"/>
          <p:cNvSpPr txBox="1"/>
          <p:nvPr/>
        </p:nvSpPr>
        <p:spPr>
          <a:xfrm>
            <a:off x="1234440" y="1874520"/>
            <a:ext cx="5486400" cy="3200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Proven at Valero</a:t>
            </a:r>
            <a:endParaRPr lang="en-US" sz="1800" dirty="0"/>
          </a:p>
        </p:txBody>
      </p:sp>
      <p:sp>
        <p:nvSpPr>
          <p:cNvPr id="11" name="Text 5"/>
          <p:cNvSpPr txBox="1"/>
          <p:nvPr/>
        </p:nvSpPr>
        <p:spPr>
          <a:xfrm>
            <a:off x="1234440" y="2203704"/>
            <a:ext cx="5486400" cy="274320"/>
          </a:xfrm>
          <a:prstGeom prst="rect">
            <a:avLst/>
          </a:prstGeom>
          <a:noFill/>
          <a:ln/>
        </p:spPr>
        <p:txBody>
          <a:bodyPr wrap="square" lIns="0" tIns="0" rIns="0" bIns="0" rtlCol="0" anchor="ctr"/>
          <a:lstStyle/>
          <a:p>
            <a:pPr indent="0" marL="0">
              <a:buNone/>
            </a:pPr>
            <a:r>
              <a:rPr lang="en-US" sz="1300" dirty="0">
                <a:solidFill>
                  <a:srgbClr val="BDBDBD"/>
                </a:solidFill>
                <a:latin typeface="Arial" pitchFamily="34" charset="0"/>
                <a:ea typeface="Arial" pitchFamily="34" charset="-122"/>
                <a:cs typeface="Arial" pitchFamily="34" charset="-120"/>
              </a:rPr>
              <a:t>Your H-57 coker in 2023 and 2024, one of 14 Valero heaters we've cleaned</a:t>
            </a:r>
            <a:endParaRPr lang="en-US" sz="1300" dirty="0"/>
          </a:p>
        </p:txBody>
      </p:sp>
      <p:sp>
        <p:nvSpPr>
          <p:cNvPr id="12" name="Shape 6"/>
          <p:cNvSpPr/>
          <p:nvPr/>
        </p:nvSpPr>
        <p:spPr>
          <a:xfrm>
            <a:off x="548640" y="2761488"/>
            <a:ext cx="502920" cy="502920"/>
          </a:xfrm>
          <a:prstGeom prst="ellipse">
            <a:avLst/>
          </a:prstGeom>
          <a:solidFill>
            <a:srgbClr val="FCC30A"/>
          </a:solidFill>
          <a:ln w="12700">
            <a:solidFill>
              <a:srgbClr val="FCC30A"/>
            </a:solidFill>
            <a:prstDash val="solid"/>
          </a:ln>
        </p:spPr>
      </p:sp>
      <p:pic>
        <p:nvPicPr>
          <p:cNvPr id="13" name="Image 4" descr="preencoded.png">    </p:cNvPr>
          <p:cNvPicPr>
            <a:picLocks noChangeAspect="1"/>
          </p:cNvPicPr>
          <p:nvPr/>
        </p:nvPicPr>
        <p:blipFill>
          <a:blip r:embed="rId5"/>
          <a:stretch>
            <a:fillRect/>
          </a:stretch>
        </p:blipFill>
        <p:spPr>
          <a:xfrm>
            <a:off x="674370" y="2887218"/>
            <a:ext cx="251460" cy="251460"/>
          </a:xfrm>
          <a:prstGeom prst="rect">
            <a:avLst/>
          </a:prstGeom>
        </p:spPr>
      </p:pic>
      <p:sp>
        <p:nvSpPr>
          <p:cNvPr id="14" name="Text 7"/>
          <p:cNvSpPr txBox="1"/>
          <p:nvPr/>
        </p:nvSpPr>
        <p:spPr>
          <a:xfrm>
            <a:off x="1234440" y="2715768"/>
            <a:ext cx="5486400" cy="3200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Close by</a:t>
            </a:r>
            <a:endParaRPr lang="en-US" sz="1800" dirty="0"/>
          </a:p>
        </p:txBody>
      </p:sp>
      <p:sp>
        <p:nvSpPr>
          <p:cNvPr id="15" name="Text 8"/>
          <p:cNvSpPr txBox="1"/>
          <p:nvPr/>
        </p:nvSpPr>
        <p:spPr>
          <a:xfrm>
            <a:off x="1234440" y="3044952"/>
            <a:ext cx="5486400" cy="274320"/>
          </a:xfrm>
          <a:prstGeom prst="rect">
            <a:avLst/>
          </a:prstGeom>
          <a:noFill/>
          <a:ln/>
        </p:spPr>
        <p:txBody>
          <a:bodyPr wrap="square" lIns="0" tIns="0" rIns="0" bIns="0" rtlCol="0" anchor="ctr"/>
          <a:lstStyle/>
          <a:p>
            <a:pPr indent="0" marL="0">
              <a:buNone/>
            </a:pPr>
            <a:r>
              <a:rPr lang="en-US" sz="1300" dirty="0">
                <a:solidFill>
                  <a:srgbClr val="BDBDBD"/>
                </a:solidFill>
                <a:latin typeface="Arial" pitchFamily="34" charset="0"/>
                <a:ea typeface="Arial" pitchFamily="34" charset="-122"/>
                <a:cs typeface="Arial" pitchFamily="34" charset="-120"/>
              </a:rPr>
              <a:t>Fleet based in Deer Park, a short drive from Texas City</a:t>
            </a:r>
            <a:endParaRPr lang="en-US" sz="1300" dirty="0"/>
          </a:p>
        </p:txBody>
      </p:sp>
      <p:sp>
        <p:nvSpPr>
          <p:cNvPr id="16" name="Shape 9"/>
          <p:cNvSpPr/>
          <p:nvPr/>
        </p:nvSpPr>
        <p:spPr>
          <a:xfrm>
            <a:off x="548640" y="3602736"/>
            <a:ext cx="502920" cy="502920"/>
          </a:xfrm>
          <a:prstGeom prst="ellipse">
            <a:avLst/>
          </a:prstGeom>
          <a:solidFill>
            <a:srgbClr val="FCC30A"/>
          </a:solidFill>
          <a:ln w="12700">
            <a:solidFill>
              <a:srgbClr val="FCC30A"/>
            </a:solidFill>
            <a:prstDash val="solid"/>
          </a:ln>
        </p:spPr>
      </p:sp>
      <p:pic>
        <p:nvPicPr>
          <p:cNvPr id="17" name="Image 5" descr="preencoded.png">    </p:cNvPr>
          <p:cNvPicPr>
            <a:picLocks noChangeAspect="1"/>
          </p:cNvPicPr>
          <p:nvPr/>
        </p:nvPicPr>
        <p:blipFill>
          <a:blip r:embed="rId6"/>
          <a:stretch>
            <a:fillRect/>
          </a:stretch>
        </p:blipFill>
        <p:spPr>
          <a:xfrm>
            <a:off x="674370" y="3728466"/>
            <a:ext cx="251460" cy="251460"/>
          </a:xfrm>
          <a:prstGeom prst="rect">
            <a:avLst/>
          </a:prstGeom>
        </p:spPr>
      </p:pic>
      <p:sp>
        <p:nvSpPr>
          <p:cNvPr id="18" name="Text 10"/>
          <p:cNvSpPr txBox="1"/>
          <p:nvPr/>
        </p:nvSpPr>
        <p:spPr>
          <a:xfrm>
            <a:off x="1234440" y="3557016"/>
            <a:ext cx="5486400" cy="3200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Resilient execution</a:t>
            </a:r>
            <a:endParaRPr lang="en-US" sz="1800" dirty="0"/>
          </a:p>
        </p:txBody>
      </p:sp>
      <p:sp>
        <p:nvSpPr>
          <p:cNvPr id="19" name="Text 11"/>
          <p:cNvSpPr txBox="1"/>
          <p:nvPr/>
        </p:nvSpPr>
        <p:spPr>
          <a:xfrm>
            <a:off x="1234440" y="3886200"/>
            <a:ext cx="5486400" cy="274320"/>
          </a:xfrm>
          <a:prstGeom prst="rect">
            <a:avLst/>
          </a:prstGeom>
          <a:noFill/>
          <a:ln/>
        </p:spPr>
        <p:txBody>
          <a:bodyPr wrap="square" lIns="0" tIns="0" rIns="0" bIns="0" rtlCol="0" anchor="ctr"/>
          <a:lstStyle/>
          <a:p>
            <a:pPr indent="0" marL="0">
              <a:buNone/>
            </a:pPr>
            <a:r>
              <a:rPr lang="en-US" sz="1300" dirty="0">
                <a:solidFill>
                  <a:srgbClr val="BDBDBD"/>
                </a:solidFill>
                <a:latin typeface="Arial" pitchFamily="34" charset="0"/>
                <a:ea typeface="Arial" pitchFamily="34" charset="-122"/>
                <a:cs typeface="Arial" pitchFamily="34" charset="-120"/>
              </a:rPr>
              <a:t>Triple-pass TriMax: a spare pump on every 2-pass heater</a:t>
            </a:r>
            <a:endParaRPr lang="en-US" sz="1300" dirty="0"/>
          </a:p>
        </p:txBody>
      </p:sp>
      <p:sp>
        <p:nvSpPr>
          <p:cNvPr id="20" name="Shape 12"/>
          <p:cNvSpPr/>
          <p:nvPr/>
        </p:nvSpPr>
        <p:spPr>
          <a:xfrm>
            <a:off x="548640" y="4443984"/>
            <a:ext cx="502920" cy="502920"/>
          </a:xfrm>
          <a:prstGeom prst="ellipse">
            <a:avLst/>
          </a:prstGeom>
          <a:solidFill>
            <a:srgbClr val="FCC30A"/>
          </a:solidFill>
          <a:ln w="12700">
            <a:solidFill>
              <a:srgbClr val="FCC30A"/>
            </a:solidFill>
            <a:prstDash val="solid"/>
          </a:ln>
        </p:spPr>
      </p:sp>
      <p:pic>
        <p:nvPicPr>
          <p:cNvPr id="21" name="Image 6" descr="preencoded.png">    </p:cNvPr>
          <p:cNvPicPr>
            <a:picLocks noChangeAspect="1"/>
          </p:cNvPicPr>
          <p:nvPr/>
        </p:nvPicPr>
        <p:blipFill>
          <a:blip r:embed="rId7"/>
          <a:stretch>
            <a:fillRect/>
          </a:stretch>
        </p:blipFill>
        <p:spPr>
          <a:xfrm>
            <a:off x="674370" y="4569714"/>
            <a:ext cx="251460" cy="251460"/>
          </a:xfrm>
          <a:prstGeom prst="rect">
            <a:avLst/>
          </a:prstGeom>
        </p:spPr>
      </p:pic>
      <p:sp>
        <p:nvSpPr>
          <p:cNvPr id="22" name="Text 13"/>
          <p:cNvSpPr txBox="1"/>
          <p:nvPr/>
        </p:nvSpPr>
        <p:spPr>
          <a:xfrm>
            <a:off x="1234440" y="4398264"/>
            <a:ext cx="5486400" cy="3200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Verified clean</a:t>
            </a:r>
            <a:endParaRPr lang="en-US" sz="1800" dirty="0"/>
          </a:p>
        </p:txBody>
      </p:sp>
      <p:sp>
        <p:nvSpPr>
          <p:cNvPr id="23" name="Text 14"/>
          <p:cNvSpPr txBox="1"/>
          <p:nvPr/>
        </p:nvSpPr>
        <p:spPr>
          <a:xfrm>
            <a:off x="1234440" y="4727448"/>
            <a:ext cx="5486400" cy="274320"/>
          </a:xfrm>
          <a:prstGeom prst="rect">
            <a:avLst/>
          </a:prstGeom>
          <a:noFill/>
          <a:ln/>
        </p:spPr>
        <p:txBody>
          <a:bodyPr wrap="square" lIns="0" tIns="0" rIns="0" bIns="0" rtlCol="0" anchor="ctr"/>
          <a:lstStyle/>
          <a:p>
            <a:pPr indent="0" marL="0">
              <a:buNone/>
            </a:pPr>
            <a:r>
              <a:rPr lang="en-US" sz="1300" dirty="0">
                <a:solidFill>
                  <a:srgbClr val="BDBDBD"/>
                </a:solidFill>
                <a:latin typeface="Arial" pitchFamily="34" charset="0"/>
                <a:ea typeface="Arial" pitchFamily="34" charset="-122"/>
                <a:cs typeface="Arial" pitchFamily="34" charset="-120"/>
              </a:rPr>
              <a:t>4-point verification and joint sign-off on every pass</a:t>
            </a:r>
            <a:endParaRPr lang="en-US" sz="1300" dirty="0"/>
          </a:p>
        </p:txBody>
      </p:sp>
      <p:sp>
        <p:nvSpPr>
          <p:cNvPr id="24" name="Shape 15"/>
          <p:cNvSpPr/>
          <p:nvPr/>
        </p:nvSpPr>
        <p:spPr>
          <a:xfrm>
            <a:off x="548640" y="5285232"/>
            <a:ext cx="502920" cy="502920"/>
          </a:xfrm>
          <a:prstGeom prst="ellipse">
            <a:avLst/>
          </a:prstGeom>
          <a:solidFill>
            <a:srgbClr val="FCC30A"/>
          </a:solidFill>
          <a:ln w="12700">
            <a:solidFill>
              <a:srgbClr val="FCC30A"/>
            </a:solidFill>
            <a:prstDash val="solid"/>
          </a:ln>
        </p:spPr>
      </p:sp>
      <p:pic>
        <p:nvPicPr>
          <p:cNvPr id="25" name="Image 7" descr="preencoded.png">    </p:cNvPr>
          <p:cNvPicPr>
            <a:picLocks noChangeAspect="1"/>
          </p:cNvPicPr>
          <p:nvPr/>
        </p:nvPicPr>
        <p:blipFill>
          <a:blip r:embed="rId8"/>
          <a:stretch>
            <a:fillRect/>
          </a:stretch>
        </p:blipFill>
        <p:spPr>
          <a:xfrm>
            <a:off x="674370" y="5410962"/>
            <a:ext cx="251460" cy="251460"/>
          </a:xfrm>
          <a:prstGeom prst="rect">
            <a:avLst/>
          </a:prstGeom>
        </p:spPr>
      </p:pic>
      <p:sp>
        <p:nvSpPr>
          <p:cNvPr id="26" name="Text 16"/>
          <p:cNvSpPr txBox="1"/>
          <p:nvPr/>
        </p:nvSpPr>
        <p:spPr>
          <a:xfrm>
            <a:off x="1234440" y="5239512"/>
            <a:ext cx="5486400" cy="3200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Safe by the numbers</a:t>
            </a:r>
            <a:endParaRPr lang="en-US" sz="1800" dirty="0"/>
          </a:p>
        </p:txBody>
      </p:sp>
      <p:sp>
        <p:nvSpPr>
          <p:cNvPr id="27" name="Text 17"/>
          <p:cNvSpPr txBox="1"/>
          <p:nvPr/>
        </p:nvSpPr>
        <p:spPr>
          <a:xfrm>
            <a:off x="1234440" y="5568696"/>
            <a:ext cx="5486400" cy="274320"/>
          </a:xfrm>
          <a:prstGeom prst="rect">
            <a:avLst/>
          </a:prstGeom>
          <a:noFill/>
          <a:ln/>
        </p:spPr>
        <p:txBody>
          <a:bodyPr wrap="square" lIns="0" tIns="0" rIns="0" bIns="0" rtlCol="0" anchor="ctr"/>
          <a:lstStyle/>
          <a:p>
            <a:pPr indent="0" marL="0">
              <a:buNone/>
            </a:pPr>
            <a:r>
              <a:rPr lang="en-US" sz="1300" dirty="0">
                <a:solidFill>
                  <a:srgbClr val="BDBDBD"/>
                </a:solidFill>
                <a:latin typeface="Arial" pitchFamily="34" charset="0"/>
                <a:ea typeface="Arial" pitchFamily="34" charset="-122"/>
                <a:cs typeface="Arial" pitchFamily="34" charset="-120"/>
              </a:rPr>
              <a:t>EMR 0.48, ISNetworld A, zero fatalities in 3 years</a:t>
            </a:r>
            <a:endParaRPr lang="en-US" sz="1300" dirty="0"/>
          </a:p>
        </p:txBody>
      </p:sp>
      <p:sp>
        <p:nvSpPr>
          <p:cNvPr id="28" name="Text 18"/>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BDBDBD"/>
                </a:solidFill>
                <a:latin typeface="Arial" pitchFamily="34" charset="0"/>
                <a:ea typeface="Arial" pitchFamily="34" charset="-122"/>
                <a:cs typeface="Arial" pitchFamily="34" charset="-120"/>
              </a:rPr>
              <a:t>USA DeBusk  |  Valero Texas City  |  Heater Pigging &amp; Decoking Services</a:t>
            </a:r>
            <a:endParaRPr lang="en-US" sz="900" dirty="0"/>
          </a:p>
        </p:txBody>
      </p:sp>
      <p:sp>
        <p:nvSpPr>
          <p:cNvPr id="29" name="Text 19"/>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BDBDBD"/>
                </a:solidFill>
                <a:latin typeface="Arial" pitchFamily="34" charset="0"/>
                <a:ea typeface="Arial" pitchFamily="34" charset="-122"/>
                <a:cs typeface="Arial"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5547208" y="3931920"/>
            <a:ext cx="1097280" cy="54864"/>
          </a:xfrm>
          <a:prstGeom prst="rect">
            <a:avLst/>
          </a:prstGeom>
          <a:solidFill>
            <a:srgbClr val="FCC30A"/>
          </a:solidFill>
          <a:ln w="12700">
            <a:solidFill>
              <a:srgbClr val="FCC30A"/>
            </a:solidFill>
            <a:prstDash val="solid"/>
          </a:ln>
        </p:spPr>
      </p:sp>
      <p:pic>
        <p:nvPicPr>
          <p:cNvPr id="3" name="Image 0" descr="C:\Users\Jwuts\obsidian-work\02-facilities\Valero\Texas-City-TX\pigging-capabilities-presentation\build/img/logo_white.png">    </p:cNvPr>
          <p:cNvPicPr>
            <a:picLocks noChangeAspect="1"/>
          </p:cNvPicPr>
          <p:nvPr/>
        </p:nvPicPr>
        <p:blipFill>
          <a:blip r:embed="rId1"/>
          <a:stretch>
            <a:fillRect/>
          </a:stretch>
        </p:blipFill>
        <p:spPr>
          <a:xfrm>
            <a:off x="4267048" y="1463040"/>
            <a:ext cx="3657600" cy="548097"/>
          </a:xfrm>
          <a:prstGeom prst="rect">
            <a:avLst/>
          </a:prstGeom>
        </p:spPr>
      </p:pic>
      <p:sp>
        <p:nvSpPr>
          <p:cNvPr id="4" name="Text 1"/>
          <p:cNvSpPr txBox="1"/>
          <p:nvPr/>
        </p:nvSpPr>
        <p:spPr>
          <a:xfrm>
            <a:off x="548640" y="2377440"/>
            <a:ext cx="11091672"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Thank you</a:t>
            </a:r>
            <a:endParaRPr lang="en-US" sz="4800" dirty="0"/>
          </a:p>
        </p:txBody>
      </p:sp>
      <p:sp>
        <p:nvSpPr>
          <p:cNvPr id="5" name="Text 2"/>
          <p:cNvSpPr txBox="1"/>
          <p:nvPr/>
        </p:nvSpPr>
        <p:spPr>
          <a:xfrm>
            <a:off x="548640" y="3246120"/>
            <a:ext cx="11091672" cy="457200"/>
          </a:xfrm>
          <a:prstGeom prst="rect">
            <a:avLst/>
          </a:prstGeom>
          <a:noFill/>
          <a:ln/>
        </p:spPr>
        <p:txBody>
          <a:bodyPr wrap="square" lIns="0" tIns="0" rIns="0" bIns="0" rtlCol="0" anchor="ctr"/>
          <a:lstStyle/>
          <a:p>
            <a:pPr algn="ctr" indent="0" marL="0">
              <a:buNone/>
            </a:pPr>
            <a:r>
              <a:rPr lang="en-US" sz="2200" dirty="0">
                <a:solidFill>
                  <a:srgbClr val="FCC30A"/>
                </a:solidFill>
                <a:latin typeface="Arial" pitchFamily="34" charset="0"/>
                <a:ea typeface="Arial" pitchFamily="34" charset="-122"/>
                <a:cs typeface="Arial" pitchFamily="34" charset="-120"/>
              </a:rPr>
              <a:t>Questions &amp; discussion</a:t>
            </a:r>
            <a:endParaRPr lang="en-US" sz="2200" dirty="0"/>
          </a:p>
        </p:txBody>
      </p:sp>
      <p:sp>
        <p:nvSpPr>
          <p:cNvPr id="6" name="Text 3"/>
          <p:cNvSpPr txBox="1"/>
          <p:nvPr/>
        </p:nvSpPr>
        <p:spPr>
          <a:xfrm>
            <a:off x="548640" y="4846320"/>
            <a:ext cx="11091672" cy="457200"/>
          </a:xfrm>
          <a:prstGeom prst="rect">
            <a:avLst/>
          </a:prstGeom>
          <a:noFill/>
          <a:ln/>
        </p:spPr>
        <p:txBody>
          <a:bodyPr wrap="square" lIns="0" tIns="0" rIns="0" bIns="0" rtlCol="0" anchor="ctr"/>
          <a:lstStyle/>
          <a:p>
            <a:pPr algn="ctr" indent="0" marL="0">
              <a:buNone/>
            </a:pPr>
            <a:r>
              <a:rPr lang="en-US" sz="1400" dirty="0">
                <a:solidFill>
                  <a:srgbClr val="FFFFFF"/>
                </a:solidFill>
                <a:latin typeface="Arial" pitchFamily="34" charset="0"/>
                <a:ea typeface="Arial" pitchFamily="34" charset="-122"/>
                <a:cs typeface="Arial" pitchFamily="34" charset="-120"/>
              </a:rPr>
              <a:t>Jason Harman  |  Commercial Manager  |  jharman@usadebusk.com  |  (713) 839-5961</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USA DeBusk,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Valero Texas City — Heater Pigging &amp; Decoking Services</dc:title>
  <dc:subject>PptxGenJS Presentation</dc:subject>
  <dc:creator>USA DeBusk</dc:creator>
  <cp:lastModifiedBy>USA DeBusk</cp:lastModifiedBy>
  <cp:revision>1</cp:revision>
  <dcterms:created xsi:type="dcterms:W3CDTF">2026-10-14T02:43:21Z</dcterms:created>
  <dcterms:modified xsi:type="dcterms:W3CDTF">2026-10-14T02:43:21Z</dcterms:modified>
</cp:coreProperties>
</file>